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1bf7fffc434fd5" /><Relationship Type="http://schemas.openxmlformats.org/officeDocument/2006/relationships/extended-properties" Target="/docProps/app.xml" Id="R7d6336e7507e43eb" /><Relationship Type="http://schemas.openxmlformats.org/officeDocument/2006/relationships/officeDocument" Target="/ppt/presentation.xml" Id="R3ffe2490745c44da" /></Relationships>
</file>

<file path=ppt/presentation.xml><?xml version="1.0" encoding="utf-8"?>
<p:presentation xmlns:p="http://schemas.openxmlformats.org/presentationml/2006/main">
  <p:sldMasterIdLst>
    <p:sldMasterId xmlns:r="http://schemas.openxmlformats.org/officeDocument/2006/relationships" id="2147483648" r:id="R140dcb770afa4059"/>
  </p:sldMasterIdLst>
  <p:notesMasterIdLst>
    <p:notesMasterId xmlns:r="http://schemas.openxmlformats.org/officeDocument/2006/relationships" r:id="Rdb53ec03d61645b6"/>
  </p:notesMasterIdLst>
  <p:sldIdLst>
    <p:sldId xmlns:r="http://schemas.openxmlformats.org/officeDocument/2006/relationships" id="256" r:id="Rcaef95170b0d413c"/>
    <p:sldId xmlns:r="http://schemas.openxmlformats.org/officeDocument/2006/relationships" id="257" r:id="Rf8fc5fcdf23a400d"/>
    <p:sldId xmlns:r="http://schemas.openxmlformats.org/officeDocument/2006/relationships" id="258" r:id="R997e158caec5400c"/>
    <p:sldId xmlns:r="http://schemas.openxmlformats.org/officeDocument/2006/relationships" id="259" r:id="R5218bc1e27764044"/>
    <p:sldId xmlns:r="http://schemas.openxmlformats.org/officeDocument/2006/relationships" id="260" r:id="R4d11ade85a9f4492"/>
    <p:sldId xmlns:r="http://schemas.openxmlformats.org/officeDocument/2006/relationships" id="261" r:id="R777b4dc454f24417"/>
    <p:sldId xmlns:r="http://schemas.openxmlformats.org/officeDocument/2006/relationships" id="262" r:id="Rc502ef3027764073"/>
    <p:sldId xmlns:r="http://schemas.openxmlformats.org/officeDocument/2006/relationships" id="263" r:id="R6b78057a2d0948ed"/>
    <p:sldId xmlns:r="http://schemas.openxmlformats.org/officeDocument/2006/relationships" id="264" r:id="R584edb7d359c49d3"/>
    <p:sldId xmlns:r="http://schemas.openxmlformats.org/officeDocument/2006/relationships" id="265" r:id="R7082e8e8c9414d61"/>
    <p:sldId xmlns:r="http://schemas.openxmlformats.org/officeDocument/2006/relationships" id="266" r:id="R912f725c25b44909"/>
    <p:sldId xmlns:r="http://schemas.openxmlformats.org/officeDocument/2006/relationships" id="267" r:id="Rfd6ddb20916d4e12"/>
    <p:sldId xmlns:r="http://schemas.openxmlformats.org/officeDocument/2006/relationships" id="268" r:id="R730b93ea66a141f6"/>
    <p:sldId xmlns:r="http://schemas.openxmlformats.org/officeDocument/2006/relationships" id="269" r:id="R2719e6ebc7fe4882"/>
    <p:sldId xmlns:r="http://schemas.openxmlformats.org/officeDocument/2006/relationships" id="270" r:id="R138c7f0545ad4a4f"/>
    <p:sldId xmlns:r="http://schemas.openxmlformats.org/officeDocument/2006/relationships" id="271" r:id="R681b7accd2e44ac7"/>
    <p:sldId xmlns:r="http://schemas.openxmlformats.org/officeDocument/2006/relationships" id="272" r:id="R33e2d9183bac41cf"/>
    <p:sldId xmlns:r="http://schemas.openxmlformats.org/officeDocument/2006/relationships" id="273" r:id="R5820705dd6d24c42"/>
    <p:sldId xmlns:r="http://schemas.openxmlformats.org/officeDocument/2006/relationships" id="274" r:id="Rab4ea1cd73d74c34"/>
    <p:sldId xmlns:r="http://schemas.openxmlformats.org/officeDocument/2006/relationships" id="275" r:id="R89fb443cee3146d7"/>
    <p:sldId xmlns:r="http://schemas.openxmlformats.org/officeDocument/2006/relationships" id="276" r:id="Rdb9a64bc80184a06"/>
    <p:sldId xmlns:r="http://schemas.openxmlformats.org/officeDocument/2006/relationships" id="277" r:id="R665a9ea5ab224db0"/>
    <p:sldId xmlns:r="http://schemas.openxmlformats.org/officeDocument/2006/relationships" id="278" r:id="R38d1c69da7cd4a43"/>
    <p:sldId xmlns:r="http://schemas.openxmlformats.org/officeDocument/2006/relationships" id="279" r:id="R68530e99087446c7"/>
    <p:sldId xmlns:r="http://schemas.openxmlformats.org/officeDocument/2006/relationships" id="280" r:id="Rfc8157b18dea484e"/>
    <p:sldId xmlns:r="http://schemas.openxmlformats.org/officeDocument/2006/relationships" id="281" r:id="R72fbadd5026947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09b7331f6947e8" /><Relationship Type="http://schemas.openxmlformats.org/officeDocument/2006/relationships/slideMaster" Target="/ppt/slideMasters/slideMaster1.xml" Id="R140dcb770afa4059" /><Relationship Type="http://schemas.openxmlformats.org/officeDocument/2006/relationships/notesMaster" Target="/ppt/notesMasters/notesMaster1.xml" Id="Rdb53ec03d61645b6" /><Relationship Type="http://schemas.openxmlformats.org/officeDocument/2006/relationships/presProps" Target="/ppt/presProps.xml" Id="R658d61d79f634e86" /><Relationship Type="http://schemas.openxmlformats.org/officeDocument/2006/relationships/tableStyles" Target="/ppt/tableStyles.xml" Id="R113aa89340e64cff" /><Relationship Type="http://schemas.openxmlformats.org/officeDocument/2006/relationships/slide" Target="/ppt/slides/slide1.xml" Id="Rcaef95170b0d413c" /><Relationship Type="http://schemas.openxmlformats.org/officeDocument/2006/relationships/slide" Target="/ppt/slides/slide2.xml" Id="Rf8fc5fcdf23a400d" /><Relationship Type="http://schemas.openxmlformats.org/officeDocument/2006/relationships/slide" Target="/ppt/slides/slide3.xml" Id="R997e158caec5400c" /><Relationship Type="http://schemas.openxmlformats.org/officeDocument/2006/relationships/slide" Target="/ppt/slides/slide4.xml" Id="R5218bc1e27764044" /><Relationship Type="http://schemas.openxmlformats.org/officeDocument/2006/relationships/slide" Target="/ppt/slides/slide5.xml" Id="R4d11ade85a9f4492" /><Relationship Type="http://schemas.openxmlformats.org/officeDocument/2006/relationships/slide" Target="/ppt/slides/slide6.xml" Id="R777b4dc454f24417" /><Relationship Type="http://schemas.openxmlformats.org/officeDocument/2006/relationships/slide" Target="/ppt/slides/slide7.xml" Id="Rc502ef3027764073" /><Relationship Type="http://schemas.openxmlformats.org/officeDocument/2006/relationships/slide" Target="/ppt/slides/slide8.xml" Id="R6b78057a2d0948ed" /><Relationship Type="http://schemas.openxmlformats.org/officeDocument/2006/relationships/slide" Target="/ppt/slides/slide9.xml" Id="R584edb7d359c49d3" /><Relationship Type="http://schemas.openxmlformats.org/officeDocument/2006/relationships/slide" Target="/ppt/slides/slide10.xml" Id="R7082e8e8c9414d61" /><Relationship Type="http://schemas.openxmlformats.org/officeDocument/2006/relationships/slide" Target="/ppt/slides/slide11.xml" Id="R912f725c25b44909" /><Relationship Type="http://schemas.openxmlformats.org/officeDocument/2006/relationships/slide" Target="/ppt/slides/slide12.xml" Id="Rfd6ddb20916d4e12" /><Relationship Type="http://schemas.openxmlformats.org/officeDocument/2006/relationships/slide" Target="/ppt/slides/slide13.xml" Id="R730b93ea66a141f6" /><Relationship Type="http://schemas.openxmlformats.org/officeDocument/2006/relationships/slide" Target="/ppt/slides/slide14.xml" Id="R2719e6ebc7fe4882" /><Relationship Type="http://schemas.openxmlformats.org/officeDocument/2006/relationships/slide" Target="/ppt/slides/slide15.xml" Id="R138c7f0545ad4a4f" /><Relationship Type="http://schemas.openxmlformats.org/officeDocument/2006/relationships/slide" Target="/ppt/slides/slide16.xml" Id="R681b7accd2e44ac7" /><Relationship Type="http://schemas.openxmlformats.org/officeDocument/2006/relationships/slide" Target="/ppt/slides/slide17.xml" Id="R33e2d9183bac41cf" /><Relationship Type="http://schemas.openxmlformats.org/officeDocument/2006/relationships/slide" Target="/ppt/slides/slide18.xml" Id="R5820705dd6d24c42" /><Relationship Type="http://schemas.openxmlformats.org/officeDocument/2006/relationships/slide" Target="/ppt/slides/slide19.xml" Id="Rab4ea1cd73d74c34" /><Relationship Type="http://schemas.openxmlformats.org/officeDocument/2006/relationships/slide" Target="/ppt/slides/slide20.xml" Id="R89fb443cee3146d7" /><Relationship Type="http://schemas.openxmlformats.org/officeDocument/2006/relationships/slide" Target="/ppt/slides/slide21.xml" Id="Rdb9a64bc80184a06" /><Relationship Type="http://schemas.openxmlformats.org/officeDocument/2006/relationships/slide" Target="/ppt/slides/slide22.xml" Id="R665a9ea5ab224db0" /><Relationship Type="http://schemas.openxmlformats.org/officeDocument/2006/relationships/slide" Target="/ppt/slides/slide23.xml" Id="R38d1c69da7cd4a43" /><Relationship Type="http://schemas.openxmlformats.org/officeDocument/2006/relationships/slide" Target="/ppt/slides/slide24.xml" Id="R68530e99087446c7" /><Relationship Type="http://schemas.openxmlformats.org/officeDocument/2006/relationships/slide" Target="/ppt/slides/slide25.xml" Id="Rfc8157b18dea484e" /><Relationship Type="http://schemas.openxmlformats.org/officeDocument/2006/relationships/slide" Target="/ppt/slides/slide26.xml" Id="R72fbadd5026947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115822e41844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40bcd9174042fb" /><Relationship Type="http://schemas.openxmlformats.org/officeDocument/2006/relationships/notesMaster" Target="/ppt/notesMasters/notesMaster1.xml" Id="R831c4120fabc41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a2f123d46f45a7" /><Relationship Type="http://schemas.openxmlformats.org/officeDocument/2006/relationships/notesMaster" Target="/ppt/notesMasters/notesMaster1.xml" Id="R1569410e27dc40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d6c72cb5164b31" /><Relationship Type="http://schemas.openxmlformats.org/officeDocument/2006/relationships/notesMaster" Target="/ppt/notesMasters/notesMaster1.xml" Id="R0c10d1ba80da48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2e3b89fc404620" /><Relationship Type="http://schemas.openxmlformats.org/officeDocument/2006/relationships/notesMaster" Target="/ppt/notesMasters/notesMaster1.xml" Id="R4df7c705df7841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353a4786ac4255" /><Relationship Type="http://schemas.openxmlformats.org/officeDocument/2006/relationships/notesMaster" Target="/ppt/notesMasters/notesMaster1.xml" Id="R1069dc7c0ca449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825359dd184fe5" /><Relationship Type="http://schemas.openxmlformats.org/officeDocument/2006/relationships/notesMaster" Target="/ppt/notesMasters/notesMaster1.xml" Id="R5a9b2800f77b49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19afdd17e74bb6" /><Relationship Type="http://schemas.openxmlformats.org/officeDocument/2006/relationships/notesMaster" Target="/ppt/notesMasters/notesMaster1.xml" Id="Ra49bd1167fc54e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e1c3bd1dcf4688" /><Relationship Type="http://schemas.openxmlformats.org/officeDocument/2006/relationships/notesMaster" Target="/ppt/notesMasters/notesMaster1.xml" Id="R95e7791fe9a64a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dc7678ac4f4f7d" /><Relationship Type="http://schemas.openxmlformats.org/officeDocument/2006/relationships/notesMaster" Target="/ppt/notesMasters/notesMaster1.xml" Id="R6fac0065ea834b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60ae2f47a849a2" /><Relationship Type="http://schemas.openxmlformats.org/officeDocument/2006/relationships/notesMaster" Target="/ppt/notesMasters/notesMaster1.xml" Id="R9b1b12beb07049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fca066c2eb47c9" /><Relationship Type="http://schemas.openxmlformats.org/officeDocument/2006/relationships/notesMaster" Target="/ppt/notesMasters/notesMaster1.xml" Id="R40fe7f23e3b945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dc1a0d338f4d88" /><Relationship Type="http://schemas.openxmlformats.org/officeDocument/2006/relationships/notesMaster" Target="/ppt/notesMasters/notesMaster1.xml" Id="Rb4346dec0d4d4c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8b9c046eb6451d" /><Relationship Type="http://schemas.openxmlformats.org/officeDocument/2006/relationships/notesMaster" Target="/ppt/notesMasters/notesMaster1.xml" Id="R6fa6d0dfdb5741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80c96f3fb84ed6" /><Relationship Type="http://schemas.openxmlformats.org/officeDocument/2006/relationships/notesMaster" Target="/ppt/notesMasters/notesMaster1.xml" Id="R9aa3a8ac86c944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21b4b1258f44b7" /><Relationship Type="http://schemas.openxmlformats.org/officeDocument/2006/relationships/notesMaster" Target="/ppt/notesMasters/notesMaster1.xml" Id="Rca953f60a71241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82637e81f6412e" /><Relationship Type="http://schemas.openxmlformats.org/officeDocument/2006/relationships/notesMaster" Target="/ppt/notesMasters/notesMaster1.xml" Id="Rc56165d7ed164c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a2a6d33ea045f9" /><Relationship Type="http://schemas.openxmlformats.org/officeDocument/2006/relationships/notesMaster" Target="/ppt/notesMasters/notesMaster1.xml" Id="R6e21bd3a5f9044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7ba757670f4604" /><Relationship Type="http://schemas.openxmlformats.org/officeDocument/2006/relationships/notesMaster" Target="/ppt/notesMasters/notesMaster1.xml" Id="R067383f1cacb4f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293dda706645d6" /><Relationship Type="http://schemas.openxmlformats.org/officeDocument/2006/relationships/notesMaster" Target="/ppt/notesMasters/notesMaster1.xml" Id="Rdebebe8e82d34e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4fa8a130b4406a" /><Relationship Type="http://schemas.openxmlformats.org/officeDocument/2006/relationships/notesMaster" Target="/ppt/notesMasters/notesMaster1.xml" Id="Rf817bd89778249c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a25b0b848a4288" /><Relationship Type="http://schemas.openxmlformats.org/officeDocument/2006/relationships/notesMaster" Target="/ppt/notesMasters/notesMaster1.xml" Id="Rdec5ad8b37f044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bd97b7ca624c20" /><Relationship Type="http://schemas.openxmlformats.org/officeDocument/2006/relationships/notesMaster" Target="/ppt/notesMasters/notesMaster1.xml" Id="R520321e5ffe245f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2699b7e6b1b4975" /><Relationship Type="http://schemas.openxmlformats.org/officeDocument/2006/relationships/notesMaster" Target="/ppt/notesMasters/notesMaster1.xml" Id="R13b12d5848a6410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ac16d962b5546f6" /><Relationship Type="http://schemas.openxmlformats.org/officeDocument/2006/relationships/notesMaster" Target="/ppt/notesMasters/notesMaster1.xml" Id="R51605aa916a24d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e66fdf113844ad" /><Relationship Type="http://schemas.openxmlformats.org/officeDocument/2006/relationships/notesMaster" Target="/ppt/notesMasters/notesMaster1.xml" Id="Rf90b73e2d2e4408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10d7ecd590f487a" /><Relationship Type="http://schemas.openxmlformats.org/officeDocument/2006/relationships/notesMaster" Target="/ppt/notesMasters/notesMaster1.xml" Id="R92f6cbb74f8046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Présentation d’architecture du prototype livré. Montrer le fonctionnement réel, les choix, les preuves et les limites. Les composants distribués sont des adaptations locales sauf PySpark exécuté en mode local.</a:t>
            </a:r>
          </a:p>
          <a:p xmlns:a="http://schemas.openxmlformats.org/drawingml/2006/main">
            <a:r>
              <a:t>[Sources]</a:t>
            </a:r>
          </a:p>
          <a:p xmlns:a="http://schemas.openxmlformats.org/drawingml/2006/main">
            <a:r>
              <a:t>Dépôt : main.py ;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problème est la cohérence des données et leur exploitation par le groupe. Les jointures permettent de relier une mesure à son contexte. Les métadonnées absentes restent explicitement absentes.</a:t>
            </a:r>
          </a:p>
          <a:p xmlns:a="http://schemas.openxmlformats.org/drawingml/2006/main">
            <a:r>
              <a:t/>
            </a:r>
          </a:p>
          <a:p xmlns:a="http://schemas.openxmlformats.org/drawingml/2006/main">
            <a:r>
              <a:t>[Sources]</a:t>
            </a:r>
          </a:p>
          <a:p xmlns:a="http://schemas.openxmlformats.org/drawingml/2006/main">
            <a:r>
              <a:t>Dépôt : CSV/</a:t>
            </a:r>
          </a:p>
          <a:p xmlns:a="http://schemas.openxmlformats.org/drawingml/2006/main">
            <a:r>
              <a:t>Dépôt : src/02_etl.py</a:t>
            </a:r>
          </a:p>
          <a:p xmlns:a="http://schemas.openxmlformats.org/drawingml/2006/main">
            <a:r>
              <a:t>Dépôt : docs/DATA_MODEL.md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campagnes couvrent 2015 à 2018. Les huit catégories du dashboard comprennent cinq libellés et trois codes non résolus : ne pas les annoncer comme huit espèces validées. La carte ne couvre que 424 essais géolocalisés.</a:t>
            </a:r>
          </a:p>
          <a:p xmlns:a="http://schemas.openxmlformats.org/drawingml/2006/main">
            <a:r>
              <a:t/>
            </a:r>
          </a:p>
          <a:p xmlns:a="http://schemas.openxmlformats.org/drawingml/2006/main">
            <a:r>
              <a:t>[Sources]</a:t>
            </a:r>
          </a:p>
          <a:p xmlns:a="http://schemas.openxmlformats.org/drawingml/2006/main">
            <a:r>
              <a:t>Dépôt : reports/kpi_globaux.json</a:t>
            </a:r>
          </a:p>
          <a:p xmlns:a="http://schemas.openxmlformats.org/drawingml/2006/main">
            <a:r>
              <a:t>Dépôt : reports/species_mapping.json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Noms complets et identifiants techniques dans le README. Le grain analytique part des résultats. La parcelle relie une entrée et une réplication au matériel. Les qualifications sont pivotées avant enrichissement.</a:t>
            </a:r>
          </a:p>
          <a:p xmlns:a="http://schemas.openxmlformats.org/drawingml/2006/main">
            <a:r>
              <a:t/>
            </a:r>
          </a:p>
          <a:p xmlns:a="http://schemas.openxmlformats.org/drawingml/2006/main">
            <a:r>
              <a:t>[Sources]</a:t>
            </a:r>
          </a:p>
          <a:p xmlns:a="http://schemas.openxmlformats.org/drawingml/2006/main">
            <a:r>
              <a:t>Dépôt : src/02_etl.py</a:t>
            </a:r>
          </a:p>
          <a:p xmlns:a="http://schemas.openxmlformats.org/drawingml/2006/main">
            <a:r>
              <a:t>Dépôt : docs/DATA_MODEL.md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flux ETL principal consomme Raw. NiFi produit séparément des fichiers de démonstration *_nifi.parquet. Les traitements SQL, statistiques et ML lisent la table de faits. Gouvernance et qualité sont transversales, même si la phase qualité se déroule tard dans la séquence actuelle.</a:t>
            </a:r>
          </a:p>
          <a:p xmlns:a="http://schemas.openxmlformats.org/drawingml/2006/main">
            <a:r>
              <a:t/>
            </a:r>
          </a:p>
          <a:p xmlns:a="http://schemas.openxmlformats.org/drawingml/2006/main">
            <a:r>
              <a:t>[Sources]</a:t>
            </a:r>
          </a:p>
          <a:p xmlns:a="http://schemas.openxmlformats.org/drawingml/2006/main">
            <a:r>
              <a:t>Dépôt : main.py</a:t>
            </a:r>
          </a:p>
          <a:p xmlns:a="http://schemas.openxmlformats.org/drawingml/2006/main">
            <a:r>
              <a:t>Dépôt : src/02_etl.py</a:t>
            </a:r>
          </a:p>
          <a:p xmlns:a="http://schemas.openxmlformats.org/drawingml/2006/main">
            <a:r>
              <a:t>Dépôt : src/07_nifi_flow.py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noms pédagogiques servent à expliquer une architecture cible. Les ports Hive, Kafka et Drill affichés par les modules ne correspondent pas à des serveurs démarrés. Rscript et scikit-learn sont réellement exécutés.</a:t>
            </a:r>
          </a:p>
          <a:p xmlns:a="http://schemas.openxmlformats.org/drawingml/2006/main">
            <a:r>
              <a:t/>
            </a:r>
          </a:p>
          <a:p xmlns:a="http://schemas.openxmlformats.org/drawingml/2006/main">
            <a:r>
              <a:t>[Sources]</a:t>
            </a:r>
          </a:p>
          <a:p xmlns:a="http://schemas.openxmlformats.org/drawingml/2006/main">
            <a:r>
              <a:t>Dépôt : README.md</a:t>
            </a:r>
          </a:p>
          <a:p xmlns:a="http://schemas.openxmlformats.org/drawingml/2006/main">
            <a:r>
              <a:t>Dépôt : src/06_sqoop_import.py</a:t>
            </a:r>
          </a:p>
          <a:p xmlns:a="http://schemas.openxmlformats.org/drawingml/2006/main">
            <a:r>
              <a:t>Dépôt : src/08_hbase_store.py</a:t>
            </a:r>
          </a:p>
          <a:p xmlns:a="http://schemas.openxmlformats.org/drawingml/2006/main">
            <a:r>
              <a:t>Dépôt : src/09_kafka_streaming.py</a:t>
            </a:r>
          </a:p>
          <a:p xmlns:a="http://schemas.openxmlformats.org/drawingml/2006/main">
            <a:r>
              <a:t>Dépôt : src/11_spark_analysis.py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Parquet est utilisé par les traitements Python et SQL. Le CSV de faits est exporté pour R. Le zonage fournit une séparation logique ; il ne constitue pas à lui seul un système de versions, de réplication ou de contrôle d’accès.</a:t>
            </a:r>
          </a:p>
          <a:p xmlns:a="http://schemas.openxmlformats.org/drawingml/2006/main">
            <a:r>
              <a:t/>
            </a:r>
          </a:p>
          <a:p xmlns:a="http://schemas.openxmlformats.org/drawingml/2006/main">
            <a:r>
              <a:t>[Sources]</a:t>
            </a:r>
          </a:p>
          <a:p xmlns:a="http://schemas.openxmlformats.org/drawingml/2006/main">
            <a:r>
              <a:t>Dépôt : src/02_etl.py</a:t>
            </a:r>
          </a:p>
          <a:p xmlns:a="http://schemas.openxmlformats.org/drawingml/2006/main">
            <a:r>
              <a:t>Dépôt : src/16_quality_gates.py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numérotation de main.py est la référence ; les préfixes des fichiers sont historiques. Chaque phase fournit statut et durée. Arrêt au premier échec, code de sortie non nul, checkpoint des étapes réussies. Spark tourne dans un processus isolé.</a:t>
            </a:r>
          </a:p>
          <a:p xmlns:a="http://schemas.openxmlformats.org/drawingml/2006/main">
            <a:r>
              <a:t/>
            </a:r>
          </a:p>
          <a:p xmlns:a="http://schemas.openxmlformats.org/drawingml/2006/main">
            <a:r>
              <a:t>[Sources]</a:t>
            </a:r>
          </a:p>
          <a:p xmlns:a="http://schemas.openxmlformats.org/drawingml/2006/main">
            <a:r>
              <a:t>Dépôt : 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jointures gauches gardent les mesures sans métadonnées correspondantes. Les espèces inconnues restent visibles. Attention aux changements de cardinalité sur de nouvelles données : contrôler les clés et le volume final avant restitution.</a:t>
            </a:r>
          </a:p>
          <a:p xmlns:a="http://schemas.openxmlformats.org/drawingml/2006/main">
            <a:r>
              <a:t/>
            </a:r>
          </a:p>
          <a:p xmlns:a="http://schemas.openxmlformats.org/drawingml/2006/main">
            <a:r>
              <a:t>[Sources]</a:t>
            </a:r>
          </a:p>
          <a:p xmlns:a="http://schemas.openxmlformats.org/drawingml/2006/main">
            <a:r>
              <a:t>Dépôt : src/02_etl.py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326 688 lignes sources sont contrôlées. La quarantaine ne retire pas automatiquement les lignes déjà utilisées par les traitements. Les doublons sont reportés et non supprimés silencieusement. Le ML applique en plus son propre filtre de rendement entre 0 et 250.</a:t>
            </a:r>
          </a:p>
          <a:p xmlns:a="http://schemas.openxmlformats.org/drawingml/2006/main">
            <a:r>
              <a:t/>
            </a:r>
          </a:p>
          <a:p xmlns:a="http://schemas.openxmlformats.org/drawingml/2006/main">
            <a:r>
              <a:t>[Sources]</a:t>
            </a:r>
          </a:p>
          <a:p xmlns:a="http://schemas.openxmlformats.org/drawingml/2006/main">
            <a:r>
              <a:t>Dépôt : reports/data_quality_report.json</a:t>
            </a:r>
          </a:p>
          <a:p xmlns:a="http://schemas.openxmlformats.org/drawingml/2006/main">
            <a:r>
              <a:t>Dépôt : src/16_quality_gates.py</a:t>
            </a:r>
          </a:p>
          <a:p xmlns:a="http://schemas.openxmlformats.org/drawingml/2006/main">
            <a:r>
              <a:t>Dépôt : src/13_prediction.py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catalogue actuel enregistre six datasets, dont la table de faits. Le lineage est descriptif et déclaré dans le code : il ne capture pas automatiquement toutes les opérations internes. L’index est local, sans service de recherche distribué.</a:t>
            </a:r>
          </a:p>
          <a:p xmlns:a="http://schemas.openxmlformats.org/drawingml/2006/main">
            <a:r>
              <a:t/>
            </a:r>
          </a:p>
          <a:p xmlns:a="http://schemas.openxmlformats.org/drawingml/2006/main">
            <a:r>
              <a:t>[Sources]</a:t>
            </a:r>
          </a:p>
          <a:p xmlns:a="http://schemas.openxmlformats.org/drawingml/2006/main">
            <a:r>
              <a:t>Dépôt : src/14_catalog_search.py</a:t>
            </a:r>
          </a:p>
          <a:p xmlns:a="http://schemas.openxmlformats.org/drawingml/2006/main">
            <a:r>
              <a:t>Dépôt : platform_api.py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lot de démonstration produit et consomme 535 messages. Les files en mémoire ne persistent pas comme un vrai broker Kafka. Il n’y a ni réplication, ni garantie de livraison distribuée, ni flux météo ou drone réel.</a:t>
            </a:r>
          </a:p>
          <a:p xmlns:a="http://schemas.openxmlformats.org/drawingml/2006/main">
            <a:r>
              <a:t/>
            </a:r>
          </a:p>
          <a:p xmlns:a="http://schemas.openxmlformats.org/drawingml/2006/main">
            <a:r>
              <a:t>[Sources]</a:t>
            </a:r>
          </a:p>
          <a:p xmlns:a="http://schemas.openxmlformats.org/drawingml/2006/main">
            <a:r>
              <a:t>Dépôt : src/08_hbase_store.py</a:t>
            </a:r>
          </a:p>
          <a:p xmlns:a="http://schemas.openxmlformats.org/drawingml/2006/main">
            <a:r>
              <a:t>Dépôt : src/09_kafka_streaming.py</a:t>
            </a:r>
          </a:p>
          <a:p xmlns:a="http://schemas.openxmlformats.org/drawingml/2006/main">
            <a:r>
              <a:t>Dépôt : reports/kafka_report.json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Hive et Drill s’appuient tous deux sur DuckDB. Spark utilise PySpark local si disponible et un repli pandas explicite sinon. Les ANOVA sont exploratoires ; les données ne démontrent pas à elles seules une causalité régionale.</a:t>
            </a:r>
          </a:p>
          <a:p xmlns:a="http://schemas.openxmlformats.org/drawingml/2006/main">
            <a:r>
              <a:t/>
            </a:r>
          </a:p>
          <a:p xmlns:a="http://schemas.openxmlformats.org/drawingml/2006/main">
            <a:r>
              <a:t>[Sources]</a:t>
            </a:r>
          </a:p>
          <a:p xmlns:a="http://schemas.openxmlformats.org/drawingml/2006/main">
            <a:r>
              <a:t>Dépôt : src/10_hive_queries.py</a:t>
            </a:r>
          </a:p>
          <a:p xmlns:a="http://schemas.openxmlformats.org/drawingml/2006/main">
            <a:r>
              <a:t>Dépôt : src/11_spark_analysis.py</a:t>
            </a:r>
          </a:p>
          <a:p xmlns:a="http://schemas.openxmlformats.org/drawingml/2006/main">
            <a:r>
              <a:t>Dépôt : src/12_drill_queries.py</a:t>
            </a:r>
          </a:p>
          <a:p xmlns:a="http://schemas.openxmlformats.org/drawingml/2006/main">
            <a:r>
              <a:t>Dépôt : R/analyse_pipeline.R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dashboard existant est conservé. Son générateur détecte le marqueur data-static-dashboard=v2 et ne réécrit pas la page éditoriale. Les tableaux sont dynamiques depuis les CSV, mais une partie de la synthèse est figée.</a:t>
            </a:r>
          </a:p>
          <a:p xmlns:a="http://schemas.openxmlformats.org/drawingml/2006/main">
            <a:r>
              <a:t/>
            </a:r>
          </a:p>
          <a:p xmlns:a="http://schemas.openxmlformats.org/drawingml/2006/main">
            <a:r>
              <a:t>[Sources]</a:t>
            </a:r>
          </a:p>
          <a:p xmlns:a="http://schemas.openxmlformats.org/drawingml/2006/main">
            <a:r>
              <a:t>Dépôt : reports/dashboard.html</a:t>
            </a:r>
          </a:p>
          <a:p xmlns:a="http://schemas.openxmlformats.org/drawingml/2006/main">
            <a:r>
              <a:t>Dépôt : reports/dashboard.js</a:t>
            </a:r>
          </a:p>
          <a:p xmlns:a="http://schemas.openxmlformats.org/drawingml/2006/main">
            <a:r>
              <a:t>Dépôt : src/05_dashboard.py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 pas confondre le nombre de mesures, le nombre d’essais de la table de faits et les essais ayant des coordonnées exploitables. Le code de la carte est produit par le module de visualisation.</a:t>
            </a:r>
          </a:p>
          <a:p xmlns:a="http://schemas.openxmlformats.org/drawingml/2006/main">
            <a:r>
              <a:t/>
            </a:r>
          </a:p>
          <a:p xmlns:a="http://schemas.openxmlformats.org/drawingml/2006/main">
            <a:r>
              <a:t>[Sources]</a:t>
            </a:r>
          </a:p>
          <a:p xmlns:a="http://schemas.openxmlformats.org/drawingml/2006/main">
            <a:r>
              <a:t>Dépôt : src/04_visualisation.py</a:t>
            </a:r>
          </a:p>
          <a:p xmlns:a="http://schemas.openxmlformats.org/drawingml/2006/main">
            <a:r>
              <a:t>Dépôt : reports/carte_essais.html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modèle utilise des variables disponibles dans le lot. Leur disponibilité avant décision doit être confirmée métier. Le seuil de 80 q/ha est une convention globale qui doit être validée par catégorie agronomique.</a:t>
            </a:r>
          </a:p>
          <a:p xmlns:a="http://schemas.openxmlformats.org/drawingml/2006/main">
            <a:r>
              <a:t/>
            </a:r>
          </a:p>
          <a:p xmlns:a="http://schemas.openxmlformats.org/drawingml/2006/main">
            <a:r>
              <a:t>[Sources]</a:t>
            </a:r>
          </a:p>
          <a:p xmlns:a="http://schemas.openxmlformats.org/drawingml/2006/main">
            <a:r>
              <a:t>Dépôt : src/13_prediction.py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classification recherche des paramètres et un seuil avec les prédictions hors pli sur le train uniquement. La régression utilise des paramètres fixés. Le test final évalue la généralisation temporelle, sans prouver une généralisation à d’autres sites ou campagnes.</a:t>
            </a:r>
          </a:p>
          <a:p xmlns:a="http://schemas.openxmlformats.org/drawingml/2006/main">
            <a:r>
              <a:t/>
            </a:r>
          </a:p>
          <a:p xmlns:a="http://schemas.openxmlformats.org/drawingml/2006/main">
            <a:r>
              <a:t>[Sources]</a:t>
            </a:r>
          </a:p>
          <a:p xmlns:a="http://schemas.openxmlformats.org/drawingml/2006/main">
            <a:r>
              <a:t>Dépôt : src/13_prediction.py</a:t>
            </a:r>
          </a:p>
          <a:p xmlns:a="http://schemas.openxmlformats.org/drawingml/2006/main">
            <a:r>
              <a:t>Dépôt : reports/prediction_report.json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référence prédit la moyenne du rendement de l’apprentissage. Le modèle améliore cette référence ; R² reste modéré. Ne pas présenter ces résultats comme suffisants pour décider automatiquement du choix des semences.</a:t>
            </a:r>
          </a:p>
          <a:p xmlns:a="http://schemas.openxmlformats.org/drawingml/2006/main">
            <a:r>
              <a:t/>
            </a:r>
          </a:p>
          <a:p xmlns:a="http://schemas.openxmlformats.org/drawingml/2006/main">
            <a:r>
              <a:t>[Sources]</a:t>
            </a:r>
          </a:p>
          <a:p xmlns:a="http://schemas.openxmlformats.org/drawingml/2006/main">
            <a:r>
              <a:t>Dépôt : reports/prediction_report.json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matrice de confusion contient 4 891 vrais positifs, 2 534 faux positifs, 480 faux négatifs et 4 401 vrais négatifs pour le lot fourni. Le rappel élevé réduit les occasions manquées, mais génère des sélections erronées. Les métriques par espèce sont nécessaires : certaines catégories ont un F1 nul.</a:t>
            </a:r>
          </a:p>
          <a:p xmlns:a="http://schemas.openxmlformats.org/drawingml/2006/main">
            <a:r>
              <a:t/>
            </a:r>
          </a:p>
          <a:p xmlns:a="http://schemas.openxmlformats.org/drawingml/2006/main">
            <a:r>
              <a:t>[Sources]</a:t>
            </a:r>
          </a:p>
          <a:p xmlns:a="http://schemas.openxmlformats.org/drawingml/2006/main">
            <a:r>
              <a:t>Dépôt : reports/prediction_report.json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L’API écoute par défaut sur 127.0.0.1:8080. Les clés X-API-Key de démonstration sont publiques et réservées à l’usage local. Le serveur des pages tourne séparément sur 8000. Aucun endpoint ne déclenche le pipeline.</a:t>
            </a:r>
          </a:p>
          <a:p xmlns:a="http://schemas.openxmlformats.org/drawingml/2006/main">
            <a:r>
              <a:t/>
            </a:r>
          </a:p>
          <a:p xmlns:a="http://schemas.openxmlformats.org/drawingml/2006/main">
            <a:r>
              <a:t>[Sources]</a:t>
            </a:r>
          </a:p>
          <a:p xmlns:a="http://schemas.openxmlformats.org/drawingml/2006/main">
            <a:r>
              <a:t>Dépôt : platform_api.py</a:t>
            </a:r>
          </a:p>
          <a:p xmlns:a="http://schemas.openxmlformats.org/drawingml/2006/main">
            <a:r>
              <a:t>Dépôt :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checkpoint ne valide pas l’existence ni la fraîcheur de chaque fichier. Une suppression de sorties ou un changement de code impose une exécution complète. Ne pas exécuter deux pipelines dans le même dossier en parallèle.</a:t>
            </a:r>
          </a:p>
          <a:p xmlns:a="http://schemas.openxmlformats.org/drawingml/2006/main">
            <a:r>
              <a:t/>
            </a:r>
          </a:p>
          <a:p xmlns:a="http://schemas.openxmlformats.org/drawingml/2006/main">
            <a:r>
              <a:t>[Sources]</a:t>
            </a:r>
          </a:p>
          <a:p xmlns:a="http://schemas.openxmlformats.org/drawingml/2006/main">
            <a:r>
              <a:t>Dépôt : main.py</a:t>
            </a:r>
          </a:p>
          <a:p xmlns:a="http://schemas.openxmlformats.org/drawingml/2006/main">
            <a:r>
              <a:t>Dépôt : src/11_spark_analysis.py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Commande de référence : python -m unittest discover -s tests -v. Les tests reposent sur les données et artefacts de démonstration. Ils ne remplacent pas des tests de charge ou un audit complet de sécurité. Le README contient les commandes exactes.</a:t>
            </a:r>
          </a:p>
          <a:p xmlns:a="http://schemas.openxmlformats.org/drawingml/2006/main">
            <a:r>
              <a:t/>
            </a:r>
          </a:p>
          <a:p xmlns:a="http://schemas.openxmlformats.org/drawingml/2006/main">
            <a:r>
              <a:t>[Sources]</a:t>
            </a:r>
          </a:p>
          <a:p xmlns:a="http://schemas.openxmlformats.org/drawingml/2006/main">
            <a:r>
              <a:t>Dépôt : tests/test_platform.py</a:t>
            </a:r>
          </a:p>
          <a:p xmlns:a="http://schemas.openxmlformats.org/drawingml/2006/main">
            <a:r>
              <a:t>Dépôt :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 limites définissent le périmètre du prototype. Les fichiers du dépôt constituent une démonstration locale reproductible. Les futurs composants ne sont pas annoncés comme déjà installés ou opérationnels.</a:t>
            </a:r>
          </a:p>
          <a:p xmlns:a="http://schemas.openxmlformats.org/drawingml/2006/main">
            <a:r>
              <a:t/>
            </a:r>
          </a:p>
          <a:p xmlns:a="http://schemas.openxmlformats.org/drawingml/2006/main">
            <a:r>
              <a:t>[Sources]</a:t>
            </a:r>
          </a:p>
          <a:p xmlns:a="http://schemas.openxmlformats.org/drawingml/2006/main">
            <a:r>
              <a:t>Dépôt : docs/ROADMAP.md</a:t>
            </a:r>
          </a:p>
          <a:p xmlns:a="http://schemas.openxmlformats.org/drawingml/2006/main">
            <a:r>
              <a:t>Dépôt : docs/ML_DATA_REQUIREMENTS.md</a:t>
            </a:r>
          </a:p>
          <a:p xmlns:a="http://schemas.openxmlformats.org/drawingml/2006/main">
            <a:r>
              <a:t>Dépôt : platform_api.py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cible évoquée dans la documentation comprend stockage objet/HDFS, Kafka, NiFi, Spark et Hive, avec catalogue et BI. Il s’agit d’une proposition à dimensionner. Aucun débit, coût, SLA ni date de déploiement ne sont inventés.</a:t>
            </a:r>
          </a:p>
          <a:p xmlns:a="http://schemas.openxmlformats.org/drawingml/2006/main">
            <a:r>
              <a:t/>
            </a:r>
          </a:p>
          <a:p xmlns:a="http://schemas.openxmlformats.org/drawingml/2006/main">
            <a:r>
              <a:t>[Sources]</a:t>
            </a:r>
          </a:p>
          <a:p xmlns:a="http://schemas.openxmlformats.org/drawingml/2006/main">
            <a:r>
              <a:t>Dépôt : docs/ARCHITECTURE_CHOICES.md</a:t>
            </a:r>
          </a:p>
          <a:p xmlns:a="http://schemas.openxmlformats.org/drawingml/2006/main">
            <a:r>
              <a:t>Dépôt : docs/ROADMAP.md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README contient les commandes Windows et Linux, les exemples PowerShell d’API et le dépannage. Pour une présentation rapide, les résultats fournis permettent d’ouvrir le portail sans recalculer le ML.</a:t>
            </a:r>
          </a:p>
          <a:p xmlns:a="http://schemas.openxmlformats.org/drawingml/2006/main">
            <a:r>
              <a:t/>
            </a:r>
          </a:p>
          <a:p xmlns:a="http://schemas.openxmlformats.org/drawingml/2006/main">
            <a:r>
              <a:t>[Sources]</a:t>
            </a:r>
          </a:p>
          <a:p xmlns:a="http://schemas.openxmlformats.org/drawingml/2006/main">
            <a:r>
              <a:t>Dépôt :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prototype relie les sources aux usages et montre les limites scientifiques et techniques. La suite doit prioriser la qualité des données, la validation agronomique et une exploitation adaptée aux besoins réels. Les rôles de contribution peuvent être répartis dans le groupe sans attribution individuelle imposée.</a:t>
            </a:r>
          </a:p>
          <a:p xmlns:a="http://schemas.openxmlformats.org/drawingml/2006/main">
            <a:r>
              <a:t/>
            </a:r>
          </a:p>
          <a:p xmlns:a="http://schemas.openxmlformats.org/drawingml/2006/main">
            <a:r>
              <a:t>[Sources]</a:t>
            </a:r>
          </a:p>
          <a:p xmlns:a="http://schemas.openxmlformats.org/drawingml/2006/main">
            <a:r>
              <a:t>Dépôt : README.md</a:t>
            </a:r>
          </a:p>
          <a:p xmlns:a="http://schemas.openxmlformats.org/drawingml/2006/main">
            <a:r>
              <a:t>Dépôt : docs/ROADMAP.md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52b66d52a946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4eddea99f24f1a" /><Relationship Type="http://schemas.openxmlformats.org/officeDocument/2006/relationships/slideLayout" Target="/ppt/slideLayouts/slideLayout1.xml" Id="Rb2a37dc172ae4a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a37dc172ae4a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e46dbf5c704c34" /><Relationship Type="http://schemas.openxmlformats.org/officeDocument/2006/relationships/notesSlide" Target="/ppt/notesSlides/notesSlide1.xml" Id="R960f450a6faf4f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e003ce12504a6c" /><Relationship Type="http://schemas.openxmlformats.org/officeDocument/2006/relationships/notesSlide" Target="/ppt/notesSlides/notesSlide2.xml" Id="R3c0a77a6db8146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5642809ef54f26" /><Relationship Type="http://schemas.openxmlformats.org/officeDocument/2006/relationships/notesSlide" Target="/ppt/notesSlides/notesSlide3.xml" Id="R414b804c57bb46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01ce7957324c1f" /><Relationship Type="http://schemas.openxmlformats.org/officeDocument/2006/relationships/notesSlide" Target="/ppt/notesSlides/notesSlide4.xml" Id="Ra5e2a769323b44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890fc3b1554d3e" /><Relationship Type="http://schemas.openxmlformats.org/officeDocument/2006/relationships/notesSlide" Target="/ppt/notesSlides/notesSlide5.xml" Id="R2201a9f6c62143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b53dadf4b24740" /><Relationship Type="http://schemas.openxmlformats.org/officeDocument/2006/relationships/notesSlide" Target="/ppt/notesSlides/notesSlide6.xml" Id="Rdc54e32f888349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8705f71aeb41bb" /><Relationship Type="http://schemas.openxmlformats.org/officeDocument/2006/relationships/notesSlide" Target="/ppt/notesSlides/notesSlide7.xml" Id="R64955c95a61845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d9a27e139b497b" /><Relationship Type="http://schemas.openxmlformats.org/officeDocument/2006/relationships/notesSlide" Target="/ppt/notesSlides/notesSlide8.xml" Id="R985f6f5ce50941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5683ff7e63470f" /><Relationship Type="http://schemas.openxmlformats.org/officeDocument/2006/relationships/notesSlide" Target="/ppt/notesSlides/notesSlide9.xml" Id="R0a912462c1cf4f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df0cad859b426a" /><Relationship Type="http://schemas.openxmlformats.org/officeDocument/2006/relationships/notesSlide" Target="/ppt/notesSlides/notesSlide10.xml" Id="R610346466bcd49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a5a13a5612e490c" /><Relationship Type="http://schemas.openxmlformats.org/officeDocument/2006/relationships/notesSlide" Target="/ppt/notesSlides/notesSlide11.xml" Id="R1c1fd65b3bea49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1eb7caf7964c19" /><Relationship Type="http://schemas.openxmlformats.org/officeDocument/2006/relationships/notesSlide" Target="/ppt/notesSlides/notesSlide12.xml" Id="R91246d095ad44a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9e264197be4059" /><Relationship Type="http://schemas.openxmlformats.org/officeDocument/2006/relationships/notesSlide" Target="/ppt/notesSlides/notesSlide13.xml" Id="Rf5aeddc1f0ac45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18c9dd50b6483a" /><Relationship Type="http://schemas.openxmlformats.org/officeDocument/2006/relationships/notesSlide" Target="/ppt/notesSlides/notesSlide14.xml" Id="R7bbf4cbd7fce4c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2802da09f64859" /><Relationship Type="http://schemas.openxmlformats.org/officeDocument/2006/relationships/notesSlide" Target="/ppt/notesSlides/notesSlide15.xml" Id="Rc12fc906e7b945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72eab6e05c47f5" /><Relationship Type="http://schemas.openxmlformats.org/officeDocument/2006/relationships/notesSlide" Target="/ppt/notesSlides/notesSlide16.xml" Id="R935a0c85250846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2872885dd9b430c" /><Relationship Type="http://schemas.openxmlformats.org/officeDocument/2006/relationships/notesSlide" Target="/ppt/notesSlides/notesSlide17.xml" Id="R9ecf67d5ca284a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82d6b6ae83240eb" /><Relationship Type="http://schemas.openxmlformats.org/officeDocument/2006/relationships/notesSlide" Target="/ppt/notesSlides/notesSlide18.xml" Id="R2a50faaa694b42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165375a4b74ee4" /><Relationship Type="http://schemas.openxmlformats.org/officeDocument/2006/relationships/notesSlide" Target="/ppt/notesSlides/notesSlide19.xml" Id="R991399ca5f044c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6bc2adcd9b242ff" /><Relationship Type="http://schemas.openxmlformats.org/officeDocument/2006/relationships/notesSlide" Target="/ppt/notesSlides/notesSlide20.xml" Id="Rb3419964075442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8a34a17c8fc487f" /><Relationship Type="http://schemas.openxmlformats.org/officeDocument/2006/relationships/notesSlide" Target="/ppt/notesSlides/notesSlide21.xml" Id="R2817ea9813ce410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c9b0dfa9c9e42aa" /><Relationship Type="http://schemas.openxmlformats.org/officeDocument/2006/relationships/notesSlide" Target="/ppt/notesSlides/notesSlide22.xml" Id="Rd2fd0ab020c34c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045f2e370844c00" /><Relationship Type="http://schemas.openxmlformats.org/officeDocument/2006/relationships/notesSlide" Target="/ppt/notesSlides/notesSlide23.xml" Id="Ra1df96d387a443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ffe708f610e4885" /><Relationship Type="http://schemas.openxmlformats.org/officeDocument/2006/relationships/notesSlide" Target="/ppt/notesSlides/notesSlide24.xml" Id="R5af0bd8bb4b94b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94c1e465e124e03" /><Relationship Type="http://schemas.openxmlformats.org/officeDocument/2006/relationships/notesSlide" Target="/ppt/notesSlides/notesSlide25.xml" Id="R9f468857463c4a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0391fa6ef19477d" /><Relationship Type="http://schemas.openxmlformats.org/officeDocument/2006/relationships/notesSlide" Target="/ppt/notesSlides/notesSlide26.xml" Id="Rba817e018ace445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YSTÈME D’INFORMATION SEMENCIER">
            <a:extLst xmlns:a="http://schemas.openxmlformats.org/drawingml/2006/main">
              <a:ext uri="{FF2B5EF4-FFF2-40B4-BE49-F238E27FC236}">
                <a16:creationId xmlns:a16="http://schemas.microsoft.com/office/drawing/2014/main" id="{21A9BD2F-FA23-488C-A848-9E44ECF24491}"/>
              </a:ext>
            </a:extLst>
          </p:cNvPr>
          <p:cNvSpPr>
            <a:spLocks xmlns:a="http://schemas.openxmlformats.org/drawingml/2006/main" noGrp="1"/>
          </p:cNvSpPr>
          <p:nvPr/>
        </p:nvSpPr>
        <p:spPr>
          <a:xfrm xmlns:a="http://schemas.openxmlformats.org/drawingml/2006/main">
            <a:off x="400050" y="400050"/>
            <a:ext cx="11391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100" b="1">
                <a:solidFill>
                  <a:srgbClr val="525860"/>
                </a:solidFill>
              </a:defRPr>
            </a:pPr>
            <a:r>
              <a:rPr sz="2100" b="1">
                <a:solidFill>
                  <a:srgbClr val="525860"/>
                </a:solidFill>
              </a:rPr>
              <a:t>SYSTÈME D’INFORMATION SEMENCIER</a:t>
            </a:r>
          </a:p>
        </p:txBody>
      </p:sp>
      <p:sp>
        <p:nvSpPr>
          <p:cNvPr id="2" name="Semences R&amp;D">
            <a:extLst xmlns:a="http://schemas.openxmlformats.org/drawingml/2006/main">
              <a:ext uri="{FF2B5EF4-FFF2-40B4-BE49-F238E27FC236}">
                <a16:creationId xmlns:a16="http://schemas.microsoft.com/office/drawing/2014/main" id="{DAAD3754-E6EE-4958-ACAE-7BA4506E2916}"/>
              </a:ext>
            </a:extLst>
          </p:cNvPr>
          <p:cNvSpPr>
            <a:spLocks xmlns:a="http://schemas.openxmlformats.org/drawingml/2006/main" noGrp="1"/>
          </p:cNvSpPr>
          <p:nvPr/>
        </p:nvSpPr>
        <p:spPr>
          <a:xfrm xmlns:a="http://schemas.openxmlformats.org/drawingml/2006/main">
            <a:off x="400050" y="2047875"/>
            <a:ext cx="11391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6600" b="1">
                <a:solidFill>
                  <a:srgbClr val="111111"/>
                </a:solidFill>
              </a:defRPr>
            </a:pPr>
            <a:r>
              <a:rPr sz="6600" b="1">
                <a:solidFill>
                  <a:srgbClr val="111111"/>
                </a:solidFill>
              </a:rPr>
              <a:t>Semences R&amp;D</a:t>
            </a:r>
          </a:p>
        </p:txBody>
      </p:sp>
      <p:sp>
        <p:nvSpPr>
          <p:cNvPr id="3" name="Architecture et fonctionnement&#10;d’une plateforme analytique locale">
            <a:extLst xmlns:a="http://schemas.openxmlformats.org/drawingml/2006/main">
              <a:ext uri="{FF2B5EF4-FFF2-40B4-BE49-F238E27FC236}">
                <a16:creationId xmlns:a16="http://schemas.microsoft.com/office/drawing/2014/main" id="{2F1DD5CD-2453-43D4-B819-6442AF045BCC}"/>
              </a:ext>
            </a:extLst>
          </p:cNvPr>
          <p:cNvSpPr>
            <a:spLocks xmlns:a="http://schemas.openxmlformats.org/drawingml/2006/main" noGrp="1"/>
          </p:cNvSpPr>
          <p:nvPr/>
        </p:nvSpPr>
        <p:spPr>
          <a:xfrm xmlns:a="http://schemas.openxmlformats.org/drawingml/2006/main">
            <a:off x="400050" y="3409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450" b="0">
                <a:solidFill>
                  <a:srgbClr val="111111"/>
                </a:solidFill>
              </a:defRPr>
            </a:pPr>
            <a:r>
              <a:rPr sz="3450" b="0">
                <a:solidFill>
                  <a:srgbClr val="111111"/>
                </a:solidFill>
              </a:rPr>
              <a:t>Architecture et fonctionnement</a:t>
            </a:r>
          </a:p>
          <a:p xmlns:a="http://schemas.openxmlformats.org/drawingml/2006/main">
            <a:pPr>
              <a:defRPr sz="3450" b="0">
                <a:solidFill>
                  <a:srgbClr val="111111"/>
                </a:solidFill>
              </a:defRPr>
            </a:pPr>
            <a:r>
              <a:rPr sz="3450" b="0">
                <a:solidFill>
                  <a:srgbClr val="111111"/>
                </a:solidFill>
              </a:rPr>
              <a:t>d’une plateforme analytique locale</a:t>
            </a:r>
          </a:p>
        </p:txBody>
      </p:sp>
      <p:sp>
        <p:nvSpPr>
          <p:cNvPr id="4" name="Projet de groupe · Données, qualité, analyses et prédiction">
            <a:extLst xmlns:a="http://schemas.openxmlformats.org/drawingml/2006/main">
              <a:ext uri="{FF2B5EF4-FFF2-40B4-BE49-F238E27FC236}">
                <a16:creationId xmlns:a16="http://schemas.microsoft.com/office/drawing/2014/main" id="{BFD27B51-1A7D-4816-8E6B-30F3EE0753B2}"/>
              </a:ext>
            </a:extLst>
          </p:cNvPr>
          <p:cNvSpPr>
            <a:spLocks xmlns:a="http://schemas.openxmlformats.org/drawingml/2006/main" noGrp="1"/>
          </p:cNvSpPr>
          <p:nvPr/>
        </p:nvSpPr>
        <p:spPr>
          <a:xfrm xmlns:a="http://schemas.openxmlformats.org/drawingml/2006/main">
            <a:off x="400050" y="5600700"/>
            <a:ext cx="1139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525860"/>
                </a:solidFill>
              </a:defRPr>
            </a:pPr>
            <a:r>
              <a:rPr sz="1950" b="0">
                <a:solidFill>
                  <a:srgbClr val="525860"/>
                </a:solidFill>
              </a:rPr>
              <a:t>Projet de groupe · Données, qualité, analyses et prédiction</a:t>
            </a:r>
          </a:p>
        </p:txBody>
      </p:sp>
    </p:spTree>
    <p:extLst>
      <p:ext uri="{BB962C8B-B14F-4D97-AF65-F5344CB8AC3E}">
        <p14:creationId xmlns:p14="http://schemas.microsoft.com/office/powerpoint/2010/main" val="19117298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1 · BESOIN MÉTIER">
            <a:extLst xmlns:a="http://schemas.openxmlformats.org/drawingml/2006/main">
              <a:ext uri="{FF2B5EF4-FFF2-40B4-BE49-F238E27FC236}">
                <a16:creationId xmlns:a16="http://schemas.microsoft.com/office/drawing/2014/main" id="{4918FA1E-1CA2-4465-A3FD-8271B64D4ADB}"/>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01 · BESOIN MÉTIER</a:t>
            </a:r>
          </a:p>
        </p:txBody>
      </p:sp>
      <p:sp>
        <p:nvSpPr>
          <p:cNvPr id="2" name="Une chaîne commune pour les essais">
            <a:extLst xmlns:a="http://schemas.openxmlformats.org/drawingml/2006/main">
              <a:ext uri="{FF2B5EF4-FFF2-40B4-BE49-F238E27FC236}">
                <a16:creationId xmlns:a16="http://schemas.microsoft.com/office/drawing/2014/main" id="{582004AA-442D-44BD-A084-3EF72F430642}"/>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Une chaîne commune pour les essais</a:t>
            </a:r>
          </a:p>
        </p:txBody>
      </p:sp>
      <p:sp>
        <p:nvSpPr>
          <p:cNvPr id="3" name="">
            <a:extLst xmlns:a="http://schemas.openxmlformats.org/drawingml/2006/main">
              <a:ext uri="{FF2B5EF4-FFF2-40B4-BE49-F238E27FC236}">
                <a16:creationId xmlns:a16="http://schemas.microsoft.com/office/drawing/2014/main" id="{90D8C472-0880-4E51-801C-ABC68E8D630A}"/>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E367BF29-BD6B-4531-BBDA-2BF3824C149A}"/>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2">
            <a:extLst xmlns:a="http://schemas.openxmlformats.org/drawingml/2006/main">
              <a:ext uri="{FF2B5EF4-FFF2-40B4-BE49-F238E27FC236}">
                <a16:creationId xmlns:a16="http://schemas.microsoft.com/office/drawing/2014/main" id="{CE7F22FF-0554-4C2D-842A-A3EF89211E9A}"/>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02</a:t>
            </a:r>
          </a:p>
        </p:txBody>
      </p:sp>
      <p:sp>
        <p:nvSpPr>
          <p:cNvPr id="6" name="Données dispersées">
            <a:extLst xmlns:a="http://schemas.openxmlformats.org/drawingml/2006/main">
              <a:ext uri="{FF2B5EF4-FFF2-40B4-BE49-F238E27FC236}">
                <a16:creationId xmlns:a16="http://schemas.microsoft.com/office/drawing/2014/main" id="{4EE8312A-2531-461C-8A53-64A72804157D}"/>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Données dispersées</a:t>
            </a:r>
          </a:p>
        </p:txBody>
      </p:sp>
      <p:sp>
        <p:nvSpPr>
          <p:cNvPr id="7" name="Les essais, résultats, parcelles et matériels sont répartis dans ">
            <a:extLst xmlns:a="http://schemas.openxmlformats.org/drawingml/2006/main">
              <a:ext uri="{FF2B5EF4-FFF2-40B4-BE49-F238E27FC236}">
                <a16:creationId xmlns:a16="http://schemas.microsoft.com/office/drawing/2014/main" id="{0175D916-23F1-4701-A1E0-3D28D8646127}"/>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essais, résultats, parcelles et matériels sont répartis dans six CSV.</a:t>
            </a:r>
          </a:p>
        </p:txBody>
      </p:sp>
      <p:sp>
        <p:nvSpPr>
          <p:cNvPr id="8" name="Les clés, nombres et métadonnées nécessitent une normalisation.">
            <a:extLst xmlns:a="http://schemas.openxmlformats.org/drawingml/2006/main">
              <a:ext uri="{FF2B5EF4-FFF2-40B4-BE49-F238E27FC236}">
                <a16:creationId xmlns:a16="http://schemas.microsoft.com/office/drawing/2014/main" id="{DD478A21-5F58-4307-B15A-67F7A6D97331}"/>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clés, nombres et métadonnées nécessitent une normalisation.</a:t>
            </a:r>
          </a:p>
        </p:txBody>
      </p:sp>
      <p:sp>
        <p:nvSpPr>
          <p:cNvPr id="9" name="La localisation ne couvre qu’une partie des essais.">
            <a:extLst xmlns:a="http://schemas.openxmlformats.org/drawingml/2006/main">
              <a:ext uri="{FF2B5EF4-FFF2-40B4-BE49-F238E27FC236}">
                <a16:creationId xmlns:a16="http://schemas.microsoft.com/office/drawing/2014/main" id="{5DDA381D-EF5C-4100-89EF-DEE50D0906D4}"/>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La localisation ne couvre qu’une partie des essais.</a:t>
            </a:r>
          </a:p>
        </p:txBody>
      </p:sp>
      <p:sp>
        <p:nvSpPr>
          <p:cNvPr id="10" name="Usages attendus">
            <a:extLst xmlns:a="http://schemas.openxmlformats.org/drawingml/2006/main">
              <a:ext uri="{FF2B5EF4-FFF2-40B4-BE49-F238E27FC236}">
                <a16:creationId xmlns:a16="http://schemas.microsoft.com/office/drawing/2014/main" id="{57D7E65A-4370-4678-953C-51F3B9C91EF2}"/>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Usages attendus</a:t>
            </a:r>
          </a:p>
        </p:txBody>
      </p:sp>
      <p:sp>
        <p:nvSpPr>
          <p:cNvPr id="11" name="Comparer les catégories, campagnes, régions et matériels.">
            <a:extLst xmlns:a="http://schemas.openxmlformats.org/drawingml/2006/main">
              <a:ext uri="{FF2B5EF4-FFF2-40B4-BE49-F238E27FC236}">
                <a16:creationId xmlns:a16="http://schemas.microsoft.com/office/drawing/2014/main" id="{5885D678-AEF6-4E9C-9863-5D74F0FE259B}"/>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Comparer les catégories, campagnes, régions et matériels.</a:t>
            </a:r>
          </a:p>
        </p:txBody>
      </p:sp>
      <p:sp>
        <p:nvSpPr>
          <p:cNvPr id="12" name="Retrouver un matériel et comprendre la provenance des données.">
            <a:extLst xmlns:a="http://schemas.openxmlformats.org/drawingml/2006/main">
              <a:ext uri="{FF2B5EF4-FFF2-40B4-BE49-F238E27FC236}">
                <a16:creationId xmlns:a16="http://schemas.microsoft.com/office/drawing/2014/main" id="{6E22209C-5045-48BA-B874-3C6FAABDE6EA}"/>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Retrouver un matériel et comprendre la provenance des données.</a:t>
            </a:r>
          </a:p>
        </p:txBody>
      </p:sp>
      <p:sp>
        <p:nvSpPr>
          <p:cNvPr id="13" name="Explorer les résultats et évaluer une prédiction de rendement.">
            <a:extLst xmlns:a="http://schemas.openxmlformats.org/drawingml/2006/main">
              <a:ext uri="{FF2B5EF4-FFF2-40B4-BE49-F238E27FC236}">
                <a16:creationId xmlns:a16="http://schemas.microsoft.com/office/drawing/2014/main" id="{7AC94F89-E568-43C3-A5A3-947B2812E344}"/>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Explorer les résultats et évaluer une prédiction de rendement.</a:t>
            </a:r>
          </a:p>
        </p:txBody>
      </p:sp>
    </p:spTree>
    <p:extLst>
      <p:ext uri="{BB962C8B-B14F-4D97-AF65-F5344CB8AC3E}">
        <p14:creationId xmlns:p14="http://schemas.microsoft.com/office/powerpoint/2010/main" val="1433487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2 · DONNÉES">
            <a:extLst xmlns:a="http://schemas.openxmlformats.org/drawingml/2006/main">
              <a:ext uri="{FF2B5EF4-FFF2-40B4-BE49-F238E27FC236}">
                <a16:creationId xmlns:a16="http://schemas.microsoft.com/office/drawing/2014/main" id="{A10AE886-908D-43B7-BE04-2BD24FC45DA0}"/>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02 · DONNÉES</a:t>
            </a:r>
          </a:p>
        </p:txBody>
      </p:sp>
      <p:sp>
        <p:nvSpPr>
          <p:cNvPr id="2" name="Le lot de données fixe le périmètre">
            <a:extLst xmlns:a="http://schemas.openxmlformats.org/drawingml/2006/main">
              <a:ext uri="{FF2B5EF4-FFF2-40B4-BE49-F238E27FC236}">
                <a16:creationId xmlns:a16="http://schemas.microsoft.com/office/drawing/2014/main" id="{FADAFB98-B001-41F7-812E-6AD61288D5F1}"/>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 lot de données fixe le périmètre</a:t>
            </a:r>
          </a:p>
        </p:txBody>
      </p:sp>
      <p:sp>
        <p:nvSpPr>
          <p:cNvPr id="3" name="">
            <a:extLst xmlns:a="http://schemas.openxmlformats.org/drawingml/2006/main">
              <a:ext uri="{FF2B5EF4-FFF2-40B4-BE49-F238E27FC236}">
                <a16:creationId xmlns:a16="http://schemas.microsoft.com/office/drawing/2014/main" id="{56872855-50E3-4C45-A5FB-7EE74259FB4D}"/>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4F767EC7-8C7B-493F-9841-A67B7A5B2490}"/>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3">
            <a:extLst xmlns:a="http://schemas.openxmlformats.org/drawingml/2006/main">
              <a:ext uri="{FF2B5EF4-FFF2-40B4-BE49-F238E27FC236}">
                <a16:creationId xmlns:a16="http://schemas.microsoft.com/office/drawing/2014/main" id="{084C1FBD-DEAF-4C7D-BFC2-41BF6CC4FC44}"/>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03</a:t>
            </a:r>
          </a:p>
        </p:txBody>
      </p:sp>
      <p:sp>
        <p:nvSpPr>
          <p:cNvPr id="6" name="">
            <a:extLst xmlns:a="http://schemas.openxmlformats.org/drawingml/2006/main">
              <a:ext uri="{FF2B5EF4-FFF2-40B4-BE49-F238E27FC236}">
                <a16:creationId xmlns:a16="http://schemas.microsoft.com/office/drawing/2014/main" id="{48D6851C-2E95-40C4-95E8-9BF6A7814B12}"/>
              </a:ext>
            </a:extLst>
          </p:cNvPr>
          <p:cNvSpPr>
            <a:spLocks xmlns:a="http://schemas.openxmlformats.org/drawingml/2006/main" noGrp="1"/>
          </p:cNvSpPr>
          <p:nvPr/>
        </p:nvSpPr>
        <p:spPr>
          <a:xfrm xmlns:a="http://schemas.openxmlformats.org/drawingml/2006/main">
            <a:off x="400050" y="3333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7" name="136 358">
            <a:extLst xmlns:a="http://schemas.openxmlformats.org/drawingml/2006/main">
              <a:ext uri="{FF2B5EF4-FFF2-40B4-BE49-F238E27FC236}">
                <a16:creationId xmlns:a16="http://schemas.microsoft.com/office/drawing/2014/main" id="{1840531C-BE97-4A15-873E-CA32C309EF92}"/>
              </a:ext>
            </a:extLst>
          </p:cNvPr>
          <p:cNvSpPr>
            <a:spLocks xmlns:a="http://schemas.openxmlformats.org/drawingml/2006/main" noGrp="1"/>
          </p:cNvSpPr>
          <p:nvPr/>
        </p:nvSpPr>
        <p:spPr>
          <a:xfrm xmlns:a="http://schemas.openxmlformats.org/drawingml/2006/main">
            <a:off x="40005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136 358</a:t>
            </a:r>
          </a:p>
        </p:txBody>
      </p:sp>
      <p:sp>
        <p:nvSpPr>
          <p:cNvPr id="8" name="Mesures">
            <a:extLst xmlns:a="http://schemas.openxmlformats.org/drawingml/2006/main">
              <a:ext uri="{FF2B5EF4-FFF2-40B4-BE49-F238E27FC236}">
                <a16:creationId xmlns:a16="http://schemas.microsoft.com/office/drawing/2014/main" id="{14250A6A-F490-4F59-B451-CD7ACFEECAFA}"/>
              </a:ext>
            </a:extLst>
          </p:cNvPr>
          <p:cNvSpPr>
            <a:spLocks xmlns:a="http://schemas.openxmlformats.org/drawingml/2006/main" noGrp="1"/>
          </p:cNvSpPr>
          <p:nvPr/>
        </p:nvSpPr>
        <p:spPr>
          <a:xfrm xmlns:a="http://schemas.openxmlformats.org/drawingml/2006/main">
            <a:off x="40005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Mesures</a:t>
            </a:r>
          </a:p>
        </p:txBody>
      </p:sp>
      <p:sp>
        <p:nvSpPr>
          <p:cNvPr id="9" name="Une ligne de la table de faits décrit un trait mesuré.">
            <a:extLst xmlns:a="http://schemas.openxmlformats.org/drawingml/2006/main">
              <a:ext uri="{FF2B5EF4-FFF2-40B4-BE49-F238E27FC236}">
                <a16:creationId xmlns:a16="http://schemas.microsoft.com/office/drawing/2014/main" id="{F5C98D61-FEFF-4740-B40C-F9B4C6B7C3FC}"/>
              </a:ext>
            </a:extLst>
          </p:cNvPr>
          <p:cNvSpPr>
            <a:spLocks xmlns:a="http://schemas.openxmlformats.org/drawingml/2006/main" noGrp="1"/>
          </p:cNvSpPr>
          <p:nvPr/>
        </p:nvSpPr>
        <p:spPr>
          <a:xfrm xmlns:a="http://schemas.openxmlformats.org/drawingml/2006/main">
            <a:off x="40005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Une ligne de la table de faits décrit un trait mesuré.</a:t>
            </a:r>
          </a:p>
        </p:txBody>
      </p:sp>
      <p:sp>
        <p:nvSpPr>
          <p:cNvPr id="10" name="2 116">
            <a:extLst xmlns:a="http://schemas.openxmlformats.org/drawingml/2006/main">
              <a:ext uri="{FF2B5EF4-FFF2-40B4-BE49-F238E27FC236}">
                <a16:creationId xmlns:a16="http://schemas.microsoft.com/office/drawing/2014/main" id="{C80F28CF-9D12-43A0-A862-5D4E17F6FEF8}"/>
              </a:ext>
            </a:extLst>
          </p:cNvPr>
          <p:cNvSpPr>
            <a:spLocks xmlns:a="http://schemas.openxmlformats.org/drawingml/2006/main" noGrp="1"/>
          </p:cNvSpPr>
          <p:nvPr/>
        </p:nvSpPr>
        <p:spPr>
          <a:xfrm xmlns:a="http://schemas.openxmlformats.org/drawingml/2006/main">
            <a:off x="4314825"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2 116</a:t>
            </a:r>
          </a:p>
        </p:txBody>
      </p:sp>
      <p:sp>
        <p:nvSpPr>
          <p:cNvPr id="11" name="Essais distincts">
            <a:extLst xmlns:a="http://schemas.openxmlformats.org/drawingml/2006/main">
              <a:ext uri="{FF2B5EF4-FFF2-40B4-BE49-F238E27FC236}">
                <a16:creationId xmlns:a16="http://schemas.microsoft.com/office/drawing/2014/main" id="{067AAFC1-8D24-46B5-BC42-5886EC19EA95}"/>
              </a:ext>
            </a:extLst>
          </p:cNvPr>
          <p:cNvSpPr>
            <a:spLocks xmlns:a="http://schemas.openxmlformats.org/drawingml/2006/main" noGrp="1"/>
          </p:cNvSpPr>
          <p:nvPr/>
        </p:nvSpPr>
        <p:spPr>
          <a:xfrm xmlns:a="http://schemas.openxmlformats.org/drawingml/2006/main">
            <a:off x="4314825"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Essais distincts</a:t>
            </a:r>
          </a:p>
        </p:txBody>
      </p:sp>
      <p:sp>
        <p:nvSpPr>
          <p:cNvPr id="12" name="Identifiants présents dans les résultats consolidés.">
            <a:extLst xmlns:a="http://schemas.openxmlformats.org/drawingml/2006/main">
              <a:ext uri="{FF2B5EF4-FFF2-40B4-BE49-F238E27FC236}">
                <a16:creationId xmlns:a16="http://schemas.microsoft.com/office/drawing/2014/main" id="{79434C08-1A7F-48BC-A9BC-B7A1A463D542}"/>
              </a:ext>
            </a:extLst>
          </p:cNvPr>
          <p:cNvSpPr>
            <a:spLocks xmlns:a="http://schemas.openxmlformats.org/drawingml/2006/main" noGrp="1"/>
          </p:cNvSpPr>
          <p:nvPr/>
        </p:nvSpPr>
        <p:spPr>
          <a:xfrm xmlns:a="http://schemas.openxmlformats.org/drawingml/2006/main">
            <a:off x="4314825"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Identifiants présents dans les résultats consolidés.</a:t>
            </a:r>
          </a:p>
        </p:txBody>
      </p:sp>
      <p:sp>
        <p:nvSpPr>
          <p:cNvPr id="13" name="28 697">
            <a:extLst xmlns:a="http://schemas.openxmlformats.org/drawingml/2006/main">
              <a:ext uri="{FF2B5EF4-FFF2-40B4-BE49-F238E27FC236}">
                <a16:creationId xmlns:a16="http://schemas.microsoft.com/office/drawing/2014/main" id="{1924D678-57A9-41B6-82F1-109CE9EDB255}"/>
              </a:ext>
            </a:extLst>
          </p:cNvPr>
          <p:cNvSpPr>
            <a:spLocks xmlns:a="http://schemas.openxmlformats.org/drawingml/2006/main" noGrp="1"/>
          </p:cNvSpPr>
          <p:nvPr/>
        </p:nvSpPr>
        <p:spPr>
          <a:xfrm xmlns:a="http://schemas.openxmlformats.org/drawingml/2006/main">
            <a:off x="822960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28 697</a:t>
            </a:r>
          </a:p>
        </p:txBody>
      </p:sp>
      <p:sp>
        <p:nvSpPr>
          <p:cNvPr id="14" name="Matériels">
            <a:extLst xmlns:a="http://schemas.openxmlformats.org/drawingml/2006/main">
              <a:ext uri="{FF2B5EF4-FFF2-40B4-BE49-F238E27FC236}">
                <a16:creationId xmlns:a16="http://schemas.microsoft.com/office/drawing/2014/main" id="{E9B9A194-0FD0-4A06-BA68-14E4365AF65E}"/>
              </a:ext>
            </a:extLst>
          </p:cNvPr>
          <p:cNvSpPr>
            <a:spLocks xmlns:a="http://schemas.openxmlformats.org/drawingml/2006/main" noGrp="1"/>
          </p:cNvSpPr>
          <p:nvPr/>
        </p:nvSpPr>
        <p:spPr>
          <a:xfrm xmlns:a="http://schemas.openxmlformats.org/drawingml/2006/main">
            <a:off x="822960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Matériels</a:t>
            </a:r>
          </a:p>
        </p:txBody>
      </p:sp>
      <p:sp>
        <p:nvSpPr>
          <p:cNvPr id="15" name="Matériels génétiques reliés à la table de faits.">
            <a:extLst xmlns:a="http://schemas.openxmlformats.org/drawingml/2006/main">
              <a:ext uri="{FF2B5EF4-FFF2-40B4-BE49-F238E27FC236}">
                <a16:creationId xmlns:a16="http://schemas.microsoft.com/office/drawing/2014/main" id="{E3A0C1BA-7983-4608-AF10-3F90E4ECA8B0}"/>
              </a:ext>
            </a:extLst>
          </p:cNvPr>
          <p:cNvSpPr>
            <a:spLocks xmlns:a="http://schemas.openxmlformats.org/drawingml/2006/main" noGrp="1"/>
          </p:cNvSpPr>
          <p:nvPr/>
        </p:nvSpPr>
        <p:spPr>
          <a:xfrm xmlns:a="http://schemas.openxmlformats.org/drawingml/2006/main">
            <a:off x="822960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Matériels génétiques reliés à la table de faits.</a:t>
            </a:r>
          </a:p>
        </p:txBody>
      </p:sp>
    </p:spTree>
    <p:extLst>
      <p:ext uri="{BB962C8B-B14F-4D97-AF65-F5344CB8AC3E}">
        <p14:creationId xmlns:p14="http://schemas.microsoft.com/office/powerpoint/2010/main" val="18597523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02 · DONNÉES">
            <a:extLst xmlns:a="http://schemas.openxmlformats.org/drawingml/2006/main">
              <a:ext uri="{FF2B5EF4-FFF2-40B4-BE49-F238E27FC236}">
                <a16:creationId xmlns:a16="http://schemas.microsoft.com/office/drawing/2014/main" id="{CF57C80B-A933-4522-B2B2-E759CDAEBB23}"/>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02 · DONNÉES</a:t>
            </a:r>
          </a:p>
        </p:txBody>
      </p:sp>
      <p:sp>
        <p:nvSpPr>
          <p:cNvPr id="2" name="Six sources reliées par des clés">
            <a:extLst xmlns:a="http://schemas.openxmlformats.org/drawingml/2006/main">
              <a:ext uri="{FF2B5EF4-FFF2-40B4-BE49-F238E27FC236}">
                <a16:creationId xmlns:a16="http://schemas.microsoft.com/office/drawing/2014/main" id="{BF7DD68F-2E38-4EDC-8538-E5E1811F6FA6}"/>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Six sources reliées par des clés</a:t>
            </a:r>
          </a:p>
        </p:txBody>
      </p:sp>
      <p:sp>
        <p:nvSpPr>
          <p:cNvPr id="3" name="">
            <a:extLst xmlns:a="http://schemas.openxmlformats.org/drawingml/2006/main">
              <a:ext uri="{FF2B5EF4-FFF2-40B4-BE49-F238E27FC236}">
                <a16:creationId xmlns:a16="http://schemas.microsoft.com/office/drawing/2014/main" id="{420E3ACC-A485-4427-8A0E-77AE41AE98A9}"/>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17AF0E7D-73FF-4C6F-AEA1-717D5BB12581}"/>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4">
            <a:extLst xmlns:a="http://schemas.openxmlformats.org/drawingml/2006/main">
              <a:ext uri="{FF2B5EF4-FFF2-40B4-BE49-F238E27FC236}">
                <a16:creationId xmlns:a16="http://schemas.microsoft.com/office/drawing/2014/main" id="{DA87132D-2C1F-41AE-A14D-4CDEB6B92FF9}"/>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04</a:t>
            </a:r>
          </a:p>
        </p:txBody>
      </p:sp>
      <p:sp>
        <p:nvSpPr>
          <p:cNvPr id="6" name="Source">
            <a:extLst xmlns:a="http://schemas.openxmlformats.org/drawingml/2006/main">
              <a:ext uri="{FF2B5EF4-FFF2-40B4-BE49-F238E27FC236}">
                <a16:creationId xmlns:a16="http://schemas.microsoft.com/office/drawing/2014/main" id="{49BC5624-5DE5-4952-8CE7-6F39169612A9}"/>
              </a:ext>
            </a:extLst>
          </p:cNvPr>
          <p:cNvSpPr>
            <a:spLocks xmlns:a="http://schemas.openxmlformats.org/drawingml/2006/main" noGrp="1"/>
          </p:cNvSpPr>
          <p:nvPr/>
        </p:nvSpPr>
        <p:spPr>
          <a:xfrm xmlns:a="http://schemas.openxmlformats.org/drawingml/2006/main">
            <a:off x="400050" y="183832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Source</a:t>
            </a:r>
          </a:p>
        </p:txBody>
      </p:sp>
      <p:sp>
        <p:nvSpPr>
          <p:cNvPr id="7" name="Clé principale">
            <a:extLst xmlns:a="http://schemas.openxmlformats.org/drawingml/2006/main">
              <a:ext uri="{FF2B5EF4-FFF2-40B4-BE49-F238E27FC236}">
                <a16:creationId xmlns:a16="http://schemas.microsoft.com/office/drawing/2014/main" id="{D9406A64-6AC7-4602-AAED-87FA23552F68}"/>
              </a:ext>
            </a:extLst>
          </p:cNvPr>
          <p:cNvSpPr>
            <a:spLocks xmlns:a="http://schemas.openxmlformats.org/drawingml/2006/main" noGrp="1"/>
          </p:cNvSpPr>
          <p:nvPr/>
        </p:nvSpPr>
        <p:spPr>
          <a:xfrm xmlns:a="http://schemas.openxmlformats.org/drawingml/2006/main">
            <a:off x="3114675" y="1838325"/>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Clé principale</a:t>
            </a:r>
          </a:p>
        </p:txBody>
      </p:sp>
      <p:sp>
        <p:nvSpPr>
          <p:cNvPr id="8" name="Rôle">
            <a:extLst xmlns:a="http://schemas.openxmlformats.org/drawingml/2006/main">
              <a:ext uri="{FF2B5EF4-FFF2-40B4-BE49-F238E27FC236}">
                <a16:creationId xmlns:a16="http://schemas.microsoft.com/office/drawing/2014/main" id="{82EE53EA-B497-405D-916F-A8BD9D219C0E}"/>
              </a:ext>
            </a:extLst>
          </p:cNvPr>
          <p:cNvSpPr>
            <a:spLocks xmlns:a="http://schemas.openxmlformats.org/drawingml/2006/main" noGrp="1"/>
          </p:cNvSpPr>
          <p:nvPr/>
        </p:nvSpPr>
        <p:spPr>
          <a:xfrm xmlns:a="http://schemas.openxmlformats.org/drawingml/2006/main">
            <a:off x="7210425" y="1838325"/>
            <a:ext cx="4410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Rôle</a:t>
            </a:r>
          </a:p>
        </p:txBody>
      </p:sp>
      <p:sp>
        <p:nvSpPr>
          <p:cNvPr id="9" name="">
            <a:extLst xmlns:a="http://schemas.openxmlformats.org/drawingml/2006/main">
              <a:ext uri="{FF2B5EF4-FFF2-40B4-BE49-F238E27FC236}">
                <a16:creationId xmlns:a16="http://schemas.microsoft.com/office/drawing/2014/main" id="{5D375BAA-85A6-4DAD-B144-AEF5DBCC802D}"/>
              </a:ext>
            </a:extLst>
          </p:cNvPr>
          <p:cNvSpPr>
            <a:spLocks xmlns:a="http://schemas.openxmlformats.org/drawingml/2006/main" noGrp="1"/>
          </p:cNvSpPr>
          <p:nvPr/>
        </p:nvSpPr>
        <p:spPr>
          <a:xfrm xmlns:a="http://schemas.openxmlformats.org/drawingml/2006/main">
            <a:off x="400050" y="2305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0" name="ESSAI">
            <a:extLst xmlns:a="http://schemas.openxmlformats.org/drawingml/2006/main">
              <a:ext uri="{FF2B5EF4-FFF2-40B4-BE49-F238E27FC236}">
                <a16:creationId xmlns:a16="http://schemas.microsoft.com/office/drawing/2014/main" id="{6454C958-89C8-40FE-BFFC-AE1D05F4D9A9}"/>
              </a:ext>
            </a:extLst>
          </p:cNvPr>
          <p:cNvSpPr>
            <a:spLocks xmlns:a="http://schemas.openxmlformats.org/drawingml/2006/main" noGrp="1"/>
          </p:cNvSpPr>
          <p:nvPr/>
        </p:nvSpPr>
        <p:spPr>
          <a:xfrm xmlns:a="http://schemas.openxmlformats.org/drawingml/2006/main">
            <a:off x="400050" y="2447925"/>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ESSAI</a:t>
            </a:r>
          </a:p>
        </p:txBody>
      </p:sp>
      <p:sp>
        <p:nvSpPr>
          <p:cNvPr id="11" name="Identifiant d’essai">
            <a:extLst xmlns:a="http://schemas.openxmlformats.org/drawingml/2006/main">
              <a:ext uri="{FF2B5EF4-FFF2-40B4-BE49-F238E27FC236}">
                <a16:creationId xmlns:a16="http://schemas.microsoft.com/office/drawing/2014/main" id="{506D23C4-A179-4618-9B5C-DCDB52FD2661}"/>
              </a:ext>
            </a:extLst>
          </p:cNvPr>
          <p:cNvSpPr>
            <a:spLocks xmlns:a="http://schemas.openxmlformats.org/drawingml/2006/main" noGrp="1"/>
          </p:cNvSpPr>
          <p:nvPr/>
        </p:nvSpPr>
        <p:spPr>
          <a:xfrm xmlns:a="http://schemas.openxmlformats.org/drawingml/2006/main">
            <a:off x="3114675" y="244792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Identifiant d’essai</a:t>
            </a:r>
          </a:p>
        </p:txBody>
      </p:sp>
      <p:sp>
        <p:nvSpPr>
          <p:cNvPr id="12" name="Campagne et géographie">
            <a:extLst xmlns:a="http://schemas.openxmlformats.org/drawingml/2006/main">
              <a:ext uri="{FF2B5EF4-FFF2-40B4-BE49-F238E27FC236}">
                <a16:creationId xmlns:a16="http://schemas.microsoft.com/office/drawing/2014/main" id="{85B7EDAE-4B8A-44C3-804F-A60DEEA6CEB1}"/>
              </a:ext>
            </a:extLst>
          </p:cNvPr>
          <p:cNvSpPr>
            <a:spLocks xmlns:a="http://schemas.openxmlformats.org/drawingml/2006/main" noGrp="1"/>
          </p:cNvSpPr>
          <p:nvPr/>
        </p:nvSpPr>
        <p:spPr>
          <a:xfrm xmlns:a="http://schemas.openxmlformats.org/drawingml/2006/main">
            <a:off x="7210425" y="2447925"/>
            <a:ext cx="4391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Campagne et géographie</a:t>
            </a:r>
          </a:p>
        </p:txBody>
      </p:sp>
      <p:sp>
        <p:nvSpPr>
          <p:cNvPr id="13" name="">
            <a:extLst xmlns:a="http://schemas.openxmlformats.org/drawingml/2006/main">
              <a:ext uri="{FF2B5EF4-FFF2-40B4-BE49-F238E27FC236}">
                <a16:creationId xmlns:a16="http://schemas.microsoft.com/office/drawing/2014/main" id="{49C3ED4D-3A4F-4A76-B2B3-E4143DBE1764}"/>
              </a:ext>
            </a:extLst>
          </p:cNvPr>
          <p:cNvSpPr>
            <a:spLocks xmlns:a="http://schemas.openxmlformats.org/drawingml/2006/main" noGrp="1"/>
          </p:cNvSpPr>
          <p:nvPr/>
        </p:nvSpPr>
        <p:spPr>
          <a:xfrm xmlns:a="http://schemas.openxmlformats.org/drawingml/2006/main">
            <a:off x="400050" y="2990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4" name="RESULTAT_ESSAIS">
            <a:extLst xmlns:a="http://schemas.openxmlformats.org/drawingml/2006/main">
              <a:ext uri="{FF2B5EF4-FFF2-40B4-BE49-F238E27FC236}">
                <a16:creationId xmlns:a16="http://schemas.microsoft.com/office/drawing/2014/main" id="{B9303FDA-2080-4791-8AD3-A9ABD99824D5}"/>
              </a:ext>
            </a:extLst>
          </p:cNvPr>
          <p:cNvSpPr>
            <a:spLocks xmlns:a="http://schemas.openxmlformats.org/drawingml/2006/main" noGrp="1"/>
          </p:cNvSpPr>
          <p:nvPr/>
        </p:nvSpPr>
        <p:spPr>
          <a:xfrm xmlns:a="http://schemas.openxmlformats.org/drawingml/2006/main">
            <a:off x="400050" y="3057525"/>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RESULTAT_ESSAIS</a:t>
            </a:r>
          </a:p>
        </p:txBody>
      </p:sp>
      <p:sp>
        <p:nvSpPr>
          <p:cNvPr id="15" name="Identifiant de mesure">
            <a:extLst xmlns:a="http://schemas.openxmlformats.org/drawingml/2006/main">
              <a:ext uri="{FF2B5EF4-FFF2-40B4-BE49-F238E27FC236}">
                <a16:creationId xmlns:a16="http://schemas.microsoft.com/office/drawing/2014/main" id="{FC59DF1B-A104-4A27-9CFD-E44CD9BE3FF3}"/>
              </a:ext>
            </a:extLst>
          </p:cNvPr>
          <p:cNvSpPr>
            <a:spLocks xmlns:a="http://schemas.openxmlformats.org/drawingml/2006/main" noGrp="1"/>
          </p:cNvSpPr>
          <p:nvPr/>
        </p:nvSpPr>
        <p:spPr>
          <a:xfrm xmlns:a="http://schemas.openxmlformats.org/drawingml/2006/main">
            <a:off x="3114675" y="305752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Identifiant de mesure</a:t>
            </a:r>
          </a:p>
        </p:txBody>
      </p:sp>
      <p:sp>
        <p:nvSpPr>
          <p:cNvPr id="16" name="Trait et valeur">
            <a:extLst xmlns:a="http://schemas.openxmlformats.org/drawingml/2006/main">
              <a:ext uri="{FF2B5EF4-FFF2-40B4-BE49-F238E27FC236}">
                <a16:creationId xmlns:a16="http://schemas.microsoft.com/office/drawing/2014/main" id="{AC5C734F-771E-4423-884F-7A3C9CB45EA6}"/>
              </a:ext>
            </a:extLst>
          </p:cNvPr>
          <p:cNvSpPr>
            <a:spLocks xmlns:a="http://schemas.openxmlformats.org/drawingml/2006/main" noGrp="1"/>
          </p:cNvSpPr>
          <p:nvPr/>
        </p:nvSpPr>
        <p:spPr>
          <a:xfrm xmlns:a="http://schemas.openxmlformats.org/drawingml/2006/main">
            <a:off x="7210425" y="3057525"/>
            <a:ext cx="4391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Trait et valeur</a:t>
            </a:r>
          </a:p>
        </p:txBody>
      </p:sp>
      <p:sp>
        <p:nvSpPr>
          <p:cNvPr id="17" name="">
            <a:extLst xmlns:a="http://schemas.openxmlformats.org/drawingml/2006/main">
              <a:ext uri="{FF2B5EF4-FFF2-40B4-BE49-F238E27FC236}">
                <a16:creationId xmlns:a16="http://schemas.microsoft.com/office/drawing/2014/main" id="{328F16E1-EE0A-41C6-9445-23F6D2B0DE0C}"/>
              </a:ext>
            </a:extLst>
          </p:cNvPr>
          <p:cNvSpPr>
            <a:spLocks xmlns:a="http://schemas.openxmlformats.org/drawingml/2006/main" noGrp="1"/>
          </p:cNvSpPr>
          <p:nvPr/>
        </p:nvSpPr>
        <p:spPr>
          <a:xfrm xmlns:a="http://schemas.openxmlformats.org/drawingml/2006/main">
            <a:off x="400050" y="36004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8" name="PARCELLE">
            <a:extLst xmlns:a="http://schemas.openxmlformats.org/drawingml/2006/main">
              <a:ext uri="{FF2B5EF4-FFF2-40B4-BE49-F238E27FC236}">
                <a16:creationId xmlns:a16="http://schemas.microsoft.com/office/drawing/2014/main" id="{49B87FCE-D602-46B4-8D4E-3346F0090E45}"/>
              </a:ext>
            </a:extLst>
          </p:cNvPr>
          <p:cNvSpPr>
            <a:spLocks xmlns:a="http://schemas.openxmlformats.org/drawingml/2006/main" noGrp="1"/>
          </p:cNvSpPr>
          <p:nvPr/>
        </p:nvSpPr>
        <p:spPr>
          <a:xfrm xmlns:a="http://schemas.openxmlformats.org/drawingml/2006/main">
            <a:off x="400050" y="3667125"/>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PARCELLE</a:t>
            </a:r>
          </a:p>
        </p:txBody>
      </p:sp>
      <p:sp>
        <p:nvSpPr>
          <p:cNvPr id="19" name="Identifiant de parcelle">
            <a:extLst xmlns:a="http://schemas.openxmlformats.org/drawingml/2006/main">
              <a:ext uri="{FF2B5EF4-FFF2-40B4-BE49-F238E27FC236}">
                <a16:creationId xmlns:a16="http://schemas.microsoft.com/office/drawing/2014/main" id="{2156C649-1848-43BC-96D2-6C5E8F080EF4}"/>
              </a:ext>
            </a:extLst>
          </p:cNvPr>
          <p:cNvSpPr>
            <a:spLocks xmlns:a="http://schemas.openxmlformats.org/drawingml/2006/main" noGrp="1"/>
          </p:cNvSpPr>
          <p:nvPr/>
        </p:nvSpPr>
        <p:spPr>
          <a:xfrm xmlns:a="http://schemas.openxmlformats.org/drawingml/2006/main">
            <a:off x="3114675" y="366712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Identifiant de parcelle</a:t>
            </a:r>
          </a:p>
        </p:txBody>
      </p:sp>
      <p:sp>
        <p:nvSpPr>
          <p:cNvPr id="20" name="Entrée, réplication, matériel">
            <a:extLst xmlns:a="http://schemas.openxmlformats.org/drawingml/2006/main">
              <a:ext uri="{FF2B5EF4-FFF2-40B4-BE49-F238E27FC236}">
                <a16:creationId xmlns:a16="http://schemas.microsoft.com/office/drawing/2014/main" id="{32136B6B-C9E7-4E75-81F8-367AA8577279}"/>
              </a:ext>
            </a:extLst>
          </p:cNvPr>
          <p:cNvSpPr>
            <a:spLocks xmlns:a="http://schemas.openxmlformats.org/drawingml/2006/main" noGrp="1"/>
          </p:cNvSpPr>
          <p:nvPr/>
        </p:nvSpPr>
        <p:spPr>
          <a:xfrm xmlns:a="http://schemas.openxmlformats.org/drawingml/2006/main">
            <a:off x="7210425" y="3667125"/>
            <a:ext cx="4391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Entrée, réplication, matériel</a:t>
            </a:r>
          </a:p>
        </p:txBody>
      </p:sp>
      <p:sp>
        <p:nvSpPr>
          <p:cNvPr id="21" name="">
            <a:extLst xmlns:a="http://schemas.openxmlformats.org/drawingml/2006/main">
              <a:ext uri="{FF2B5EF4-FFF2-40B4-BE49-F238E27FC236}">
                <a16:creationId xmlns:a16="http://schemas.microsoft.com/office/drawing/2014/main" id="{EEE7692E-2FC4-4EE4-A0C5-3B1BDDE9C539}"/>
              </a:ext>
            </a:extLst>
          </p:cNvPr>
          <p:cNvSpPr>
            <a:spLocks xmlns:a="http://schemas.openxmlformats.org/drawingml/2006/main" noGrp="1"/>
          </p:cNvSpPr>
          <p:nvPr/>
        </p:nvSpPr>
        <p:spPr>
          <a:xfrm xmlns:a="http://schemas.openxmlformats.org/drawingml/2006/main">
            <a:off x="400050" y="4210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2" name="LK_CRISP_MATERIAL">
            <a:extLst xmlns:a="http://schemas.openxmlformats.org/drawingml/2006/main">
              <a:ext uri="{FF2B5EF4-FFF2-40B4-BE49-F238E27FC236}">
                <a16:creationId xmlns:a16="http://schemas.microsoft.com/office/drawing/2014/main" id="{68C91560-2D34-4A6B-937D-C4F56350BB7B}"/>
              </a:ext>
            </a:extLst>
          </p:cNvPr>
          <p:cNvSpPr>
            <a:spLocks xmlns:a="http://schemas.openxmlformats.org/drawingml/2006/main" noGrp="1"/>
          </p:cNvSpPr>
          <p:nvPr/>
        </p:nvSpPr>
        <p:spPr>
          <a:xfrm xmlns:a="http://schemas.openxmlformats.org/drawingml/2006/main">
            <a:off x="400050" y="4276725"/>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LK_CRISP_MATERIAL</a:t>
            </a:r>
          </a:p>
        </p:txBody>
      </p:sp>
      <p:sp>
        <p:nvSpPr>
          <p:cNvPr id="23" name="Identifiant de matériel">
            <a:extLst xmlns:a="http://schemas.openxmlformats.org/drawingml/2006/main">
              <a:ext uri="{FF2B5EF4-FFF2-40B4-BE49-F238E27FC236}">
                <a16:creationId xmlns:a16="http://schemas.microsoft.com/office/drawing/2014/main" id="{41DFD8FD-BBD4-43BF-95E9-41EE2C427739}"/>
              </a:ext>
            </a:extLst>
          </p:cNvPr>
          <p:cNvSpPr>
            <a:spLocks xmlns:a="http://schemas.openxmlformats.org/drawingml/2006/main" noGrp="1"/>
          </p:cNvSpPr>
          <p:nvPr/>
        </p:nvSpPr>
        <p:spPr>
          <a:xfrm xmlns:a="http://schemas.openxmlformats.org/drawingml/2006/main">
            <a:off x="3114675" y="427672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Identifiant de matériel</a:t>
            </a:r>
          </a:p>
        </p:txBody>
      </p:sp>
      <p:sp>
        <p:nvSpPr>
          <p:cNvPr id="24" name="Nom et pedigree">
            <a:extLst xmlns:a="http://schemas.openxmlformats.org/drawingml/2006/main">
              <a:ext uri="{FF2B5EF4-FFF2-40B4-BE49-F238E27FC236}">
                <a16:creationId xmlns:a16="http://schemas.microsoft.com/office/drawing/2014/main" id="{CDA075CD-704A-4291-9A53-7C927110A557}"/>
              </a:ext>
            </a:extLst>
          </p:cNvPr>
          <p:cNvSpPr>
            <a:spLocks xmlns:a="http://schemas.openxmlformats.org/drawingml/2006/main" noGrp="1"/>
          </p:cNvSpPr>
          <p:nvPr/>
        </p:nvSpPr>
        <p:spPr>
          <a:xfrm xmlns:a="http://schemas.openxmlformats.org/drawingml/2006/main">
            <a:off x="7210425" y="4276725"/>
            <a:ext cx="4391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Nom et pedigree</a:t>
            </a:r>
          </a:p>
        </p:txBody>
      </p:sp>
      <p:sp>
        <p:nvSpPr>
          <p:cNvPr id="25" name="">
            <a:extLst xmlns:a="http://schemas.openxmlformats.org/drawingml/2006/main">
              <a:ext uri="{FF2B5EF4-FFF2-40B4-BE49-F238E27FC236}">
                <a16:creationId xmlns:a16="http://schemas.microsoft.com/office/drawing/2014/main" id="{885F013E-23A7-490E-8346-C48DF40E2141}"/>
              </a:ext>
            </a:extLst>
          </p:cNvPr>
          <p:cNvSpPr>
            <a:spLocks xmlns:a="http://schemas.openxmlformats.org/drawingml/2006/main" noGrp="1"/>
          </p:cNvSpPr>
          <p:nvPr/>
        </p:nvSpPr>
        <p:spPr>
          <a:xfrm xmlns:a="http://schemas.openxmlformats.org/drawingml/2006/main">
            <a:off x="400050" y="48196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6" name="REF_ESPECES">
            <a:extLst xmlns:a="http://schemas.openxmlformats.org/drawingml/2006/main">
              <a:ext uri="{FF2B5EF4-FFF2-40B4-BE49-F238E27FC236}">
                <a16:creationId xmlns:a16="http://schemas.microsoft.com/office/drawing/2014/main" id="{0DACA18E-7ED9-4111-812D-EEDFAFBFB55C}"/>
              </a:ext>
            </a:extLst>
          </p:cNvPr>
          <p:cNvSpPr>
            <a:spLocks xmlns:a="http://schemas.openxmlformats.org/drawingml/2006/main" noGrp="1"/>
          </p:cNvSpPr>
          <p:nvPr/>
        </p:nvSpPr>
        <p:spPr>
          <a:xfrm xmlns:a="http://schemas.openxmlformats.org/drawingml/2006/main">
            <a:off x="400050" y="4886325"/>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REF_ESPECES</a:t>
            </a:r>
          </a:p>
        </p:txBody>
      </p:sp>
      <p:sp>
        <p:nvSpPr>
          <p:cNvPr id="27" name="Espèce + spécificité">
            <a:extLst xmlns:a="http://schemas.openxmlformats.org/drawingml/2006/main">
              <a:ext uri="{FF2B5EF4-FFF2-40B4-BE49-F238E27FC236}">
                <a16:creationId xmlns:a16="http://schemas.microsoft.com/office/drawing/2014/main" id="{0B88F184-D02B-4E7F-83FF-DFB589E1A403}"/>
              </a:ext>
            </a:extLst>
          </p:cNvPr>
          <p:cNvSpPr>
            <a:spLocks xmlns:a="http://schemas.openxmlformats.org/drawingml/2006/main" noGrp="1"/>
          </p:cNvSpPr>
          <p:nvPr/>
        </p:nvSpPr>
        <p:spPr>
          <a:xfrm xmlns:a="http://schemas.openxmlformats.org/drawingml/2006/main">
            <a:off x="3114675" y="488632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Espèce + spécificité</a:t>
            </a:r>
          </a:p>
        </p:txBody>
      </p:sp>
      <p:sp>
        <p:nvSpPr>
          <p:cNvPr id="28" name="Référentiel disponible">
            <a:extLst xmlns:a="http://schemas.openxmlformats.org/drawingml/2006/main">
              <a:ext uri="{FF2B5EF4-FFF2-40B4-BE49-F238E27FC236}">
                <a16:creationId xmlns:a16="http://schemas.microsoft.com/office/drawing/2014/main" id="{89A85F13-C55D-42A4-BBEF-27CC5C73BF52}"/>
              </a:ext>
            </a:extLst>
          </p:cNvPr>
          <p:cNvSpPr>
            <a:spLocks xmlns:a="http://schemas.openxmlformats.org/drawingml/2006/main" noGrp="1"/>
          </p:cNvSpPr>
          <p:nvPr/>
        </p:nvSpPr>
        <p:spPr>
          <a:xfrm xmlns:a="http://schemas.openxmlformats.org/drawingml/2006/main">
            <a:off x="7210425" y="4886325"/>
            <a:ext cx="4391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Référentiel disponible</a:t>
            </a:r>
          </a:p>
        </p:txBody>
      </p:sp>
      <p:sp>
        <p:nvSpPr>
          <p:cNvPr id="29" name="">
            <a:extLst xmlns:a="http://schemas.openxmlformats.org/drawingml/2006/main">
              <a:ext uri="{FF2B5EF4-FFF2-40B4-BE49-F238E27FC236}">
                <a16:creationId xmlns:a16="http://schemas.microsoft.com/office/drawing/2014/main" id="{90570DDD-CD55-46E4-AFEC-5E4DF7CA2EEB}"/>
              </a:ext>
            </a:extLst>
          </p:cNvPr>
          <p:cNvSpPr>
            <a:spLocks xmlns:a="http://schemas.openxmlformats.org/drawingml/2006/main" noGrp="1"/>
          </p:cNvSpPr>
          <p:nvPr/>
        </p:nvSpPr>
        <p:spPr>
          <a:xfrm xmlns:a="http://schemas.openxmlformats.org/drawingml/2006/main">
            <a:off x="400050" y="54292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30" name="TRIAL_QUALIFICATION">
            <a:extLst xmlns:a="http://schemas.openxmlformats.org/drawingml/2006/main">
              <a:ext uri="{FF2B5EF4-FFF2-40B4-BE49-F238E27FC236}">
                <a16:creationId xmlns:a16="http://schemas.microsoft.com/office/drawing/2014/main" id="{3B415DC1-A9A5-42D4-A053-4D88680DC954}"/>
              </a:ext>
            </a:extLst>
          </p:cNvPr>
          <p:cNvSpPr>
            <a:spLocks xmlns:a="http://schemas.openxmlformats.org/drawingml/2006/main" noGrp="1"/>
          </p:cNvSpPr>
          <p:nvPr/>
        </p:nvSpPr>
        <p:spPr>
          <a:xfrm xmlns:a="http://schemas.openxmlformats.org/drawingml/2006/main">
            <a:off x="400050" y="5495925"/>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TRIAL_QUALIFICATION</a:t>
            </a:r>
          </a:p>
        </p:txBody>
      </p:sp>
      <p:sp>
        <p:nvSpPr>
          <p:cNvPr id="31" name="Essai + année + attribut">
            <a:extLst xmlns:a="http://schemas.openxmlformats.org/drawingml/2006/main">
              <a:ext uri="{FF2B5EF4-FFF2-40B4-BE49-F238E27FC236}">
                <a16:creationId xmlns:a16="http://schemas.microsoft.com/office/drawing/2014/main" id="{585C179C-1F25-41CB-A84A-FEC3AFA67A16}"/>
              </a:ext>
            </a:extLst>
          </p:cNvPr>
          <p:cNvSpPr>
            <a:spLocks xmlns:a="http://schemas.openxmlformats.org/drawingml/2006/main" noGrp="1"/>
          </p:cNvSpPr>
          <p:nvPr/>
        </p:nvSpPr>
        <p:spPr>
          <a:xfrm xmlns:a="http://schemas.openxmlformats.org/drawingml/2006/main">
            <a:off x="3114675" y="549592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Essai + année + attribut</a:t>
            </a:r>
          </a:p>
        </p:txBody>
      </p:sp>
      <p:sp>
        <p:nvSpPr>
          <p:cNvPr id="32" name="Qualification pivotée">
            <a:extLst xmlns:a="http://schemas.openxmlformats.org/drawingml/2006/main">
              <a:ext uri="{FF2B5EF4-FFF2-40B4-BE49-F238E27FC236}">
                <a16:creationId xmlns:a16="http://schemas.microsoft.com/office/drawing/2014/main" id="{08EFB51D-3C3D-4A50-BBA5-97EBA72FD3E6}"/>
              </a:ext>
            </a:extLst>
          </p:cNvPr>
          <p:cNvSpPr>
            <a:spLocks xmlns:a="http://schemas.openxmlformats.org/drawingml/2006/main" noGrp="1"/>
          </p:cNvSpPr>
          <p:nvPr/>
        </p:nvSpPr>
        <p:spPr>
          <a:xfrm xmlns:a="http://schemas.openxmlformats.org/drawingml/2006/main">
            <a:off x="7210425" y="5495925"/>
            <a:ext cx="4391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Qualification pivotée</a:t>
            </a:r>
          </a:p>
        </p:txBody>
      </p:sp>
    </p:spTree>
    <p:extLst>
      <p:ext uri="{BB962C8B-B14F-4D97-AF65-F5344CB8AC3E}">
        <p14:creationId xmlns:p14="http://schemas.microsoft.com/office/powerpoint/2010/main" val="9618946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03 · ARCHITECTURE">
            <a:extLst xmlns:a="http://schemas.openxmlformats.org/drawingml/2006/main">
              <a:ext uri="{FF2B5EF4-FFF2-40B4-BE49-F238E27FC236}">
                <a16:creationId xmlns:a16="http://schemas.microsoft.com/office/drawing/2014/main" id="{3882CAA6-2987-45D0-B66B-9ED07BDA6918}"/>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03 · ARCHITECTURE</a:t>
            </a:r>
          </a:p>
        </p:txBody>
      </p:sp>
      <p:sp>
        <p:nvSpPr>
          <p:cNvPr id="2" name="Un flux local, des couches séparées">
            <a:extLst xmlns:a="http://schemas.openxmlformats.org/drawingml/2006/main">
              <a:ext uri="{FF2B5EF4-FFF2-40B4-BE49-F238E27FC236}">
                <a16:creationId xmlns:a16="http://schemas.microsoft.com/office/drawing/2014/main" id="{1B3D5DEC-75D4-4EB4-9EFA-D4C3D5B69321}"/>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Un flux local, des couches séparées</a:t>
            </a:r>
          </a:p>
        </p:txBody>
      </p:sp>
      <p:sp>
        <p:nvSpPr>
          <p:cNvPr id="3" name="">
            <a:extLst xmlns:a="http://schemas.openxmlformats.org/drawingml/2006/main">
              <a:ext uri="{FF2B5EF4-FFF2-40B4-BE49-F238E27FC236}">
                <a16:creationId xmlns:a16="http://schemas.microsoft.com/office/drawing/2014/main" id="{4DE0B18E-15E8-4AFB-9A6E-0F6E0ECF161E}"/>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985C0FC3-981B-499A-B72E-7E0422EDA579}"/>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5">
            <a:extLst xmlns:a="http://schemas.openxmlformats.org/drawingml/2006/main">
              <a:ext uri="{FF2B5EF4-FFF2-40B4-BE49-F238E27FC236}">
                <a16:creationId xmlns:a16="http://schemas.microsoft.com/office/drawing/2014/main" id="{8BB65DB7-69DE-403C-A96A-4C8C68596E41}"/>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05</a:t>
            </a:r>
          </a:p>
        </p:txBody>
      </p:sp>
      <p:sp>
        <p:nvSpPr>
          <p:cNvPr id="6" name="→">
            <a:extLst xmlns:a="http://schemas.openxmlformats.org/drawingml/2006/main">
              <a:ext uri="{FF2B5EF4-FFF2-40B4-BE49-F238E27FC236}">
                <a16:creationId xmlns:a16="http://schemas.microsoft.com/office/drawing/2014/main" id="{460C0685-3CA9-48A3-9987-2CB6A6CDC0AE}"/>
              </a:ext>
            </a:extLst>
          </p:cNvPr>
          <p:cNvSpPr>
            <a:spLocks xmlns:a="http://schemas.openxmlformats.org/drawingml/2006/main" noGrp="1"/>
          </p:cNvSpPr>
          <p:nvPr/>
        </p:nvSpPr>
        <p:spPr>
          <a:xfrm xmlns:a="http://schemas.openxmlformats.org/drawingml/2006/main">
            <a:off x="2914650" y="2752725"/>
            <a:ext cx="41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0">
                <a:solidFill>
                  <a:srgbClr val="525860"/>
                </a:solidFill>
              </a:defRPr>
            </a:pPr>
            <a:r>
              <a:rPr sz="3000" b="0">
                <a:solidFill>
                  <a:srgbClr val="525860"/>
                </a:solidFill>
              </a:rPr>
              <a:t>→</a:t>
            </a:r>
          </a:p>
        </p:txBody>
      </p:sp>
      <p:sp>
        <p:nvSpPr>
          <p:cNvPr id="7" name="→">
            <a:extLst xmlns:a="http://schemas.openxmlformats.org/drawingml/2006/main">
              <a:ext uri="{FF2B5EF4-FFF2-40B4-BE49-F238E27FC236}">
                <a16:creationId xmlns:a16="http://schemas.microsoft.com/office/drawing/2014/main" id="{E4605EF0-A27A-4B55-AAF6-2B4427A91DEF}"/>
              </a:ext>
            </a:extLst>
          </p:cNvPr>
          <p:cNvSpPr>
            <a:spLocks xmlns:a="http://schemas.openxmlformats.org/drawingml/2006/main" noGrp="1"/>
          </p:cNvSpPr>
          <p:nvPr/>
        </p:nvSpPr>
        <p:spPr>
          <a:xfrm xmlns:a="http://schemas.openxmlformats.org/drawingml/2006/main">
            <a:off x="5848350" y="2752725"/>
            <a:ext cx="41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0">
                <a:solidFill>
                  <a:srgbClr val="525860"/>
                </a:solidFill>
              </a:defRPr>
            </a:pPr>
            <a:r>
              <a:rPr sz="3000" b="0">
                <a:solidFill>
                  <a:srgbClr val="525860"/>
                </a:solidFill>
              </a:rPr>
              <a:t>→</a:t>
            </a:r>
          </a:p>
        </p:txBody>
      </p:sp>
      <p:sp>
        <p:nvSpPr>
          <p:cNvPr id="8" name="→">
            <a:extLst xmlns:a="http://schemas.openxmlformats.org/drawingml/2006/main">
              <a:ext uri="{FF2B5EF4-FFF2-40B4-BE49-F238E27FC236}">
                <a16:creationId xmlns:a16="http://schemas.microsoft.com/office/drawing/2014/main" id="{18C387F8-AC97-48F0-A5AD-91FECFF2D7A3}"/>
              </a:ext>
            </a:extLst>
          </p:cNvPr>
          <p:cNvSpPr>
            <a:spLocks xmlns:a="http://schemas.openxmlformats.org/drawingml/2006/main" noGrp="1"/>
          </p:cNvSpPr>
          <p:nvPr/>
        </p:nvSpPr>
        <p:spPr>
          <a:xfrm xmlns:a="http://schemas.openxmlformats.org/drawingml/2006/main">
            <a:off x="8782050" y="2752725"/>
            <a:ext cx="41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0">
                <a:solidFill>
                  <a:srgbClr val="525860"/>
                </a:solidFill>
              </a:defRPr>
            </a:pPr>
            <a:r>
              <a:rPr sz="3000" b="0">
                <a:solidFill>
                  <a:srgbClr val="525860"/>
                </a:solidFill>
              </a:rPr>
              <a:t>→</a:t>
            </a:r>
          </a:p>
        </p:txBody>
      </p:sp>
      <p:sp>
        <p:nvSpPr>
          <p:cNvPr id="9" name="">
            <a:extLst xmlns:a="http://schemas.openxmlformats.org/drawingml/2006/main">
              <a:ext uri="{FF2B5EF4-FFF2-40B4-BE49-F238E27FC236}">
                <a16:creationId xmlns:a16="http://schemas.microsoft.com/office/drawing/2014/main" id="{9166CCC3-CCE3-4D6F-B48C-1092B5E37B5C}"/>
              </a:ext>
            </a:extLst>
          </p:cNvPr>
          <p:cNvSpPr>
            <a:spLocks xmlns:a="http://schemas.openxmlformats.org/drawingml/2006/main" noGrp="1"/>
          </p:cNvSpPr>
          <p:nvPr/>
        </p:nvSpPr>
        <p:spPr>
          <a:xfrm xmlns:a="http://schemas.openxmlformats.org/drawingml/2006/main">
            <a:off x="400050" y="2257425"/>
            <a:ext cx="2495550" cy="1581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0" name="Sources">
            <a:extLst xmlns:a="http://schemas.openxmlformats.org/drawingml/2006/main">
              <a:ext uri="{FF2B5EF4-FFF2-40B4-BE49-F238E27FC236}">
                <a16:creationId xmlns:a16="http://schemas.microsoft.com/office/drawing/2014/main" id="{66AFEBBF-29BF-406A-BD97-399DF0968C72}"/>
              </a:ext>
            </a:extLst>
          </p:cNvPr>
          <p:cNvSpPr>
            <a:spLocks xmlns:a="http://schemas.openxmlformats.org/drawingml/2006/main" noGrp="1"/>
          </p:cNvSpPr>
          <p:nvPr/>
        </p:nvSpPr>
        <p:spPr>
          <a:xfrm xmlns:a="http://schemas.openxmlformats.org/drawingml/2006/main">
            <a:off x="590550" y="254317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Sources</a:t>
            </a:r>
          </a:p>
        </p:txBody>
      </p:sp>
      <p:sp>
        <p:nvSpPr>
          <p:cNvPr id="11" name="6 CSV">
            <a:extLst xmlns:a="http://schemas.openxmlformats.org/drawingml/2006/main">
              <a:ext uri="{FF2B5EF4-FFF2-40B4-BE49-F238E27FC236}">
                <a16:creationId xmlns:a16="http://schemas.microsoft.com/office/drawing/2014/main" id="{0E01E158-3E6D-444E-98EF-DE1F552A7A27}"/>
              </a:ext>
            </a:extLst>
          </p:cNvPr>
          <p:cNvSpPr>
            <a:spLocks xmlns:a="http://schemas.openxmlformats.org/drawingml/2006/main" noGrp="1"/>
          </p:cNvSpPr>
          <p:nvPr/>
        </p:nvSpPr>
        <p:spPr>
          <a:xfrm xmlns:a="http://schemas.openxmlformats.org/drawingml/2006/main">
            <a:off x="590550" y="3209925"/>
            <a:ext cx="2114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6 CSV</a:t>
            </a:r>
          </a:p>
        </p:txBody>
      </p:sp>
      <p:sp>
        <p:nvSpPr>
          <p:cNvPr id="12" name="">
            <a:extLst xmlns:a="http://schemas.openxmlformats.org/drawingml/2006/main">
              <a:ext uri="{FF2B5EF4-FFF2-40B4-BE49-F238E27FC236}">
                <a16:creationId xmlns:a16="http://schemas.microsoft.com/office/drawing/2014/main" id="{14E2192D-C508-4B29-9BC6-8C853D515127}"/>
              </a:ext>
            </a:extLst>
          </p:cNvPr>
          <p:cNvSpPr>
            <a:spLocks xmlns:a="http://schemas.openxmlformats.org/drawingml/2006/main" noGrp="1"/>
          </p:cNvSpPr>
          <p:nvPr/>
        </p:nvSpPr>
        <p:spPr>
          <a:xfrm xmlns:a="http://schemas.openxmlformats.org/drawingml/2006/main">
            <a:off x="3333750" y="2257425"/>
            <a:ext cx="2495550" cy="1581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3" name="Raw">
            <a:extLst xmlns:a="http://schemas.openxmlformats.org/drawingml/2006/main">
              <a:ext uri="{FF2B5EF4-FFF2-40B4-BE49-F238E27FC236}">
                <a16:creationId xmlns:a16="http://schemas.microsoft.com/office/drawing/2014/main" id="{9F754535-4F42-4517-B44D-BDAEE5060DD6}"/>
              </a:ext>
            </a:extLst>
          </p:cNvPr>
          <p:cNvSpPr>
            <a:spLocks xmlns:a="http://schemas.openxmlformats.org/drawingml/2006/main" noGrp="1"/>
          </p:cNvSpPr>
          <p:nvPr/>
        </p:nvSpPr>
        <p:spPr>
          <a:xfrm xmlns:a="http://schemas.openxmlformats.org/drawingml/2006/main">
            <a:off x="3524250" y="254317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Raw</a:t>
            </a:r>
          </a:p>
        </p:txBody>
      </p:sp>
      <p:sp>
        <p:nvSpPr>
          <p:cNvPr id="14" name="Parquet">
            <a:extLst xmlns:a="http://schemas.openxmlformats.org/drawingml/2006/main">
              <a:ext uri="{FF2B5EF4-FFF2-40B4-BE49-F238E27FC236}">
                <a16:creationId xmlns:a16="http://schemas.microsoft.com/office/drawing/2014/main" id="{BD32B1B2-C265-4F77-B218-79201F5577B0}"/>
              </a:ext>
            </a:extLst>
          </p:cNvPr>
          <p:cNvSpPr>
            <a:spLocks xmlns:a="http://schemas.openxmlformats.org/drawingml/2006/main" noGrp="1"/>
          </p:cNvSpPr>
          <p:nvPr/>
        </p:nvSpPr>
        <p:spPr>
          <a:xfrm xmlns:a="http://schemas.openxmlformats.org/drawingml/2006/main">
            <a:off x="3524250" y="3209925"/>
            <a:ext cx="2114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Parquet</a:t>
            </a:r>
          </a:p>
        </p:txBody>
      </p:sp>
      <p:sp>
        <p:nvSpPr>
          <p:cNvPr id="15" name="">
            <a:extLst xmlns:a="http://schemas.openxmlformats.org/drawingml/2006/main">
              <a:ext uri="{FF2B5EF4-FFF2-40B4-BE49-F238E27FC236}">
                <a16:creationId xmlns:a16="http://schemas.microsoft.com/office/drawing/2014/main" id="{ACC6FDD1-6EE0-4D0D-8786-2E876E7812E1}"/>
              </a:ext>
            </a:extLst>
          </p:cNvPr>
          <p:cNvSpPr>
            <a:spLocks xmlns:a="http://schemas.openxmlformats.org/drawingml/2006/main" noGrp="1"/>
          </p:cNvSpPr>
          <p:nvPr/>
        </p:nvSpPr>
        <p:spPr>
          <a:xfrm xmlns:a="http://schemas.openxmlformats.org/drawingml/2006/main">
            <a:off x="6267450" y="2257425"/>
            <a:ext cx="2495550" cy="1581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6" name="ETL">
            <a:extLst xmlns:a="http://schemas.openxmlformats.org/drawingml/2006/main">
              <a:ext uri="{FF2B5EF4-FFF2-40B4-BE49-F238E27FC236}">
                <a16:creationId xmlns:a16="http://schemas.microsoft.com/office/drawing/2014/main" id="{B2CF2E58-6E7A-4F18-B621-3D23A91DC983}"/>
              </a:ext>
            </a:extLst>
          </p:cNvPr>
          <p:cNvSpPr>
            <a:spLocks xmlns:a="http://schemas.openxmlformats.org/drawingml/2006/main" noGrp="1"/>
          </p:cNvSpPr>
          <p:nvPr/>
        </p:nvSpPr>
        <p:spPr>
          <a:xfrm xmlns:a="http://schemas.openxmlformats.org/drawingml/2006/main">
            <a:off x="6457950" y="254317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ETL</a:t>
            </a:r>
          </a:p>
        </p:txBody>
      </p:sp>
      <p:sp>
        <p:nvSpPr>
          <p:cNvPr id="17" name="pandas">
            <a:extLst xmlns:a="http://schemas.openxmlformats.org/drawingml/2006/main">
              <a:ext uri="{FF2B5EF4-FFF2-40B4-BE49-F238E27FC236}">
                <a16:creationId xmlns:a16="http://schemas.microsoft.com/office/drawing/2014/main" id="{337632E1-7503-4812-ADDB-24576DFBC210}"/>
              </a:ext>
            </a:extLst>
          </p:cNvPr>
          <p:cNvSpPr>
            <a:spLocks xmlns:a="http://schemas.openxmlformats.org/drawingml/2006/main" noGrp="1"/>
          </p:cNvSpPr>
          <p:nvPr/>
        </p:nvSpPr>
        <p:spPr>
          <a:xfrm xmlns:a="http://schemas.openxmlformats.org/drawingml/2006/main">
            <a:off x="6457950" y="3209925"/>
            <a:ext cx="2114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pandas</a:t>
            </a:r>
          </a:p>
        </p:txBody>
      </p:sp>
      <p:sp>
        <p:nvSpPr>
          <p:cNvPr id="18" name="">
            <a:extLst xmlns:a="http://schemas.openxmlformats.org/drawingml/2006/main">
              <a:ext uri="{FF2B5EF4-FFF2-40B4-BE49-F238E27FC236}">
                <a16:creationId xmlns:a16="http://schemas.microsoft.com/office/drawing/2014/main" id="{C838D779-E36E-475B-BEDE-FD4E3FD7E5EB}"/>
              </a:ext>
            </a:extLst>
          </p:cNvPr>
          <p:cNvSpPr>
            <a:spLocks xmlns:a="http://schemas.openxmlformats.org/drawingml/2006/main" noGrp="1"/>
          </p:cNvSpPr>
          <p:nvPr/>
        </p:nvSpPr>
        <p:spPr>
          <a:xfrm xmlns:a="http://schemas.openxmlformats.org/drawingml/2006/main">
            <a:off x="9201150" y="2257425"/>
            <a:ext cx="2495550" cy="1581150"/>
          </a:xfrm>
          <a:prstGeom xmlns:a="http://schemas.openxmlformats.org/drawingml/2006/main" prst="rect">
            <a:avLst/>
          </a:prstGeom>
          <a:solidFill xmlns:a="http://schemas.openxmlformats.org/drawingml/2006/main">
            <a:srgbClr val="EDEDED"/>
          </a:solidFill>
          <a:ln xmlns:a="http://schemas.openxmlformats.org/drawingml/2006/main" w="0">
            <a:noFill/>
          </a:ln>
        </p:spPr>
      </p:sp>
      <p:sp>
        <p:nvSpPr>
          <p:cNvPr id="19" name="Faits">
            <a:extLst xmlns:a="http://schemas.openxmlformats.org/drawingml/2006/main">
              <a:ext uri="{FF2B5EF4-FFF2-40B4-BE49-F238E27FC236}">
                <a16:creationId xmlns:a16="http://schemas.microsoft.com/office/drawing/2014/main" id="{FE8A96E6-268A-4864-8794-23377038DBB9}"/>
              </a:ext>
            </a:extLst>
          </p:cNvPr>
          <p:cNvSpPr>
            <a:spLocks xmlns:a="http://schemas.openxmlformats.org/drawingml/2006/main" noGrp="1"/>
          </p:cNvSpPr>
          <p:nvPr/>
        </p:nvSpPr>
        <p:spPr>
          <a:xfrm xmlns:a="http://schemas.openxmlformats.org/drawingml/2006/main">
            <a:off x="9391650" y="254317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Faits</a:t>
            </a:r>
          </a:p>
        </p:txBody>
      </p:sp>
      <p:sp>
        <p:nvSpPr>
          <p:cNvPr id="20" name="Parquet / CSV">
            <a:extLst xmlns:a="http://schemas.openxmlformats.org/drawingml/2006/main">
              <a:ext uri="{FF2B5EF4-FFF2-40B4-BE49-F238E27FC236}">
                <a16:creationId xmlns:a16="http://schemas.microsoft.com/office/drawing/2014/main" id="{2B8EE2A0-C861-422A-999E-D6E33B1B0C2B}"/>
              </a:ext>
            </a:extLst>
          </p:cNvPr>
          <p:cNvSpPr>
            <a:spLocks xmlns:a="http://schemas.openxmlformats.org/drawingml/2006/main" noGrp="1"/>
          </p:cNvSpPr>
          <p:nvPr/>
        </p:nvSpPr>
        <p:spPr>
          <a:xfrm xmlns:a="http://schemas.openxmlformats.org/drawingml/2006/main">
            <a:off x="9391650" y="3209925"/>
            <a:ext cx="2114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Parquet / CSV</a:t>
            </a:r>
          </a:p>
        </p:txBody>
      </p:sp>
      <p:sp>
        <p:nvSpPr>
          <p:cNvPr id="21" name="Consommateurs">
            <a:extLst xmlns:a="http://schemas.openxmlformats.org/drawingml/2006/main">
              <a:ext uri="{FF2B5EF4-FFF2-40B4-BE49-F238E27FC236}">
                <a16:creationId xmlns:a16="http://schemas.microsoft.com/office/drawing/2014/main" id="{DFA0974B-E6CB-494C-8687-8FBCB81B2EF0}"/>
              </a:ext>
            </a:extLst>
          </p:cNvPr>
          <p:cNvSpPr>
            <a:spLocks xmlns:a="http://schemas.openxmlformats.org/drawingml/2006/main" noGrp="1"/>
          </p:cNvSpPr>
          <p:nvPr/>
        </p:nvSpPr>
        <p:spPr>
          <a:xfrm xmlns:a="http://schemas.openxmlformats.org/drawingml/2006/main">
            <a:off x="400050" y="44767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Consommateurs</a:t>
            </a:r>
          </a:p>
        </p:txBody>
      </p:sp>
      <p:sp>
        <p:nvSpPr>
          <p:cNvPr id="22" name="SQL · statistiques R/Python · modèles ML · stockage SQLite">
            <a:extLst xmlns:a="http://schemas.openxmlformats.org/drawingml/2006/main">
              <a:ext uri="{FF2B5EF4-FFF2-40B4-BE49-F238E27FC236}">
                <a16:creationId xmlns:a16="http://schemas.microsoft.com/office/drawing/2014/main" id="{CEF7144F-A8A4-4246-A266-874B2A588603}"/>
              </a:ext>
            </a:extLst>
          </p:cNvPr>
          <p:cNvSpPr>
            <a:spLocks xmlns:a="http://schemas.openxmlformats.org/drawingml/2006/main" noGrp="1"/>
          </p:cNvSpPr>
          <p:nvPr/>
        </p:nvSpPr>
        <p:spPr>
          <a:xfrm xmlns:a="http://schemas.openxmlformats.org/drawingml/2006/main">
            <a:off x="3619500" y="4476750"/>
            <a:ext cx="8172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100" b="0">
                <a:solidFill>
                  <a:srgbClr val="111111"/>
                </a:solidFill>
              </a:defRPr>
            </a:pPr>
            <a:r>
              <a:rPr sz="2100" b="0">
                <a:solidFill>
                  <a:srgbClr val="111111"/>
                </a:solidFill>
              </a:rPr>
              <a:t>SQL · statistiques R/Python · modèles ML · stockage SQLite</a:t>
            </a:r>
          </a:p>
        </p:txBody>
      </p:sp>
      <p:sp>
        <p:nvSpPr>
          <p:cNvPr id="23" name="Exposition">
            <a:extLst xmlns:a="http://schemas.openxmlformats.org/drawingml/2006/main">
              <a:ext uri="{FF2B5EF4-FFF2-40B4-BE49-F238E27FC236}">
                <a16:creationId xmlns:a16="http://schemas.microsoft.com/office/drawing/2014/main" id="{EAEE514A-4F5D-498D-B052-30D840C4D0F4}"/>
              </a:ext>
            </a:extLst>
          </p:cNvPr>
          <p:cNvSpPr>
            <a:spLocks xmlns:a="http://schemas.openxmlformats.org/drawingml/2006/main" noGrp="1"/>
          </p:cNvSpPr>
          <p:nvPr/>
        </p:nvSpPr>
        <p:spPr>
          <a:xfrm xmlns:a="http://schemas.openxmlformats.org/drawingml/2006/main">
            <a:off x="400050" y="54768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Exposition</a:t>
            </a:r>
          </a:p>
        </p:txBody>
      </p:sp>
      <p:sp>
        <p:nvSpPr>
          <p:cNvPr id="24" name="Dashboard · carte · recherche · API de prédiction">
            <a:extLst xmlns:a="http://schemas.openxmlformats.org/drawingml/2006/main">
              <a:ext uri="{FF2B5EF4-FFF2-40B4-BE49-F238E27FC236}">
                <a16:creationId xmlns:a16="http://schemas.microsoft.com/office/drawing/2014/main" id="{04F08B8A-D408-4EB2-BA7A-2D6C8B1D3090}"/>
              </a:ext>
            </a:extLst>
          </p:cNvPr>
          <p:cNvSpPr>
            <a:spLocks xmlns:a="http://schemas.openxmlformats.org/drawingml/2006/main" noGrp="1"/>
          </p:cNvSpPr>
          <p:nvPr/>
        </p:nvSpPr>
        <p:spPr>
          <a:xfrm xmlns:a="http://schemas.openxmlformats.org/drawingml/2006/main">
            <a:off x="3619500" y="5476875"/>
            <a:ext cx="8172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100" b="0">
                <a:solidFill>
                  <a:srgbClr val="111111"/>
                </a:solidFill>
              </a:defRPr>
            </a:pPr>
            <a:r>
              <a:rPr sz="2100" b="0">
                <a:solidFill>
                  <a:srgbClr val="111111"/>
                </a:solidFill>
              </a:rPr>
              <a:t>Dashboard · carte · recherche · API de prédiction</a:t>
            </a:r>
          </a:p>
        </p:txBody>
      </p:sp>
    </p:spTree>
    <p:extLst>
      <p:ext uri="{BB962C8B-B14F-4D97-AF65-F5344CB8AC3E}">
        <p14:creationId xmlns:p14="http://schemas.microsoft.com/office/powerpoint/2010/main" val="15810002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03 · ARCHITECTURE">
            <a:extLst xmlns:a="http://schemas.openxmlformats.org/drawingml/2006/main">
              <a:ext uri="{FF2B5EF4-FFF2-40B4-BE49-F238E27FC236}">
                <a16:creationId xmlns:a16="http://schemas.microsoft.com/office/drawing/2014/main" id="{CEFB805F-48A2-43D1-A080-5A9BD85741C5}"/>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03 · ARCHITECTURE</a:t>
            </a:r>
          </a:p>
        </p:txBody>
      </p:sp>
      <p:sp>
        <p:nvSpPr>
          <p:cNvPr id="2" name="Les services Big Data sont adaptés">
            <a:extLst xmlns:a="http://schemas.openxmlformats.org/drawingml/2006/main">
              <a:ext uri="{FF2B5EF4-FFF2-40B4-BE49-F238E27FC236}">
                <a16:creationId xmlns:a16="http://schemas.microsoft.com/office/drawing/2014/main" id="{AB89808E-1963-476D-86CC-D81EA922DDFB}"/>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Les services Big Data sont adaptés</a:t>
            </a:r>
          </a:p>
        </p:txBody>
      </p:sp>
      <p:sp>
        <p:nvSpPr>
          <p:cNvPr id="3" name="">
            <a:extLst xmlns:a="http://schemas.openxmlformats.org/drawingml/2006/main">
              <a:ext uri="{FF2B5EF4-FFF2-40B4-BE49-F238E27FC236}">
                <a16:creationId xmlns:a16="http://schemas.microsoft.com/office/drawing/2014/main" id="{4D3D59D8-B997-46D7-AA11-0CC1390BAAE5}"/>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842893EA-4FC4-4BB1-9163-2E6989615EF9}"/>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6">
            <a:extLst xmlns:a="http://schemas.openxmlformats.org/drawingml/2006/main">
              <a:ext uri="{FF2B5EF4-FFF2-40B4-BE49-F238E27FC236}">
                <a16:creationId xmlns:a16="http://schemas.microsoft.com/office/drawing/2014/main" id="{9321D7A4-937E-4D72-885F-9F3D6BEAF4FF}"/>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06</a:t>
            </a:r>
          </a:p>
        </p:txBody>
      </p:sp>
      <p:sp>
        <p:nvSpPr>
          <p:cNvPr id="6" name="Concept">
            <a:extLst xmlns:a="http://schemas.openxmlformats.org/drawingml/2006/main">
              <a:ext uri="{FF2B5EF4-FFF2-40B4-BE49-F238E27FC236}">
                <a16:creationId xmlns:a16="http://schemas.microsoft.com/office/drawing/2014/main" id="{66FCDBE3-AEFD-495A-A7FA-DCA0822864A9}"/>
              </a:ext>
            </a:extLst>
          </p:cNvPr>
          <p:cNvSpPr>
            <a:spLocks xmlns:a="http://schemas.openxmlformats.org/drawingml/2006/main" noGrp="1"/>
          </p:cNvSpPr>
          <p:nvPr/>
        </p:nvSpPr>
        <p:spPr>
          <a:xfrm xmlns:a="http://schemas.openxmlformats.org/drawingml/2006/main">
            <a:off x="400050" y="183832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Concept</a:t>
            </a:r>
          </a:p>
        </p:txBody>
      </p:sp>
      <p:sp>
        <p:nvSpPr>
          <p:cNvPr id="7" name="Moteur du prototype">
            <a:extLst xmlns:a="http://schemas.openxmlformats.org/drawingml/2006/main">
              <a:ext uri="{FF2B5EF4-FFF2-40B4-BE49-F238E27FC236}">
                <a16:creationId xmlns:a16="http://schemas.microsoft.com/office/drawing/2014/main" id="{DAF932EB-AA7B-4A42-BFF4-B037691E34B4}"/>
              </a:ext>
            </a:extLst>
          </p:cNvPr>
          <p:cNvSpPr>
            <a:spLocks xmlns:a="http://schemas.openxmlformats.org/drawingml/2006/main" noGrp="1"/>
          </p:cNvSpPr>
          <p:nvPr/>
        </p:nvSpPr>
        <p:spPr>
          <a:xfrm xmlns:a="http://schemas.openxmlformats.org/drawingml/2006/main">
            <a:off x="3114675" y="1838325"/>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Moteur du prototype</a:t>
            </a:r>
          </a:p>
        </p:txBody>
      </p:sp>
      <p:sp>
        <p:nvSpPr>
          <p:cNvPr id="8" name="Conséquence">
            <a:extLst xmlns:a="http://schemas.openxmlformats.org/drawingml/2006/main">
              <a:ext uri="{FF2B5EF4-FFF2-40B4-BE49-F238E27FC236}">
                <a16:creationId xmlns:a16="http://schemas.microsoft.com/office/drawing/2014/main" id="{77CC9B92-904F-47B7-9283-C8723F9CEEE0}"/>
              </a:ext>
            </a:extLst>
          </p:cNvPr>
          <p:cNvSpPr>
            <a:spLocks xmlns:a="http://schemas.openxmlformats.org/drawingml/2006/main" noGrp="1"/>
          </p:cNvSpPr>
          <p:nvPr/>
        </p:nvSpPr>
        <p:spPr>
          <a:xfrm xmlns:a="http://schemas.openxmlformats.org/drawingml/2006/main">
            <a:off x="7210425" y="1838325"/>
            <a:ext cx="4410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Conséquence</a:t>
            </a:r>
          </a:p>
        </p:txBody>
      </p:sp>
      <p:sp>
        <p:nvSpPr>
          <p:cNvPr id="9" name="">
            <a:extLst xmlns:a="http://schemas.openxmlformats.org/drawingml/2006/main">
              <a:ext uri="{FF2B5EF4-FFF2-40B4-BE49-F238E27FC236}">
                <a16:creationId xmlns:a16="http://schemas.microsoft.com/office/drawing/2014/main" id="{34877D07-00D0-44D2-A810-610928276A11}"/>
              </a:ext>
            </a:extLst>
          </p:cNvPr>
          <p:cNvSpPr>
            <a:spLocks xmlns:a="http://schemas.openxmlformats.org/drawingml/2006/main" noGrp="1"/>
          </p:cNvSpPr>
          <p:nvPr/>
        </p:nvSpPr>
        <p:spPr>
          <a:xfrm xmlns:a="http://schemas.openxmlformats.org/drawingml/2006/main">
            <a:off x="400050" y="2305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0" name="HDFS / Sqoop">
            <a:extLst xmlns:a="http://schemas.openxmlformats.org/drawingml/2006/main">
              <a:ext uri="{FF2B5EF4-FFF2-40B4-BE49-F238E27FC236}">
                <a16:creationId xmlns:a16="http://schemas.microsoft.com/office/drawing/2014/main" id="{A999C34C-32B5-439D-A15D-CAE66BA2D689}"/>
              </a:ext>
            </a:extLst>
          </p:cNvPr>
          <p:cNvSpPr>
            <a:spLocks xmlns:a="http://schemas.openxmlformats.org/drawingml/2006/main" noGrp="1"/>
          </p:cNvSpPr>
          <p:nvPr/>
        </p:nvSpPr>
        <p:spPr>
          <a:xfrm xmlns:a="http://schemas.openxmlformats.org/drawingml/2006/main">
            <a:off x="400050" y="24479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HDFS / Sqoop</a:t>
            </a:r>
          </a:p>
        </p:txBody>
      </p:sp>
      <p:sp>
        <p:nvSpPr>
          <p:cNvPr id="11" name="Fichiers + pandas">
            <a:extLst xmlns:a="http://schemas.openxmlformats.org/drawingml/2006/main">
              <a:ext uri="{FF2B5EF4-FFF2-40B4-BE49-F238E27FC236}">
                <a16:creationId xmlns:a16="http://schemas.microsoft.com/office/drawing/2014/main" id="{BF7C9C04-DA47-469A-93A7-F23204CCFCC8}"/>
              </a:ext>
            </a:extLst>
          </p:cNvPr>
          <p:cNvSpPr>
            <a:spLocks xmlns:a="http://schemas.openxmlformats.org/drawingml/2006/main" noGrp="1"/>
          </p:cNvSpPr>
          <p:nvPr/>
        </p:nvSpPr>
        <p:spPr>
          <a:xfrm xmlns:a="http://schemas.openxmlformats.org/drawingml/2006/main">
            <a:off x="3114675" y="24479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Fichiers + pandas</a:t>
            </a:r>
          </a:p>
        </p:txBody>
      </p:sp>
      <p:sp>
        <p:nvSpPr>
          <p:cNvPr id="12" name="Pas de cluster ni de JDBC">
            <a:extLst xmlns:a="http://schemas.openxmlformats.org/drawingml/2006/main">
              <a:ext uri="{FF2B5EF4-FFF2-40B4-BE49-F238E27FC236}">
                <a16:creationId xmlns:a16="http://schemas.microsoft.com/office/drawing/2014/main" id="{ED2210DE-AC13-4C23-99A7-2592A7681BDA}"/>
              </a:ext>
            </a:extLst>
          </p:cNvPr>
          <p:cNvSpPr>
            <a:spLocks xmlns:a="http://schemas.openxmlformats.org/drawingml/2006/main" noGrp="1"/>
          </p:cNvSpPr>
          <p:nvPr/>
        </p:nvSpPr>
        <p:spPr>
          <a:xfrm xmlns:a="http://schemas.openxmlformats.org/drawingml/2006/main">
            <a:off x="7210425" y="24479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Pas de cluster ni de JDBC</a:t>
            </a:r>
          </a:p>
        </p:txBody>
      </p:sp>
      <p:sp>
        <p:nvSpPr>
          <p:cNvPr id="13" name="">
            <a:extLst xmlns:a="http://schemas.openxmlformats.org/drawingml/2006/main">
              <a:ext uri="{FF2B5EF4-FFF2-40B4-BE49-F238E27FC236}">
                <a16:creationId xmlns:a16="http://schemas.microsoft.com/office/drawing/2014/main" id="{51FE1D4A-830B-4F1B-B964-349CE5A07A63}"/>
              </a:ext>
            </a:extLst>
          </p:cNvPr>
          <p:cNvSpPr>
            <a:spLocks xmlns:a="http://schemas.openxmlformats.org/drawingml/2006/main" noGrp="1"/>
          </p:cNvSpPr>
          <p:nvPr/>
        </p:nvSpPr>
        <p:spPr>
          <a:xfrm xmlns:a="http://schemas.openxmlformats.org/drawingml/2006/main">
            <a:off x="400050" y="31051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4" name="NiFi / Talend">
            <a:extLst xmlns:a="http://schemas.openxmlformats.org/drawingml/2006/main">
              <a:ext uri="{FF2B5EF4-FFF2-40B4-BE49-F238E27FC236}">
                <a16:creationId xmlns:a16="http://schemas.microsoft.com/office/drawing/2014/main" id="{FA6DBDD3-826E-4FF8-B96F-E54B0E7F41BA}"/>
              </a:ext>
            </a:extLst>
          </p:cNvPr>
          <p:cNvSpPr>
            <a:spLocks xmlns:a="http://schemas.openxmlformats.org/drawingml/2006/main" noGrp="1"/>
          </p:cNvSpPr>
          <p:nvPr/>
        </p:nvSpPr>
        <p:spPr>
          <a:xfrm xmlns:a="http://schemas.openxmlformats.org/drawingml/2006/main">
            <a:off x="400050" y="31718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NiFi / Talend</a:t>
            </a:r>
          </a:p>
        </p:txBody>
      </p:sp>
      <p:sp>
        <p:nvSpPr>
          <p:cNvPr id="15" name="Processeurs et ETL Python">
            <a:extLst xmlns:a="http://schemas.openxmlformats.org/drawingml/2006/main">
              <a:ext uri="{FF2B5EF4-FFF2-40B4-BE49-F238E27FC236}">
                <a16:creationId xmlns:a16="http://schemas.microsoft.com/office/drawing/2014/main" id="{59422911-6F2F-40A9-A5B1-8A55CFA6FB69}"/>
              </a:ext>
            </a:extLst>
          </p:cNvPr>
          <p:cNvSpPr>
            <a:spLocks xmlns:a="http://schemas.openxmlformats.org/drawingml/2006/main" noGrp="1"/>
          </p:cNvSpPr>
          <p:nvPr/>
        </p:nvSpPr>
        <p:spPr>
          <a:xfrm xmlns:a="http://schemas.openxmlformats.org/drawingml/2006/main">
            <a:off x="3114675" y="31718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Processeurs et ETL Python</a:t>
            </a:r>
          </a:p>
        </p:txBody>
      </p:sp>
      <p:sp>
        <p:nvSpPr>
          <p:cNvPr id="16" name="Logique lisible dans src/">
            <a:extLst xmlns:a="http://schemas.openxmlformats.org/drawingml/2006/main">
              <a:ext uri="{FF2B5EF4-FFF2-40B4-BE49-F238E27FC236}">
                <a16:creationId xmlns:a16="http://schemas.microsoft.com/office/drawing/2014/main" id="{A9465B4C-756F-4526-9ED6-54A40B6B988C}"/>
              </a:ext>
            </a:extLst>
          </p:cNvPr>
          <p:cNvSpPr>
            <a:spLocks xmlns:a="http://schemas.openxmlformats.org/drawingml/2006/main" noGrp="1"/>
          </p:cNvSpPr>
          <p:nvPr/>
        </p:nvSpPr>
        <p:spPr>
          <a:xfrm xmlns:a="http://schemas.openxmlformats.org/drawingml/2006/main">
            <a:off x="7210425" y="31718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Logique lisible dans src/</a:t>
            </a:r>
          </a:p>
        </p:txBody>
      </p:sp>
      <p:sp>
        <p:nvSpPr>
          <p:cNvPr id="17" name="">
            <a:extLst xmlns:a="http://schemas.openxmlformats.org/drawingml/2006/main">
              <a:ext uri="{FF2B5EF4-FFF2-40B4-BE49-F238E27FC236}">
                <a16:creationId xmlns:a16="http://schemas.microsoft.com/office/drawing/2014/main" id="{D4895E84-92D2-4C13-9F7F-4774B7BB5C09}"/>
              </a:ext>
            </a:extLst>
          </p:cNvPr>
          <p:cNvSpPr>
            <a:spLocks xmlns:a="http://schemas.openxmlformats.org/drawingml/2006/main" noGrp="1"/>
          </p:cNvSpPr>
          <p:nvPr/>
        </p:nvSpPr>
        <p:spPr>
          <a:xfrm xmlns:a="http://schemas.openxmlformats.org/drawingml/2006/main">
            <a:off x="400050" y="3829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8" name="HBase / Kafka">
            <a:extLst xmlns:a="http://schemas.openxmlformats.org/drawingml/2006/main">
              <a:ext uri="{FF2B5EF4-FFF2-40B4-BE49-F238E27FC236}">
                <a16:creationId xmlns:a16="http://schemas.microsoft.com/office/drawing/2014/main" id="{84B052C8-9361-407A-AD26-3840B3B3DD14}"/>
              </a:ext>
            </a:extLst>
          </p:cNvPr>
          <p:cNvSpPr>
            <a:spLocks xmlns:a="http://schemas.openxmlformats.org/drawingml/2006/main" noGrp="1"/>
          </p:cNvSpPr>
          <p:nvPr/>
        </p:nvSpPr>
        <p:spPr>
          <a:xfrm xmlns:a="http://schemas.openxmlformats.org/drawingml/2006/main">
            <a:off x="400050" y="38957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HBase / Kafka</a:t>
            </a:r>
          </a:p>
        </p:txBody>
      </p:sp>
      <p:sp>
        <p:nvSpPr>
          <p:cNvPr id="19" name="SQLite / files en mémoire">
            <a:extLst xmlns:a="http://schemas.openxmlformats.org/drawingml/2006/main">
              <a:ext uri="{FF2B5EF4-FFF2-40B4-BE49-F238E27FC236}">
                <a16:creationId xmlns:a16="http://schemas.microsoft.com/office/drawing/2014/main" id="{4AA09C27-5FA9-48CB-AE4E-A2FAC5CC35C1}"/>
              </a:ext>
            </a:extLst>
          </p:cNvPr>
          <p:cNvSpPr>
            <a:spLocks xmlns:a="http://schemas.openxmlformats.org/drawingml/2006/main" noGrp="1"/>
          </p:cNvSpPr>
          <p:nvPr/>
        </p:nvSpPr>
        <p:spPr>
          <a:xfrm xmlns:a="http://schemas.openxmlformats.org/drawingml/2006/main">
            <a:off x="3114675" y="38957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SQLite / files en mémoire</a:t>
            </a:r>
          </a:p>
        </p:txBody>
      </p:sp>
      <p:sp>
        <p:nvSpPr>
          <p:cNvPr id="20" name="Stockage et streaming locaux">
            <a:extLst xmlns:a="http://schemas.openxmlformats.org/drawingml/2006/main">
              <a:ext uri="{FF2B5EF4-FFF2-40B4-BE49-F238E27FC236}">
                <a16:creationId xmlns:a16="http://schemas.microsoft.com/office/drawing/2014/main" id="{EA7EB7C1-CF34-467F-B996-3B9E0513610B}"/>
              </a:ext>
            </a:extLst>
          </p:cNvPr>
          <p:cNvSpPr>
            <a:spLocks xmlns:a="http://schemas.openxmlformats.org/drawingml/2006/main" noGrp="1"/>
          </p:cNvSpPr>
          <p:nvPr/>
        </p:nvSpPr>
        <p:spPr>
          <a:xfrm xmlns:a="http://schemas.openxmlformats.org/drawingml/2006/main">
            <a:off x="7210425" y="38957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Stockage et streaming locaux</a:t>
            </a:r>
          </a:p>
        </p:txBody>
      </p:sp>
      <p:sp>
        <p:nvSpPr>
          <p:cNvPr id="21" name="">
            <a:extLst xmlns:a="http://schemas.openxmlformats.org/drawingml/2006/main">
              <a:ext uri="{FF2B5EF4-FFF2-40B4-BE49-F238E27FC236}">
                <a16:creationId xmlns:a16="http://schemas.microsoft.com/office/drawing/2014/main" id="{E1717F0B-EF0F-49CF-A808-E04EAEE8D3D5}"/>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2" name="Hive / Drill">
            <a:extLst xmlns:a="http://schemas.openxmlformats.org/drawingml/2006/main">
              <a:ext uri="{FF2B5EF4-FFF2-40B4-BE49-F238E27FC236}">
                <a16:creationId xmlns:a16="http://schemas.microsoft.com/office/drawing/2014/main" id="{A27F45DA-1CDB-4D1E-8C74-7C66DE9E1DF8}"/>
              </a:ext>
            </a:extLst>
          </p:cNvPr>
          <p:cNvSpPr>
            <a:spLocks xmlns:a="http://schemas.openxmlformats.org/drawingml/2006/main" noGrp="1"/>
          </p:cNvSpPr>
          <p:nvPr/>
        </p:nvSpPr>
        <p:spPr>
          <a:xfrm xmlns:a="http://schemas.openxmlformats.org/drawingml/2006/main">
            <a:off x="400050" y="46196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Hive / Drill</a:t>
            </a:r>
          </a:p>
        </p:txBody>
      </p:sp>
      <p:sp>
        <p:nvSpPr>
          <p:cNvPr id="23" name="DuckDB">
            <a:extLst xmlns:a="http://schemas.openxmlformats.org/drawingml/2006/main">
              <a:ext uri="{FF2B5EF4-FFF2-40B4-BE49-F238E27FC236}">
                <a16:creationId xmlns:a16="http://schemas.microsoft.com/office/drawing/2014/main" id="{D34CA141-647A-4FFA-AF57-422A610C7E2A}"/>
              </a:ext>
            </a:extLst>
          </p:cNvPr>
          <p:cNvSpPr>
            <a:spLocks xmlns:a="http://schemas.openxmlformats.org/drawingml/2006/main" noGrp="1"/>
          </p:cNvSpPr>
          <p:nvPr/>
        </p:nvSpPr>
        <p:spPr>
          <a:xfrm xmlns:a="http://schemas.openxmlformats.org/drawingml/2006/main">
            <a:off x="3114675" y="46196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DuckDB</a:t>
            </a:r>
          </a:p>
        </p:txBody>
      </p:sp>
      <p:sp>
        <p:nvSpPr>
          <p:cNvPr id="24" name="SQL réellement exécuté">
            <a:extLst xmlns:a="http://schemas.openxmlformats.org/drawingml/2006/main">
              <a:ext uri="{FF2B5EF4-FFF2-40B4-BE49-F238E27FC236}">
                <a16:creationId xmlns:a16="http://schemas.microsoft.com/office/drawing/2014/main" id="{A6462211-4F33-420D-B6CD-AEAA3870EA5D}"/>
              </a:ext>
            </a:extLst>
          </p:cNvPr>
          <p:cNvSpPr>
            <a:spLocks xmlns:a="http://schemas.openxmlformats.org/drawingml/2006/main" noGrp="1"/>
          </p:cNvSpPr>
          <p:nvPr/>
        </p:nvSpPr>
        <p:spPr>
          <a:xfrm xmlns:a="http://schemas.openxmlformats.org/drawingml/2006/main">
            <a:off x="7210425" y="46196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SQL réellement exécuté</a:t>
            </a:r>
          </a:p>
        </p:txBody>
      </p:sp>
      <p:sp>
        <p:nvSpPr>
          <p:cNvPr id="25" name="">
            <a:extLst xmlns:a="http://schemas.openxmlformats.org/drawingml/2006/main">
              <a:ext uri="{FF2B5EF4-FFF2-40B4-BE49-F238E27FC236}">
                <a16:creationId xmlns:a16="http://schemas.microsoft.com/office/drawing/2014/main" id="{2836DEC9-DD10-45C1-95A6-7D81288314DA}"/>
              </a:ext>
            </a:extLst>
          </p:cNvPr>
          <p:cNvSpPr>
            <a:spLocks xmlns:a="http://schemas.openxmlformats.org/drawingml/2006/main" noGrp="1"/>
          </p:cNvSpPr>
          <p:nvPr/>
        </p:nvSpPr>
        <p:spPr>
          <a:xfrm xmlns:a="http://schemas.openxmlformats.org/drawingml/2006/main">
            <a:off x="400050" y="527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6" name="Spark">
            <a:extLst xmlns:a="http://schemas.openxmlformats.org/drawingml/2006/main">
              <a:ext uri="{FF2B5EF4-FFF2-40B4-BE49-F238E27FC236}">
                <a16:creationId xmlns:a16="http://schemas.microsoft.com/office/drawing/2014/main" id="{DF219217-B193-428E-AE9F-EE09A05F6161}"/>
              </a:ext>
            </a:extLst>
          </p:cNvPr>
          <p:cNvSpPr>
            <a:spLocks xmlns:a="http://schemas.openxmlformats.org/drawingml/2006/main" noGrp="1"/>
          </p:cNvSpPr>
          <p:nvPr/>
        </p:nvSpPr>
        <p:spPr>
          <a:xfrm xmlns:a="http://schemas.openxmlformats.org/drawingml/2006/main">
            <a:off x="400050" y="53435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Spark</a:t>
            </a:r>
          </a:p>
        </p:txBody>
      </p:sp>
      <p:sp>
        <p:nvSpPr>
          <p:cNvPr id="27" name="PySpark local ou pandas">
            <a:extLst xmlns:a="http://schemas.openxmlformats.org/drawingml/2006/main">
              <a:ext uri="{FF2B5EF4-FFF2-40B4-BE49-F238E27FC236}">
                <a16:creationId xmlns:a16="http://schemas.microsoft.com/office/drawing/2014/main" id="{529BCC6A-83E3-40A9-B015-4033878A86A3}"/>
              </a:ext>
            </a:extLst>
          </p:cNvPr>
          <p:cNvSpPr>
            <a:spLocks xmlns:a="http://schemas.openxmlformats.org/drawingml/2006/main" noGrp="1"/>
          </p:cNvSpPr>
          <p:nvPr/>
        </p:nvSpPr>
        <p:spPr>
          <a:xfrm xmlns:a="http://schemas.openxmlformats.org/drawingml/2006/main">
            <a:off x="3114675" y="53435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PySpark local ou pandas</a:t>
            </a:r>
          </a:p>
        </p:txBody>
      </p:sp>
      <p:sp>
        <p:nvSpPr>
          <p:cNvPr id="28" name="Moteur consigné dans le JSON">
            <a:extLst xmlns:a="http://schemas.openxmlformats.org/drawingml/2006/main">
              <a:ext uri="{FF2B5EF4-FFF2-40B4-BE49-F238E27FC236}">
                <a16:creationId xmlns:a16="http://schemas.microsoft.com/office/drawing/2014/main" id="{0D06DCEC-4E0B-4283-BE34-750EFEEF6F30}"/>
              </a:ext>
            </a:extLst>
          </p:cNvPr>
          <p:cNvSpPr>
            <a:spLocks xmlns:a="http://schemas.openxmlformats.org/drawingml/2006/main" noGrp="1"/>
          </p:cNvSpPr>
          <p:nvPr/>
        </p:nvSpPr>
        <p:spPr>
          <a:xfrm xmlns:a="http://schemas.openxmlformats.org/drawingml/2006/main">
            <a:off x="7210425" y="53435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Moteur consigné dans le JSON</a:t>
            </a:r>
          </a:p>
        </p:txBody>
      </p:sp>
    </p:spTree>
    <p:extLst>
      <p:ext uri="{BB962C8B-B14F-4D97-AF65-F5344CB8AC3E}">
        <p14:creationId xmlns:p14="http://schemas.microsoft.com/office/powerpoint/2010/main" val="7408567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3 · ARCHITECTURE">
            <a:extLst xmlns:a="http://schemas.openxmlformats.org/drawingml/2006/main">
              <a:ext uri="{FF2B5EF4-FFF2-40B4-BE49-F238E27FC236}">
                <a16:creationId xmlns:a16="http://schemas.microsoft.com/office/drawing/2014/main" id="{D471B1AB-DBAD-44AF-891F-03600DDDE7BC}"/>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03 · ARCHITECTURE</a:t>
            </a:r>
          </a:p>
        </p:txBody>
      </p:sp>
      <p:sp>
        <p:nvSpPr>
          <p:cNvPr id="2" name="Séparer les zones facilite la reprise">
            <a:extLst xmlns:a="http://schemas.openxmlformats.org/drawingml/2006/main">
              <a:ext uri="{FF2B5EF4-FFF2-40B4-BE49-F238E27FC236}">
                <a16:creationId xmlns:a16="http://schemas.microsoft.com/office/drawing/2014/main" id="{E3C14E92-D9C9-4937-A1C1-68244F180D05}"/>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Séparer les zones facilite la reprise</a:t>
            </a:r>
          </a:p>
        </p:txBody>
      </p:sp>
      <p:sp>
        <p:nvSpPr>
          <p:cNvPr id="3" name="">
            <a:extLst xmlns:a="http://schemas.openxmlformats.org/drawingml/2006/main">
              <a:ext uri="{FF2B5EF4-FFF2-40B4-BE49-F238E27FC236}">
                <a16:creationId xmlns:a16="http://schemas.microsoft.com/office/drawing/2014/main" id="{38896D77-E23E-44AB-B470-CF8737956B59}"/>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1B76DA45-6C2C-4A4D-B792-4955EF765AE0}"/>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7">
            <a:extLst xmlns:a="http://schemas.openxmlformats.org/drawingml/2006/main">
              <a:ext uri="{FF2B5EF4-FFF2-40B4-BE49-F238E27FC236}">
                <a16:creationId xmlns:a16="http://schemas.microsoft.com/office/drawing/2014/main" id="{8255B8AB-FB3A-49CD-B039-067C725B8477}"/>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07</a:t>
            </a:r>
          </a:p>
        </p:txBody>
      </p:sp>
      <p:sp>
        <p:nvSpPr>
          <p:cNvPr id="6" name="Conservation">
            <a:extLst xmlns:a="http://schemas.openxmlformats.org/drawingml/2006/main">
              <a:ext uri="{FF2B5EF4-FFF2-40B4-BE49-F238E27FC236}">
                <a16:creationId xmlns:a16="http://schemas.microsoft.com/office/drawing/2014/main" id="{F679A6F5-76E1-4CC3-906C-03F8AEEB5CA1}"/>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Conservation</a:t>
            </a:r>
          </a:p>
        </p:txBody>
      </p:sp>
      <p:sp>
        <p:nvSpPr>
          <p:cNvPr id="7" name="CSV/ reste la référence source et n’est pas modifié.">
            <a:extLst xmlns:a="http://schemas.openxmlformats.org/drawingml/2006/main">
              <a:ext uri="{FF2B5EF4-FFF2-40B4-BE49-F238E27FC236}">
                <a16:creationId xmlns:a16="http://schemas.microsoft.com/office/drawing/2014/main" id="{7A8E5515-2789-440F-9B97-FFB5658B55BF}"/>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CSV/ reste la référence source et n’est pas modifié.</a:t>
            </a:r>
          </a:p>
        </p:txBody>
      </p:sp>
      <p:sp>
        <p:nvSpPr>
          <p:cNvPr id="8" name="Raw contient les six imports au format Parquet.">
            <a:extLst xmlns:a="http://schemas.openxmlformats.org/drawingml/2006/main">
              <a:ext uri="{FF2B5EF4-FFF2-40B4-BE49-F238E27FC236}">
                <a16:creationId xmlns:a16="http://schemas.microsoft.com/office/drawing/2014/main" id="{0A0DBA3E-1964-4464-9273-B4E58FB9F8F6}"/>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Raw contient les six imports au format Parquet.</a:t>
            </a:r>
          </a:p>
        </p:txBody>
      </p:sp>
      <p:sp>
        <p:nvSpPr>
          <p:cNvPr id="9" name="Transformed contient les tables nettoyées et la démonstration NiF">
            <a:extLst xmlns:a="http://schemas.openxmlformats.org/drawingml/2006/main">
              <a:ext uri="{FF2B5EF4-FFF2-40B4-BE49-F238E27FC236}">
                <a16:creationId xmlns:a16="http://schemas.microsoft.com/office/drawing/2014/main" id="{F2874708-C566-4884-BEF9-7CE25863E452}"/>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Transformed contient les tables nettoyées et la démonstration NiFi.</a:t>
            </a:r>
          </a:p>
        </p:txBody>
      </p:sp>
      <p:sp>
        <p:nvSpPr>
          <p:cNvPr id="10" name="Consommation">
            <a:extLst xmlns:a="http://schemas.openxmlformats.org/drawingml/2006/main">
              <a:ext uri="{FF2B5EF4-FFF2-40B4-BE49-F238E27FC236}">
                <a16:creationId xmlns:a16="http://schemas.microsoft.com/office/drawing/2014/main" id="{A280B311-D027-4148-B1FD-A9B385FCE193}"/>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Consommation</a:t>
            </a:r>
          </a:p>
        </p:txBody>
      </p:sp>
      <p:sp>
        <p:nvSpPr>
          <p:cNvPr id="11" name="Enriched contient la table de faits et les agrégats.">
            <a:extLst xmlns:a="http://schemas.openxmlformats.org/drawingml/2006/main">
              <a:ext uri="{FF2B5EF4-FFF2-40B4-BE49-F238E27FC236}">
                <a16:creationId xmlns:a16="http://schemas.microsoft.com/office/drawing/2014/main" id="{2F0F57C8-9366-417E-922E-86391B8E99FF}"/>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Enriched contient la table de faits et les agrégats.</a:t>
            </a:r>
          </a:p>
        </p:txBody>
      </p:sp>
      <p:sp>
        <p:nvSpPr>
          <p:cNvPr id="12" name="Exposed contient les prédictions de test exportées.">
            <a:extLst xmlns:a="http://schemas.openxmlformats.org/drawingml/2006/main">
              <a:ext uri="{FF2B5EF4-FFF2-40B4-BE49-F238E27FC236}">
                <a16:creationId xmlns:a16="http://schemas.microsoft.com/office/drawing/2014/main" id="{0A84B1F5-2285-48C2-993D-CE990B5A8800}"/>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Exposed contient les prédictions de test exportées.</a:t>
            </a:r>
          </a:p>
        </p:txBody>
      </p:sp>
      <p:sp>
        <p:nvSpPr>
          <p:cNvPr id="13" name="Quarantine garde les lignes signalées et leurs motifs.">
            <a:extLst xmlns:a="http://schemas.openxmlformats.org/drawingml/2006/main">
              <a:ext uri="{FF2B5EF4-FFF2-40B4-BE49-F238E27FC236}">
                <a16:creationId xmlns:a16="http://schemas.microsoft.com/office/drawing/2014/main" id="{F8BF26D3-F264-4DDB-A1DA-B0DD30089769}"/>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Quarantine garde les lignes signalées et leurs motifs.</a:t>
            </a:r>
          </a:p>
        </p:txBody>
      </p:sp>
    </p:spTree>
    <p:extLst>
      <p:ext uri="{BB962C8B-B14F-4D97-AF65-F5344CB8AC3E}">
        <p14:creationId xmlns:p14="http://schemas.microsoft.com/office/powerpoint/2010/main" val="6792575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4 · EXÉCUTION">
            <a:extLst xmlns:a="http://schemas.openxmlformats.org/drawingml/2006/main">
              <a:ext uri="{FF2B5EF4-FFF2-40B4-BE49-F238E27FC236}">
                <a16:creationId xmlns:a16="http://schemas.microsoft.com/office/drawing/2014/main" id="{86A17E10-A116-4989-93E7-454B34F17276}"/>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04 · EXÉCUTION</a:t>
            </a:r>
          </a:p>
        </p:txBody>
      </p:sp>
      <p:sp>
        <p:nvSpPr>
          <p:cNvPr id="2" name="L’orchestrateur déroule 17 phases">
            <a:extLst xmlns:a="http://schemas.openxmlformats.org/drawingml/2006/main">
              <a:ext uri="{FF2B5EF4-FFF2-40B4-BE49-F238E27FC236}">
                <a16:creationId xmlns:a16="http://schemas.microsoft.com/office/drawing/2014/main" id="{9EA8D986-9604-4F54-AB72-5E405980CB8D}"/>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L’orchestrateur déroule 17 phases</a:t>
            </a:r>
          </a:p>
        </p:txBody>
      </p:sp>
      <p:sp>
        <p:nvSpPr>
          <p:cNvPr id="3" name="">
            <a:extLst xmlns:a="http://schemas.openxmlformats.org/drawingml/2006/main">
              <a:ext uri="{FF2B5EF4-FFF2-40B4-BE49-F238E27FC236}">
                <a16:creationId xmlns:a16="http://schemas.microsoft.com/office/drawing/2014/main" id="{EEFD344E-36FC-468F-991D-9A0D9FC51FCC}"/>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12DF2B9B-8B84-40DA-A10C-0DEC93E39000}"/>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8">
            <a:extLst xmlns:a="http://schemas.openxmlformats.org/drawingml/2006/main">
              <a:ext uri="{FF2B5EF4-FFF2-40B4-BE49-F238E27FC236}">
                <a16:creationId xmlns:a16="http://schemas.microsoft.com/office/drawing/2014/main" id="{B36D80B0-6C10-4CA2-99B7-96BF06B52D98}"/>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08</a:t>
            </a:r>
          </a:p>
        </p:txBody>
      </p:sp>
      <p:sp>
        <p:nvSpPr>
          <p:cNvPr id="6" name="">
            <a:extLst xmlns:a="http://schemas.openxmlformats.org/drawingml/2006/main">
              <a:ext uri="{FF2B5EF4-FFF2-40B4-BE49-F238E27FC236}">
                <a16:creationId xmlns:a16="http://schemas.microsoft.com/office/drawing/2014/main" id="{7A925AE2-CC92-4CDE-9C31-DB30945F77B5}"/>
              </a:ext>
            </a:extLst>
          </p:cNvPr>
          <p:cNvSpPr>
            <a:spLocks xmlns:a="http://schemas.openxmlformats.org/drawingml/2006/main" noGrp="1"/>
          </p:cNvSpPr>
          <p:nvPr/>
        </p:nvSpPr>
        <p:spPr>
          <a:xfrm xmlns:a="http://schemas.openxmlformats.org/drawingml/2006/main">
            <a:off x="400050" y="3333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7" name="01–06">
            <a:extLst xmlns:a="http://schemas.openxmlformats.org/drawingml/2006/main">
              <a:ext uri="{FF2B5EF4-FFF2-40B4-BE49-F238E27FC236}">
                <a16:creationId xmlns:a16="http://schemas.microsoft.com/office/drawing/2014/main" id="{54958B72-91F3-4F61-B7E4-B20581136AD9}"/>
              </a:ext>
            </a:extLst>
          </p:cNvPr>
          <p:cNvSpPr>
            <a:spLocks xmlns:a="http://schemas.openxmlformats.org/drawingml/2006/main" noGrp="1"/>
          </p:cNvSpPr>
          <p:nvPr/>
        </p:nvSpPr>
        <p:spPr>
          <a:xfrm xmlns:a="http://schemas.openxmlformats.org/drawingml/2006/main">
            <a:off x="40005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01–06</a:t>
            </a:r>
          </a:p>
        </p:txBody>
      </p:sp>
      <p:sp>
        <p:nvSpPr>
          <p:cNvPr id="8" name="Construire">
            <a:extLst xmlns:a="http://schemas.openxmlformats.org/drawingml/2006/main">
              <a:ext uri="{FF2B5EF4-FFF2-40B4-BE49-F238E27FC236}">
                <a16:creationId xmlns:a16="http://schemas.microsoft.com/office/drawing/2014/main" id="{14A74EA7-5001-4E46-A95B-08F3E9EA0B13}"/>
              </a:ext>
            </a:extLst>
          </p:cNvPr>
          <p:cNvSpPr>
            <a:spLocks xmlns:a="http://schemas.openxmlformats.org/drawingml/2006/main" noGrp="1"/>
          </p:cNvSpPr>
          <p:nvPr/>
        </p:nvSpPr>
        <p:spPr>
          <a:xfrm xmlns:a="http://schemas.openxmlformats.org/drawingml/2006/main">
            <a:off x="40005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Construire</a:t>
            </a:r>
          </a:p>
        </p:txBody>
      </p:sp>
      <p:sp>
        <p:nvSpPr>
          <p:cNvPr id="9" name="Import, profilage, NiFi, ETL, stockage et événements.">
            <a:extLst xmlns:a="http://schemas.openxmlformats.org/drawingml/2006/main">
              <a:ext uri="{FF2B5EF4-FFF2-40B4-BE49-F238E27FC236}">
                <a16:creationId xmlns:a16="http://schemas.microsoft.com/office/drawing/2014/main" id="{FCE8AAFD-7C66-4E6C-85F6-370BBA980F4D}"/>
              </a:ext>
            </a:extLst>
          </p:cNvPr>
          <p:cNvSpPr>
            <a:spLocks xmlns:a="http://schemas.openxmlformats.org/drawingml/2006/main" noGrp="1"/>
          </p:cNvSpPr>
          <p:nvPr/>
        </p:nvSpPr>
        <p:spPr>
          <a:xfrm xmlns:a="http://schemas.openxmlformats.org/drawingml/2006/main">
            <a:off x="40005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Import, profilage, NiFi, ETL, stockage et événements.</a:t>
            </a:r>
          </a:p>
        </p:txBody>
      </p:sp>
      <p:sp>
        <p:nvSpPr>
          <p:cNvPr id="10" name="07–12">
            <a:extLst xmlns:a="http://schemas.openxmlformats.org/drawingml/2006/main">
              <a:ext uri="{FF2B5EF4-FFF2-40B4-BE49-F238E27FC236}">
                <a16:creationId xmlns:a16="http://schemas.microsoft.com/office/drawing/2014/main" id="{BEB327C3-9DE7-471C-9E73-46D32A7DEFBA}"/>
              </a:ext>
            </a:extLst>
          </p:cNvPr>
          <p:cNvSpPr>
            <a:spLocks xmlns:a="http://schemas.openxmlformats.org/drawingml/2006/main" noGrp="1"/>
          </p:cNvSpPr>
          <p:nvPr/>
        </p:nvSpPr>
        <p:spPr>
          <a:xfrm xmlns:a="http://schemas.openxmlformats.org/drawingml/2006/main">
            <a:off x="4314825"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07–12</a:t>
            </a:r>
          </a:p>
        </p:txBody>
      </p:sp>
      <p:sp>
        <p:nvSpPr>
          <p:cNvPr id="11" name="Exploiter">
            <a:extLst xmlns:a="http://schemas.openxmlformats.org/drawingml/2006/main">
              <a:ext uri="{FF2B5EF4-FFF2-40B4-BE49-F238E27FC236}">
                <a16:creationId xmlns:a16="http://schemas.microsoft.com/office/drawing/2014/main" id="{52B604A5-36BB-49ED-B34E-CA06924CE8A6}"/>
              </a:ext>
            </a:extLst>
          </p:cNvPr>
          <p:cNvSpPr>
            <a:spLocks xmlns:a="http://schemas.openxmlformats.org/drawingml/2006/main" noGrp="1"/>
          </p:cNvSpPr>
          <p:nvPr/>
        </p:nvSpPr>
        <p:spPr>
          <a:xfrm xmlns:a="http://schemas.openxmlformats.org/drawingml/2006/main">
            <a:off x="4314825"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Exploiter</a:t>
            </a:r>
          </a:p>
        </p:txBody>
      </p:sp>
      <p:sp>
        <p:nvSpPr>
          <p:cNvPr id="12" name="SQL Hive/Drill, Spark, statistiques, visuels et ML.">
            <a:extLst xmlns:a="http://schemas.openxmlformats.org/drawingml/2006/main">
              <a:ext uri="{FF2B5EF4-FFF2-40B4-BE49-F238E27FC236}">
                <a16:creationId xmlns:a16="http://schemas.microsoft.com/office/drawing/2014/main" id="{6AC1B723-ED1F-4D74-8BD5-ACBA481C644E}"/>
              </a:ext>
            </a:extLst>
          </p:cNvPr>
          <p:cNvSpPr>
            <a:spLocks xmlns:a="http://schemas.openxmlformats.org/drawingml/2006/main" noGrp="1"/>
          </p:cNvSpPr>
          <p:nvPr/>
        </p:nvSpPr>
        <p:spPr>
          <a:xfrm xmlns:a="http://schemas.openxmlformats.org/drawingml/2006/main">
            <a:off x="4314825"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SQL Hive/Drill, Spark, statistiques, visuels et ML.</a:t>
            </a:r>
          </a:p>
        </p:txBody>
      </p:sp>
      <p:sp>
        <p:nvSpPr>
          <p:cNvPr id="13" name="13–17">
            <a:extLst xmlns:a="http://schemas.openxmlformats.org/drawingml/2006/main">
              <a:ext uri="{FF2B5EF4-FFF2-40B4-BE49-F238E27FC236}">
                <a16:creationId xmlns:a16="http://schemas.microsoft.com/office/drawing/2014/main" id="{18AA017E-DDA2-487E-93A8-B70B675CFAB7}"/>
              </a:ext>
            </a:extLst>
          </p:cNvPr>
          <p:cNvSpPr>
            <a:spLocks xmlns:a="http://schemas.openxmlformats.org/drawingml/2006/main" noGrp="1"/>
          </p:cNvSpPr>
          <p:nvPr/>
        </p:nvSpPr>
        <p:spPr>
          <a:xfrm xmlns:a="http://schemas.openxmlformats.org/drawingml/2006/main">
            <a:off x="822960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13–17</a:t>
            </a:r>
          </a:p>
        </p:txBody>
      </p:sp>
      <p:sp>
        <p:nvSpPr>
          <p:cNvPr id="14" name="Restituer">
            <a:extLst xmlns:a="http://schemas.openxmlformats.org/drawingml/2006/main">
              <a:ext uri="{FF2B5EF4-FFF2-40B4-BE49-F238E27FC236}">
                <a16:creationId xmlns:a16="http://schemas.microsoft.com/office/drawing/2014/main" id="{D83085A5-239F-4446-909A-7D58BF733431}"/>
              </a:ext>
            </a:extLst>
          </p:cNvPr>
          <p:cNvSpPr>
            <a:spLocks xmlns:a="http://schemas.openxmlformats.org/drawingml/2006/main" noGrp="1"/>
          </p:cNvSpPr>
          <p:nvPr/>
        </p:nvSpPr>
        <p:spPr>
          <a:xfrm xmlns:a="http://schemas.openxmlformats.org/drawingml/2006/main">
            <a:off x="822960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Restituer</a:t>
            </a:r>
          </a:p>
        </p:txBody>
      </p:sp>
      <p:sp>
        <p:nvSpPr>
          <p:cNvPr id="15" name="Catalogue, R, qualité, validation des livrables et dashboard.">
            <a:extLst xmlns:a="http://schemas.openxmlformats.org/drawingml/2006/main">
              <a:ext uri="{FF2B5EF4-FFF2-40B4-BE49-F238E27FC236}">
                <a16:creationId xmlns:a16="http://schemas.microsoft.com/office/drawing/2014/main" id="{D38FFA24-974B-4E40-BE3D-4E3AC094A70A}"/>
              </a:ext>
            </a:extLst>
          </p:cNvPr>
          <p:cNvSpPr>
            <a:spLocks xmlns:a="http://schemas.openxmlformats.org/drawingml/2006/main" noGrp="1"/>
          </p:cNvSpPr>
          <p:nvPr/>
        </p:nvSpPr>
        <p:spPr>
          <a:xfrm xmlns:a="http://schemas.openxmlformats.org/drawingml/2006/main">
            <a:off x="822960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Catalogue, R, qualité, validation des livrables et dashboard.</a:t>
            </a:r>
          </a:p>
        </p:txBody>
      </p:sp>
    </p:spTree>
    <p:extLst>
      <p:ext uri="{BB962C8B-B14F-4D97-AF65-F5344CB8AC3E}">
        <p14:creationId xmlns:p14="http://schemas.microsoft.com/office/powerpoint/2010/main" val="4916485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4 · TRANSFORMATION">
            <a:extLst xmlns:a="http://schemas.openxmlformats.org/drawingml/2006/main">
              <a:ext uri="{FF2B5EF4-FFF2-40B4-BE49-F238E27FC236}">
                <a16:creationId xmlns:a16="http://schemas.microsoft.com/office/drawing/2014/main" id="{72A22EC8-68F7-4722-A594-48331E36C15F}"/>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04 · TRANSFORMATION</a:t>
            </a:r>
          </a:p>
        </p:txBody>
      </p:sp>
      <p:sp>
        <p:nvSpPr>
          <p:cNvPr id="2" name="Les jointures conservent les mesures">
            <a:extLst xmlns:a="http://schemas.openxmlformats.org/drawingml/2006/main">
              <a:ext uri="{FF2B5EF4-FFF2-40B4-BE49-F238E27FC236}">
                <a16:creationId xmlns:a16="http://schemas.microsoft.com/office/drawing/2014/main" id="{F2A32C2D-CE64-4E1F-8962-20CDA7093CF7}"/>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Les jointures conservent les mesures</a:t>
            </a:r>
          </a:p>
        </p:txBody>
      </p:sp>
      <p:sp>
        <p:nvSpPr>
          <p:cNvPr id="3" name="">
            <a:extLst xmlns:a="http://schemas.openxmlformats.org/drawingml/2006/main">
              <a:ext uri="{FF2B5EF4-FFF2-40B4-BE49-F238E27FC236}">
                <a16:creationId xmlns:a16="http://schemas.microsoft.com/office/drawing/2014/main" id="{FFF13250-77A9-4379-9CA8-A7D9E5F82097}"/>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C5F47E0E-ED98-4E63-A756-4FD7A2AE830F}"/>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09">
            <a:extLst xmlns:a="http://schemas.openxmlformats.org/drawingml/2006/main">
              <a:ext uri="{FF2B5EF4-FFF2-40B4-BE49-F238E27FC236}">
                <a16:creationId xmlns:a16="http://schemas.microsoft.com/office/drawing/2014/main" id="{93E64702-3C39-42C1-847B-288E113D0CCD}"/>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09</a:t>
            </a:r>
          </a:p>
        </p:txBody>
      </p:sp>
      <p:sp>
        <p:nvSpPr>
          <p:cNvPr id="6" name="Nettoyer">
            <a:extLst xmlns:a="http://schemas.openxmlformats.org/drawingml/2006/main">
              <a:ext uri="{FF2B5EF4-FFF2-40B4-BE49-F238E27FC236}">
                <a16:creationId xmlns:a16="http://schemas.microsoft.com/office/drawing/2014/main" id="{3C08BB00-0DE8-4341-8D4F-7C85DF91A770}"/>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Nettoyer</a:t>
            </a:r>
          </a:p>
        </p:txBody>
      </p:sp>
      <p:sp>
        <p:nvSpPr>
          <p:cNvPr id="7" name="Convertir les nombres à virgule dans RESULT_NUM.">
            <a:extLst xmlns:a="http://schemas.openxmlformats.org/drawingml/2006/main">
              <a:ext uri="{FF2B5EF4-FFF2-40B4-BE49-F238E27FC236}">
                <a16:creationId xmlns:a16="http://schemas.microsoft.com/office/drawing/2014/main" id="{DE89874D-AC25-4169-8903-B3E7A45A6F4E}"/>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Convertir les nombres à virgule dans RESULT_NUM.</a:t>
            </a:r>
          </a:p>
        </p:txBody>
      </p:sp>
      <p:sp>
        <p:nvSpPr>
          <p:cNvPr id="8" name="Normaliser identifiants, années et colonnes utilisées.">
            <a:extLst xmlns:a="http://schemas.openxmlformats.org/drawingml/2006/main">
              <a:ext uri="{FF2B5EF4-FFF2-40B4-BE49-F238E27FC236}">
                <a16:creationId xmlns:a16="http://schemas.microsoft.com/office/drawing/2014/main" id="{6327910E-B885-4276-BCDE-8BB671AE6916}"/>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Normaliser identifiants, années et colonnes utilisées.</a:t>
            </a:r>
          </a:p>
        </p:txBody>
      </p:sp>
      <p:sp>
        <p:nvSpPr>
          <p:cNvPr id="9" name="Écarter le couple de coordonnées nul (0, 0).">
            <a:extLst xmlns:a="http://schemas.openxmlformats.org/drawingml/2006/main">
              <a:ext uri="{FF2B5EF4-FFF2-40B4-BE49-F238E27FC236}">
                <a16:creationId xmlns:a16="http://schemas.microsoft.com/office/drawing/2014/main" id="{D7726D39-7EA7-45E8-9A40-4CCAB66135CE}"/>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Écarter le couple de coordonnées nul (0, 0).</a:t>
            </a:r>
          </a:p>
        </p:txBody>
      </p:sp>
      <p:sp>
        <p:nvSpPr>
          <p:cNvPr id="10" name="Enrichir">
            <a:extLst xmlns:a="http://schemas.openxmlformats.org/drawingml/2006/main">
              <a:ext uri="{FF2B5EF4-FFF2-40B4-BE49-F238E27FC236}">
                <a16:creationId xmlns:a16="http://schemas.microsoft.com/office/drawing/2014/main" id="{F9F940EE-8313-4D65-8489-1D2D5B9B2361}"/>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Enrichir</a:t>
            </a:r>
          </a:p>
        </p:txBody>
      </p:sp>
      <p:sp>
        <p:nvSpPr>
          <p:cNvPr id="11" name="Joindre les résultats aux essais par identifiant.">
            <a:extLst xmlns:a="http://schemas.openxmlformats.org/drawingml/2006/main">
              <a:ext uri="{FF2B5EF4-FFF2-40B4-BE49-F238E27FC236}">
                <a16:creationId xmlns:a16="http://schemas.microsoft.com/office/drawing/2014/main" id="{75A48BDC-3E47-4813-83D4-B59AFDB4B2A0}"/>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Joindre les résultats aux essais par identifiant.</a:t>
            </a:r>
          </a:p>
        </p:txBody>
      </p:sp>
      <p:sp>
        <p:nvSpPr>
          <p:cNvPr id="12" name="Relier parcelle et matériel par entrée / réplication.">
            <a:extLst xmlns:a="http://schemas.openxmlformats.org/drawingml/2006/main">
              <a:ext uri="{FF2B5EF4-FFF2-40B4-BE49-F238E27FC236}">
                <a16:creationId xmlns:a16="http://schemas.microsoft.com/office/drawing/2014/main" id="{7C2D3659-42EA-4CEB-AFBE-4E513A4AC4A0}"/>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Relier parcelle et matériel par entrée / réplication.</a:t>
            </a:r>
          </a:p>
        </p:txBody>
      </p:sp>
      <p:sp>
        <p:nvSpPr>
          <p:cNvPr id="13" name="Pivoter les qualifications puis joindre par essai et année.">
            <a:extLst xmlns:a="http://schemas.openxmlformats.org/drawingml/2006/main">
              <a:ext uri="{FF2B5EF4-FFF2-40B4-BE49-F238E27FC236}">
                <a16:creationId xmlns:a16="http://schemas.microsoft.com/office/drawing/2014/main" id="{8E20CAF9-4374-46B0-B8D5-9E7ACB2DE77D}"/>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Pivoter les qualifications puis joindre par essai et année.</a:t>
            </a:r>
          </a:p>
        </p:txBody>
      </p:sp>
    </p:spTree>
    <p:extLst>
      <p:ext uri="{BB962C8B-B14F-4D97-AF65-F5344CB8AC3E}">
        <p14:creationId xmlns:p14="http://schemas.microsoft.com/office/powerpoint/2010/main" val="20143950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05 · GOUVERNANCE">
            <a:extLst xmlns:a="http://schemas.openxmlformats.org/drawingml/2006/main">
              <a:ext uri="{FF2B5EF4-FFF2-40B4-BE49-F238E27FC236}">
                <a16:creationId xmlns:a16="http://schemas.microsoft.com/office/drawing/2014/main" id="{BA2B76F4-D12F-4D22-829A-FFAE2E89F76B}"/>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05 · GOUVERNANCE</a:t>
            </a:r>
          </a:p>
        </p:txBody>
      </p:sp>
      <p:sp>
        <p:nvSpPr>
          <p:cNvPr id="2" name="La qualité expose les anomalies">
            <a:extLst xmlns:a="http://schemas.openxmlformats.org/drawingml/2006/main">
              <a:ext uri="{FF2B5EF4-FFF2-40B4-BE49-F238E27FC236}">
                <a16:creationId xmlns:a16="http://schemas.microsoft.com/office/drawing/2014/main" id="{88DD8AA3-8C98-4A4D-B677-7AD417E29058}"/>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La qualité expose les anomalies</a:t>
            </a:r>
          </a:p>
        </p:txBody>
      </p:sp>
      <p:sp>
        <p:nvSpPr>
          <p:cNvPr id="3" name="">
            <a:extLst xmlns:a="http://schemas.openxmlformats.org/drawingml/2006/main">
              <a:ext uri="{FF2B5EF4-FFF2-40B4-BE49-F238E27FC236}">
                <a16:creationId xmlns:a16="http://schemas.microsoft.com/office/drawing/2014/main" id="{D77441C1-CED2-4491-9E1B-3614700FF8EE}"/>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248D1C1B-85D8-41DD-8670-ED12D1213E90}"/>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0">
            <a:extLst xmlns:a="http://schemas.openxmlformats.org/drawingml/2006/main">
              <a:ext uri="{FF2B5EF4-FFF2-40B4-BE49-F238E27FC236}">
                <a16:creationId xmlns:a16="http://schemas.microsoft.com/office/drawing/2014/main" id="{250D617A-6EC1-4B34-9710-1D32288E607C}"/>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10</a:t>
            </a:r>
          </a:p>
        </p:txBody>
      </p:sp>
      <p:sp>
        <p:nvSpPr>
          <p:cNvPr id="6" name="Contrôle">
            <a:extLst xmlns:a="http://schemas.openxmlformats.org/drawingml/2006/main">
              <a:ext uri="{FF2B5EF4-FFF2-40B4-BE49-F238E27FC236}">
                <a16:creationId xmlns:a16="http://schemas.microsoft.com/office/drawing/2014/main" id="{12BBEFF3-8D83-4ED7-935D-786DE03D7438}"/>
              </a:ext>
            </a:extLst>
          </p:cNvPr>
          <p:cNvSpPr>
            <a:spLocks xmlns:a="http://schemas.openxmlformats.org/drawingml/2006/main" noGrp="1"/>
          </p:cNvSpPr>
          <p:nvPr/>
        </p:nvSpPr>
        <p:spPr>
          <a:xfrm xmlns:a="http://schemas.openxmlformats.org/drawingml/2006/main">
            <a:off x="400050" y="1838325"/>
            <a:ext cx="4019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Contrôle</a:t>
            </a:r>
          </a:p>
        </p:txBody>
      </p:sp>
      <p:sp>
        <p:nvSpPr>
          <p:cNvPr id="7" name="Comportement">
            <a:extLst xmlns:a="http://schemas.openxmlformats.org/drawingml/2006/main">
              <a:ext uri="{FF2B5EF4-FFF2-40B4-BE49-F238E27FC236}">
                <a16:creationId xmlns:a16="http://schemas.microsoft.com/office/drawing/2014/main" id="{A22C0B52-9FCF-452D-8257-6986D42E59BB}"/>
              </a:ext>
            </a:extLst>
          </p:cNvPr>
          <p:cNvSpPr>
            <a:spLocks xmlns:a="http://schemas.openxmlformats.org/drawingml/2006/main" noGrp="1"/>
          </p:cNvSpPr>
          <p:nvPr/>
        </p:nvSpPr>
        <p:spPr>
          <a:xfrm xmlns:a="http://schemas.openxmlformats.org/drawingml/2006/main">
            <a:off x="4591050" y="1838325"/>
            <a:ext cx="702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Comportement</a:t>
            </a:r>
          </a:p>
        </p:txBody>
      </p:sp>
      <p:sp>
        <p:nvSpPr>
          <p:cNvPr id="8" name="">
            <a:extLst xmlns:a="http://schemas.openxmlformats.org/drawingml/2006/main">
              <a:ext uri="{FF2B5EF4-FFF2-40B4-BE49-F238E27FC236}">
                <a16:creationId xmlns:a16="http://schemas.microsoft.com/office/drawing/2014/main" id="{6A4A888A-0709-4C45-BD74-761487D4DE8A}"/>
              </a:ext>
            </a:extLst>
          </p:cNvPr>
          <p:cNvSpPr>
            <a:spLocks xmlns:a="http://schemas.openxmlformats.org/drawingml/2006/main" noGrp="1"/>
          </p:cNvSpPr>
          <p:nvPr/>
        </p:nvSpPr>
        <p:spPr>
          <a:xfrm xmlns:a="http://schemas.openxmlformats.org/drawingml/2006/main">
            <a:off x="400050" y="2305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9" name="Schéma">
            <a:extLst xmlns:a="http://schemas.openxmlformats.org/drawingml/2006/main">
              <a:ext uri="{FF2B5EF4-FFF2-40B4-BE49-F238E27FC236}">
                <a16:creationId xmlns:a16="http://schemas.microsoft.com/office/drawing/2014/main" id="{4C526CC1-D93D-4C76-8C25-8550EBA2BD0B}"/>
              </a:ext>
            </a:extLst>
          </p:cNvPr>
          <p:cNvSpPr>
            <a:spLocks xmlns:a="http://schemas.openxmlformats.org/drawingml/2006/main" noGrp="1"/>
          </p:cNvSpPr>
          <p:nvPr/>
        </p:nvSpPr>
        <p:spPr>
          <a:xfrm xmlns:a="http://schemas.openxmlformats.org/drawingml/2006/main">
            <a:off x="400050" y="24479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Schéma</a:t>
            </a:r>
          </a:p>
        </p:txBody>
      </p:sp>
      <p:sp>
        <p:nvSpPr>
          <p:cNvPr id="10" name="Présence des colonnes obligatoires">
            <a:extLst xmlns:a="http://schemas.openxmlformats.org/drawingml/2006/main">
              <a:ext uri="{FF2B5EF4-FFF2-40B4-BE49-F238E27FC236}">
                <a16:creationId xmlns:a16="http://schemas.microsoft.com/office/drawing/2014/main" id="{DD8F86DC-13E9-48E5-8990-425863F6A6C2}"/>
              </a:ext>
            </a:extLst>
          </p:cNvPr>
          <p:cNvSpPr>
            <a:spLocks xmlns:a="http://schemas.openxmlformats.org/drawingml/2006/main" noGrp="1"/>
          </p:cNvSpPr>
          <p:nvPr/>
        </p:nvSpPr>
        <p:spPr>
          <a:xfrm xmlns:a="http://schemas.openxmlformats.org/drawingml/2006/main">
            <a:off x="4591050" y="24479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Présence des colonnes obligatoires</a:t>
            </a:r>
          </a:p>
        </p:txBody>
      </p:sp>
      <p:sp>
        <p:nvSpPr>
          <p:cNvPr id="11" name="">
            <a:extLst xmlns:a="http://schemas.openxmlformats.org/drawingml/2006/main">
              <a:ext uri="{FF2B5EF4-FFF2-40B4-BE49-F238E27FC236}">
                <a16:creationId xmlns:a16="http://schemas.microsoft.com/office/drawing/2014/main" id="{E0396EF7-814F-4FAD-97D7-47852AE77D75}"/>
              </a:ext>
            </a:extLst>
          </p:cNvPr>
          <p:cNvSpPr>
            <a:spLocks xmlns:a="http://schemas.openxmlformats.org/drawingml/2006/main" noGrp="1"/>
          </p:cNvSpPr>
          <p:nvPr/>
        </p:nvSpPr>
        <p:spPr>
          <a:xfrm xmlns:a="http://schemas.openxmlformats.org/drawingml/2006/main">
            <a:off x="400050" y="31051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2" name="Complétude et valeurs">
            <a:extLst xmlns:a="http://schemas.openxmlformats.org/drawingml/2006/main">
              <a:ext uri="{FF2B5EF4-FFF2-40B4-BE49-F238E27FC236}">
                <a16:creationId xmlns:a16="http://schemas.microsoft.com/office/drawing/2014/main" id="{5BB18D91-3BDB-4BC5-A367-9B28F1F82457}"/>
              </a:ext>
            </a:extLst>
          </p:cNvPr>
          <p:cNvSpPr>
            <a:spLocks xmlns:a="http://schemas.openxmlformats.org/drawingml/2006/main" noGrp="1"/>
          </p:cNvSpPr>
          <p:nvPr/>
        </p:nvSpPr>
        <p:spPr>
          <a:xfrm xmlns:a="http://schemas.openxmlformats.org/drawingml/2006/main">
            <a:off x="400050" y="31718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Complétude et valeurs</a:t>
            </a:r>
          </a:p>
        </p:txBody>
      </p:sp>
      <p:sp>
        <p:nvSpPr>
          <p:cNvPr id="13" name="Nullité, bornes de rendement et années">
            <a:extLst xmlns:a="http://schemas.openxmlformats.org/drawingml/2006/main">
              <a:ext uri="{FF2B5EF4-FFF2-40B4-BE49-F238E27FC236}">
                <a16:creationId xmlns:a16="http://schemas.microsoft.com/office/drawing/2014/main" id="{488EF1E6-6939-4DB7-AF68-5006ACA83DF4}"/>
              </a:ext>
            </a:extLst>
          </p:cNvPr>
          <p:cNvSpPr>
            <a:spLocks xmlns:a="http://schemas.openxmlformats.org/drawingml/2006/main" noGrp="1"/>
          </p:cNvSpPr>
          <p:nvPr/>
        </p:nvSpPr>
        <p:spPr>
          <a:xfrm xmlns:a="http://schemas.openxmlformats.org/drawingml/2006/main">
            <a:off x="4591050" y="31718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Nullité, bornes de rendement et années</a:t>
            </a:r>
          </a:p>
        </p:txBody>
      </p:sp>
      <p:sp>
        <p:nvSpPr>
          <p:cNvPr id="14" name="">
            <a:extLst xmlns:a="http://schemas.openxmlformats.org/drawingml/2006/main">
              <a:ext uri="{FF2B5EF4-FFF2-40B4-BE49-F238E27FC236}">
                <a16:creationId xmlns:a16="http://schemas.microsoft.com/office/drawing/2014/main" id="{9565B91F-A970-4A36-8B54-A42553F46C57}"/>
              </a:ext>
            </a:extLst>
          </p:cNvPr>
          <p:cNvSpPr>
            <a:spLocks xmlns:a="http://schemas.openxmlformats.org/drawingml/2006/main" noGrp="1"/>
          </p:cNvSpPr>
          <p:nvPr/>
        </p:nvSpPr>
        <p:spPr>
          <a:xfrm xmlns:a="http://schemas.openxmlformats.org/drawingml/2006/main">
            <a:off x="400050" y="3829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5" name="Clés dupliquées">
            <a:extLst xmlns:a="http://schemas.openxmlformats.org/drawingml/2006/main">
              <a:ext uri="{FF2B5EF4-FFF2-40B4-BE49-F238E27FC236}">
                <a16:creationId xmlns:a16="http://schemas.microsoft.com/office/drawing/2014/main" id="{B3230046-4507-4B4E-8992-567DFAACD3BC}"/>
              </a:ext>
            </a:extLst>
          </p:cNvPr>
          <p:cNvSpPr>
            <a:spLocks xmlns:a="http://schemas.openxmlformats.org/drawingml/2006/main" noGrp="1"/>
          </p:cNvSpPr>
          <p:nvPr/>
        </p:nvSpPr>
        <p:spPr>
          <a:xfrm xmlns:a="http://schemas.openxmlformats.org/drawingml/2006/main">
            <a:off x="400050" y="38957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Clés dupliquées</a:t>
            </a:r>
          </a:p>
        </p:txBody>
      </p:sp>
      <p:sp>
        <p:nvSpPr>
          <p:cNvPr id="16" name="34 lignes concernées sur le lot fourni">
            <a:extLst xmlns:a="http://schemas.openxmlformats.org/drawingml/2006/main">
              <a:ext uri="{FF2B5EF4-FFF2-40B4-BE49-F238E27FC236}">
                <a16:creationId xmlns:a16="http://schemas.microsoft.com/office/drawing/2014/main" id="{9B13FB3A-7C93-406C-8B27-FB5641D3E248}"/>
              </a:ext>
            </a:extLst>
          </p:cNvPr>
          <p:cNvSpPr>
            <a:spLocks xmlns:a="http://schemas.openxmlformats.org/drawingml/2006/main" noGrp="1"/>
          </p:cNvSpPr>
          <p:nvPr/>
        </p:nvSpPr>
        <p:spPr>
          <a:xfrm xmlns:a="http://schemas.openxmlformats.org/drawingml/2006/main">
            <a:off x="4591050" y="38957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34 lignes concernées sur le lot fourni</a:t>
            </a:r>
          </a:p>
        </p:txBody>
      </p:sp>
      <p:sp>
        <p:nvSpPr>
          <p:cNvPr id="17" name="">
            <a:extLst xmlns:a="http://schemas.openxmlformats.org/drawingml/2006/main">
              <a:ext uri="{FF2B5EF4-FFF2-40B4-BE49-F238E27FC236}">
                <a16:creationId xmlns:a16="http://schemas.microsoft.com/office/drawing/2014/main" id="{90A3DC67-6B03-4055-A964-CB00DE5175EF}"/>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8" name="Quarantaine">
            <a:extLst xmlns:a="http://schemas.openxmlformats.org/drawingml/2006/main">
              <a:ext uri="{FF2B5EF4-FFF2-40B4-BE49-F238E27FC236}">
                <a16:creationId xmlns:a16="http://schemas.microsoft.com/office/drawing/2014/main" id="{F569B73E-53AD-4B70-9E49-12E6AA05FD39}"/>
              </a:ext>
            </a:extLst>
          </p:cNvPr>
          <p:cNvSpPr>
            <a:spLocks xmlns:a="http://schemas.openxmlformats.org/drawingml/2006/main" noGrp="1"/>
          </p:cNvSpPr>
          <p:nvPr/>
        </p:nvSpPr>
        <p:spPr>
          <a:xfrm xmlns:a="http://schemas.openxmlformats.org/drawingml/2006/main">
            <a:off x="400050" y="46196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Quarantaine</a:t>
            </a:r>
          </a:p>
        </p:txBody>
      </p:sp>
      <p:sp>
        <p:nvSpPr>
          <p:cNvPr id="19" name="32 lignes copiées avec motif">
            <a:extLst xmlns:a="http://schemas.openxmlformats.org/drawingml/2006/main">
              <a:ext uri="{FF2B5EF4-FFF2-40B4-BE49-F238E27FC236}">
                <a16:creationId xmlns:a16="http://schemas.microsoft.com/office/drawing/2014/main" id="{F260AFDB-BB36-427B-B692-AD67D6DA36C0}"/>
              </a:ext>
            </a:extLst>
          </p:cNvPr>
          <p:cNvSpPr>
            <a:spLocks xmlns:a="http://schemas.openxmlformats.org/drawingml/2006/main" noGrp="1"/>
          </p:cNvSpPr>
          <p:nvPr/>
        </p:nvSpPr>
        <p:spPr>
          <a:xfrm xmlns:a="http://schemas.openxmlformats.org/drawingml/2006/main">
            <a:off x="4591050" y="46196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32 lignes copiées avec motif</a:t>
            </a:r>
          </a:p>
        </p:txBody>
      </p:sp>
      <p:sp>
        <p:nvSpPr>
          <p:cNvPr id="20" name="">
            <a:extLst xmlns:a="http://schemas.openxmlformats.org/drawingml/2006/main">
              <a:ext uri="{FF2B5EF4-FFF2-40B4-BE49-F238E27FC236}">
                <a16:creationId xmlns:a16="http://schemas.microsoft.com/office/drawing/2014/main" id="{49D344C5-07E2-48A3-BFB9-F9D334549A41}"/>
              </a:ext>
            </a:extLst>
          </p:cNvPr>
          <p:cNvSpPr>
            <a:spLocks xmlns:a="http://schemas.openxmlformats.org/drawingml/2006/main" noGrp="1"/>
          </p:cNvSpPr>
          <p:nvPr/>
        </p:nvSpPr>
        <p:spPr>
          <a:xfrm xmlns:a="http://schemas.openxmlformats.org/drawingml/2006/main">
            <a:off x="400050" y="527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1" name="Portée du statut OK">
            <a:extLst xmlns:a="http://schemas.openxmlformats.org/drawingml/2006/main">
              <a:ext uri="{FF2B5EF4-FFF2-40B4-BE49-F238E27FC236}">
                <a16:creationId xmlns:a16="http://schemas.microsoft.com/office/drawing/2014/main" id="{7F27ED0D-E629-4DD2-BF65-E597E08605FE}"/>
              </a:ext>
            </a:extLst>
          </p:cNvPr>
          <p:cNvSpPr>
            <a:spLocks xmlns:a="http://schemas.openxmlformats.org/drawingml/2006/main" noGrp="1"/>
          </p:cNvSpPr>
          <p:nvPr/>
        </p:nvSpPr>
        <p:spPr>
          <a:xfrm xmlns:a="http://schemas.openxmlformats.org/drawingml/2006/main">
            <a:off x="400050" y="53435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Portée du statut OK</a:t>
            </a:r>
          </a:p>
        </p:txBody>
      </p:sp>
      <p:sp>
        <p:nvSpPr>
          <p:cNvPr id="22" name="Contrôles exécutés, pas absence d’anomalies">
            <a:extLst xmlns:a="http://schemas.openxmlformats.org/drawingml/2006/main">
              <a:ext uri="{FF2B5EF4-FFF2-40B4-BE49-F238E27FC236}">
                <a16:creationId xmlns:a16="http://schemas.microsoft.com/office/drawing/2014/main" id="{3D1A84CD-6E07-4A08-8557-97A9A9A3AC5B}"/>
              </a:ext>
            </a:extLst>
          </p:cNvPr>
          <p:cNvSpPr>
            <a:spLocks xmlns:a="http://schemas.openxmlformats.org/drawingml/2006/main" noGrp="1"/>
          </p:cNvSpPr>
          <p:nvPr/>
        </p:nvSpPr>
        <p:spPr>
          <a:xfrm xmlns:a="http://schemas.openxmlformats.org/drawingml/2006/main">
            <a:off x="4591050" y="53435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Contrôles exécutés, pas absence d’anomalies</a:t>
            </a:r>
          </a:p>
        </p:txBody>
      </p:sp>
    </p:spTree>
    <p:extLst>
      <p:ext uri="{BB962C8B-B14F-4D97-AF65-F5344CB8AC3E}">
        <p14:creationId xmlns:p14="http://schemas.microsoft.com/office/powerpoint/2010/main" val="4089484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5 · GOUVERNANCE">
            <a:extLst xmlns:a="http://schemas.openxmlformats.org/drawingml/2006/main">
              <a:ext uri="{FF2B5EF4-FFF2-40B4-BE49-F238E27FC236}">
                <a16:creationId xmlns:a16="http://schemas.microsoft.com/office/drawing/2014/main" id="{A3EB4498-8468-4913-A08D-224A02C17901}"/>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05 · GOUVERNANCE</a:t>
            </a:r>
          </a:p>
        </p:txBody>
      </p:sp>
      <p:sp>
        <p:nvSpPr>
          <p:cNvPr id="2" name="Le catalogue rend les données trouvables">
            <a:extLst xmlns:a="http://schemas.openxmlformats.org/drawingml/2006/main">
              <a:ext uri="{FF2B5EF4-FFF2-40B4-BE49-F238E27FC236}">
                <a16:creationId xmlns:a16="http://schemas.microsoft.com/office/drawing/2014/main" id="{762763A2-98B7-4B10-9716-83DA8E946FED}"/>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 catalogue rend les données trouvables</a:t>
            </a:r>
          </a:p>
        </p:txBody>
      </p:sp>
      <p:sp>
        <p:nvSpPr>
          <p:cNvPr id="3" name="">
            <a:extLst xmlns:a="http://schemas.openxmlformats.org/drawingml/2006/main">
              <a:ext uri="{FF2B5EF4-FFF2-40B4-BE49-F238E27FC236}">
                <a16:creationId xmlns:a16="http://schemas.microsoft.com/office/drawing/2014/main" id="{492AEC08-8F99-4BCF-A6A0-60F65072A860}"/>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CD373DE2-FA85-402A-B4C8-43DDA3FF571A}"/>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1">
            <a:extLst xmlns:a="http://schemas.openxmlformats.org/drawingml/2006/main">
              <a:ext uri="{FF2B5EF4-FFF2-40B4-BE49-F238E27FC236}">
                <a16:creationId xmlns:a16="http://schemas.microsoft.com/office/drawing/2014/main" id="{438E5235-3C0B-4DD5-B321-7D79CCBCAE77}"/>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11</a:t>
            </a:r>
          </a:p>
        </p:txBody>
      </p:sp>
      <p:sp>
        <p:nvSpPr>
          <p:cNvPr id="6" name="Métadonnées">
            <a:extLst xmlns:a="http://schemas.openxmlformats.org/drawingml/2006/main">
              <a:ext uri="{FF2B5EF4-FFF2-40B4-BE49-F238E27FC236}">
                <a16:creationId xmlns:a16="http://schemas.microsoft.com/office/drawing/2014/main" id="{C2679F43-4522-427F-9C87-5B298AA728D7}"/>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Métadonnées</a:t>
            </a:r>
          </a:p>
        </p:txBody>
      </p:sp>
      <p:sp>
        <p:nvSpPr>
          <p:cNvPr id="7" name="datasets : chemin, zone, format et volumes.">
            <a:extLst xmlns:a="http://schemas.openxmlformats.org/drawingml/2006/main">
              <a:ext uri="{FF2B5EF4-FFF2-40B4-BE49-F238E27FC236}">
                <a16:creationId xmlns:a16="http://schemas.microsoft.com/office/drawing/2014/main" id="{9A7FF4CD-22DC-4F7C-A0AD-B08BE57AAB3A}"/>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datasets : chemin, zone, format et volumes.</a:t>
            </a:r>
          </a:p>
        </p:txBody>
      </p:sp>
      <p:sp>
        <p:nvSpPr>
          <p:cNvPr id="8" name="columns_catalog : types, nullité et cardinalité.">
            <a:extLst xmlns:a="http://schemas.openxmlformats.org/drawingml/2006/main">
              <a:ext uri="{FF2B5EF4-FFF2-40B4-BE49-F238E27FC236}">
                <a16:creationId xmlns:a16="http://schemas.microsoft.com/office/drawing/2014/main" id="{149CE976-B858-4DD7-8919-C5384DEB5389}"/>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columns_catalog : types, nullité et cardinalité.</a:t>
            </a:r>
          </a:p>
        </p:txBody>
      </p:sp>
      <p:sp>
        <p:nvSpPr>
          <p:cNvPr id="9" name="lineage : relations déclarées entre étapes.">
            <a:extLst xmlns:a="http://schemas.openxmlformats.org/drawingml/2006/main">
              <a:ext uri="{FF2B5EF4-FFF2-40B4-BE49-F238E27FC236}">
                <a16:creationId xmlns:a16="http://schemas.microsoft.com/office/drawing/2014/main" id="{DD48414A-5178-4C22-8C57-53A96632D6DF}"/>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lineage : relations déclarées entre étapes.</a:t>
            </a:r>
          </a:p>
        </p:txBody>
      </p:sp>
      <p:sp>
        <p:nvSpPr>
          <p:cNvPr id="10" name="Recherche">
            <a:extLst xmlns:a="http://schemas.openxmlformats.org/drawingml/2006/main">
              <a:ext uri="{FF2B5EF4-FFF2-40B4-BE49-F238E27FC236}">
                <a16:creationId xmlns:a16="http://schemas.microsoft.com/office/drawing/2014/main" id="{DA9EF3A7-4108-4977-8FFD-39537E1E2D40}"/>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Recherche</a:t>
            </a:r>
          </a:p>
        </p:txBody>
      </p:sp>
      <p:sp>
        <p:nvSpPr>
          <p:cNvPr id="11" name="FTS5 indexe les datasets et les matériels.">
            <a:extLst xmlns:a="http://schemas.openxmlformats.org/drawingml/2006/main">
              <a:ext uri="{FF2B5EF4-FFF2-40B4-BE49-F238E27FC236}">
                <a16:creationId xmlns:a16="http://schemas.microsoft.com/office/drawing/2014/main" id="{94D121A1-F481-4B83-B6B2-63B8DFE922EA}"/>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FTS5 indexe les datasets et les matériels.</a:t>
            </a:r>
          </a:p>
        </p:txBody>
      </p:sp>
      <p:sp>
        <p:nvSpPr>
          <p:cNvPr id="12" name="Une recherche renvoie au plus 25 résultats via l’API.">
            <a:extLst xmlns:a="http://schemas.openxmlformats.org/drawingml/2006/main">
              <a:ext uri="{FF2B5EF4-FFF2-40B4-BE49-F238E27FC236}">
                <a16:creationId xmlns:a16="http://schemas.microsoft.com/office/drawing/2014/main" id="{6A1EC618-B3D8-411F-9736-0B174C97BD9C}"/>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Une recherche renvoie au plus 25 résultats via l’API.</a:t>
            </a:r>
          </a:p>
        </p:txBody>
      </p:sp>
      <p:sp>
        <p:nvSpPr>
          <p:cNvPr id="13" name="Le catalogue est reconstruit à partir des fichiers locaux.">
            <a:extLst xmlns:a="http://schemas.openxmlformats.org/drawingml/2006/main">
              <a:ext uri="{FF2B5EF4-FFF2-40B4-BE49-F238E27FC236}">
                <a16:creationId xmlns:a16="http://schemas.microsoft.com/office/drawing/2014/main" id="{04EBA1D9-BA6E-4A0D-A077-FCAF66B1D523}"/>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 catalogue est reconstruit à partir des fichiers locaux.</a:t>
            </a:r>
          </a:p>
        </p:txBody>
      </p:sp>
    </p:spTree>
    <p:extLst>
      <p:ext uri="{BB962C8B-B14F-4D97-AF65-F5344CB8AC3E}">
        <p14:creationId xmlns:p14="http://schemas.microsoft.com/office/powerpoint/2010/main" val="11482442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6 · STOCKAGE">
            <a:extLst xmlns:a="http://schemas.openxmlformats.org/drawingml/2006/main">
              <a:ext uri="{FF2B5EF4-FFF2-40B4-BE49-F238E27FC236}">
                <a16:creationId xmlns:a16="http://schemas.microsoft.com/office/drawing/2014/main" id="{78BCB16F-51BB-470B-879A-8E2877465612}"/>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06 · STOCKAGE</a:t>
            </a:r>
          </a:p>
        </p:txBody>
      </p:sp>
      <p:sp>
        <p:nvSpPr>
          <p:cNvPr id="2" name="Deux usages de stockage complémentaires">
            <a:extLst xmlns:a="http://schemas.openxmlformats.org/drawingml/2006/main">
              <a:ext uri="{FF2B5EF4-FFF2-40B4-BE49-F238E27FC236}">
                <a16:creationId xmlns:a16="http://schemas.microsoft.com/office/drawing/2014/main" id="{F6AA60AD-6CB0-428F-A501-9CA1566BE74C}"/>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Deux usages de stockage complémentaires</a:t>
            </a:r>
          </a:p>
        </p:txBody>
      </p:sp>
      <p:sp>
        <p:nvSpPr>
          <p:cNvPr id="3" name="">
            <a:extLst xmlns:a="http://schemas.openxmlformats.org/drawingml/2006/main">
              <a:ext uri="{FF2B5EF4-FFF2-40B4-BE49-F238E27FC236}">
                <a16:creationId xmlns:a16="http://schemas.microsoft.com/office/drawing/2014/main" id="{BBE00937-E883-47F1-B452-4D66B56E4BB6}"/>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AEA32BBE-D8B1-4DF0-AA0F-CD692C302324}"/>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2">
            <a:extLst xmlns:a="http://schemas.openxmlformats.org/drawingml/2006/main">
              <a:ext uri="{FF2B5EF4-FFF2-40B4-BE49-F238E27FC236}">
                <a16:creationId xmlns:a16="http://schemas.microsoft.com/office/drawing/2014/main" id="{3996FA7E-F478-48AA-B8FD-C0F0D6582C00}"/>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12</a:t>
            </a:r>
          </a:p>
        </p:txBody>
      </p:sp>
      <p:sp>
        <p:nvSpPr>
          <p:cNvPr id="6" name="Accès par clé">
            <a:extLst xmlns:a="http://schemas.openxmlformats.org/drawingml/2006/main">
              <a:ext uri="{FF2B5EF4-FFF2-40B4-BE49-F238E27FC236}">
                <a16:creationId xmlns:a16="http://schemas.microsoft.com/office/drawing/2014/main" id="{8D26EC27-8D19-4913-A25E-3756BD4680E1}"/>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Accès par clé</a:t>
            </a:r>
          </a:p>
        </p:txBody>
      </p:sp>
      <p:sp>
        <p:nvSpPr>
          <p:cNvPr id="7" name="SQLite représente les familles logiques HBase.">
            <a:extLst xmlns:a="http://schemas.openxmlformats.org/drawingml/2006/main">
              <a:ext uri="{FF2B5EF4-FFF2-40B4-BE49-F238E27FC236}">
                <a16:creationId xmlns:a16="http://schemas.microsoft.com/office/drawing/2014/main" id="{05CF2388-F977-4799-A04A-3F82B362180B}"/>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SQLite représente les familles logiques HBase.</a:t>
            </a:r>
          </a:p>
        </p:txBody>
      </p:sp>
      <p:sp>
        <p:nvSpPr>
          <p:cNvPr id="8" name="Les clés des mesures et les collisions sont contrôlées.">
            <a:extLst xmlns:a="http://schemas.openxmlformats.org/drawingml/2006/main">
              <a:ext uri="{FF2B5EF4-FFF2-40B4-BE49-F238E27FC236}">
                <a16:creationId xmlns:a16="http://schemas.microsoft.com/office/drawing/2014/main" id="{BA748774-4C39-495C-8C40-485F7859707E}"/>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clés des mesures et les collisions sont contrôlées.</a:t>
            </a:r>
          </a:p>
        </p:txBody>
      </p:sp>
      <p:sp>
        <p:nvSpPr>
          <p:cNvPr id="9" name="Les volumes reçus, insérés et rejetés sont consignés.">
            <a:extLst xmlns:a="http://schemas.openxmlformats.org/drawingml/2006/main">
              <a:ext uri="{FF2B5EF4-FFF2-40B4-BE49-F238E27FC236}">
                <a16:creationId xmlns:a16="http://schemas.microsoft.com/office/drawing/2014/main" id="{260D15AA-0308-430C-A57E-71DB1F498184}"/>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volumes reçus, insérés et rejetés sont consignés.</a:t>
            </a:r>
          </a:p>
        </p:txBody>
      </p:sp>
      <p:sp>
        <p:nvSpPr>
          <p:cNvPr id="10" name="Événements">
            <a:extLst xmlns:a="http://schemas.openxmlformats.org/drawingml/2006/main">
              <a:ext uri="{FF2B5EF4-FFF2-40B4-BE49-F238E27FC236}">
                <a16:creationId xmlns:a16="http://schemas.microsoft.com/office/drawing/2014/main" id="{373C40E4-2F7D-438F-B5E4-945509CBE346}"/>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Événements</a:t>
            </a:r>
          </a:p>
        </p:txBody>
      </p:sp>
      <p:sp>
        <p:nvSpPr>
          <p:cNvPr id="11" name="Quatre topics illustrent le découplage des producteurs.">
            <a:extLst xmlns:a="http://schemas.openxmlformats.org/drawingml/2006/main">
              <a:ext uri="{FF2B5EF4-FFF2-40B4-BE49-F238E27FC236}">
                <a16:creationId xmlns:a16="http://schemas.microsoft.com/office/drawing/2014/main" id="{9F12B2F1-1068-4DE9-B1C0-827045538B9F}"/>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Quatre topics illustrent le découplage des producteurs.</a:t>
            </a:r>
          </a:p>
        </p:txBody>
      </p:sp>
      <p:sp>
        <p:nvSpPr>
          <p:cNvPr id="12" name="Résultats, alertes et géographie alimentent des fichiers.">
            <a:extLst xmlns:a="http://schemas.openxmlformats.org/drawingml/2006/main">
              <a:ext uri="{FF2B5EF4-FFF2-40B4-BE49-F238E27FC236}">
                <a16:creationId xmlns:a16="http://schemas.microsoft.com/office/drawing/2014/main" id="{94658043-948F-4986-A3F4-F9EE8E311EDD}"/>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Résultats, alertes et géographie alimentent des fichiers.</a:t>
            </a:r>
          </a:p>
        </p:txBody>
      </p:sp>
      <p:sp>
        <p:nvSpPr>
          <p:cNvPr id="13" name="Le topic material-updates est déclaré mais non alimenté.">
            <a:extLst xmlns:a="http://schemas.openxmlformats.org/drawingml/2006/main">
              <a:ext uri="{FF2B5EF4-FFF2-40B4-BE49-F238E27FC236}">
                <a16:creationId xmlns:a16="http://schemas.microsoft.com/office/drawing/2014/main" id="{1445D0D7-7C7A-498A-9188-AEA5B85EE8AA}"/>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 topic material-updates est déclaré mais non alimenté.</a:t>
            </a:r>
          </a:p>
        </p:txBody>
      </p:sp>
    </p:spTree>
    <p:extLst>
      <p:ext uri="{BB962C8B-B14F-4D97-AF65-F5344CB8AC3E}">
        <p14:creationId xmlns:p14="http://schemas.microsoft.com/office/powerpoint/2010/main" val="777514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07 · ANALYTIQUE">
            <a:extLst xmlns:a="http://schemas.openxmlformats.org/drawingml/2006/main">
              <a:ext uri="{FF2B5EF4-FFF2-40B4-BE49-F238E27FC236}">
                <a16:creationId xmlns:a16="http://schemas.microsoft.com/office/drawing/2014/main" id="{4AE2A1A0-9DC7-4FE9-95B4-FA68696469FF}"/>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07 · ANALYTIQUE</a:t>
            </a:r>
          </a:p>
        </p:txBody>
      </p:sp>
      <p:sp>
        <p:nvSpPr>
          <p:cNvPr id="2" name="Trois voies d’analyse des fichiers">
            <a:extLst xmlns:a="http://schemas.openxmlformats.org/drawingml/2006/main">
              <a:ext uri="{FF2B5EF4-FFF2-40B4-BE49-F238E27FC236}">
                <a16:creationId xmlns:a16="http://schemas.microsoft.com/office/drawing/2014/main" id="{14D98942-1625-4651-A4A7-3FB2087A1CB2}"/>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Trois voies d’analyse des fichiers</a:t>
            </a:r>
          </a:p>
        </p:txBody>
      </p:sp>
      <p:sp>
        <p:nvSpPr>
          <p:cNvPr id="3" name="">
            <a:extLst xmlns:a="http://schemas.openxmlformats.org/drawingml/2006/main">
              <a:ext uri="{FF2B5EF4-FFF2-40B4-BE49-F238E27FC236}">
                <a16:creationId xmlns:a16="http://schemas.microsoft.com/office/drawing/2014/main" id="{728611DB-975A-49AB-BE26-1DAEFDA16128}"/>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3F879110-525F-47ED-8D8A-17649D6A72CA}"/>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3">
            <a:extLst xmlns:a="http://schemas.openxmlformats.org/drawingml/2006/main">
              <a:ext uri="{FF2B5EF4-FFF2-40B4-BE49-F238E27FC236}">
                <a16:creationId xmlns:a16="http://schemas.microsoft.com/office/drawing/2014/main" id="{9A8440B0-B92D-498A-B4B4-167B7B0691BE}"/>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13</a:t>
            </a:r>
          </a:p>
        </p:txBody>
      </p:sp>
      <p:sp>
        <p:nvSpPr>
          <p:cNvPr id="6" name="Voie">
            <a:extLst xmlns:a="http://schemas.openxmlformats.org/drawingml/2006/main">
              <a:ext uri="{FF2B5EF4-FFF2-40B4-BE49-F238E27FC236}">
                <a16:creationId xmlns:a16="http://schemas.microsoft.com/office/drawing/2014/main" id="{5A6E703C-0C26-4616-B81B-2774A5ACE920}"/>
              </a:ext>
            </a:extLst>
          </p:cNvPr>
          <p:cNvSpPr>
            <a:spLocks xmlns:a="http://schemas.openxmlformats.org/drawingml/2006/main" noGrp="1"/>
          </p:cNvSpPr>
          <p:nvPr/>
        </p:nvSpPr>
        <p:spPr>
          <a:xfrm xmlns:a="http://schemas.openxmlformats.org/drawingml/2006/main">
            <a:off x="400050" y="183832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Voie</a:t>
            </a:r>
          </a:p>
        </p:txBody>
      </p:sp>
      <p:sp>
        <p:nvSpPr>
          <p:cNvPr id="7" name="Sortie">
            <a:extLst xmlns:a="http://schemas.openxmlformats.org/drawingml/2006/main">
              <a:ext uri="{FF2B5EF4-FFF2-40B4-BE49-F238E27FC236}">
                <a16:creationId xmlns:a16="http://schemas.microsoft.com/office/drawing/2014/main" id="{12D70113-C7E2-4C7E-8F2F-CC3EA7209FB6}"/>
              </a:ext>
            </a:extLst>
          </p:cNvPr>
          <p:cNvSpPr>
            <a:spLocks xmlns:a="http://schemas.openxmlformats.org/drawingml/2006/main" noGrp="1"/>
          </p:cNvSpPr>
          <p:nvPr/>
        </p:nvSpPr>
        <p:spPr>
          <a:xfrm xmlns:a="http://schemas.openxmlformats.org/drawingml/2006/main">
            <a:off x="3114675" y="1838325"/>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Sortie</a:t>
            </a:r>
          </a:p>
        </p:txBody>
      </p:sp>
      <p:sp>
        <p:nvSpPr>
          <p:cNvPr id="8" name="Usage">
            <a:extLst xmlns:a="http://schemas.openxmlformats.org/drawingml/2006/main">
              <a:ext uri="{FF2B5EF4-FFF2-40B4-BE49-F238E27FC236}">
                <a16:creationId xmlns:a16="http://schemas.microsoft.com/office/drawing/2014/main" id="{82570C70-58ED-45B2-A0B6-75D12C8AAB20}"/>
              </a:ext>
            </a:extLst>
          </p:cNvPr>
          <p:cNvSpPr>
            <a:spLocks xmlns:a="http://schemas.openxmlformats.org/drawingml/2006/main" noGrp="1"/>
          </p:cNvSpPr>
          <p:nvPr/>
        </p:nvSpPr>
        <p:spPr>
          <a:xfrm xmlns:a="http://schemas.openxmlformats.org/drawingml/2006/main">
            <a:off x="7210425" y="1838325"/>
            <a:ext cx="4410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Usage</a:t>
            </a:r>
          </a:p>
        </p:txBody>
      </p:sp>
      <p:sp>
        <p:nvSpPr>
          <p:cNvPr id="9" name="">
            <a:extLst xmlns:a="http://schemas.openxmlformats.org/drawingml/2006/main">
              <a:ext uri="{FF2B5EF4-FFF2-40B4-BE49-F238E27FC236}">
                <a16:creationId xmlns:a16="http://schemas.microsoft.com/office/drawing/2014/main" id="{D4C10CBC-0012-4B0C-A1ED-90FACE602E7A}"/>
              </a:ext>
            </a:extLst>
          </p:cNvPr>
          <p:cNvSpPr>
            <a:spLocks xmlns:a="http://schemas.openxmlformats.org/drawingml/2006/main" noGrp="1"/>
          </p:cNvSpPr>
          <p:nvPr/>
        </p:nvSpPr>
        <p:spPr>
          <a:xfrm xmlns:a="http://schemas.openxmlformats.org/drawingml/2006/main">
            <a:off x="400050" y="2305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0" name="Hive adapté">
            <a:extLst xmlns:a="http://schemas.openxmlformats.org/drawingml/2006/main">
              <a:ext uri="{FF2B5EF4-FFF2-40B4-BE49-F238E27FC236}">
                <a16:creationId xmlns:a16="http://schemas.microsoft.com/office/drawing/2014/main" id="{8FF8FE4F-A045-4C35-BA57-18D157916E74}"/>
              </a:ext>
            </a:extLst>
          </p:cNvPr>
          <p:cNvSpPr>
            <a:spLocks xmlns:a="http://schemas.openxmlformats.org/drawingml/2006/main" noGrp="1"/>
          </p:cNvSpPr>
          <p:nvPr/>
        </p:nvSpPr>
        <p:spPr>
          <a:xfrm xmlns:a="http://schemas.openxmlformats.org/drawingml/2006/main">
            <a:off x="400050" y="24479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Hive adapté</a:t>
            </a:r>
          </a:p>
        </p:txBody>
      </p:sp>
      <p:sp>
        <p:nvSpPr>
          <p:cNvPr id="11" name="Cinq exports CSV">
            <a:extLst xmlns:a="http://schemas.openxmlformats.org/drawingml/2006/main">
              <a:ext uri="{FF2B5EF4-FFF2-40B4-BE49-F238E27FC236}">
                <a16:creationId xmlns:a16="http://schemas.microsoft.com/office/drawing/2014/main" id="{0BAE0012-B218-442D-87D3-C755D9561659}"/>
              </a:ext>
            </a:extLst>
          </p:cNvPr>
          <p:cNvSpPr>
            <a:spLocks xmlns:a="http://schemas.openxmlformats.org/drawingml/2006/main" noGrp="1"/>
          </p:cNvSpPr>
          <p:nvPr/>
        </p:nvSpPr>
        <p:spPr>
          <a:xfrm xmlns:a="http://schemas.openxmlformats.org/drawingml/2006/main">
            <a:off x="3114675" y="24479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Cinq exports CSV</a:t>
            </a:r>
          </a:p>
        </p:txBody>
      </p:sp>
      <p:sp>
        <p:nvSpPr>
          <p:cNvPr id="12" name="Moyennes, classements, régions">
            <a:extLst xmlns:a="http://schemas.openxmlformats.org/drawingml/2006/main">
              <a:ext uri="{FF2B5EF4-FFF2-40B4-BE49-F238E27FC236}">
                <a16:creationId xmlns:a16="http://schemas.microsoft.com/office/drawing/2014/main" id="{478C3064-8A2F-49D0-B98E-13142E5D2FF1}"/>
              </a:ext>
            </a:extLst>
          </p:cNvPr>
          <p:cNvSpPr>
            <a:spLocks xmlns:a="http://schemas.openxmlformats.org/drawingml/2006/main" noGrp="1"/>
          </p:cNvSpPr>
          <p:nvPr/>
        </p:nvSpPr>
        <p:spPr>
          <a:xfrm xmlns:a="http://schemas.openxmlformats.org/drawingml/2006/main">
            <a:off x="7210425" y="24479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Moyennes, classements, régions</a:t>
            </a:r>
          </a:p>
        </p:txBody>
      </p:sp>
      <p:sp>
        <p:nvSpPr>
          <p:cNvPr id="13" name="">
            <a:extLst xmlns:a="http://schemas.openxmlformats.org/drawingml/2006/main">
              <a:ext uri="{FF2B5EF4-FFF2-40B4-BE49-F238E27FC236}">
                <a16:creationId xmlns:a16="http://schemas.microsoft.com/office/drawing/2014/main" id="{723D8517-BA17-4A52-9804-358C26A91C0F}"/>
              </a:ext>
            </a:extLst>
          </p:cNvPr>
          <p:cNvSpPr>
            <a:spLocks xmlns:a="http://schemas.openxmlformats.org/drawingml/2006/main" noGrp="1"/>
          </p:cNvSpPr>
          <p:nvPr/>
        </p:nvSpPr>
        <p:spPr>
          <a:xfrm xmlns:a="http://schemas.openxmlformats.org/drawingml/2006/main">
            <a:off x="400050" y="31051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4" name="Drill adapté">
            <a:extLst xmlns:a="http://schemas.openxmlformats.org/drawingml/2006/main">
              <a:ext uri="{FF2B5EF4-FFF2-40B4-BE49-F238E27FC236}">
                <a16:creationId xmlns:a16="http://schemas.microsoft.com/office/drawing/2014/main" id="{0B05C636-87C7-4B2E-A55A-ED49026D0B80}"/>
              </a:ext>
            </a:extLst>
          </p:cNvPr>
          <p:cNvSpPr>
            <a:spLocks xmlns:a="http://schemas.openxmlformats.org/drawingml/2006/main" noGrp="1"/>
          </p:cNvSpPr>
          <p:nvPr/>
        </p:nvSpPr>
        <p:spPr>
          <a:xfrm xmlns:a="http://schemas.openxmlformats.org/drawingml/2006/main">
            <a:off x="400050" y="31718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Drill adapté</a:t>
            </a:r>
          </a:p>
        </p:txBody>
      </p:sp>
      <p:sp>
        <p:nvSpPr>
          <p:cNvPr id="15" name="Six exports CSV">
            <a:extLst xmlns:a="http://schemas.openxmlformats.org/drawingml/2006/main">
              <a:ext uri="{FF2B5EF4-FFF2-40B4-BE49-F238E27FC236}">
                <a16:creationId xmlns:a16="http://schemas.microsoft.com/office/drawing/2014/main" id="{B60F976F-A278-4A99-9347-35AECAEC433E}"/>
              </a:ext>
            </a:extLst>
          </p:cNvPr>
          <p:cNvSpPr>
            <a:spLocks xmlns:a="http://schemas.openxmlformats.org/drawingml/2006/main" noGrp="1"/>
          </p:cNvSpPr>
          <p:nvPr/>
        </p:nvSpPr>
        <p:spPr>
          <a:xfrm xmlns:a="http://schemas.openxmlformats.org/drawingml/2006/main">
            <a:off x="3114675" y="31718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Six exports CSV</a:t>
            </a:r>
          </a:p>
        </p:txBody>
      </p:sp>
      <p:sp>
        <p:nvSpPr>
          <p:cNvPr id="16" name="Exploration et contrôles ad hoc">
            <a:extLst xmlns:a="http://schemas.openxmlformats.org/drawingml/2006/main">
              <a:ext uri="{FF2B5EF4-FFF2-40B4-BE49-F238E27FC236}">
                <a16:creationId xmlns:a16="http://schemas.microsoft.com/office/drawing/2014/main" id="{483C6BEB-00E8-4675-ABD8-5C4BA74F489B}"/>
              </a:ext>
            </a:extLst>
          </p:cNvPr>
          <p:cNvSpPr>
            <a:spLocks xmlns:a="http://schemas.openxmlformats.org/drawingml/2006/main" noGrp="1"/>
          </p:cNvSpPr>
          <p:nvPr/>
        </p:nvSpPr>
        <p:spPr>
          <a:xfrm xmlns:a="http://schemas.openxmlformats.org/drawingml/2006/main">
            <a:off x="7210425" y="31718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Exploration et contrôles ad hoc</a:t>
            </a:r>
          </a:p>
        </p:txBody>
      </p:sp>
      <p:sp>
        <p:nvSpPr>
          <p:cNvPr id="17" name="">
            <a:extLst xmlns:a="http://schemas.openxmlformats.org/drawingml/2006/main">
              <a:ext uri="{FF2B5EF4-FFF2-40B4-BE49-F238E27FC236}">
                <a16:creationId xmlns:a16="http://schemas.microsoft.com/office/drawing/2014/main" id="{7B4C4A31-4B71-4D89-AAE7-6578EA96A8D3}"/>
              </a:ext>
            </a:extLst>
          </p:cNvPr>
          <p:cNvSpPr>
            <a:spLocks xmlns:a="http://schemas.openxmlformats.org/drawingml/2006/main" noGrp="1"/>
          </p:cNvSpPr>
          <p:nvPr/>
        </p:nvSpPr>
        <p:spPr>
          <a:xfrm xmlns:a="http://schemas.openxmlformats.org/drawingml/2006/main">
            <a:off x="400050" y="3829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8" name="Spark local">
            <a:extLst xmlns:a="http://schemas.openxmlformats.org/drawingml/2006/main">
              <a:ext uri="{FF2B5EF4-FFF2-40B4-BE49-F238E27FC236}">
                <a16:creationId xmlns:a16="http://schemas.microsoft.com/office/drawing/2014/main" id="{F6DBAEE6-F9B6-4298-86DE-2FF3A829A9D4}"/>
              </a:ext>
            </a:extLst>
          </p:cNvPr>
          <p:cNvSpPr>
            <a:spLocks xmlns:a="http://schemas.openxmlformats.org/drawingml/2006/main" noGrp="1"/>
          </p:cNvSpPr>
          <p:nvPr/>
        </p:nvSpPr>
        <p:spPr>
          <a:xfrm xmlns:a="http://schemas.openxmlformats.org/drawingml/2006/main">
            <a:off x="400050" y="38957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Spark local</a:t>
            </a:r>
          </a:p>
        </p:txBody>
      </p:sp>
      <p:sp>
        <p:nvSpPr>
          <p:cNvPr id="19" name="Agrégats Parquet">
            <a:extLst xmlns:a="http://schemas.openxmlformats.org/drawingml/2006/main">
              <a:ext uri="{FF2B5EF4-FFF2-40B4-BE49-F238E27FC236}">
                <a16:creationId xmlns:a16="http://schemas.microsoft.com/office/drawing/2014/main" id="{7A2089BA-9470-4515-8279-6E053F84B07B}"/>
              </a:ext>
            </a:extLst>
          </p:cNvPr>
          <p:cNvSpPr>
            <a:spLocks xmlns:a="http://schemas.openxmlformats.org/drawingml/2006/main" noGrp="1"/>
          </p:cNvSpPr>
          <p:nvPr/>
        </p:nvSpPr>
        <p:spPr>
          <a:xfrm xmlns:a="http://schemas.openxmlformats.org/drawingml/2006/main">
            <a:off x="3114675" y="38957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Agrégats Parquet</a:t>
            </a:r>
          </a:p>
        </p:txBody>
      </p:sp>
      <p:sp>
        <p:nvSpPr>
          <p:cNvPr id="20" name="Espèce × trait et matériels">
            <a:extLst xmlns:a="http://schemas.openxmlformats.org/drawingml/2006/main">
              <a:ext uri="{FF2B5EF4-FFF2-40B4-BE49-F238E27FC236}">
                <a16:creationId xmlns:a16="http://schemas.microsoft.com/office/drawing/2014/main" id="{0809E2C5-3EEA-4F93-A092-A5AA795B4CCF}"/>
              </a:ext>
            </a:extLst>
          </p:cNvPr>
          <p:cNvSpPr>
            <a:spLocks xmlns:a="http://schemas.openxmlformats.org/drawingml/2006/main" noGrp="1"/>
          </p:cNvSpPr>
          <p:nvPr/>
        </p:nvSpPr>
        <p:spPr>
          <a:xfrm xmlns:a="http://schemas.openxmlformats.org/drawingml/2006/main">
            <a:off x="7210425" y="38957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Espèce × trait et matériels</a:t>
            </a:r>
          </a:p>
        </p:txBody>
      </p:sp>
      <p:sp>
        <p:nvSpPr>
          <p:cNvPr id="21" name="">
            <a:extLst xmlns:a="http://schemas.openxmlformats.org/drawingml/2006/main">
              <a:ext uri="{FF2B5EF4-FFF2-40B4-BE49-F238E27FC236}">
                <a16:creationId xmlns:a16="http://schemas.microsoft.com/office/drawing/2014/main" id="{AF5A8F8D-9918-4BB3-BA3F-C237788412A7}"/>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2" name="Python / R">
            <a:extLst xmlns:a="http://schemas.openxmlformats.org/drawingml/2006/main">
              <a:ext uri="{FF2B5EF4-FFF2-40B4-BE49-F238E27FC236}">
                <a16:creationId xmlns:a16="http://schemas.microsoft.com/office/drawing/2014/main" id="{E02D4135-1804-417A-BBC8-8553E9497BCA}"/>
              </a:ext>
            </a:extLst>
          </p:cNvPr>
          <p:cNvSpPr>
            <a:spLocks xmlns:a="http://schemas.openxmlformats.org/drawingml/2006/main" noGrp="1"/>
          </p:cNvSpPr>
          <p:nvPr/>
        </p:nvSpPr>
        <p:spPr>
          <a:xfrm xmlns:a="http://schemas.openxmlformats.org/drawingml/2006/main">
            <a:off x="400050" y="46196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Python / R</a:t>
            </a:r>
          </a:p>
        </p:txBody>
      </p:sp>
      <p:sp>
        <p:nvSpPr>
          <p:cNvPr id="23" name="CSV, JSON et images">
            <a:extLst xmlns:a="http://schemas.openxmlformats.org/drawingml/2006/main">
              <a:ext uri="{FF2B5EF4-FFF2-40B4-BE49-F238E27FC236}">
                <a16:creationId xmlns:a16="http://schemas.microsoft.com/office/drawing/2014/main" id="{EDB19EB7-2544-4E19-BD94-30B864A26231}"/>
              </a:ext>
            </a:extLst>
          </p:cNvPr>
          <p:cNvSpPr>
            <a:spLocks xmlns:a="http://schemas.openxmlformats.org/drawingml/2006/main" noGrp="1"/>
          </p:cNvSpPr>
          <p:nvPr/>
        </p:nvSpPr>
        <p:spPr>
          <a:xfrm xmlns:a="http://schemas.openxmlformats.org/drawingml/2006/main">
            <a:off x="3114675" y="46196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CSV, JSON et images</a:t>
            </a:r>
          </a:p>
        </p:txBody>
      </p:sp>
      <p:sp>
        <p:nvSpPr>
          <p:cNvPr id="24" name="Statistiques, corrélations, ANOVA">
            <a:extLst xmlns:a="http://schemas.openxmlformats.org/drawingml/2006/main">
              <a:ext uri="{FF2B5EF4-FFF2-40B4-BE49-F238E27FC236}">
                <a16:creationId xmlns:a16="http://schemas.microsoft.com/office/drawing/2014/main" id="{9878974A-D042-46DF-8A11-7BC98E22E1DD}"/>
              </a:ext>
            </a:extLst>
          </p:cNvPr>
          <p:cNvSpPr>
            <a:spLocks xmlns:a="http://schemas.openxmlformats.org/drawingml/2006/main" noGrp="1"/>
          </p:cNvSpPr>
          <p:nvPr/>
        </p:nvSpPr>
        <p:spPr>
          <a:xfrm xmlns:a="http://schemas.openxmlformats.org/drawingml/2006/main">
            <a:off x="7210425" y="46196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Statistiques, corrélations, ANOVA</a:t>
            </a:r>
          </a:p>
        </p:txBody>
      </p:sp>
    </p:spTree>
    <p:extLst>
      <p:ext uri="{BB962C8B-B14F-4D97-AF65-F5344CB8AC3E}">
        <p14:creationId xmlns:p14="http://schemas.microsoft.com/office/powerpoint/2010/main" val="17061061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8 · RESTITUTION">
            <a:extLst xmlns:a="http://schemas.openxmlformats.org/drawingml/2006/main">
              <a:ext uri="{FF2B5EF4-FFF2-40B4-BE49-F238E27FC236}">
                <a16:creationId xmlns:a16="http://schemas.microsoft.com/office/drawing/2014/main" id="{70C7CF19-D8AB-4B5C-A448-04C782622099}"/>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08 · RESTITUTION</a:t>
            </a:r>
          </a:p>
        </p:txBody>
      </p:sp>
      <p:sp>
        <p:nvSpPr>
          <p:cNvPr id="2" name="Le dashboard conserve le contexte">
            <a:extLst xmlns:a="http://schemas.openxmlformats.org/drawingml/2006/main">
              <a:ext uri="{FF2B5EF4-FFF2-40B4-BE49-F238E27FC236}">
                <a16:creationId xmlns:a16="http://schemas.microsoft.com/office/drawing/2014/main" id="{0659AFCA-EA54-4F2C-8CE1-BF909FD2F4CE}"/>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 dashboard conserve le contexte</a:t>
            </a:r>
          </a:p>
        </p:txBody>
      </p:sp>
      <p:sp>
        <p:nvSpPr>
          <p:cNvPr id="3" name="">
            <a:extLst xmlns:a="http://schemas.openxmlformats.org/drawingml/2006/main">
              <a:ext uri="{FF2B5EF4-FFF2-40B4-BE49-F238E27FC236}">
                <a16:creationId xmlns:a16="http://schemas.microsoft.com/office/drawing/2014/main" id="{16517D4A-CA2E-457A-B6A7-4D67CAD1E715}"/>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DB6B97BB-25C7-4598-A46A-973689E64CCE}"/>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4">
            <a:extLst xmlns:a="http://schemas.openxmlformats.org/drawingml/2006/main">
              <a:ext uri="{FF2B5EF4-FFF2-40B4-BE49-F238E27FC236}">
                <a16:creationId xmlns:a16="http://schemas.microsoft.com/office/drawing/2014/main" id="{0BE72379-BEB4-4921-9819-A8F4221C3D00}"/>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14</a:t>
            </a:r>
          </a:p>
        </p:txBody>
      </p:sp>
      <p:sp>
        <p:nvSpPr>
          <p:cNvPr id="6" name="Parcours métier">
            <a:extLst xmlns:a="http://schemas.openxmlformats.org/drawingml/2006/main">
              <a:ext uri="{FF2B5EF4-FFF2-40B4-BE49-F238E27FC236}">
                <a16:creationId xmlns:a16="http://schemas.microsoft.com/office/drawing/2014/main" id="{CEC643CA-6149-4B7D-AFAE-0FF81E145A2F}"/>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Parcours métier</a:t>
            </a:r>
          </a:p>
        </p:txBody>
      </p:sp>
      <p:sp>
        <p:nvSpPr>
          <p:cNvPr id="7" name="Lire les KPI et leurs définitions.">
            <a:extLst xmlns:a="http://schemas.openxmlformats.org/drawingml/2006/main">
              <a:ext uri="{FF2B5EF4-FFF2-40B4-BE49-F238E27FC236}">
                <a16:creationId xmlns:a16="http://schemas.microsoft.com/office/drawing/2014/main" id="{018E3145-BF87-4B97-9316-0A04970D3053}"/>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Lire les KPI et leurs définitions.</a:t>
            </a:r>
          </a:p>
        </p:txBody>
      </p:sp>
      <p:sp>
        <p:nvSpPr>
          <p:cNvPr id="8" name="Filtrer les tableaux, trier, paginer et exporter.">
            <a:extLst xmlns:a="http://schemas.openxmlformats.org/drawingml/2006/main">
              <a:ext uri="{FF2B5EF4-FFF2-40B4-BE49-F238E27FC236}">
                <a16:creationId xmlns:a16="http://schemas.microsoft.com/office/drawing/2014/main" id="{70874C23-1EA0-4624-A47D-10E88C02A1D8}"/>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Filtrer les tableaux, trier, paginer et exporter.</a:t>
            </a:r>
          </a:p>
        </p:txBody>
      </p:sp>
      <p:sp>
        <p:nvSpPr>
          <p:cNvPr id="9" name="Comparer les distributions sans mélanger les unités.">
            <a:extLst xmlns:a="http://schemas.openxmlformats.org/drawingml/2006/main">
              <a:ext uri="{FF2B5EF4-FFF2-40B4-BE49-F238E27FC236}">
                <a16:creationId xmlns:a16="http://schemas.microsoft.com/office/drawing/2014/main" id="{D566C623-633F-44DB-853B-A1BC6A4E782A}"/>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Comparer les distributions sans mélanger les unités.</a:t>
            </a:r>
          </a:p>
        </p:txBody>
      </p:sp>
      <p:sp>
        <p:nvSpPr>
          <p:cNvPr id="10" name="Conditions d’utilisation">
            <a:extLst xmlns:a="http://schemas.openxmlformats.org/drawingml/2006/main">
              <a:ext uri="{FF2B5EF4-FFF2-40B4-BE49-F238E27FC236}">
                <a16:creationId xmlns:a16="http://schemas.microsoft.com/office/drawing/2014/main" id="{17F8F882-EF18-4180-9420-EF0EF1063C61}"/>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Conditions d’utilisation</a:t>
            </a:r>
          </a:p>
        </p:txBody>
      </p:sp>
      <p:sp>
        <p:nvSpPr>
          <p:cNvPr id="11" name="Servir les pages avec python -m http.server 8000.">
            <a:extLst xmlns:a="http://schemas.openxmlformats.org/drawingml/2006/main">
              <a:ext uri="{FF2B5EF4-FFF2-40B4-BE49-F238E27FC236}">
                <a16:creationId xmlns:a16="http://schemas.microsoft.com/office/drawing/2014/main" id="{B89273BE-5831-47B1-A686-D5ED9E31B33E}"/>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Servir les pages avec python -m http.server 8000.</a:t>
            </a:r>
          </a:p>
        </p:txBody>
      </p:sp>
      <p:sp>
        <p:nvSpPr>
          <p:cNvPr id="12" name="Les tableaux chargent les CSV locaux avec fetch.">
            <a:extLst xmlns:a="http://schemas.openxmlformats.org/drawingml/2006/main">
              <a:ext uri="{FF2B5EF4-FFF2-40B4-BE49-F238E27FC236}">
                <a16:creationId xmlns:a16="http://schemas.microsoft.com/office/drawing/2014/main" id="{4C5275BE-FBA0-404F-82F0-3F3586D5790C}"/>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tableaux chargent les CSV locaux avec fetch.</a:t>
            </a:r>
          </a:p>
        </p:txBody>
      </p:sp>
      <p:sp>
        <p:nvSpPr>
          <p:cNvPr id="13" name="Les textes éditoriaux doivent être revus pour un nouveau lot.">
            <a:extLst xmlns:a="http://schemas.openxmlformats.org/drawingml/2006/main">
              <a:ext uri="{FF2B5EF4-FFF2-40B4-BE49-F238E27FC236}">
                <a16:creationId xmlns:a16="http://schemas.microsoft.com/office/drawing/2014/main" id="{2593D25C-4A19-4131-8086-E5C2B379B106}"/>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textes éditoriaux doivent être revus pour un nouveau lot.</a:t>
            </a:r>
          </a:p>
        </p:txBody>
      </p:sp>
    </p:spTree>
    <p:extLst>
      <p:ext uri="{BB962C8B-B14F-4D97-AF65-F5344CB8AC3E}">
        <p14:creationId xmlns:p14="http://schemas.microsoft.com/office/powerpoint/2010/main" val="2274953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8 · RESTITUTION">
            <a:extLst xmlns:a="http://schemas.openxmlformats.org/drawingml/2006/main">
              <a:ext uri="{FF2B5EF4-FFF2-40B4-BE49-F238E27FC236}">
                <a16:creationId xmlns:a16="http://schemas.microsoft.com/office/drawing/2014/main" id="{4330D42B-9158-4580-8E40-026E4079C28E}"/>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08 · RESTITUTION</a:t>
            </a:r>
          </a:p>
        </p:txBody>
      </p:sp>
      <p:sp>
        <p:nvSpPr>
          <p:cNvPr id="2" name="La carte couvre les essais localisés">
            <a:extLst xmlns:a="http://schemas.openxmlformats.org/drawingml/2006/main">
              <a:ext uri="{FF2B5EF4-FFF2-40B4-BE49-F238E27FC236}">
                <a16:creationId xmlns:a16="http://schemas.microsoft.com/office/drawing/2014/main" id="{40114B9D-9495-4C99-A543-4B707362A000}"/>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La carte couvre les essais localisés</a:t>
            </a:r>
          </a:p>
        </p:txBody>
      </p:sp>
      <p:sp>
        <p:nvSpPr>
          <p:cNvPr id="3" name="">
            <a:extLst xmlns:a="http://schemas.openxmlformats.org/drawingml/2006/main">
              <a:ext uri="{FF2B5EF4-FFF2-40B4-BE49-F238E27FC236}">
                <a16:creationId xmlns:a16="http://schemas.microsoft.com/office/drawing/2014/main" id="{96153156-A6DF-47B8-97CF-33C71040CF25}"/>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ACEF1C63-43F3-4B61-8830-17D8F913EBF5}"/>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5">
            <a:extLst xmlns:a="http://schemas.openxmlformats.org/drawingml/2006/main">
              <a:ext uri="{FF2B5EF4-FFF2-40B4-BE49-F238E27FC236}">
                <a16:creationId xmlns:a16="http://schemas.microsoft.com/office/drawing/2014/main" id="{1E04459F-5A05-4984-8229-D55E4AFE8073}"/>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15</a:t>
            </a:r>
          </a:p>
        </p:txBody>
      </p:sp>
      <p:sp>
        <p:nvSpPr>
          <p:cNvPr id="6" name="424 essais affichables">
            <a:extLst xmlns:a="http://schemas.openxmlformats.org/drawingml/2006/main">
              <a:ext uri="{FF2B5EF4-FFF2-40B4-BE49-F238E27FC236}">
                <a16:creationId xmlns:a16="http://schemas.microsoft.com/office/drawing/2014/main" id="{E5BE8AAC-7905-4E85-AE45-B33F83D6DF09}"/>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424 essais affichables</a:t>
            </a:r>
          </a:p>
        </p:txBody>
      </p:sp>
      <p:sp>
        <p:nvSpPr>
          <p:cNvPr id="7" name="Un sous-ensemble des 2 116 essais consolidés.">
            <a:extLst xmlns:a="http://schemas.openxmlformats.org/drawingml/2006/main">
              <a:ext uri="{FF2B5EF4-FFF2-40B4-BE49-F238E27FC236}">
                <a16:creationId xmlns:a16="http://schemas.microsoft.com/office/drawing/2014/main" id="{6B4B582B-F263-4EAC-A6B5-0A3B04DBC451}"/>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Un sous-ensemble des 2 116 essais consolidés.</a:t>
            </a:r>
          </a:p>
        </p:txBody>
      </p:sp>
      <p:sp>
        <p:nvSpPr>
          <p:cNvPr id="8" name="Filtres de catégorie et restriction géographique.">
            <a:extLst xmlns:a="http://schemas.openxmlformats.org/drawingml/2006/main">
              <a:ext uri="{FF2B5EF4-FFF2-40B4-BE49-F238E27FC236}">
                <a16:creationId xmlns:a16="http://schemas.microsoft.com/office/drawing/2014/main" id="{D40E1C2A-F58B-47BD-9058-81521EC9CF71}"/>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Filtres de catégorie et restriction géographique.</a:t>
            </a:r>
          </a:p>
        </p:txBody>
      </p:sp>
      <p:sp>
        <p:nvSpPr>
          <p:cNvPr id="9" name="Les données hors France restent explicitement visibles.">
            <a:extLst xmlns:a="http://schemas.openxmlformats.org/drawingml/2006/main">
              <a:ext uri="{FF2B5EF4-FFF2-40B4-BE49-F238E27FC236}">
                <a16:creationId xmlns:a16="http://schemas.microsoft.com/office/drawing/2014/main" id="{76A71D66-5B3F-4FD5-B810-83FCDA0AE60A}"/>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données hors France restent explicitement visibles.</a:t>
            </a:r>
          </a:p>
        </p:txBody>
      </p:sp>
      <p:sp>
        <p:nvSpPr>
          <p:cNvPr id="10" name="Lecture correcte">
            <a:extLst xmlns:a="http://schemas.openxmlformats.org/drawingml/2006/main">
              <a:ext uri="{FF2B5EF4-FFF2-40B4-BE49-F238E27FC236}">
                <a16:creationId xmlns:a16="http://schemas.microsoft.com/office/drawing/2014/main" id="{D8B4A3AB-0A9A-4FAA-8FAE-9D5AC336F314}"/>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Lecture correcte</a:t>
            </a:r>
          </a:p>
        </p:txBody>
      </p:sp>
      <p:sp>
        <p:nvSpPr>
          <p:cNvPr id="11" name="Une absence de point ne signifie pas absence de mesure.">
            <a:extLst xmlns:a="http://schemas.openxmlformats.org/drawingml/2006/main">
              <a:ext uri="{FF2B5EF4-FFF2-40B4-BE49-F238E27FC236}">
                <a16:creationId xmlns:a16="http://schemas.microsoft.com/office/drawing/2014/main" id="{F70B7395-A6D9-437D-9F2A-21EAB404D5CB}"/>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Une absence de point ne signifie pas absence de mesure.</a:t>
            </a:r>
          </a:p>
        </p:txBody>
      </p:sp>
      <p:sp>
        <p:nvSpPr>
          <p:cNvPr id="12" name="Le fond et les bibliothèques cartographiques exigent Internet.">
            <a:extLst xmlns:a="http://schemas.openxmlformats.org/drawingml/2006/main">
              <a:ext uri="{FF2B5EF4-FFF2-40B4-BE49-F238E27FC236}">
                <a16:creationId xmlns:a16="http://schemas.microsoft.com/office/drawing/2014/main" id="{957EBA6B-E395-47FC-949A-0107873433E7}"/>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 fond et les bibliothèques cartographiques exigent Internet.</a:t>
            </a:r>
          </a:p>
        </p:txBody>
      </p:sp>
      <p:sp>
        <p:nvSpPr>
          <p:cNvPr id="13" name="Les données géographiques viennent des métadonnées d’essais.">
            <a:extLst xmlns:a="http://schemas.openxmlformats.org/drawingml/2006/main">
              <a:ext uri="{FF2B5EF4-FFF2-40B4-BE49-F238E27FC236}">
                <a16:creationId xmlns:a16="http://schemas.microsoft.com/office/drawing/2014/main" id="{A43CE71A-14D1-4758-B58A-ED7D17BA61A1}"/>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données géographiques viennent des métadonnées d’essais.</a:t>
            </a:r>
          </a:p>
        </p:txBody>
      </p:sp>
    </p:spTree>
    <p:extLst>
      <p:ext uri="{BB962C8B-B14F-4D97-AF65-F5344CB8AC3E}">
        <p14:creationId xmlns:p14="http://schemas.microsoft.com/office/powerpoint/2010/main" val="8621677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9 · MACHINE LEARNING">
            <a:extLst xmlns:a="http://schemas.openxmlformats.org/drawingml/2006/main">
              <a:ext uri="{FF2B5EF4-FFF2-40B4-BE49-F238E27FC236}">
                <a16:creationId xmlns:a16="http://schemas.microsoft.com/office/drawing/2014/main" id="{81C843B4-2CE6-4804-A4AC-A43941550B2C}"/>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09 · MACHINE LEARNING</a:t>
            </a:r>
          </a:p>
        </p:txBody>
      </p:sp>
      <p:sp>
        <p:nvSpPr>
          <p:cNvPr id="2" name="Prédire YD15QH avant sa mesure">
            <a:extLst xmlns:a="http://schemas.openxmlformats.org/drawingml/2006/main">
              <a:ext uri="{FF2B5EF4-FFF2-40B4-BE49-F238E27FC236}">
                <a16:creationId xmlns:a16="http://schemas.microsoft.com/office/drawing/2014/main" id="{7288C231-2067-4491-AAE5-663EAE543E0E}"/>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Prédire YD15QH avant sa mesure</a:t>
            </a:r>
          </a:p>
        </p:txBody>
      </p:sp>
      <p:sp>
        <p:nvSpPr>
          <p:cNvPr id="3" name="">
            <a:extLst xmlns:a="http://schemas.openxmlformats.org/drawingml/2006/main">
              <a:ext uri="{FF2B5EF4-FFF2-40B4-BE49-F238E27FC236}">
                <a16:creationId xmlns:a16="http://schemas.microsoft.com/office/drawing/2014/main" id="{2C9D16DC-B9FA-4135-9B30-E6998EBB39CA}"/>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911ACC69-1A5C-4DB2-A507-582DF37E529D}"/>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6">
            <a:extLst xmlns:a="http://schemas.openxmlformats.org/drawingml/2006/main">
              <a:ext uri="{FF2B5EF4-FFF2-40B4-BE49-F238E27FC236}">
                <a16:creationId xmlns:a16="http://schemas.microsoft.com/office/drawing/2014/main" id="{F95A5B00-6AFF-4387-AB61-8CB2173C22C9}"/>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16</a:t>
            </a:r>
          </a:p>
        </p:txBody>
      </p:sp>
      <p:sp>
        <p:nvSpPr>
          <p:cNvPr id="6" name="Deux sorties">
            <a:extLst xmlns:a="http://schemas.openxmlformats.org/drawingml/2006/main">
              <a:ext uri="{FF2B5EF4-FFF2-40B4-BE49-F238E27FC236}">
                <a16:creationId xmlns:a16="http://schemas.microsoft.com/office/drawing/2014/main" id="{4FB1D6E0-379F-4725-AE92-AC1A237E5E79}"/>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Deux sorties</a:t>
            </a:r>
          </a:p>
        </p:txBody>
      </p:sp>
      <p:sp>
        <p:nvSpPr>
          <p:cNvPr id="7" name="Régression du rendement avec HistGradientBoosting.">
            <a:extLst xmlns:a="http://schemas.openxmlformats.org/drawingml/2006/main">
              <a:ext uri="{FF2B5EF4-FFF2-40B4-BE49-F238E27FC236}">
                <a16:creationId xmlns:a16="http://schemas.microsoft.com/office/drawing/2014/main" id="{C3BDBDC6-176F-48BE-B8A7-02D4B048D7AB}"/>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Régression du rendement avec HistGradientBoosting.</a:t>
            </a:r>
          </a:p>
        </p:txBody>
      </p:sp>
      <p:sp>
        <p:nvSpPr>
          <p:cNvPr id="8" name="Classification : rendement supérieur ou égal à 80 q/ha.">
            <a:extLst xmlns:a="http://schemas.openxmlformats.org/drawingml/2006/main">
              <a:ext uri="{FF2B5EF4-FFF2-40B4-BE49-F238E27FC236}">
                <a16:creationId xmlns:a16="http://schemas.microsoft.com/office/drawing/2014/main" id="{5C9B0EBF-C575-41C5-968D-30B19340BC40}"/>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Classification : rendement supérieur ou égal à 80 q/ha.</a:t>
            </a:r>
          </a:p>
        </p:txBody>
      </p:sp>
      <p:sp>
        <p:nvSpPr>
          <p:cNvPr id="9" name="Imputation et encodage intégrés aux pipelines scikit-learn.">
            <a:extLst xmlns:a="http://schemas.openxmlformats.org/drawingml/2006/main">
              <a:ext uri="{FF2B5EF4-FFF2-40B4-BE49-F238E27FC236}">
                <a16:creationId xmlns:a16="http://schemas.microsoft.com/office/drawing/2014/main" id="{A911FBED-B622-4952-A51A-64D0D451C969}"/>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Imputation et encodage intégrés aux pipelines scikit-learn.</a:t>
            </a:r>
          </a:p>
        </p:txBody>
      </p:sp>
      <p:sp>
        <p:nvSpPr>
          <p:cNvPr id="10" name="Six variables">
            <a:extLst xmlns:a="http://schemas.openxmlformats.org/drawingml/2006/main">
              <a:ext uri="{FF2B5EF4-FFF2-40B4-BE49-F238E27FC236}">
                <a16:creationId xmlns:a16="http://schemas.microsoft.com/office/drawing/2014/main" id="{17DD1294-46DA-4DAF-93B5-93666D3D4876}"/>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Six variables</a:t>
            </a:r>
          </a:p>
        </p:txBody>
      </p:sp>
      <p:sp>
        <p:nvSpPr>
          <p:cNvPr id="11" name="Année, réplication et numéro d’entrée.">
            <a:extLst xmlns:a="http://schemas.openxmlformats.org/drawingml/2006/main">
              <a:ext uri="{FF2B5EF4-FFF2-40B4-BE49-F238E27FC236}">
                <a16:creationId xmlns:a16="http://schemas.microsoft.com/office/drawing/2014/main" id="{D0B5563B-57D8-40C4-9E71-BE08BFB039D6}"/>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Année, réplication et numéro d’entrée.</a:t>
            </a:r>
          </a:p>
        </p:txBody>
      </p:sp>
      <p:sp>
        <p:nvSpPr>
          <p:cNvPr id="12" name="Espèce, spécificité et région.">
            <a:extLst xmlns:a="http://schemas.openxmlformats.org/drawingml/2006/main">
              <a:ext uri="{FF2B5EF4-FFF2-40B4-BE49-F238E27FC236}">
                <a16:creationId xmlns:a16="http://schemas.microsoft.com/office/drawing/2014/main" id="{CB87E58E-3FAC-4852-9C3C-FCD2427823C6}"/>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Espèce, spécificité et région.</a:t>
            </a:r>
          </a:p>
        </p:txBody>
      </p:sp>
      <p:sp>
        <p:nvSpPr>
          <p:cNvPr id="13" name="Ni rendement voisin, ni humidité finale, ni identifiant d’essai.">
            <a:extLst xmlns:a="http://schemas.openxmlformats.org/drawingml/2006/main">
              <a:ext uri="{FF2B5EF4-FFF2-40B4-BE49-F238E27FC236}">
                <a16:creationId xmlns:a16="http://schemas.microsoft.com/office/drawing/2014/main" id="{541C1FC9-06DC-4CE2-8916-26E4E47485A2}"/>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Ni rendement voisin, ni humidité finale, ni identifiant d’essai.</a:t>
            </a:r>
          </a:p>
        </p:txBody>
      </p:sp>
    </p:spTree>
    <p:extLst>
      <p:ext uri="{BB962C8B-B14F-4D97-AF65-F5344CB8AC3E}">
        <p14:creationId xmlns:p14="http://schemas.microsoft.com/office/powerpoint/2010/main" val="10817672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9 · VALIDATION ML">
            <a:extLst xmlns:a="http://schemas.openxmlformats.org/drawingml/2006/main">
              <a:ext uri="{FF2B5EF4-FFF2-40B4-BE49-F238E27FC236}">
                <a16:creationId xmlns:a16="http://schemas.microsoft.com/office/drawing/2014/main" id="{2CC79509-F153-4814-A37D-3B987B9D2199}"/>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09 · VALIDATION ML</a:t>
            </a:r>
          </a:p>
        </p:txBody>
      </p:sp>
      <p:sp>
        <p:nvSpPr>
          <p:cNvPr id="2" name="Le test temporel reste séparé">
            <a:extLst xmlns:a="http://schemas.openxmlformats.org/drawingml/2006/main">
              <a:ext uri="{FF2B5EF4-FFF2-40B4-BE49-F238E27FC236}">
                <a16:creationId xmlns:a16="http://schemas.microsoft.com/office/drawing/2014/main" id="{48E0ECE5-07F5-4454-8C84-23A7EBFC510D}"/>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 test temporel reste séparé</a:t>
            </a:r>
          </a:p>
        </p:txBody>
      </p:sp>
      <p:sp>
        <p:nvSpPr>
          <p:cNvPr id="3" name="">
            <a:extLst xmlns:a="http://schemas.openxmlformats.org/drawingml/2006/main">
              <a:ext uri="{FF2B5EF4-FFF2-40B4-BE49-F238E27FC236}">
                <a16:creationId xmlns:a16="http://schemas.microsoft.com/office/drawing/2014/main" id="{FBD5302F-757A-4049-B38B-8E7A22810DF6}"/>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AD6984FB-7A63-4422-965D-514DAE161A15}"/>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7">
            <a:extLst xmlns:a="http://schemas.openxmlformats.org/drawingml/2006/main">
              <a:ext uri="{FF2B5EF4-FFF2-40B4-BE49-F238E27FC236}">
                <a16:creationId xmlns:a16="http://schemas.microsoft.com/office/drawing/2014/main" id="{378A44FE-83EE-4529-ABFF-355329ED801B}"/>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17</a:t>
            </a:r>
          </a:p>
        </p:txBody>
      </p:sp>
      <p:sp>
        <p:nvSpPr>
          <p:cNvPr id="6" name="">
            <a:extLst xmlns:a="http://schemas.openxmlformats.org/drawingml/2006/main">
              <a:ext uri="{FF2B5EF4-FFF2-40B4-BE49-F238E27FC236}">
                <a16:creationId xmlns:a16="http://schemas.microsoft.com/office/drawing/2014/main" id="{71336FD0-B3E2-4B4E-BB78-8DE2A26747A9}"/>
              </a:ext>
            </a:extLst>
          </p:cNvPr>
          <p:cNvSpPr>
            <a:spLocks xmlns:a="http://schemas.openxmlformats.org/drawingml/2006/main" noGrp="1"/>
          </p:cNvSpPr>
          <p:nvPr/>
        </p:nvSpPr>
        <p:spPr>
          <a:xfrm xmlns:a="http://schemas.openxmlformats.org/drawingml/2006/main">
            <a:off x="400050" y="3333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7" name="2015–2017">
            <a:extLst xmlns:a="http://schemas.openxmlformats.org/drawingml/2006/main">
              <a:ext uri="{FF2B5EF4-FFF2-40B4-BE49-F238E27FC236}">
                <a16:creationId xmlns:a16="http://schemas.microsoft.com/office/drawing/2014/main" id="{4763D809-5408-4CD2-B9A7-A2068DE207EC}"/>
              </a:ext>
            </a:extLst>
          </p:cNvPr>
          <p:cNvSpPr>
            <a:spLocks xmlns:a="http://schemas.openxmlformats.org/drawingml/2006/main" noGrp="1"/>
          </p:cNvSpPr>
          <p:nvPr/>
        </p:nvSpPr>
        <p:spPr>
          <a:xfrm xmlns:a="http://schemas.openxmlformats.org/drawingml/2006/main">
            <a:off x="40005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2015–2017</a:t>
            </a:r>
          </a:p>
        </p:txBody>
      </p:sp>
      <p:sp>
        <p:nvSpPr>
          <p:cNvPr id="8" name="Apprentissage">
            <a:extLst xmlns:a="http://schemas.openxmlformats.org/drawingml/2006/main">
              <a:ext uri="{FF2B5EF4-FFF2-40B4-BE49-F238E27FC236}">
                <a16:creationId xmlns:a16="http://schemas.microsoft.com/office/drawing/2014/main" id="{DC188BEB-62C2-4B19-8548-0F44F1F1BA3A}"/>
              </a:ext>
            </a:extLst>
          </p:cNvPr>
          <p:cNvSpPr>
            <a:spLocks xmlns:a="http://schemas.openxmlformats.org/drawingml/2006/main" noGrp="1"/>
          </p:cNvSpPr>
          <p:nvPr/>
        </p:nvSpPr>
        <p:spPr>
          <a:xfrm xmlns:a="http://schemas.openxmlformats.org/drawingml/2006/main">
            <a:off x="40005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Apprentissage</a:t>
            </a:r>
          </a:p>
        </p:txBody>
      </p:sp>
      <p:sp>
        <p:nvSpPr>
          <p:cNvPr id="9" name="42 940 lignes ; prétraitement ajusté sur l’apprentissage.">
            <a:extLst xmlns:a="http://schemas.openxmlformats.org/drawingml/2006/main">
              <a:ext uri="{FF2B5EF4-FFF2-40B4-BE49-F238E27FC236}">
                <a16:creationId xmlns:a16="http://schemas.microsoft.com/office/drawing/2014/main" id="{26307FED-17AF-40B4-A413-3B54703B5C38}"/>
              </a:ext>
            </a:extLst>
          </p:cNvPr>
          <p:cNvSpPr>
            <a:spLocks xmlns:a="http://schemas.openxmlformats.org/drawingml/2006/main" noGrp="1"/>
          </p:cNvSpPr>
          <p:nvPr/>
        </p:nvSpPr>
        <p:spPr>
          <a:xfrm xmlns:a="http://schemas.openxmlformats.org/drawingml/2006/main">
            <a:off x="40005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42 940 lignes ; prétraitement ajusté sur l’apprentissage.</a:t>
            </a:r>
          </a:p>
        </p:txBody>
      </p:sp>
      <p:sp>
        <p:nvSpPr>
          <p:cNvPr id="10" name="3 plis">
            <a:extLst xmlns:a="http://schemas.openxmlformats.org/drawingml/2006/main">
              <a:ext uri="{FF2B5EF4-FFF2-40B4-BE49-F238E27FC236}">
                <a16:creationId xmlns:a16="http://schemas.microsoft.com/office/drawing/2014/main" id="{D9D0BF9E-378D-42AE-8F1B-E5B3336F1BD6}"/>
              </a:ext>
            </a:extLst>
          </p:cNvPr>
          <p:cNvSpPr>
            <a:spLocks xmlns:a="http://schemas.openxmlformats.org/drawingml/2006/main" noGrp="1"/>
          </p:cNvSpPr>
          <p:nvPr/>
        </p:nvSpPr>
        <p:spPr>
          <a:xfrm xmlns:a="http://schemas.openxmlformats.org/drawingml/2006/main">
            <a:off x="4314825"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3 plis</a:t>
            </a:r>
          </a:p>
        </p:txBody>
      </p:sp>
      <p:sp>
        <p:nvSpPr>
          <p:cNvPr id="11" name="Sélection">
            <a:extLst xmlns:a="http://schemas.openxmlformats.org/drawingml/2006/main">
              <a:ext uri="{FF2B5EF4-FFF2-40B4-BE49-F238E27FC236}">
                <a16:creationId xmlns:a16="http://schemas.microsoft.com/office/drawing/2014/main" id="{C0BBFC50-5FB3-4216-9BA3-61E9187F7FBA}"/>
              </a:ext>
            </a:extLst>
          </p:cNvPr>
          <p:cNvSpPr>
            <a:spLocks xmlns:a="http://schemas.openxmlformats.org/drawingml/2006/main" noGrp="1"/>
          </p:cNvSpPr>
          <p:nvPr/>
        </p:nvSpPr>
        <p:spPr>
          <a:xfrm xmlns:a="http://schemas.openxmlformats.org/drawingml/2006/main">
            <a:off x="4314825"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Sélection</a:t>
            </a:r>
          </a:p>
        </p:txBody>
      </p:sp>
      <p:sp>
        <p:nvSpPr>
          <p:cNvPr id="12" name="GroupKFold par essai pour les paramètres et le seuil du classifie">
            <a:extLst xmlns:a="http://schemas.openxmlformats.org/drawingml/2006/main">
              <a:ext uri="{FF2B5EF4-FFF2-40B4-BE49-F238E27FC236}">
                <a16:creationId xmlns:a16="http://schemas.microsoft.com/office/drawing/2014/main" id="{C4F1E18D-03DE-4467-A381-FEBCCE20352C}"/>
              </a:ext>
            </a:extLst>
          </p:cNvPr>
          <p:cNvSpPr>
            <a:spLocks xmlns:a="http://schemas.openxmlformats.org/drawingml/2006/main" noGrp="1"/>
          </p:cNvSpPr>
          <p:nvPr/>
        </p:nvSpPr>
        <p:spPr>
          <a:xfrm xmlns:a="http://schemas.openxmlformats.org/drawingml/2006/main">
            <a:off x="4314825"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GroupKFold par essai pour les paramètres et le seuil du classifieur.</a:t>
            </a:r>
          </a:p>
        </p:txBody>
      </p:sp>
      <p:sp>
        <p:nvSpPr>
          <p:cNvPr id="13" name="2018">
            <a:extLst xmlns:a="http://schemas.openxmlformats.org/drawingml/2006/main">
              <a:ext uri="{FF2B5EF4-FFF2-40B4-BE49-F238E27FC236}">
                <a16:creationId xmlns:a16="http://schemas.microsoft.com/office/drawing/2014/main" id="{1975092F-47DC-43F4-AA81-3AC710E523F5}"/>
              </a:ext>
            </a:extLst>
          </p:cNvPr>
          <p:cNvSpPr>
            <a:spLocks xmlns:a="http://schemas.openxmlformats.org/drawingml/2006/main" noGrp="1"/>
          </p:cNvSpPr>
          <p:nvPr/>
        </p:nvSpPr>
        <p:spPr>
          <a:xfrm xmlns:a="http://schemas.openxmlformats.org/drawingml/2006/main">
            <a:off x="822960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2018</a:t>
            </a:r>
          </a:p>
        </p:txBody>
      </p:sp>
      <p:sp>
        <p:nvSpPr>
          <p:cNvPr id="14" name="Test final">
            <a:extLst xmlns:a="http://schemas.openxmlformats.org/drawingml/2006/main">
              <a:ext uri="{FF2B5EF4-FFF2-40B4-BE49-F238E27FC236}">
                <a16:creationId xmlns:a16="http://schemas.microsoft.com/office/drawing/2014/main" id="{5616D558-ADCC-4BEF-A815-A01970146BE2}"/>
              </a:ext>
            </a:extLst>
          </p:cNvPr>
          <p:cNvSpPr>
            <a:spLocks xmlns:a="http://schemas.openxmlformats.org/drawingml/2006/main" noGrp="1"/>
          </p:cNvSpPr>
          <p:nvPr/>
        </p:nvSpPr>
        <p:spPr>
          <a:xfrm xmlns:a="http://schemas.openxmlformats.org/drawingml/2006/main">
            <a:off x="822960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Test final</a:t>
            </a:r>
          </a:p>
        </p:txBody>
      </p:sp>
      <p:sp>
        <p:nvSpPr>
          <p:cNvPr id="15" name="12 306 lignes ; aucun essai partagé avec l’apprentissage.">
            <a:extLst xmlns:a="http://schemas.openxmlformats.org/drawingml/2006/main">
              <a:ext uri="{FF2B5EF4-FFF2-40B4-BE49-F238E27FC236}">
                <a16:creationId xmlns:a16="http://schemas.microsoft.com/office/drawing/2014/main" id="{C9E3EC4F-87E1-4A1C-98E1-9FF3672C9A40}"/>
              </a:ext>
            </a:extLst>
          </p:cNvPr>
          <p:cNvSpPr>
            <a:spLocks xmlns:a="http://schemas.openxmlformats.org/drawingml/2006/main" noGrp="1"/>
          </p:cNvSpPr>
          <p:nvPr/>
        </p:nvSpPr>
        <p:spPr>
          <a:xfrm xmlns:a="http://schemas.openxmlformats.org/drawingml/2006/main">
            <a:off x="822960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12 306 lignes ; aucun essai partagé avec l’apprentissage.</a:t>
            </a:r>
          </a:p>
        </p:txBody>
      </p:sp>
    </p:spTree>
    <p:extLst>
      <p:ext uri="{BB962C8B-B14F-4D97-AF65-F5344CB8AC3E}">
        <p14:creationId xmlns:p14="http://schemas.microsoft.com/office/powerpoint/2010/main" val="4350015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09 · RÉSULTATS ML">
            <a:extLst xmlns:a="http://schemas.openxmlformats.org/drawingml/2006/main">
              <a:ext uri="{FF2B5EF4-FFF2-40B4-BE49-F238E27FC236}">
                <a16:creationId xmlns:a16="http://schemas.microsoft.com/office/drawing/2014/main" id="{485431FE-3198-4D74-9A87-A17DE6D26682}"/>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09 · RÉSULTATS ML</a:t>
            </a:r>
          </a:p>
        </p:txBody>
      </p:sp>
      <p:sp>
        <p:nvSpPr>
          <p:cNvPr id="2" name="La régression améliore la référence">
            <a:extLst xmlns:a="http://schemas.openxmlformats.org/drawingml/2006/main">
              <a:ext uri="{FF2B5EF4-FFF2-40B4-BE49-F238E27FC236}">
                <a16:creationId xmlns:a16="http://schemas.microsoft.com/office/drawing/2014/main" id="{57B02888-9201-4917-BEC2-25251F8FA45F}"/>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La régression améliore la référence</a:t>
            </a:r>
          </a:p>
        </p:txBody>
      </p:sp>
      <p:sp>
        <p:nvSpPr>
          <p:cNvPr id="3" name="">
            <a:extLst xmlns:a="http://schemas.openxmlformats.org/drawingml/2006/main">
              <a:ext uri="{FF2B5EF4-FFF2-40B4-BE49-F238E27FC236}">
                <a16:creationId xmlns:a16="http://schemas.microsoft.com/office/drawing/2014/main" id="{3451B490-F78C-43E7-A06F-B924BB0D697D}"/>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C2D5E8C6-F9E1-4287-BB5A-389AFC65C4E5}"/>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8">
            <a:extLst xmlns:a="http://schemas.openxmlformats.org/drawingml/2006/main">
              <a:ext uri="{FF2B5EF4-FFF2-40B4-BE49-F238E27FC236}">
                <a16:creationId xmlns:a16="http://schemas.microsoft.com/office/drawing/2014/main" id="{09253BD4-D834-4C7B-8BBC-DEDC4618A153}"/>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18</a:t>
            </a:r>
          </a:p>
        </p:txBody>
      </p:sp>
      <p:sp>
        <p:nvSpPr>
          <p:cNvPr id="6" name="Indicateur">
            <a:extLst xmlns:a="http://schemas.openxmlformats.org/drawingml/2006/main">
              <a:ext uri="{FF2B5EF4-FFF2-40B4-BE49-F238E27FC236}">
                <a16:creationId xmlns:a16="http://schemas.microsoft.com/office/drawing/2014/main" id="{795E264C-057E-4B25-86ED-3AB63E130A56}"/>
              </a:ext>
            </a:extLst>
          </p:cNvPr>
          <p:cNvSpPr>
            <a:spLocks xmlns:a="http://schemas.openxmlformats.org/drawingml/2006/main" noGrp="1"/>
          </p:cNvSpPr>
          <p:nvPr/>
        </p:nvSpPr>
        <p:spPr>
          <a:xfrm xmlns:a="http://schemas.openxmlformats.org/drawingml/2006/main">
            <a:off x="400050" y="1838325"/>
            <a:ext cx="4019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Indicateur</a:t>
            </a:r>
          </a:p>
        </p:txBody>
      </p:sp>
      <p:sp>
        <p:nvSpPr>
          <p:cNvPr id="7" name="Valeur sur 2018">
            <a:extLst xmlns:a="http://schemas.openxmlformats.org/drawingml/2006/main">
              <a:ext uri="{FF2B5EF4-FFF2-40B4-BE49-F238E27FC236}">
                <a16:creationId xmlns:a16="http://schemas.microsoft.com/office/drawing/2014/main" id="{02ABA5F0-89D3-4952-A868-E8307CCF915F}"/>
              </a:ext>
            </a:extLst>
          </p:cNvPr>
          <p:cNvSpPr>
            <a:spLocks xmlns:a="http://schemas.openxmlformats.org/drawingml/2006/main" noGrp="1"/>
          </p:cNvSpPr>
          <p:nvPr/>
        </p:nvSpPr>
        <p:spPr>
          <a:xfrm xmlns:a="http://schemas.openxmlformats.org/drawingml/2006/main">
            <a:off x="4591050" y="1838325"/>
            <a:ext cx="702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Valeur sur 2018</a:t>
            </a:r>
          </a:p>
        </p:txBody>
      </p:sp>
      <p:sp>
        <p:nvSpPr>
          <p:cNvPr id="8" name="">
            <a:extLst xmlns:a="http://schemas.openxmlformats.org/drawingml/2006/main">
              <a:ext uri="{FF2B5EF4-FFF2-40B4-BE49-F238E27FC236}">
                <a16:creationId xmlns:a16="http://schemas.microsoft.com/office/drawing/2014/main" id="{9111A80E-79E6-40BE-8BED-28287290D8F5}"/>
              </a:ext>
            </a:extLst>
          </p:cNvPr>
          <p:cNvSpPr>
            <a:spLocks xmlns:a="http://schemas.openxmlformats.org/drawingml/2006/main" noGrp="1"/>
          </p:cNvSpPr>
          <p:nvPr/>
        </p:nvSpPr>
        <p:spPr>
          <a:xfrm xmlns:a="http://schemas.openxmlformats.org/drawingml/2006/main">
            <a:off x="400050" y="2305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9" name="MAE">
            <a:extLst xmlns:a="http://schemas.openxmlformats.org/drawingml/2006/main">
              <a:ext uri="{FF2B5EF4-FFF2-40B4-BE49-F238E27FC236}">
                <a16:creationId xmlns:a16="http://schemas.microsoft.com/office/drawing/2014/main" id="{839D1FF8-4D2C-4918-810D-414B374B4483}"/>
              </a:ext>
            </a:extLst>
          </p:cNvPr>
          <p:cNvSpPr>
            <a:spLocks xmlns:a="http://schemas.openxmlformats.org/drawingml/2006/main" noGrp="1"/>
          </p:cNvSpPr>
          <p:nvPr/>
        </p:nvSpPr>
        <p:spPr>
          <a:xfrm xmlns:a="http://schemas.openxmlformats.org/drawingml/2006/main">
            <a:off x="400050" y="24479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MAE</a:t>
            </a:r>
          </a:p>
        </p:txBody>
      </p:sp>
      <p:sp>
        <p:nvSpPr>
          <p:cNvPr id="10" name="13.2904 q/ha">
            <a:extLst xmlns:a="http://schemas.openxmlformats.org/drawingml/2006/main">
              <a:ext uri="{FF2B5EF4-FFF2-40B4-BE49-F238E27FC236}">
                <a16:creationId xmlns:a16="http://schemas.microsoft.com/office/drawing/2014/main" id="{0438DAA2-B15E-49C7-B590-57926F1A7663}"/>
              </a:ext>
            </a:extLst>
          </p:cNvPr>
          <p:cNvSpPr>
            <a:spLocks xmlns:a="http://schemas.openxmlformats.org/drawingml/2006/main" noGrp="1"/>
          </p:cNvSpPr>
          <p:nvPr/>
        </p:nvSpPr>
        <p:spPr>
          <a:xfrm xmlns:a="http://schemas.openxmlformats.org/drawingml/2006/main">
            <a:off x="4591050" y="24479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13.2904 q/ha</a:t>
            </a:r>
          </a:p>
        </p:txBody>
      </p:sp>
      <p:sp>
        <p:nvSpPr>
          <p:cNvPr id="11" name="">
            <a:extLst xmlns:a="http://schemas.openxmlformats.org/drawingml/2006/main">
              <a:ext uri="{FF2B5EF4-FFF2-40B4-BE49-F238E27FC236}">
                <a16:creationId xmlns:a16="http://schemas.microsoft.com/office/drawing/2014/main" id="{604AFDD4-C9BA-4016-AB74-06A20E49A2A1}"/>
              </a:ext>
            </a:extLst>
          </p:cNvPr>
          <p:cNvSpPr>
            <a:spLocks xmlns:a="http://schemas.openxmlformats.org/drawingml/2006/main" noGrp="1"/>
          </p:cNvSpPr>
          <p:nvPr/>
        </p:nvSpPr>
        <p:spPr>
          <a:xfrm xmlns:a="http://schemas.openxmlformats.org/drawingml/2006/main">
            <a:off x="400050" y="31051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2" name="RMSE">
            <a:extLst xmlns:a="http://schemas.openxmlformats.org/drawingml/2006/main">
              <a:ext uri="{FF2B5EF4-FFF2-40B4-BE49-F238E27FC236}">
                <a16:creationId xmlns:a16="http://schemas.microsoft.com/office/drawing/2014/main" id="{6B9946BD-8039-414B-BD5C-7B0CC3716E6C}"/>
              </a:ext>
            </a:extLst>
          </p:cNvPr>
          <p:cNvSpPr>
            <a:spLocks xmlns:a="http://schemas.openxmlformats.org/drawingml/2006/main" noGrp="1"/>
          </p:cNvSpPr>
          <p:nvPr/>
        </p:nvSpPr>
        <p:spPr>
          <a:xfrm xmlns:a="http://schemas.openxmlformats.org/drawingml/2006/main">
            <a:off x="400050" y="31718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RMSE</a:t>
            </a:r>
          </a:p>
        </p:txBody>
      </p:sp>
      <p:sp>
        <p:nvSpPr>
          <p:cNvPr id="13" name="16.9167 q/ha">
            <a:extLst xmlns:a="http://schemas.openxmlformats.org/drawingml/2006/main">
              <a:ext uri="{FF2B5EF4-FFF2-40B4-BE49-F238E27FC236}">
                <a16:creationId xmlns:a16="http://schemas.microsoft.com/office/drawing/2014/main" id="{910A5851-38DE-42F8-A387-410CB376344D}"/>
              </a:ext>
            </a:extLst>
          </p:cNvPr>
          <p:cNvSpPr>
            <a:spLocks xmlns:a="http://schemas.openxmlformats.org/drawingml/2006/main" noGrp="1"/>
          </p:cNvSpPr>
          <p:nvPr/>
        </p:nvSpPr>
        <p:spPr>
          <a:xfrm xmlns:a="http://schemas.openxmlformats.org/drawingml/2006/main">
            <a:off x="4591050" y="31718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16.9167 q/ha</a:t>
            </a:r>
          </a:p>
        </p:txBody>
      </p:sp>
      <p:sp>
        <p:nvSpPr>
          <p:cNvPr id="14" name="">
            <a:extLst xmlns:a="http://schemas.openxmlformats.org/drawingml/2006/main">
              <a:ext uri="{FF2B5EF4-FFF2-40B4-BE49-F238E27FC236}">
                <a16:creationId xmlns:a16="http://schemas.microsoft.com/office/drawing/2014/main" id="{64E1E1CD-6B33-436E-BB05-7B19368A644F}"/>
              </a:ext>
            </a:extLst>
          </p:cNvPr>
          <p:cNvSpPr>
            <a:spLocks xmlns:a="http://schemas.openxmlformats.org/drawingml/2006/main" noGrp="1"/>
          </p:cNvSpPr>
          <p:nvPr/>
        </p:nvSpPr>
        <p:spPr>
          <a:xfrm xmlns:a="http://schemas.openxmlformats.org/drawingml/2006/main">
            <a:off x="400050" y="3829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5" name="R²">
            <a:extLst xmlns:a="http://schemas.openxmlformats.org/drawingml/2006/main">
              <a:ext uri="{FF2B5EF4-FFF2-40B4-BE49-F238E27FC236}">
                <a16:creationId xmlns:a16="http://schemas.microsoft.com/office/drawing/2014/main" id="{9E36F8A5-2DE2-4D37-BBC8-0264EF79B267}"/>
              </a:ext>
            </a:extLst>
          </p:cNvPr>
          <p:cNvSpPr>
            <a:spLocks xmlns:a="http://schemas.openxmlformats.org/drawingml/2006/main" noGrp="1"/>
          </p:cNvSpPr>
          <p:nvPr/>
        </p:nvSpPr>
        <p:spPr>
          <a:xfrm xmlns:a="http://schemas.openxmlformats.org/drawingml/2006/main">
            <a:off x="400050" y="38957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R²</a:t>
            </a:r>
          </a:p>
        </p:txBody>
      </p:sp>
      <p:sp>
        <p:nvSpPr>
          <p:cNvPr id="16" name="0.4548">
            <a:extLst xmlns:a="http://schemas.openxmlformats.org/drawingml/2006/main">
              <a:ext uri="{FF2B5EF4-FFF2-40B4-BE49-F238E27FC236}">
                <a16:creationId xmlns:a16="http://schemas.microsoft.com/office/drawing/2014/main" id="{D6641111-C9EB-4477-B576-54B0C4896487}"/>
              </a:ext>
            </a:extLst>
          </p:cNvPr>
          <p:cNvSpPr>
            <a:spLocks xmlns:a="http://schemas.openxmlformats.org/drawingml/2006/main" noGrp="1"/>
          </p:cNvSpPr>
          <p:nvPr/>
        </p:nvSpPr>
        <p:spPr>
          <a:xfrm xmlns:a="http://schemas.openxmlformats.org/drawingml/2006/main">
            <a:off x="4591050" y="38957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0.4548</a:t>
            </a:r>
          </a:p>
        </p:txBody>
      </p:sp>
      <p:sp>
        <p:nvSpPr>
          <p:cNvPr id="17" name="">
            <a:extLst xmlns:a="http://schemas.openxmlformats.org/drawingml/2006/main">
              <a:ext uri="{FF2B5EF4-FFF2-40B4-BE49-F238E27FC236}">
                <a16:creationId xmlns:a16="http://schemas.microsoft.com/office/drawing/2014/main" id="{94C509C4-0C64-44E3-A086-1A6943E94836}"/>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8" name="MAE de référence">
            <a:extLst xmlns:a="http://schemas.openxmlformats.org/drawingml/2006/main">
              <a:ext uri="{FF2B5EF4-FFF2-40B4-BE49-F238E27FC236}">
                <a16:creationId xmlns:a16="http://schemas.microsoft.com/office/drawing/2014/main" id="{13726B8C-4518-4A85-998B-CE5EF777992C}"/>
              </a:ext>
            </a:extLst>
          </p:cNvPr>
          <p:cNvSpPr>
            <a:spLocks xmlns:a="http://schemas.openxmlformats.org/drawingml/2006/main" noGrp="1"/>
          </p:cNvSpPr>
          <p:nvPr/>
        </p:nvSpPr>
        <p:spPr>
          <a:xfrm xmlns:a="http://schemas.openxmlformats.org/drawingml/2006/main">
            <a:off x="400050" y="46196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MAE de référence</a:t>
            </a:r>
          </a:p>
        </p:txBody>
      </p:sp>
      <p:sp>
        <p:nvSpPr>
          <p:cNvPr id="19" name="18.6639 q/ha">
            <a:extLst xmlns:a="http://schemas.openxmlformats.org/drawingml/2006/main">
              <a:ext uri="{FF2B5EF4-FFF2-40B4-BE49-F238E27FC236}">
                <a16:creationId xmlns:a16="http://schemas.microsoft.com/office/drawing/2014/main" id="{B004E993-7E5C-4D77-BC7F-160D85AD93E4}"/>
              </a:ext>
            </a:extLst>
          </p:cNvPr>
          <p:cNvSpPr>
            <a:spLocks xmlns:a="http://schemas.openxmlformats.org/drawingml/2006/main" noGrp="1"/>
          </p:cNvSpPr>
          <p:nvPr/>
        </p:nvSpPr>
        <p:spPr>
          <a:xfrm xmlns:a="http://schemas.openxmlformats.org/drawingml/2006/main">
            <a:off x="4591050" y="46196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18.6639 q/ha</a:t>
            </a:r>
          </a:p>
        </p:txBody>
      </p:sp>
      <p:sp>
        <p:nvSpPr>
          <p:cNvPr id="20" name="">
            <a:extLst xmlns:a="http://schemas.openxmlformats.org/drawingml/2006/main">
              <a:ext uri="{FF2B5EF4-FFF2-40B4-BE49-F238E27FC236}">
                <a16:creationId xmlns:a16="http://schemas.microsoft.com/office/drawing/2014/main" id="{AAF34D14-0562-49E9-8F21-418F14DB9ADD}"/>
              </a:ext>
            </a:extLst>
          </p:cNvPr>
          <p:cNvSpPr>
            <a:spLocks xmlns:a="http://schemas.openxmlformats.org/drawingml/2006/main" noGrp="1"/>
          </p:cNvSpPr>
          <p:nvPr/>
        </p:nvSpPr>
        <p:spPr>
          <a:xfrm xmlns:a="http://schemas.openxmlformats.org/drawingml/2006/main">
            <a:off x="400050" y="527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1" name="Lecture">
            <a:extLst xmlns:a="http://schemas.openxmlformats.org/drawingml/2006/main">
              <a:ext uri="{FF2B5EF4-FFF2-40B4-BE49-F238E27FC236}">
                <a16:creationId xmlns:a16="http://schemas.microsoft.com/office/drawing/2014/main" id="{429285C2-82C2-426D-8635-874510C7B82B}"/>
              </a:ext>
            </a:extLst>
          </p:cNvPr>
          <p:cNvSpPr>
            <a:spLocks xmlns:a="http://schemas.openxmlformats.org/drawingml/2006/main" noGrp="1"/>
          </p:cNvSpPr>
          <p:nvPr/>
        </p:nvSpPr>
        <p:spPr>
          <a:xfrm xmlns:a="http://schemas.openxmlformats.org/drawingml/2006/main">
            <a:off x="400050" y="53435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Lecture</a:t>
            </a:r>
          </a:p>
        </p:txBody>
      </p:sp>
      <p:sp>
        <p:nvSpPr>
          <p:cNvPr id="22" name="Gain mesuré, mais erreur encore importante">
            <a:extLst xmlns:a="http://schemas.openxmlformats.org/drawingml/2006/main">
              <a:ext uri="{FF2B5EF4-FFF2-40B4-BE49-F238E27FC236}">
                <a16:creationId xmlns:a16="http://schemas.microsoft.com/office/drawing/2014/main" id="{FF28C006-43D7-4637-B469-8105ED97F1EA}"/>
              </a:ext>
            </a:extLst>
          </p:cNvPr>
          <p:cNvSpPr>
            <a:spLocks xmlns:a="http://schemas.openxmlformats.org/drawingml/2006/main" noGrp="1"/>
          </p:cNvSpPr>
          <p:nvPr/>
        </p:nvSpPr>
        <p:spPr>
          <a:xfrm xmlns:a="http://schemas.openxmlformats.org/drawingml/2006/main">
            <a:off x="4591050" y="53435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Gain mesuré, mais erreur encore importante</a:t>
            </a:r>
          </a:p>
        </p:txBody>
      </p:sp>
    </p:spTree>
    <p:extLst>
      <p:ext uri="{BB962C8B-B14F-4D97-AF65-F5344CB8AC3E}">
        <p14:creationId xmlns:p14="http://schemas.microsoft.com/office/powerpoint/2010/main" val="152026266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09 · RÉSULTATS ML">
            <a:extLst xmlns:a="http://schemas.openxmlformats.org/drawingml/2006/main">
              <a:ext uri="{FF2B5EF4-FFF2-40B4-BE49-F238E27FC236}">
                <a16:creationId xmlns:a16="http://schemas.microsoft.com/office/drawing/2014/main" id="{B56CC857-97D3-4C1A-9E0A-A8EB0EF38988}"/>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09 · RÉSULTATS ML</a:t>
            </a:r>
          </a:p>
        </p:txBody>
      </p:sp>
      <p:sp>
        <p:nvSpPr>
          <p:cNvPr id="2" name="Le rappel entraîne des faux positifs">
            <a:extLst xmlns:a="http://schemas.openxmlformats.org/drawingml/2006/main">
              <a:ext uri="{FF2B5EF4-FFF2-40B4-BE49-F238E27FC236}">
                <a16:creationId xmlns:a16="http://schemas.microsoft.com/office/drawing/2014/main" id="{D23BA411-004A-422F-B464-D5364A7064C5}"/>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 rappel entraîne des faux positifs</a:t>
            </a:r>
          </a:p>
        </p:txBody>
      </p:sp>
      <p:sp>
        <p:nvSpPr>
          <p:cNvPr id="3" name="">
            <a:extLst xmlns:a="http://schemas.openxmlformats.org/drawingml/2006/main">
              <a:ext uri="{FF2B5EF4-FFF2-40B4-BE49-F238E27FC236}">
                <a16:creationId xmlns:a16="http://schemas.microsoft.com/office/drawing/2014/main" id="{FC334E33-21F7-4397-BFCB-DFBC387FA741}"/>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2CE7D752-F0D5-49DE-B914-323D84BCDE63}"/>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19">
            <a:extLst xmlns:a="http://schemas.openxmlformats.org/drawingml/2006/main">
              <a:ext uri="{FF2B5EF4-FFF2-40B4-BE49-F238E27FC236}">
                <a16:creationId xmlns:a16="http://schemas.microsoft.com/office/drawing/2014/main" id="{235DA0EB-9184-4338-9E9F-B7C8338797A3}"/>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19</a:t>
            </a:r>
          </a:p>
        </p:txBody>
      </p:sp>
      <p:sp>
        <p:nvSpPr>
          <p:cNvPr id="6" name="Indicateur">
            <a:extLst xmlns:a="http://schemas.openxmlformats.org/drawingml/2006/main">
              <a:ext uri="{FF2B5EF4-FFF2-40B4-BE49-F238E27FC236}">
                <a16:creationId xmlns:a16="http://schemas.microsoft.com/office/drawing/2014/main" id="{097B11D4-B6A9-4BF1-9BB8-3BEB65DEED13}"/>
              </a:ext>
            </a:extLst>
          </p:cNvPr>
          <p:cNvSpPr>
            <a:spLocks xmlns:a="http://schemas.openxmlformats.org/drawingml/2006/main" noGrp="1"/>
          </p:cNvSpPr>
          <p:nvPr/>
        </p:nvSpPr>
        <p:spPr>
          <a:xfrm xmlns:a="http://schemas.openxmlformats.org/drawingml/2006/main">
            <a:off x="400050" y="1838325"/>
            <a:ext cx="4019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Indicateur</a:t>
            </a:r>
          </a:p>
        </p:txBody>
      </p:sp>
      <p:sp>
        <p:nvSpPr>
          <p:cNvPr id="7" name="Valeur sur 2018">
            <a:extLst xmlns:a="http://schemas.openxmlformats.org/drawingml/2006/main">
              <a:ext uri="{FF2B5EF4-FFF2-40B4-BE49-F238E27FC236}">
                <a16:creationId xmlns:a16="http://schemas.microsoft.com/office/drawing/2014/main" id="{F073C060-543E-4BBF-8A8E-E456854F9656}"/>
              </a:ext>
            </a:extLst>
          </p:cNvPr>
          <p:cNvSpPr>
            <a:spLocks xmlns:a="http://schemas.openxmlformats.org/drawingml/2006/main" noGrp="1"/>
          </p:cNvSpPr>
          <p:nvPr/>
        </p:nvSpPr>
        <p:spPr>
          <a:xfrm xmlns:a="http://schemas.openxmlformats.org/drawingml/2006/main">
            <a:off x="4591050" y="1838325"/>
            <a:ext cx="702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Valeur sur 2018</a:t>
            </a:r>
          </a:p>
        </p:txBody>
      </p:sp>
      <p:sp>
        <p:nvSpPr>
          <p:cNvPr id="8" name="">
            <a:extLst xmlns:a="http://schemas.openxmlformats.org/drawingml/2006/main">
              <a:ext uri="{FF2B5EF4-FFF2-40B4-BE49-F238E27FC236}">
                <a16:creationId xmlns:a16="http://schemas.microsoft.com/office/drawing/2014/main" id="{D0603350-8598-4D44-9F35-41D206320898}"/>
              </a:ext>
            </a:extLst>
          </p:cNvPr>
          <p:cNvSpPr>
            <a:spLocks xmlns:a="http://schemas.openxmlformats.org/drawingml/2006/main" noGrp="1"/>
          </p:cNvSpPr>
          <p:nvPr/>
        </p:nvSpPr>
        <p:spPr>
          <a:xfrm xmlns:a="http://schemas.openxmlformats.org/drawingml/2006/main">
            <a:off x="400050" y="2305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9" name="Accuracy">
            <a:extLst xmlns:a="http://schemas.openxmlformats.org/drawingml/2006/main">
              <a:ext uri="{FF2B5EF4-FFF2-40B4-BE49-F238E27FC236}">
                <a16:creationId xmlns:a16="http://schemas.microsoft.com/office/drawing/2014/main" id="{35BE5CCA-EB44-4D84-8AF6-8160038C1B67}"/>
              </a:ext>
            </a:extLst>
          </p:cNvPr>
          <p:cNvSpPr>
            <a:spLocks xmlns:a="http://schemas.openxmlformats.org/drawingml/2006/main" noGrp="1"/>
          </p:cNvSpPr>
          <p:nvPr/>
        </p:nvSpPr>
        <p:spPr>
          <a:xfrm xmlns:a="http://schemas.openxmlformats.org/drawingml/2006/main">
            <a:off x="400050" y="24479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Accuracy</a:t>
            </a:r>
          </a:p>
        </p:txBody>
      </p:sp>
      <p:sp>
        <p:nvSpPr>
          <p:cNvPr id="10" name="0.7551">
            <a:extLst xmlns:a="http://schemas.openxmlformats.org/drawingml/2006/main">
              <a:ext uri="{FF2B5EF4-FFF2-40B4-BE49-F238E27FC236}">
                <a16:creationId xmlns:a16="http://schemas.microsoft.com/office/drawing/2014/main" id="{60DF34FD-B772-47FA-9736-9F1797850722}"/>
              </a:ext>
            </a:extLst>
          </p:cNvPr>
          <p:cNvSpPr>
            <a:spLocks xmlns:a="http://schemas.openxmlformats.org/drawingml/2006/main" noGrp="1"/>
          </p:cNvSpPr>
          <p:nvPr/>
        </p:nvSpPr>
        <p:spPr>
          <a:xfrm xmlns:a="http://schemas.openxmlformats.org/drawingml/2006/main">
            <a:off x="4591050" y="24479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0.7551</a:t>
            </a:r>
          </a:p>
        </p:txBody>
      </p:sp>
      <p:sp>
        <p:nvSpPr>
          <p:cNvPr id="11" name="">
            <a:extLst xmlns:a="http://schemas.openxmlformats.org/drawingml/2006/main">
              <a:ext uri="{FF2B5EF4-FFF2-40B4-BE49-F238E27FC236}">
                <a16:creationId xmlns:a16="http://schemas.microsoft.com/office/drawing/2014/main" id="{5DD74424-FAE1-4E64-8FF4-1AAA6CBA3377}"/>
              </a:ext>
            </a:extLst>
          </p:cNvPr>
          <p:cNvSpPr>
            <a:spLocks xmlns:a="http://schemas.openxmlformats.org/drawingml/2006/main" noGrp="1"/>
          </p:cNvSpPr>
          <p:nvPr/>
        </p:nvSpPr>
        <p:spPr>
          <a:xfrm xmlns:a="http://schemas.openxmlformats.org/drawingml/2006/main">
            <a:off x="400050" y="31051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2" name="Précision">
            <a:extLst xmlns:a="http://schemas.openxmlformats.org/drawingml/2006/main">
              <a:ext uri="{FF2B5EF4-FFF2-40B4-BE49-F238E27FC236}">
                <a16:creationId xmlns:a16="http://schemas.microsoft.com/office/drawing/2014/main" id="{9AF2D7E1-B034-47AD-85B4-745A5A7D9880}"/>
              </a:ext>
            </a:extLst>
          </p:cNvPr>
          <p:cNvSpPr>
            <a:spLocks xmlns:a="http://schemas.openxmlformats.org/drawingml/2006/main" noGrp="1"/>
          </p:cNvSpPr>
          <p:nvPr/>
        </p:nvSpPr>
        <p:spPr>
          <a:xfrm xmlns:a="http://schemas.openxmlformats.org/drawingml/2006/main">
            <a:off x="400050" y="31718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Précision</a:t>
            </a:r>
          </a:p>
        </p:txBody>
      </p:sp>
      <p:sp>
        <p:nvSpPr>
          <p:cNvPr id="13" name="0.6587">
            <a:extLst xmlns:a="http://schemas.openxmlformats.org/drawingml/2006/main">
              <a:ext uri="{FF2B5EF4-FFF2-40B4-BE49-F238E27FC236}">
                <a16:creationId xmlns:a16="http://schemas.microsoft.com/office/drawing/2014/main" id="{4217A1AE-C3B1-4ACF-86FB-E2093270A0B5}"/>
              </a:ext>
            </a:extLst>
          </p:cNvPr>
          <p:cNvSpPr>
            <a:spLocks xmlns:a="http://schemas.openxmlformats.org/drawingml/2006/main" noGrp="1"/>
          </p:cNvSpPr>
          <p:nvPr/>
        </p:nvSpPr>
        <p:spPr>
          <a:xfrm xmlns:a="http://schemas.openxmlformats.org/drawingml/2006/main">
            <a:off x="4591050" y="31718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0.6587</a:t>
            </a:r>
          </a:p>
        </p:txBody>
      </p:sp>
      <p:sp>
        <p:nvSpPr>
          <p:cNvPr id="14" name="">
            <a:extLst xmlns:a="http://schemas.openxmlformats.org/drawingml/2006/main">
              <a:ext uri="{FF2B5EF4-FFF2-40B4-BE49-F238E27FC236}">
                <a16:creationId xmlns:a16="http://schemas.microsoft.com/office/drawing/2014/main" id="{28D8982F-4F8E-4FF2-A20D-C316B3ED468E}"/>
              </a:ext>
            </a:extLst>
          </p:cNvPr>
          <p:cNvSpPr>
            <a:spLocks xmlns:a="http://schemas.openxmlformats.org/drawingml/2006/main" noGrp="1"/>
          </p:cNvSpPr>
          <p:nvPr/>
        </p:nvSpPr>
        <p:spPr>
          <a:xfrm xmlns:a="http://schemas.openxmlformats.org/drawingml/2006/main">
            <a:off x="400050" y="3829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5" name="Rappel">
            <a:extLst xmlns:a="http://schemas.openxmlformats.org/drawingml/2006/main">
              <a:ext uri="{FF2B5EF4-FFF2-40B4-BE49-F238E27FC236}">
                <a16:creationId xmlns:a16="http://schemas.microsoft.com/office/drawing/2014/main" id="{F07BA000-0FA9-4CF0-ACB6-97EB85EC6117}"/>
              </a:ext>
            </a:extLst>
          </p:cNvPr>
          <p:cNvSpPr>
            <a:spLocks xmlns:a="http://schemas.openxmlformats.org/drawingml/2006/main" noGrp="1"/>
          </p:cNvSpPr>
          <p:nvPr/>
        </p:nvSpPr>
        <p:spPr>
          <a:xfrm xmlns:a="http://schemas.openxmlformats.org/drawingml/2006/main">
            <a:off x="400050" y="38957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Rappel</a:t>
            </a:r>
          </a:p>
        </p:txBody>
      </p:sp>
      <p:sp>
        <p:nvSpPr>
          <p:cNvPr id="16" name="0.9106">
            <a:extLst xmlns:a="http://schemas.openxmlformats.org/drawingml/2006/main">
              <a:ext uri="{FF2B5EF4-FFF2-40B4-BE49-F238E27FC236}">
                <a16:creationId xmlns:a16="http://schemas.microsoft.com/office/drawing/2014/main" id="{BAE9B2DE-534E-499A-AC1C-88E9F9FFD17C}"/>
              </a:ext>
            </a:extLst>
          </p:cNvPr>
          <p:cNvSpPr>
            <a:spLocks xmlns:a="http://schemas.openxmlformats.org/drawingml/2006/main" noGrp="1"/>
          </p:cNvSpPr>
          <p:nvPr/>
        </p:nvSpPr>
        <p:spPr>
          <a:xfrm xmlns:a="http://schemas.openxmlformats.org/drawingml/2006/main">
            <a:off x="4591050" y="38957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0.9106</a:t>
            </a:r>
          </a:p>
        </p:txBody>
      </p:sp>
      <p:sp>
        <p:nvSpPr>
          <p:cNvPr id="17" name="">
            <a:extLst xmlns:a="http://schemas.openxmlformats.org/drawingml/2006/main">
              <a:ext uri="{FF2B5EF4-FFF2-40B4-BE49-F238E27FC236}">
                <a16:creationId xmlns:a16="http://schemas.microsoft.com/office/drawing/2014/main" id="{3855FBB0-A547-4F15-8138-DD20740898CC}"/>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8" name="F1">
            <a:extLst xmlns:a="http://schemas.openxmlformats.org/drawingml/2006/main">
              <a:ext uri="{FF2B5EF4-FFF2-40B4-BE49-F238E27FC236}">
                <a16:creationId xmlns:a16="http://schemas.microsoft.com/office/drawing/2014/main" id="{3BF9094E-BB14-4E89-8D91-50FCC0B54B5B}"/>
              </a:ext>
            </a:extLst>
          </p:cNvPr>
          <p:cNvSpPr>
            <a:spLocks xmlns:a="http://schemas.openxmlformats.org/drawingml/2006/main" noGrp="1"/>
          </p:cNvSpPr>
          <p:nvPr/>
        </p:nvSpPr>
        <p:spPr>
          <a:xfrm xmlns:a="http://schemas.openxmlformats.org/drawingml/2006/main">
            <a:off x="400050" y="46196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F1</a:t>
            </a:r>
          </a:p>
        </p:txBody>
      </p:sp>
      <p:sp>
        <p:nvSpPr>
          <p:cNvPr id="19" name="0.7645">
            <a:extLst xmlns:a="http://schemas.openxmlformats.org/drawingml/2006/main">
              <a:ext uri="{FF2B5EF4-FFF2-40B4-BE49-F238E27FC236}">
                <a16:creationId xmlns:a16="http://schemas.microsoft.com/office/drawing/2014/main" id="{515597F3-88E4-46B4-BB99-6CAA2B9EDAC0}"/>
              </a:ext>
            </a:extLst>
          </p:cNvPr>
          <p:cNvSpPr>
            <a:spLocks xmlns:a="http://schemas.openxmlformats.org/drawingml/2006/main" noGrp="1"/>
          </p:cNvSpPr>
          <p:nvPr/>
        </p:nvSpPr>
        <p:spPr>
          <a:xfrm xmlns:a="http://schemas.openxmlformats.org/drawingml/2006/main">
            <a:off x="4591050" y="46196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0.7645</a:t>
            </a:r>
          </a:p>
        </p:txBody>
      </p:sp>
      <p:sp>
        <p:nvSpPr>
          <p:cNvPr id="20" name="">
            <a:extLst xmlns:a="http://schemas.openxmlformats.org/drawingml/2006/main">
              <a:ext uri="{FF2B5EF4-FFF2-40B4-BE49-F238E27FC236}">
                <a16:creationId xmlns:a16="http://schemas.microsoft.com/office/drawing/2014/main" id="{ADA04948-2CC0-4458-A971-093F27F2B019}"/>
              </a:ext>
            </a:extLst>
          </p:cNvPr>
          <p:cNvSpPr>
            <a:spLocks xmlns:a="http://schemas.openxmlformats.org/drawingml/2006/main" noGrp="1"/>
          </p:cNvSpPr>
          <p:nvPr/>
        </p:nvSpPr>
        <p:spPr>
          <a:xfrm xmlns:a="http://schemas.openxmlformats.org/drawingml/2006/main">
            <a:off x="400050" y="527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1" name="Seuil de probabilité">
            <a:extLst xmlns:a="http://schemas.openxmlformats.org/drawingml/2006/main">
              <a:ext uri="{FF2B5EF4-FFF2-40B4-BE49-F238E27FC236}">
                <a16:creationId xmlns:a16="http://schemas.microsoft.com/office/drawing/2014/main" id="{73883115-C240-4BCD-9631-9FBC404DC85C}"/>
              </a:ext>
            </a:extLst>
          </p:cNvPr>
          <p:cNvSpPr>
            <a:spLocks xmlns:a="http://schemas.openxmlformats.org/drawingml/2006/main" noGrp="1"/>
          </p:cNvSpPr>
          <p:nvPr/>
        </p:nvSpPr>
        <p:spPr>
          <a:xfrm xmlns:a="http://schemas.openxmlformats.org/drawingml/2006/main">
            <a:off x="400050" y="53435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Seuil de probabilité</a:t>
            </a:r>
          </a:p>
        </p:txBody>
      </p:sp>
      <p:sp>
        <p:nvSpPr>
          <p:cNvPr id="22" name="0.41">
            <a:extLst xmlns:a="http://schemas.openxmlformats.org/drawingml/2006/main">
              <a:ext uri="{FF2B5EF4-FFF2-40B4-BE49-F238E27FC236}">
                <a16:creationId xmlns:a16="http://schemas.microsoft.com/office/drawing/2014/main" id="{4B4008BE-F2E5-4BEA-BD9B-63751CA59FCD}"/>
              </a:ext>
            </a:extLst>
          </p:cNvPr>
          <p:cNvSpPr>
            <a:spLocks xmlns:a="http://schemas.openxmlformats.org/drawingml/2006/main" noGrp="1"/>
          </p:cNvSpPr>
          <p:nvPr/>
        </p:nvSpPr>
        <p:spPr>
          <a:xfrm xmlns:a="http://schemas.openxmlformats.org/drawingml/2006/main">
            <a:off x="4591050" y="5343525"/>
            <a:ext cx="701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0.41</a:t>
            </a:r>
          </a:p>
        </p:txBody>
      </p:sp>
    </p:spTree>
    <p:extLst>
      <p:ext uri="{BB962C8B-B14F-4D97-AF65-F5344CB8AC3E}">
        <p14:creationId xmlns:p14="http://schemas.microsoft.com/office/powerpoint/2010/main" val="11091274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10 · ACCÈS">
            <a:extLst xmlns:a="http://schemas.openxmlformats.org/drawingml/2006/main">
              <a:ext uri="{FF2B5EF4-FFF2-40B4-BE49-F238E27FC236}">
                <a16:creationId xmlns:a16="http://schemas.microsoft.com/office/drawing/2014/main" id="{7DF6B53B-5880-41FE-89E7-A538446D3186}"/>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10 · ACCÈS</a:t>
            </a:r>
          </a:p>
        </p:txBody>
      </p:sp>
      <p:sp>
        <p:nvSpPr>
          <p:cNvPr id="2" name="L’API sépare consultation et prédiction">
            <a:extLst xmlns:a="http://schemas.openxmlformats.org/drawingml/2006/main">
              <a:ext uri="{FF2B5EF4-FFF2-40B4-BE49-F238E27FC236}">
                <a16:creationId xmlns:a16="http://schemas.microsoft.com/office/drawing/2014/main" id="{1FCE9C0C-381A-49DA-A707-E17F4F50B94D}"/>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L’API sépare consultation et prédiction</a:t>
            </a:r>
          </a:p>
        </p:txBody>
      </p:sp>
      <p:sp>
        <p:nvSpPr>
          <p:cNvPr id="3" name="">
            <a:extLst xmlns:a="http://schemas.openxmlformats.org/drawingml/2006/main">
              <a:ext uri="{FF2B5EF4-FFF2-40B4-BE49-F238E27FC236}">
                <a16:creationId xmlns:a16="http://schemas.microsoft.com/office/drawing/2014/main" id="{F697850A-10C9-4F59-9DB4-A699FB16565D}"/>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FCB0645B-7C72-4387-8A72-249A11C522A7}"/>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20">
            <a:extLst xmlns:a="http://schemas.openxmlformats.org/drawingml/2006/main">
              <a:ext uri="{FF2B5EF4-FFF2-40B4-BE49-F238E27FC236}">
                <a16:creationId xmlns:a16="http://schemas.microsoft.com/office/drawing/2014/main" id="{3057C162-3900-4444-8150-6955826C5EF8}"/>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20</a:t>
            </a:r>
          </a:p>
        </p:txBody>
      </p:sp>
      <p:sp>
        <p:nvSpPr>
          <p:cNvPr id="6" name="Route">
            <a:extLst xmlns:a="http://schemas.openxmlformats.org/drawingml/2006/main">
              <a:ext uri="{FF2B5EF4-FFF2-40B4-BE49-F238E27FC236}">
                <a16:creationId xmlns:a16="http://schemas.microsoft.com/office/drawing/2014/main" id="{BF8624F9-728D-4343-85A0-A34AF8D7E3AE}"/>
              </a:ext>
            </a:extLst>
          </p:cNvPr>
          <p:cNvSpPr>
            <a:spLocks xmlns:a="http://schemas.openxmlformats.org/drawingml/2006/main" noGrp="1"/>
          </p:cNvSpPr>
          <p:nvPr/>
        </p:nvSpPr>
        <p:spPr>
          <a:xfrm xmlns:a="http://schemas.openxmlformats.org/drawingml/2006/main">
            <a:off x="400050" y="183832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Route</a:t>
            </a:r>
          </a:p>
        </p:txBody>
      </p:sp>
      <p:sp>
        <p:nvSpPr>
          <p:cNvPr id="7" name="Accès">
            <a:extLst xmlns:a="http://schemas.openxmlformats.org/drawingml/2006/main">
              <a:ext uri="{FF2B5EF4-FFF2-40B4-BE49-F238E27FC236}">
                <a16:creationId xmlns:a16="http://schemas.microsoft.com/office/drawing/2014/main" id="{578F3B49-96B0-4F1E-B404-FE2405A647E7}"/>
              </a:ext>
            </a:extLst>
          </p:cNvPr>
          <p:cNvSpPr>
            <a:spLocks xmlns:a="http://schemas.openxmlformats.org/drawingml/2006/main" noGrp="1"/>
          </p:cNvSpPr>
          <p:nvPr/>
        </p:nvSpPr>
        <p:spPr>
          <a:xfrm xmlns:a="http://schemas.openxmlformats.org/drawingml/2006/main">
            <a:off x="3114675" y="1838325"/>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Accès</a:t>
            </a:r>
          </a:p>
        </p:txBody>
      </p:sp>
      <p:sp>
        <p:nvSpPr>
          <p:cNvPr id="8" name="Fonction">
            <a:extLst xmlns:a="http://schemas.openxmlformats.org/drawingml/2006/main">
              <a:ext uri="{FF2B5EF4-FFF2-40B4-BE49-F238E27FC236}">
                <a16:creationId xmlns:a16="http://schemas.microsoft.com/office/drawing/2014/main" id="{BBADA0BF-9A46-410A-ACEC-7EBC7C6101E9}"/>
              </a:ext>
            </a:extLst>
          </p:cNvPr>
          <p:cNvSpPr>
            <a:spLocks xmlns:a="http://schemas.openxmlformats.org/drawingml/2006/main" noGrp="1"/>
          </p:cNvSpPr>
          <p:nvPr/>
        </p:nvSpPr>
        <p:spPr>
          <a:xfrm xmlns:a="http://schemas.openxmlformats.org/drawingml/2006/main">
            <a:off x="7210425" y="1838325"/>
            <a:ext cx="4410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1">
                <a:solidFill>
                  <a:srgbClr val="111111"/>
                </a:solidFill>
              </a:defRPr>
            </a:pPr>
            <a:r>
              <a:rPr sz="1950" b="1">
                <a:solidFill>
                  <a:srgbClr val="111111"/>
                </a:solidFill>
              </a:rPr>
              <a:t>Fonction</a:t>
            </a:r>
          </a:p>
        </p:txBody>
      </p:sp>
      <p:sp>
        <p:nvSpPr>
          <p:cNvPr id="9" name="">
            <a:extLst xmlns:a="http://schemas.openxmlformats.org/drawingml/2006/main">
              <a:ext uri="{FF2B5EF4-FFF2-40B4-BE49-F238E27FC236}">
                <a16:creationId xmlns:a16="http://schemas.microsoft.com/office/drawing/2014/main" id="{704CC1F8-3650-4402-B77A-01296F38FAA6}"/>
              </a:ext>
            </a:extLst>
          </p:cNvPr>
          <p:cNvSpPr>
            <a:spLocks xmlns:a="http://schemas.openxmlformats.org/drawingml/2006/main" noGrp="1"/>
          </p:cNvSpPr>
          <p:nvPr/>
        </p:nvSpPr>
        <p:spPr>
          <a:xfrm xmlns:a="http://schemas.openxmlformats.org/drawingml/2006/main">
            <a:off x="400050" y="2305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0" name="/api/health">
            <a:extLst xmlns:a="http://schemas.openxmlformats.org/drawingml/2006/main">
              <a:ext uri="{FF2B5EF4-FFF2-40B4-BE49-F238E27FC236}">
                <a16:creationId xmlns:a16="http://schemas.microsoft.com/office/drawing/2014/main" id="{B0DFB1AB-C18A-4C63-9DA1-3D5F663D2046}"/>
              </a:ext>
            </a:extLst>
          </p:cNvPr>
          <p:cNvSpPr>
            <a:spLocks xmlns:a="http://schemas.openxmlformats.org/drawingml/2006/main" noGrp="1"/>
          </p:cNvSpPr>
          <p:nvPr/>
        </p:nvSpPr>
        <p:spPr>
          <a:xfrm xmlns:a="http://schemas.openxmlformats.org/drawingml/2006/main">
            <a:off x="400050" y="24479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/api/health</a:t>
            </a:r>
          </a:p>
        </p:txBody>
      </p:sp>
      <p:sp>
        <p:nvSpPr>
          <p:cNvPr id="11" name="Public">
            <a:extLst xmlns:a="http://schemas.openxmlformats.org/drawingml/2006/main">
              <a:ext uri="{FF2B5EF4-FFF2-40B4-BE49-F238E27FC236}">
                <a16:creationId xmlns:a16="http://schemas.microsoft.com/office/drawing/2014/main" id="{68E4E129-98C6-4352-940A-DF0D890066AE}"/>
              </a:ext>
            </a:extLst>
          </p:cNvPr>
          <p:cNvSpPr>
            <a:spLocks xmlns:a="http://schemas.openxmlformats.org/drawingml/2006/main" noGrp="1"/>
          </p:cNvSpPr>
          <p:nvPr/>
        </p:nvSpPr>
        <p:spPr>
          <a:xfrm xmlns:a="http://schemas.openxmlformats.org/drawingml/2006/main">
            <a:off x="3114675" y="24479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Public</a:t>
            </a:r>
          </a:p>
        </p:txBody>
      </p:sp>
      <p:sp>
        <p:nvSpPr>
          <p:cNvPr id="12" name="État API et présence des artefacts">
            <a:extLst xmlns:a="http://schemas.openxmlformats.org/drawingml/2006/main">
              <a:ext uri="{FF2B5EF4-FFF2-40B4-BE49-F238E27FC236}">
                <a16:creationId xmlns:a16="http://schemas.microsoft.com/office/drawing/2014/main" id="{546D850A-E4E3-4B0A-AC72-8F71222EE7A8}"/>
              </a:ext>
            </a:extLst>
          </p:cNvPr>
          <p:cNvSpPr>
            <a:spLocks xmlns:a="http://schemas.openxmlformats.org/drawingml/2006/main" noGrp="1"/>
          </p:cNvSpPr>
          <p:nvPr/>
        </p:nvSpPr>
        <p:spPr>
          <a:xfrm xmlns:a="http://schemas.openxmlformats.org/drawingml/2006/main">
            <a:off x="7210425" y="24479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État API et présence des artefacts</a:t>
            </a:r>
          </a:p>
        </p:txBody>
      </p:sp>
      <p:sp>
        <p:nvSpPr>
          <p:cNvPr id="13" name="">
            <a:extLst xmlns:a="http://schemas.openxmlformats.org/drawingml/2006/main">
              <a:ext uri="{FF2B5EF4-FFF2-40B4-BE49-F238E27FC236}">
                <a16:creationId xmlns:a16="http://schemas.microsoft.com/office/drawing/2014/main" id="{6F4830CF-FD4A-422C-B02E-F5FEC4AF15DA}"/>
              </a:ext>
            </a:extLst>
          </p:cNvPr>
          <p:cNvSpPr>
            <a:spLocks xmlns:a="http://schemas.openxmlformats.org/drawingml/2006/main" noGrp="1"/>
          </p:cNvSpPr>
          <p:nvPr/>
        </p:nvSpPr>
        <p:spPr>
          <a:xfrm xmlns:a="http://schemas.openxmlformats.org/drawingml/2006/main">
            <a:off x="400050" y="31051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4" name="/api/catalog">
            <a:extLst xmlns:a="http://schemas.openxmlformats.org/drawingml/2006/main">
              <a:ext uri="{FF2B5EF4-FFF2-40B4-BE49-F238E27FC236}">
                <a16:creationId xmlns:a16="http://schemas.microsoft.com/office/drawing/2014/main" id="{51AB5544-996E-4152-9B53-F20D5FBC1BC1}"/>
              </a:ext>
            </a:extLst>
          </p:cNvPr>
          <p:cNvSpPr>
            <a:spLocks xmlns:a="http://schemas.openxmlformats.org/drawingml/2006/main" noGrp="1"/>
          </p:cNvSpPr>
          <p:nvPr/>
        </p:nvSpPr>
        <p:spPr>
          <a:xfrm xmlns:a="http://schemas.openxmlformats.org/drawingml/2006/main">
            <a:off x="400050" y="31718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/api/catalog</a:t>
            </a:r>
          </a:p>
        </p:txBody>
      </p:sp>
      <p:sp>
        <p:nvSpPr>
          <p:cNvPr id="15" name="Trois rôles">
            <a:extLst xmlns:a="http://schemas.openxmlformats.org/drawingml/2006/main">
              <a:ext uri="{FF2B5EF4-FFF2-40B4-BE49-F238E27FC236}">
                <a16:creationId xmlns:a16="http://schemas.microsoft.com/office/drawing/2014/main" id="{9D54C484-2F45-4B53-BBF3-6C9B4C6A65D7}"/>
              </a:ext>
            </a:extLst>
          </p:cNvPr>
          <p:cNvSpPr>
            <a:spLocks xmlns:a="http://schemas.openxmlformats.org/drawingml/2006/main" noGrp="1"/>
          </p:cNvSpPr>
          <p:nvPr/>
        </p:nvSpPr>
        <p:spPr>
          <a:xfrm xmlns:a="http://schemas.openxmlformats.org/drawingml/2006/main">
            <a:off x="3114675" y="31718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Trois rôles</a:t>
            </a:r>
          </a:p>
        </p:txBody>
      </p:sp>
      <p:sp>
        <p:nvSpPr>
          <p:cNvPr id="16" name="Métadonnées">
            <a:extLst xmlns:a="http://schemas.openxmlformats.org/drawingml/2006/main">
              <a:ext uri="{FF2B5EF4-FFF2-40B4-BE49-F238E27FC236}">
                <a16:creationId xmlns:a16="http://schemas.microsoft.com/office/drawing/2014/main" id="{9EC3BAFB-EB3E-46F7-BA5F-1BD2212710E4}"/>
              </a:ext>
            </a:extLst>
          </p:cNvPr>
          <p:cNvSpPr>
            <a:spLocks xmlns:a="http://schemas.openxmlformats.org/drawingml/2006/main" noGrp="1"/>
          </p:cNvSpPr>
          <p:nvPr/>
        </p:nvSpPr>
        <p:spPr>
          <a:xfrm xmlns:a="http://schemas.openxmlformats.org/drawingml/2006/main">
            <a:off x="7210425" y="31718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Métadonnées</a:t>
            </a:r>
          </a:p>
        </p:txBody>
      </p:sp>
      <p:sp>
        <p:nvSpPr>
          <p:cNvPr id="17" name="">
            <a:extLst xmlns:a="http://schemas.openxmlformats.org/drawingml/2006/main">
              <a:ext uri="{FF2B5EF4-FFF2-40B4-BE49-F238E27FC236}">
                <a16:creationId xmlns:a16="http://schemas.microsoft.com/office/drawing/2014/main" id="{CA3C2A64-75FC-4D7B-A0B0-FBAEA9818DBA}"/>
              </a:ext>
            </a:extLst>
          </p:cNvPr>
          <p:cNvSpPr>
            <a:spLocks xmlns:a="http://schemas.openxmlformats.org/drawingml/2006/main" noGrp="1"/>
          </p:cNvSpPr>
          <p:nvPr/>
        </p:nvSpPr>
        <p:spPr>
          <a:xfrm xmlns:a="http://schemas.openxmlformats.org/drawingml/2006/main">
            <a:off x="400050" y="38290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18" name="/api/search">
            <a:extLst xmlns:a="http://schemas.openxmlformats.org/drawingml/2006/main">
              <a:ext uri="{FF2B5EF4-FFF2-40B4-BE49-F238E27FC236}">
                <a16:creationId xmlns:a16="http://schemas.microsoft.com/office/drawing/2014/main" id="{18B3DE02-3F6C-48C5-9EB4-9B11F3F52126}"/>
              </a:ext>
            </a:extLst>
          </p:cNvPr>
          <p:cNvSpPr>
            <a:spLocks xmlns:a="http://schemas.openxmlformats.org/drawingml/2006/main" noGrp="1"/>
          </p:cNvSpPr>
          <p:nvPr/>
        </p:nvSpPr>
        <p:spPr>
          <a:xfrm xmlns:a="http://schemas.openxmlformats.org/drawingml/2006/main">
            <a:off x="400050" y="38957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/api/search</a:t>
            </a:r>
          </a:p>
        </p:txBody>
      </p:sp>
      <p:sp>
        <p:nvSpPr>
          <p:cNvPr id="19" name="Trois rôles">
            <a:extLst xmlns:a="http://schemas.openxmlformats.org/drawingml/2006/main">
              <a:ext uri="{FF2B5EF4-FFF2-40B4-BE49-F238E27FC236}">
                <a16:creationId xmlns:a16="http://schemas.microsoft.com/office/drawing/2014/main" id="{F7851903-D4BC-4A37-AE9A-B743B5C6A0BD}"/>
              </a:ext>
            </a:extLst>
          </p:cNvPr>
          <p:cNvSpPr>
            <a:spLocks xmlns:a="http://schemas.openxmlformats.org/drawingml/2006/main" noGrp="1"/>
          </p:cNvSpPr>
          <p:nvPr/>
        </p:nvSpPr>
        <p:spPr>
          <a:xfrm xmlns:a="http://schemas.openxmlformats.org/drawingml/2006/main">
            <a:off x="3114675" y="38957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Trois rôles</a:t>
            </a:r>
          </a:p>
        </p:txBody>
      </p:sp>
      <p:sp>
        <p:nvSpPr>
          <p:cNvPr id="20" name="Recherche plein texte">
            <a:extLst xmlns:a="http://schemas.openxmlformats.org/drawingml/2006/main">
              <a:ext uri="{FF2B5EF4-FFF2-40B4-BE49-F238E27FC236}">
                <a16:creationId xmlns:a16="http://schemas.microsoft.com/office/drawing/2014/main" id="{2A700150-7D79-4E81-968B-F685D71FCBEA}"/>
              </a:ext>
            </a:extLst>
          </p:cNvPr>
          <p:cNvSpPr>
            <a:spLocks xmlns:a="http://schemas.openxmlformats.org/drawingml/2006/main" noGrp="1"/>
          </p:cNvSpPr>
          <p:nvPr/>
        </p:nvSpPr>
        <p:spPr>
          <a:xfrm xmlns:a="http://schemas.openxmlformats.org/drawingml/2006/main">
            <a:off x="7210425" y="38957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Recherche plein texte</a:t>
            </a:r>
          </a:p>
        </p:txBody>
      </p:sp>
      <p:sp>
        <p:nvSpPr>
          <p:cNvPr id="21" name="">
            <a:extLst xmlns:a="http://schemas.openxmlformats.org/drawingml/2006/main">
              <a:ext uri="{FF2B5EF4-FFF2-40B4-BE49-F238E27FC236}">
                <a16:creationId xmlns:a16="http://schemas.microsoft.com/office/drawing/2014/main" id="{D8FED579-D018-414D-8733-9DEF617E685F}"/>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2" name="/api/predict">
            <a:extLst xmlns:a="http://schemas.openxmlformats.org/drawingml/2006/main">
              <a:ext uri="{FF2B5EF4-FFF2-40B4-BE49-F238E27FC236}">
                <a16:creationId xmlns:a16="http://schemas.microsoft.com/office/drawing/2014/main" id="{9E9F7938-1F11-48AD-9826-B44B233398B8}"/>
              </a:ext>
            </a:extLst>
          </p:cNvPr>
          <p:cNvSpPr>
            <a:spLocks xmlns:a="http://schemas.openxmlformats.org/drawingml/2006/main" noGrp="1"/>
          </p:cNvSpPr>
          <p:nvPr/>
        </p:nvSpPr>
        <p:spPr>
          <a:xfrm xmlns:a="http://schemas.openxmlformats.org/drawingml/2006/main">
            <a:off x="400050" y="46196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/api/predict</a:t>
            </a:r>
          </a:p>
        </p:txBody>
      </p:sp>
      <p:sp>
        <p:nvSpPr>
          <p:cNvPr id="23" name="Chercheur / sélectionneur">
            <a:extLst xmlns:a="http://schemas.openxmlformats.org/drawingml/2006/main">
              <a:ext uri="{FF2B5EF4-FFF2-40B4-BE49-F238E27FC236}">
                <a16:creationId xmlns:a16="http://schemas.microsoft.com/office/drawing/2014/main" id="{C721DA9F-B349-4E46-9778-BCEDE255A053}"/>
              </a:ext>
            </a:extLst>
          </p:cNvPr>
          <p:cNvSpPr>
            <a:spLocks xmlns:a="http://schemas.openxmlformats.org/drawingml/2006/main" noGrp="1"/>
          </p:cNvSpPr>
          <p:nvPr/>
        </p:nvSpPr>
        <p:spPr>
          <a:xfrm xmlns:a="http://schemas.openxmlformats.org/drawingml/2006/main">
            <a:off x="3114675" y="46196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Chercheur / sélectionneur</a:t>
            </a:r>
          </a:p>
        </p:txBody>
      </p:sp>
      <p:sp>
        <p:nvSpPr>
          <p:cNvPr id="24" name="POST JSON avec six variables">
            <a:extLst xmlns:a="http://schemas.openxmlformats.org/drawingml/2006/main">
              <a:ext uri="{FF2B5EF4-FFF2-40B4-BE49-F238E27FC236}">
                <a16:creationId xmlns:a16="http://schemas.microsoft.com/office/drawing/2014/main" id="{68CEA513-33C1-4EB4-BE1B-1F4CD2A94172}"/>
              </a:ext>
            </a:extLst>
          </p:cNvPr>
          <p:cNvSpPr>
            <a:spLocks xmlns:a="http://schemas.openxmlformats.org/drawingml/2006/main" noGrp="1"/>
          </p:cNvSpPr>
          <p:nvPr/>
        </p:nvSpPr>
        <p:spPr>
          <a:xfrm xmlns:a="http://schemas.openxmlformats.org/drawingml/2006/main">
            <a:off x="7210425" y="46196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POST JSON avec six variables</a:t>
            </a:r>
          </a:p>
        </p:txBody>
      </p:sp>
      <p:sp>
        <p:nvSpPr>
          <p:cNvPr id="25" name="">
            <a:extLst xmlns:a="http://schemas.openxmlformats.org/drawingml/2006/main">
              <a:ext uri="{FF2B5EF4-FFF2-40B4-BE49-F238E27FC236}">
                <a16:creationId xmlns:a16="http://schemas.microsoft.com/office/drawing/2014/main" id="{A2358A6E-7BAB-41DE-8BCF-75D119FBA8C6}"/>
              </a:ext>
            </a:extLst>
          </p:cNvPr>
          <p:cNvSpPr>
            <a:spLocks xmlns:a="http://schemas.openxmlformats.org/drawingml/2006/main" noGrp="1"/>
          </p:cNvSpPr>
          <p:nvPr/>
        </p:nvSpPr>
        <p:spPr>
          <a:xfrm xmlns:a="http://schemas.openxmlformats.org/drawingml/2006/main">
            <a:off x="400050" y="52768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26" name="Audit JSONL">
            <a:extLst xmlns:a="http://schemas.openxmlformats.org/drawingml/2006/main">
              <a:ext uri="{FF2B5EF4-FFF2-40B4-BE49-F238E27FC236}">
                <a16:creationId xmlns:a16="http://schemas.microsoft.com/office/drawing/2014/main" id="{AA09F20F-E515-49D2-BB70-E844B811E8ED}"/>
              </a:ext>
            </a:extLst>
          </p:cNvPr>
          <p:cNvSpPr>
            <a:spLocks xmlns:a="http://schemas.openxmlformats.org/drawingml/2006/main" noGrp="1"/>
          </p:cNvSpPr>
          <p:nvPr/>
        </p:nvSpPr>
        <p:spPr>
          <a:xfrm xmlns:a="http://schemas.openxmlformats.org/drawingml/2006/main">
            <a:off x="400050" y="534352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Audit JSONL</a:t>
            </a:r>
          </a:p>
        </p:txBody>
      </p:sp>
      <p:sp>
        <p:nvSpPr>
          <p:cNvPr id="27" name="Écriture locale">
            <a:extLst xmlns:a="http://schemas.openxmlformats.org/drawingml/2006/main">
              <a:ext uri="{FF2B5EF4-FFF2-40B4-BE49-F238E27FC236}">
                <a16:creationId xmlns:a16="http://schemas.microsoft.com/office/drawing/2014/main" id="{B77D7D6E-F062-4BD5-A02D-B53D0980AF47}"/>
              </a:ext>
            </a:extLst>
          </p:cNvPr>
          <p:cNvSpPr>
            <a:spLocks xmlns:a="http://schemas.openxmlformats.org/drawingml/2006/main" noGrp="1"/>
          </p:cNvSpPr>
          <p:nvPr/>
        </p:nvSpPr>
        <p:spPr>
          <a:xfrm xmlns:a="http://schemas.openxmlformats.org/drawingml/2006/main">
            <a:off x="3114675" y="53435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Écriture locale</a:t>
            </a:r>
          </a:p>
        </p:txBody>
      </p:sp>
      <p:sp>
        <p:nvSpPr>
          <p:cNvPr id="28" name="Rôle, action, statut et client">
            <a:extLst xmlns:a="http://schemas.openxmlformats.org/drawingml/2006/main">
              <a:ext uri="{FF2B5EF4-FFF2-40B4-BE49-F238E27FC236}">
                <a16:creationId xmlns:a16="http://schemas.microsoft.com/office/drawing/2014/main" id="{6047D27D-C143-44CE-BFFF-35E71A0DAA04}"/>
              </a:ext>
            </a:extLst>
          </p:cNvPr>
          <p:cNvSpPr>
            <a:spLocks xmlns:a="http://schemas.openxmlformats.org/drawingml/2006/main" noGrp="1"/>
          </p:cNvSpPr>
          <p:nvPr/>
        </p:nvSpPr>
        <p:spPr>
          <a:xfrm xmlns:a="http://schemas.openxmlformats.org/drawingml/2006/main">
            <a:off x="7210425" y="5343525"/>
            <a:ext cx="4391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800" b="0">
                <a:solidFill>
                  <a:srgbClr val="111111"/>
                </a:solidFill>
              </a:defRPr>
            </a:pPr>
            <a:r>
              <a:rPr sz="1800" b="0">
                <a:solidFill>
                  <a:srgbClr val="111111"/>
                </a:solidFill>
              </a:rPr>
              <a:t>Rôle, action, statut et client</a:t>
            </a:r>
          </a:p>
        </p:txBody>
      </p:sp>
    </p:spTree>
    <p:extLst>
      <p:ext uri="{BB962C8B-B14F-4D97-AF65-F5344CB8AC3E}">
        <p14:creationId xmlns:p14="http://schemas.microsoft.com/office/powerpoint/2010/main" val="127575696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11 · EXPLOITATION">
            <a:extLst xmlns:a="http://schemas.openxmlformats.org/drawingml/2006/main">
              <a:ext uri="{FF2B5EF4-FFF2-40B4-BE49-F238E27FC236}">
                <a16:creationId xmlns:a16="http://schemas.microsoft.com/office/drawing/2014/main" id="{A4B4B30D-9394-4DC9-8C73-1AC004F463D4}"/>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11 · EXPLOITATION</a:t>
            </a:r>
          </a:p>
        </p:txBody>
      </p:sp>
      <p:sp>
        <p:nvSpPr>
          <p:cNvPr id="2" name="La reprise exige des sorties cohérentes">
            <a:extLst xmlns:a="http://schemas.openxmlformats.org/drawingml/2006/main">
              <a:ext uri="{FF2B5EF4-FFF2-40B4-BE49-F238E27FC236}">
                <a16:creationId xmlns:a16="http://schemas.microsoft.com/office/drawing/2014/main" id="{E46EFE41-40EC-4ADC-B7D3-6D80E54E2EC4}"/>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La reprise exige des sorties cohérentes</a:t>
            </a:r>
          </a:p>
        </p:txBody>
      </p:sp>
      <p:sp>
        <p:nvSpPr>
          <p:cNvPr id="3" name="">
            <a:extLst xmlns:a="http://schemas.openxmlformats.org/drawingml/2006/main">
              <a:ext uri="{FF2B5EF4-FFF2-40B4-BE49-F238E27FC236}">
                <a16:creationId xmlns:a16="http://schemas.microsoft.com/office/drawing/2014/main" id="{DB72ED44-30F2-44E6-979C-62D66F670639}"/>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80387F08-F5AE-4A13-9B71-DC1980CC2015}"/>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21">
            <a:extLst xmlns:a="http://schemas.openxmlformats.org/drawingml/2006/main">
              <a:ext uri="{FF2B5EF4-FFF2-40B4-BE49-F238E27FC236}">
                <a16:creationId xmlns:a16="http://schemas.microsoft.com/office/drawing/2014/main" id="{DD1DB034-5791-4DF1-937D-1989C830579C}"/>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21</a:t>
            </a:r>
          </a:p>
        </p:txBody>
      </p:sp>
      <p:sp>
        <p:nvSpPr>
          <p:cNvPr id="6" name="Exécution complète">
            <a:extLst xmlns:a="http://schemas.openxmlformats.org/drawingml/2006/main">
              <a:ext uri="{FF2B5EF4-FFF2-40B4-BE49-F238E27FC236}">
                <a16:creationId xmlns:a16="http://schemas.microsoft.com/office/drawing/2014/main" id="{68CD953F-5F3E-4885-821C-62C02E218F86}"/>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Exécution complète</a:t>
            </a:r>
          </a:p>
        </p:txBody>
      </p:sp>
      <p:sp>
        <p:nvSpPr>
          <p:cNvPr id="7" name="python main.py recalcule les phases dans l’ordre.">
            <a:extLst xmlns:a="http://schemas.openxmlformats.org/drawingml/2006/main">
              <a:ext uri="{FF2B5EF4-FFF2-40B4-BE49-F238E27FC236}">
                <a16:creationId xmlns:a16="http://schemas.microsoft.com/office/drawing/2014/main" id="{CAD3C033-9D9F-4810-A8E9-54F224A4A2CF}"/>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python main.py recalcule les phases dans l’ordre.</a:t>
            </a:r>
          </a:p>
        </p:txBody>
      </p:sp>
      <p:sp>
        <p:nvSpPr>
          <p:cNvPr id="8" name="Chaque exception arrête la chaîne et produit un statut d’erreur.">
            <a:extLst xmlns:a="http://schemas.openxmlformats.org/drawingml/2006/main">
              <a:ext uri="{FF2B5EF4-FFF2-40B4-BE49-F238E27FC236}">
                <a16:creationId xmlns:a16="http://schemas.microsoft.com/office/drawing/2014/main" id="{9707608B-74DD-4F87-8ED3-8055CFE1826A}"/>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Chaque exception arrête la chaîne et produit un statut d’erreur.</a:t>
            </a:r>
          </a:p>
        </p:txBody>
      </p:sp>
      <p:sp>
        <p:nvSpPr>
          <p:cNvPr id="9" name="Spark est isolé pour libérer son contexte avant le ML.">
            <a:extLst xmlns:a="http://schemas.openxmlformats.org/drawingml/2006/main">
              <a:ext uri="{FF2B5EF4-FFF2-40B4-BE49-F238E27FC236}">
                <a16:creationId xmlns:a16="http://schemas.microsoft.com/office/drawing/2014/main" id="{1E5E527B-514D-4EB4-820E-E39BC6A556A8}"/>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Spark est isolé pour libérer son contexte avant le ML.</a:t>
            </a:r>
          </a:p>
        </p:txBody>
      </p:sp>
      <p:sp>
        <p:nvSpPr>
          <p:cNvPr id="10" name="Après incident">
            <a:extLst xmlns:a="http://schemas.openxmlformats.org/drawingml/2006/main">
              <a:ext uri="{FF2B5EF4-FFF2-40B4-BE49-F238E27FC236}">
                <a16:creationId xmlns:a16="http://schemas.microsoft.com/office/drawing/2014/main" id="{FC036381-CACF-4233-BE0E-FC9B28717AD2}"/>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Après incident</a:t>
            </a:r>
          </a:p>
        </p:txBody>
      </p:sp>
      <p:sp>
        <p:nvSpPr>
          <p:cNvPr id="11" name="Corriger la cause puis lancer main.py --resume.">
            <a:extLst xmlns:a="http://schemas.openxmlformats.org/drawingml/2006/main">
              <a:ext uri="{FF2B5EF4-FFF2-40B4-BE49-F238E27FC236}">
                <a16:creationId xmlns:a16="http://schemas.microsoft.com/office/drawing/2014/main" id="{EBD2A39B-57CA-41AC-8EF2-AF7FCFAC153A}"/>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Corriger la cause puis lancer main.py --resume.</a:t>
            </a:r>
          </a:p>
        </p:txBody>
      </p:sp>
      <p:sp>
        <p:nvSpPr>
          <p:cNvPr id="12" name="Les phases OK du checkpoint sont ignorées.">
            <a:extLst xmlns:a="http://schemas.openxmlformats.org/drawingml/2006/main">
              <a:ext uri="{FF2B5EF4-FFF2-40B4-BE49-F238E27FC236}">
                <a16:creationId xmlns:a16="http://schemas.microsoft.com/office/drawing/2014/main" id="{7AF3207D-E013-4BC5-9C0B-2A821DB983EC}"/>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phases OK du checkpoint sont ignorées.</a:t>
            </a:r>
          </a:p>
        </p:txBody>
      </p:sp>
      <p:sp>
        <p:nvSpPr>
          <p:cNvPr id="13" name="Après changement des sources : effectuer une exécution complète.">
            <a:extLst xmlns:a="http://schemas.openxmlformats.org/drawingml/2006/main">
              <a:ext uri="{FF2B5EF4-FFF2-40B4-BE49-F238E27FC236}">
                <a16:creationId xmlns:a16="http://schemas.microsoft.com/office/drawing/2014/main" id="{FFE6EABC-2DD2-462B-A40C-8286E83A1AE1}"/>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Après changement des sources : effectuer une exécution complète.</a:t>
            </a:r>
          </a:p>
        </p:txBody>
      </p:sp>
    </p:spTree>
    <p:extLst>
      <p:ext uri="{BB962C8B-B14F-4D97-AF65-F5344CB8AC3E}">
        <p14:creationId xmlns:p14="http://schemas.microsoft.com/office/powerpoint/2010/main" val="498398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11 · VÉRIFICATION">
            <a:extLst xmlns:a="http://schemas.openxmlformats.org/drawingml/2006/main">
              <a:ext uri="{FF2B5EF4-FFF2-40B4-BE49-F238E27FC236}">
                <a16:creationId xmlns:a16="http://schemas.microsoft.com/office/drawing/2014/main" id="{0D25C15F-70E8-4761-8491-3FA710F3E199}"/>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11 · VÉRIFICATION</a:t>
            </a:r>
          </a:p>
        </p:txBody>
      </p:sp>
      <p:sp>
        <p:nvSpPr>
          <p:cNvPr id="2" name="Vérifier le résultat de bout en bout">
            <a:extLst xmlns:a="http://schemas.openxmlformats.org/drawingml/2006/main">
              <a:ext uri="{FF2B5EF4-FFF2-40B4-BE49-F238E27FC236}">
                <a16:creationId xmlns:a16="http://schemas.microsoft.com/office/drawing/2014/main" id="{7E91F980-DA19-4919-A93C-0B7DC23EEA21}"/>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Vérifier le résultat de bout en bout</a:t>
            </a:r>
          </a:p>
        </p:txBody>
      </p:sp>
      <p:sp>
        <p:nvSpPr>
          <p:cNvPr id="3" name="">
            <a:extLst xmlns:a="http://schemas.openxmlformats.org/drawingml/2006/main">
              <a:ext uri="{FF2B5EF4-FFF2-40B4-BE49-F238E27FC236}">
                <a16:creationId xmlns:a16="http://schemas.microsoft.com/office/drawing/2014/main" id="{AC0F8B3A-6709-4325-8DE2-68ED3214FCAC}"/>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A23D3640-C1F1-4381-BFCE-A4540EEB7E66}"/>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22">
            <a:extLst xmlns:a="http://schemas.openxmlformats.org/drawingml/2006/main">
              <a:ext uri="{FF2B5EF4-FFF2-40B4-BE49-F238E27FC236}">
                <a16:creationId xmlns:a16="http://schemas.microsoft.com/office/drawing/2014/main" id="{B7EAC751-A59A-49B1-B7E5-4ACDCFB810D2}"/>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22</a:t>
            </a:r>
          </a:p>
        </p:txBody>
      </p:sp>
      <p:sp>
        <p:nvSpPr>
          <p:cNvPr id="6" name="Contrats et intégration">
            <a:extLst xmlns:a="http://schemas.openxmlformats.org/drawingml/2006/main">
              <a:ext uri="{FF2B5EF4-FFF2-40B4-BE49-F238E27FC236}">
                <a16:creationId xmlns:a16="http://schemas.microsoft.com/office/drawing/2014/main" id="{6F280109-7265-4143-A383-1DBAF8B6A5F0}"/>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Contrats et intégration</a:t>
            </a:r>
          </a:p>
        </p:txBody>
      </p:sp>
      <p:sp>
        <p:nvSpPr>
          <p:cNvPr id="7" name="Contrôler les clés, volumes et catégories inconnues.">
            <a:extLst xmlns:a="http://schemas.openxmlformats.org/drawingml/2006/main">
              <a:ext uri="{FF2B5EF4-FFF2-40B4-BE49-F238E27FC236}">
                <a16:creationId xmlns:a16="http://schemas.microsoft.com/office/drawing/2014/main" id="{A13CA14A-2F4F-4019-BF5F-F1218476BC64}"/>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Contrôler les clés, volumes et catégories inconnues.</a:t>
            </a:r>
          </a:p>
        </p:txBody>
      </p:sp>
      <p:sp>
        <p:nvSpPr>
          <p:cNvPr id="8" name="Valider SQL, événements, catalogue et modèles.">
            <a:extLst xmlns:a="http://schemas.openxmlformats.org/drawingml/2006/main">
              <a:ext uri="{FF2B5EF4-FFF2-40B4-BE49-F238E27FC236}">
                <a16:creationId xmlns:a16="http://schemas.microsoft.com/office/drawing/2014/main" id="{5EB627B9-7647-425A-A26F-4D7150B6A82A}"/>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Valider SQL, événements, catalogue et modèles.</a:t>
            </a:r>
          </a:p>
        </p:txBody>
      </p:sp>
      <p:sp>
        <p:nvSpPr>
          <p:cNvPr id="9" name="Tester les réponses HTTP et les rôles de l’API.">
            <a:extLst xmlns:a="http://schemas.openxmlformats.org/drawingml/2006/main">
              <a:ext uri="{FF2B5EF4-FFF2-40B4-BE49-F238E27FC236}">
                <a16:creationId xmlns:a16="http://schemas.microsoft.com/office/drawing/2014/main" id="{F4E3002A-5F52-43CD-9B0D-76C312C241B7}"/>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Tester les réponses HTTP et les rôles de l’API.</a:t>
            </a:r>
          </a:p>
        </p:txBody>
      </p:sp>
      <p:sp>
        <p:nvSpPr>
          <p:cNvPr id="10" name="Démonstration">
            <a:extLst xmlns:a="http://schemas.openxmlformats.org/drawingml/2006/main">
              <a:ext uri="{FF2B5EF4-FFF2-40B4-BE49-F238E27FC236}">
                <a16:creationId xmlns:a16="http://schemas.microsoft.com/office/drawing/2014/main" id="{69B629BD-9737-4D05-BEB1-D724BEA407A7}"/>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Démonstration</a:t>
            </a:r>
          </a:p>
        </p:txBody>
      </p:sp>
      <p:sp>
        <p:nvSpPr>
          <p:cNvPr id="11" name="Exiger 17 phases OK dans pipeline_run.json.">
            <a:extLst xmlns:a="http://schemas.openxmlformats.org/drawingml/2006/main">
              <a:ext uri="{FF2B5EF4-FFF2-40B4-BE49-F238E27FC236}">
                <a16:creationId xmlns:a16="http://schemas.microsoft.com/office/drawing/2014/main" id="{82B243B5-5AA2-4C97-8709-2B414A0932AA}"/>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Exiger 17 phases OK dans pipeline_run.json.</a:t>
            </a:r>
          </a:p>
        </p:txBody>
      </p:sp>
      <p:sp>
        <p:nvSpPr>
          <p:cNvPr id="12" name="Ouvrir les tableaux via HTTP et vérifier les filtres.">
            <a:extLst xmlns:a="http://schemas.openxmlformats.org/drawingml/2006/main">
              <a:ext uri="{FF2B5EF4-FFF2-40B4-BE49-F238E27FC236}">
                <a16:creationId xmlns:a16="http://schemas.microsoft.com/office/drawing/2014/main" id="{5C653A92-3F3A-40D5-A910-B35B4D580A74}"/>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Ouvrir les tableaux via HTTP et vérifier les filtres.</a:t>
            </a:r>
          </a:p>
        </p:txBody>
      </p:sp>
      <p:sp>
        <p:nvSpPr>
          <p:cNvPr id="13" name="Lire le PPTX ; conserver les fichiers du dashboard.">
            <a:extLst xmlns:a="http://schemas.openxmlformats.org/drawingml/2006/main">
              <a:ext uri="{FF2B5EF4-FFF2-40B4-BE49-F238E27FC236}">
                <a16:creationId xmlns:a16="http://schemas.microsoft.com/office/drawing/2014/main" id="{0D9A0B1E-3F70-4410-B5E4-4BBFB4C939D5}"/>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Lire le PPTX ; conserver les fichiers du dashboard.</a:t>
            </a:r>
          </a:p>
        </p:txBody>
      </p:sp>
    </p:spTree>
    <p:extLst>
      <p:ext uri="{BB962C8B-B14F-4D97-AF65-F5344CB8AC3E}">
        <p14:creationId xmlns:p14="http://schemas.microsoft.com/office/powerpoint/2010/main" val="139478994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12 · INDUSTRIALISATION">
            <a:extLst xmlns:a="http://schemas.openxmlformats.org/drawingml/2006/main">
              <a:ext uri="{FF2B5EF4-FFF2-40B4-BE49-F238E27FC236}">
                <a16:creationId xmlns:a16="http://schemas.microsoft.com/office/drawing/2014/main" id="{43A8DB10-7A0E-4CF4-A5D3-75E7C7824BA1}"/>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12 · INDUSTRIALISATION</a:t>
            </a:r>
          </a:p>
        </p:txBody>
      </p:sp>
      <p:sp>
        <p:nvSpPr>
          <p:cNvPr id="2" name="Les limites guident les prochaines étapes">
            <a:extLst xmlns:a="http://schemas.openxmlformats.org/drawingml/2006/main">
              <a:ext uri="{FF2B5EF4-FFF2-40B4-BE49-F238E27FC236}">
                <a16:creationId xmlns:a16="http://schemas.microsoft.com/office/drawing/2014/main" id="{ACB8D372-F582-45E0-8610-07E1F8797667}"/>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Les limites guident les prochaines étapes</a:t>
            </a:r>
          </a:p>
        </p:txBody>
      </p:sp>
      <p:sp>
        <p:nvSpPr>
          <p:cNvPr id="3" name="">
            <a:extLst xmlns:a="http://schemas.openxmlformats.org/drawingml/2006/main">
              <a:ext uri="{FF2B5EF4-FFF2-40B4-BE49-F238E27FC236}">
                <a16:creationId xmlns:a16="http://schemas.microsoft.com/office/drawing/2014/main" id="{4FC93B6F-76C7-4651-A684-AACC56ECD55E}"/>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7AA6E28B-7076-464E-8982-DC1D72206228}"/>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23">
            <a:extLst xmlns:a="http://schemas.openxmlformats.org/drawingml/2006/main">
              <a:ext uri="{FF2B5EF4-FFF2-40B4-BE49-F238E27FC236}">
                <a16:creationId xmlns:a16="http://schemas.microsoft.com/office/drawing/2014/main" id="{72AC4F6D-A839-4B1B-9F11-C1C902B223C7}"/>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23</a:t>
            </a:r>
          </a:p>
        </p:txBody>
      </p:sp>
      <p:sp>
        <p:nvSpPr>
          <p:cNvPr id="6" name="Données et science">
            <a:extLst xmlns:a="http://schemas.openxmlformats.org/drawingml/2006/main">
              <a:ext uri="{FF2B5EF4-FFF2-40B4-BE49-F238E27FC236}">
                <a16:creationId xmlns:a16="http://schemas.microsoft.com/office/drawing/2014/main" id="{831472F5-C32B-430F-BA1E-229CC9B4908A}"/>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Données et science</a:t>
            </a:r>
          </a:p>
        </p:txBody>
      </p:sp>
      <p:sp>
        <p:nvSpPr>
          <p:cNvPr id="7" name="Météo, sol et conduite culturale manquent.">
            <a:extLst xmlns:a="http://schemas.openxmlformats.org/drawingml/2006/main">
              <a:ext uri="{FF2B5EF4-FFF2-40B4-BE49-F238E27FC236}">
                <a16:creationId xmlns:a16="http://schemas.microsoft.com/office/drawing/2014/main" id="{0975E70D-F5DE-4959-9855-BE5ECBB99A7A}"/>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Météo, sol et conduite culturale manquent.</a:t>
            </a:r>
          </a:p>
        </p:txBody>
      </p:sp>
      <p:sp>
        <p:nvSpPr>
          <p:cNvPr id="8" name="Les codes d’espèces non résolus demandent une validation.">
            <a:extLst xmlns:a="http://schemas.openxmlformats.org/drawingml/2006/main">
              <a:ext uri="{FF2B5EF4-FFF2-40B4-BE49-F238E27FC236}">
                <a16:creationId xmlns:a16="http://schemas.microsoft.com/office/drawing/2014/main" id="{19473995-F0B5-464A-A637-42E7FF550AE4}"/>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codes d’espèces non résolus demandent une validation.</a:t>
            </a:r>
          </a:p>
        </p:txBody>
      </p:sp>
      <p:sp>
        <p:nvSpPr>
          <p:cNvPr id="9" name="Les seuils et modèles nécessitent une expertise agronomique.">
            <a:extLst xmlns:a="http://schemas.openxmlformats.org/drawingml/2006/main">
              <a:ext uri="{FF2B5EF4-FFF2-40B4-BE49-F238E27FC236}">
                <a16:creationId xmlns:a16="http://schemas.microsoft.com/office/drawing/2014/main" id="{D3DC39DC-7BE1-49A1-BF6E-76575AB5393C}"/>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Les seuils et modèles nécessitent une expertise agronomique.</a:t>
            </a:r>
          </a:p>
        </p:txBody>
      </p:sp>
      <p:sp>
        <p:nvSpPr>
          <p:cNvPr id="10" name="Exploitation">
            <a:extLst xmlns:a="http://schemas.openxmlformats.org/drawingml/2006/main">
              <a:ext uri="{FF2B5EF4-FFF2-40B4-BE49-F238E27FC236}">
                <a16:creationId xmlns:a16="http://schemas.microsoft.com/office/drawing/2014/main" id="{690A6209-879C-4368-88E0-22211212A7E1}"/>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Exploitation</a:t>
            </a:r>
          </a:p>
        </p:txBody>
      </p:sp>
      <p:sp>
        <p:nvSpPr>
          <p:cNvPr id="11" name="Pas de cluster distribué ni de haute disponibilité.">
            <a:extLst xmlns:a="http://schemas.openxmlformats.org/drawingml/2006/main">
              <a:ext uri="{FF2B5EF4-FFF2-40B4-BE49-F238E27FC236}">
                <a16:creationId xmlns:a16="http://schemas.microsoft.com/office/drawing/2014/main" id="{3F184806-D229-4671-86D9-056614673D60}"/>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Pas de cluster distribué ni de haute disponibilité.</a:t>
            </a:r>
          </a:p>
        </p:txBody>
      </p:sp>
      <p:sp>
        <p:nvSpPr>
          <p:cNvPr id="12" name="Clés locales : pas de SSO, TLS ou coffre de secrets intégré.">
            <a:extLst xmlns:a="http://schemas.openxmlformats.org/drawingml/2006/main">
              <a:ext uri="{FF2B5EF4-FFF2-40B4-BE49-F238E27FC236}">
                <a16:creationId xmlns:a16="http://schemas.microsoft.com/office/drawing/2014/main" id="{0793A7EA-F78C-4F50-84C8-4EA1281CF09B}"/>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Clés locales : pas de SSO, TLS ou coffre de secrets intégré.</a:t>
            </a:r>
          </a:p>
        </p:txBody>
      </p:sp>
      <p:sp>
        <p:nvSpPr>
          <p:cNvPr id="13" name="Dashboards éditoriaux et lineage nécessitent une maintenance.">
            <a:extLst xmlns:a="http://schemas.openxmlformats.org/drawingml/2006/main">
              <a:ext uri="{FF2B5EF4-FFF2-40B4-BE49-F238E27FC236}">
                <a16:creationId xmlns:a16="http://schemas.microsoft.com/office/drawing/2014/main" id="{5C5896C4-953A-4D79-95EC-8C9FF5A0B735}"/>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Dashboards éditoriaux et lineage nécessitent une maintenance.</a:t>
            </a:r>
          </a:p>
        </p:txBody>
      </p:sp>
    </p:spTree>
    <p:extLst>
      <p:ext uri="{BB962C8B-B14F-4D97-AF65-F5344CB8AC3E}">
        <p14:creationId xmlns:p14="http://schemas.microsoft.com/office/powerpoint/2010/main" val="21557496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12 · INDUSTRIALISATION">
            <a:extLst xmlns:a="http://schemas.openxmlformats.org/drawingml/2006/main">
              <a:ext uri="{FF2B5EF4-FFF2-40B4-BE49-F238E27FC236}">
                <a16:creationId xmlns:a16="http://schemas.microsoft.com/office/drawing/2014/main" id="{DD5A3025-2B32-48A0-A19F-8D8C87F05274}"/>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12 · INDUSTRIALISATION</a:t>
            </a:r>
          </a:p>
        </p:txBody>
      </p:sp>
      <p:sp>
        <p:nvSpPr>
          <p:cNvPr id="2" name="Une évolution en trois étapes">
            <a:extLst xmlns:a="http://schemas.openxmlformats.org/drawingml/2006/main">
              <a:ext uri="{FF2B5EF4-FFF2-40B4-BE49-F238E27FC236}">
                <a16:creationId xmlns:a16="http://schemas.microsoft.com/office/drawing/2014/main" id="{0906DF1D-A6D8-4C84-86D0-B9B3C7DCE4EC}"/>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Une évolution en trois étapes</a:t>
            </a:r>
          </a:p>
        </p:txBody>
      </p:sp>
      <p:sp>
        <p:nvSpPr>
          <p:cNvPr id="3" name="">
            <a:extLst xmlns:a="http://schemas.openxmlformats.org/drawingml/2006/main">
              <a:ext uri="{FF2B5EF4-FFF2-40B4-BE49-F238E27FC236}">
                <a16:creationId xmlns:a16="http://schemas.microsoft.com/office/drawing/2014/main" id="{9E0138AF-F918-4C73-9E9E-7FFC5C13326F}"/>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37BA25FD-D9C8-46C3-A9AE-0708291EA4D4}"/>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24">
            <a:extLst xmlns:a="http://schemas.openxmlformats.org/drawingml/2006/main">
              <a:ext uri="{FF2B5EF4-FFF2-40B4-BE49-F238E27FC236}">
                <a16:creationId xmlns:a16="http://schemas.microsoft.com/office/drawing/2014/main" id="{C1A22F8B-2756-48B6-98F0-E51A0F5EABE9}"/>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24</a:t>
            </a:r>
          </a:p>
        </p:txBody>
      </p:sp>
      <p:sp>
        <p:nvSpPr>
          <p:cNvPr id="6" name="">
            <a:extLst xmlns:a="http://schemas.openxmlformats.org/drawingml/2006/main">
              <a:ext uri="{FF2B5EF4-FFF2-40B4-BE49-F238E27FC236}">
                <a16:creationId xmlns:a16="http://schemas.microsoft.com/office/drawing/2014/main" id="{EAC158EA-DB42-4984-8428-0CDF743B61DA}"/>
              </a:ext>
            </a:extLst>
          </p:cNvPr>
          <p:cNvSpPr>
            <a:spLocks xmlns:a="http://schemas.openxmlformats.org/drawingml/2006/main" noGrp="1"/>
          </p:cNvSpPr>
          <p:nvPr/>
        </p:nvSpPr>
        <p:spPr>
          <a:xfrm xmlns:a="http://schemas.openxmlformats.org/drawingml/2006/main">
            <a:off x="400050" y="3333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7" name="Prototype">
            <a:extLst xmlns:a="http://schemas.openxmlformats.org/drawingml/2006/main">
              <a:ext uri="{FF2B5EF4-FFF2-40B4-BE49-F238E27FC236}">
                <a16:creationId xmlns:a16="http://schemas.microsoft.com/office/drawing/2014/main" id="{474FCC00-7F80-466A-8551-93ADDB2AA164}"/>
              </a:ext>
            </a:extLst>
          </p:cNvPr>
          <p:cNvSpPr>
            <a:spLocks xmlns:a="http://schemas.openxmlformats.org/drawingml/2006/main" noGrp="1"/>
          </p:cNvSpPr>
          <p:nvPr/>
        </p:nvSpPr>
        <p:spPr>
          <a:xfrm xmlns:a="http://schemas.openxmlformats.org/drawingml/2006/main">
            <a:off x="40005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Prototype</a:t>
            </a:r>
          </a:p>
        </p:txBody>
      </p:sp>
      <p:sp>
        <p:nvSpPr>
          <p:cNvPr id="8" name="Reproduire">
            <a:extLst xmlns:a="http://schemas.openxmlformats.org/drawingml/2006/main">
              <a:ext uri="{FF2B5EF4-FFF2-40B4-BE49-F238E27FC236}">
                <a16:creationId xmlns:a16="http://schemas.microsoft.com/office/drawing/2014/main" id="{9BCEBBD0-65F3-469B-B6A4-8136FC2BD1C0}"/>
              </a:ext>
            </a:extLst>
          </p:cNvPr>
          <p:cNvSpPr>
            <a:spLocks xmlns:a="http://schemas.openxmlformats.org/drawingml/2006/main" noGrp="1"/>
          </p:cNvSpPr>
          <p:nvPr/>
        </p:nvSpPr>
        <p:spPr>
          <a:xfrm xmlns:a="http://schemas.openxmlformats.org/drawingml/2006/main">
            <a:off x="40005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Reproduire</a:t>
            </a:r>
          </a:p>
        </p:txBody>
      </p:sp>
      <p:sp>
        <p:nvSpPr>
          <p:cNvPr id="9" name="Données locales, contrôle qualité, analyses et démonstration.">
            <a:extLst xmlns:a="http://schemas.openxmlformats.org/drawingml/2006/main">
              <a:ext uri="{FF2B5EF4-FFF2-40B4-BE49-F238E27FC236}">
                <a16:creationId xmlns:a16="http://schemas.microsoft.com/office/drawing/2014/main" id="{6AA59F7A-3327-48B3-8997-24B0802C440F}"/>
              </a:ext>
            </a:extLst>
          </p:cNvPr>
          <p:cNvSpPr>
            <a:spLocks xmlns:a="http://schemas.openxmlformats.org/drawingml/2006/main" noGrp="1"/>
          </p:cNvSpPr>
          <p:nvPr/>
        </p:nvSpPr>
        <p:spPr>
          <a:xfrm xmlns:a="http://schemas.openxmlformats.org/drawingml/2006/main">
            <a:off x="40005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Données locales, contrôle qualité, analyses et démonstration.</a:t>
            </a:r>
          </a:p>
        </p:txBody>
      </p:sp>
      <p:sp>
        <p:nvSpPr>
          <p:cNvPr id="10" name="Préproduction">
            <a:extLst xmlns:a="http://schemas.openxmlformats.org/drawingml/2006/main">
              <a:ext uri="{FF2B5EF4-FFF2-40B4-BE49-F238E27FC236}">
                <a16:creationId xmlns:a16="http://schemas.microsoft.com/office/drawing/2014/main" id="{47A14197-0DBA-4F0B-B6DF-F6CB6DF4610C}"/>
              </a:ext>
            </a:extLst>
          </p:cNvPr>
          <p:cNvSpPr>
            <a:spLocks xmlns:a="http://schemas.openxmlformats.org/drawingml/2006/main" noGrp="1"/>
          </p:cNvSpPr>
          <p:nvPr/>
        </p:nvSpPr>
        <p:spPr>
          <a:xfrm xmlns:a="http://schemas.openxmlformats.org/drawingml/2006/main">
            <a:off x="4314825"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Préproduction</a:t>
            </a:r>
          </a:p>
        </p:txBody>
      </p:sp>
      <p:sp>
        <p:nvSpPr>
          <p:cNvPr id="11" name="Intégrer">
            <a:extLst xmlns:a="http://schemas.openxmlformats.org/drawingml/2006/main">
              <a:ext uri="{FF2B5EF4-FFF2-40B4-BE49-F238E27FC236}">
                <a16:creationId xmlns:a16="http://schemas.microsoft.com/office/drawing/2014/main" id="{59647757-F398-46A3-A2AE-4924CB4609C8}"/>
              </a:ext>
            </a:extLst>
          </p:cNvPr>
          <p:cNvSpPr>
            <a:spLocks xmlns:a="http://schemas.openxmlformats.org/drawingml/2006/main" noGrp="1"/>
          </p:cNvSpPr>
          <p:nvPr/>
        </p:nvSpPr>
        <p:spPr>
          <a:xfrm xmlns:a="http://schemas.openxmlformats.org/drawingml/2006/main">
            <a:off x="4314825"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Intégrer</a:t>
            </a:r>
          </a:p>
        </p:txBody>
      </p:sp>
      <p:sp>
        <p:nvSpPr>
          <p:cNvPr id="12" name="Services persistants, données météo/sol et tests de reprise.">
            <a:extLst xmlns:a="http://schemas.openxmlformats.org/drawingml/2006/main">
              <a:ext uri="{FF2B5EF4-FFF2-40B4-BE49-F238E27FC236}">
                <a16:creationId xmlns:a16="http://schemas.microsoft.com/office/drawing/2014/main" id="{7BBB5772-DADE-4EE5-B5FD-D811C31D09CF}"/>
              </a:ext>
            </a:extLst>
          </p:cNvPr>
          <p:cNvSpPr>
            <a:spLocks xmlns:a="http://schemas.openxmlformats.org/drawingml/2006/main" noGrp="1"/>
          </p:cNvSpPr>
          <p:nvPr/>
        </p:nvSpPr>
        <p:spPr>
          <a:xfrm xmlns:a="http://schemas.openxmlformats.org/drawingml/2006/main">
            <a:off x="4314825"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Services persistants, données météo/sol et tests de reprise.</a:t>
            </a:r>
          </a:p>
        </p:txBody>
      </p:sp>
      <p:sp>
        <p:nvSpPr>
          <p:cNvPr id="13" name="Production">
            <a:extLst xmlns:a="http://schemas.openxmlformats.org/drawingml/2006/main">
              <a:ext uri="{FF2B5EF4-FFF2-40B4-BE49-F238E27FC236}">
                <a16:creationId xmlns:a16="http://schemas.microsoft.com/office/drawing/2014/main" id="{1E877AF3-D32C-4288-B7F6-1C3F70FB29A6}"/>
              </a:ext>
            </a:extLst>
          </p:cNvPr>
          <p:cNvSpPr>
            <a:spLocks xmlns:a="http://schemas.openxmlformats.org/drawingml/2006/main" noGrp="1"/>
          </p:cNvSpPr>
          <p:nvPr/>
        </p:nvSpPr>
        <p:spPr>
          <a:xfrm xmlns:a="http://schemas.openxmlformats.org/drawingml/2006/main">
            <a:off x="8229600" y="2571750"/>
            <a:ext cx="3486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000" b="1">
                <a:solidFill>
                  <a:srgbClr val="2475AC"/>
                </a:solidFill>
              </a:defRPr>
            </a:pPr>
            <a:r>
              <a:rPr sz="3000" b="1">
                <a:solidFill>
                  <a:srgbClr val="2475AC"/>
                </a:solidFill>
              </a:rPr>
              <a:t>Production</a:t>
            </a:r>
          </a:p>
        </p:txBody>
      </p:sp>
      <p:sp>
        <p:nvSpPr>
          <p:cNvPr id="14" name="Exploiter">
            <a:extLst xmlns:a="http://schemas.openxmlformats.org/drawingml/2006/main">
              <a:ext uri="{FF2B5EF4-FFF2-40B4-BE49-F238E27FC236}">
                <a16:creationId xmlns:a16="http://schemas.microsoft.com/office/drawing/2014/main" id="{34FC93C6-25FD-4125-86F0-57093BE61E4B}"/>
              </a:ext>
            </a:extLst>
          </p:cNvPr>
          <p:cNvSpPr>
            <a:spLocks xmlns:a="http://schemas.openxmlformats.org/drawingml/2006/main" noGrp="1"/>
          </p:cNvSpPr>
          <p:nvPr/>
        </p:nvSpPr>
        <p:spPr>
          <a:xfrm xmlns:a="http://schemas.openxmlformats.org/drawingml/2006/main">
            <a:off x="8229600" y="3743325"/>
            <a:ext cx="3486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Exploiter</a:t>
            </a:r>
          </a:p>
        </p:txBody>
      </p:sp>
      <p:sp>
        <p:nvSpPr>
          <p:cNvPr id="15" name="SSO/TLS, supervision, sauvegardes et validation métier.">
            <a:extLst xmlns:a="http://schemas.openxmlformats.org/drawingml/2006/main">
              <a:ext uri="{FF2B5EF4-FFF2-40B4-BE49-F238E27FC236}">
                <a16:creationId xmlns:a16="http://schemas.microsoft.com/office/drawing/2014/main" id="{4A81D773-12D9-4704-BE7D-4F1A511BEC7F}"/>
              </a:ext>
            </a:extLst>
          </p:cNvPr>
          <p:cNvSpPr>
            <a:spLocks xmlns:a="http://schemas.openxmlformats.org/drawingml/2006/main" noGrp="1"/>
          </p:cNvSpPr>
          <p:nvPr/>
        </p:nvSpPr>
        <p:spPr>
          <a:xfrm xmlns:a="http://schemas.openxmlformats.org/drawingml/2006/main">
            <a:off x="8229600" y="4514850"/>
            <a:ext cx="34861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SSO/TLS, supervision, sauvegardes et validation métier.</a:t>
            </a:r>
          </a:p>
        </p:txBody>
      </p:sp>
    </p:spTree>
    <p:extLst>
      <p:ext uri="{BB962C8B-B14F-4D97-AF65-F5344CB8AC3E}">
        <p14:creationId xmlns:p14="http://schemas.microsoft.com/office/powerpoint/2010/main" val="14911398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13 · PRISE EN MAIN">
            <a:extLst xmlns:a="http://schemas.openxmlformats.org/drawingml/2006/main">
              <a:ext uri="{FF2B5EF4-FFF2-40B4-BE49-F238E27FC236}">
                <a16:creationId xmlns:a16="http://schemas.microsoft.com/office/drawing/2014/main" id="{012ADA01-567F-4E6D-B16C-6D221F4630F0}"/>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13 · PRISE EN MAIN</a:t>
            </a:r>
          </a:p>
        </p:txBody>
      </p:sp>
      <p:sp>
        <p:nvSpPr>
          <p:cNvPr id="2" name="Un parcours de démonstration reproductible">
            <a:extLst xmlns:a="http://schemas.openxmlformats.org/drawingml/2006/main">
              <a:ext uri="{FF2B5EF4-FFF2-40B4-BE49-F238E27FC236}">
                <a16:creationId xmlns:a16="http://schemas.microsoft.com/office/drawing/2014/main" id="{5C5D3196-BF09-4320-A62E-FC4286931153}"/>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Un parcours de démonstration reproductible</a:t>
            </a:r>
          </a:p>
        </p:txBody>
      </p:sp>
      <p:sp>
        <p:nvSpPr>
          <p:cNvPr id="3" name="">
            <a:extLst xmlns:a="http://schemas.openxmlformats.org/drawingml/2006/main">
              <a:ext uri="{FF2B5EF4-FFF2-40B4-BE49-F238E27FC236}">
                <a16:creationId xmlns:a16="http://schemas.microsoft.com/office/drawing/2014/main" id="{0A4BFBC7-9600-4613-89E6-EBC1273F2CF8}"/>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8EFBD3F4-596A-43FC-AAF2-8BAF9819B950}"/>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25">
            <a:extLst xmlns:a="http://schemas.openxmlformats.org/drawingml/2006/main">
              <a:ext uri="{FF2B5EF4-FFF2-40B4-BE49-F238E27FC236}">
                <a16:creationId xmlns:a16="http://schemas.microsoft.com/office/drawing/2014/main" id="{B4A433B3-97BC-4644-B4EB-81D402311518}"/>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25</a:t>
            </a:r>
          </a:p>
        </p:txBody>
      </p:sp>
      <p:sp>
        <p:nvSpPr>
          <p:cNvPr id="6" name="Préparer">
            <a:extLst xmlns:a="http://schemas.openxmlformats.org/drawingml/2006/main">
              <a:ext uri="{FF2B5EF4-FFF2-40B4-BE49-F238E27FC236}">
                <a16:creationId xmlns:a16="http://schemas.microsoft.com/office/drawing/2014/main" id="{1D3A613F-55A6-4661-B6FF-D5F2239832DB}"/>
              </a:ext>
            </a:extLst>
          </p:cNvPr>
          <p:cNvSpPr>
            <a:spLocks xmlns:a="http://schemas.openxmlformats.org/drawingml/2006/main" noGrp="1"/>
          </p:cNvSpPr>
          <p:nvPr/>
        </p:nvSpPr>
        <p:spPr>
          <a:xfrm xmlns:a="http://schemas.openxmlformats.org/drawingml/2006/main">
            <a:off x="400050"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Préparer</a:t>
            </a:r>
          </a:p>
        </p:txBody>
      </p:sp>
      <p:sp>
        <p:nvSpPr>
          <p:cNvPr id="7" name="Installer les dépendances Python et R.">
            <a:extLst xmlns:a="http://schemas.openxmlformats.org/drawingml/2006/main">
              <a:ext uri="{FF2B5EF4-FFF2-40B4-BE49-F238E27FC236}">
                <a16:creationId xmlns:a16="http://schemas.microsoft.com/office/drawing/2014/main" id="{8E5B8607-8A8C-4EC9-83B5-B7BF9730B544}"/>
              </a:ext>
            </a:extLst>
          </p:cNvPr>
          <p:cNvSpPr>
            <a:spLocks xmlns:a="http://schemas.openxmlformats.org/drawingml/2006/main" noGrp="1"/>
          </p:cNvSpPr>
          <p:nvPr/>
        </p:nvSpPr>
        <p:spPr>
          <a:xfrm xmlns:a="http://schemas.openxmlformats.org/drawingml/2006/main">
            <a:off x="400050"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Installer les dépendances Python et R.</a:t>
            </a:r>
          </a:p>
        </p:txBody>
      </p:sp>
      <p:sp>
        <p:nvSpPr>
          <p:cNvPr id="8" name="Lancer main.py puis la suite de tests.">
            <a:extLst xmlns:a="http://schemas.openxmlformats.org/drawingml/2006/main">
              <a:ext uri="{FF2B5EF4-FFF2-40B4-BE49-F238E27FC236}">
                <a16:creationId xmlns:a16="http://schemas.microsoft.com/office/drawing/2014/main" id="{18BC0729-3433-47F6-9E4E-ECF2B4E7DA73}"/>
              </a:ext>
            </a:extLst>
          </p:cNvPr>
          <p:cNvSpPr>
            <a:spLocks xmlns:a="http://schemas.openxmlformats.org/drawingml/2006/main" noGrp="1"/>
          </p:cNvSpPr>
          <p:nvPr/>
        </p:nvSpPr>
        <p:spPr>
          <a:xfrm xmlns:a="http://schemas.openxmlformats.org/drawingml/2006/main">
            <a:off x="400050"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Lancer main.py puis la suite de tests.</a:t>
            </a:r>
          </a:p>
        </p:txBody>
      </p:sp>
      <p:sp>
        <p:nvSpPr>
          <p:cNvPr id="9" name="Démarrer le serveur HTTP sur le port 8000.">
            <a:extLst xmlns:a="http://schemas.openxmlformats.org/drawingml/2006/main">
              <a:ext uri="{FF2B5EF4-FFF2-40B4-BE49-F238E27FC236}">
                <a16:creationId xmlns:a16="http://schemas.microsoft.com/office/drawing/2014/main" id="{03AE2E8F-D36B-4891-BC47-59451E3EC54A}"/>
              </a:ext>
            </a:extLst>
          </p:cNvPr>
          <p:cNvSpPr>
            <a:spLocks xmlns:a="http://schemas.openxmlformats.org/drawingml/2006/main" noGrp="1"/>
          </p:cNvSpPr>
          <p:nvPr/>
        </p:nvSpPr>
        <p:spPr>
          <a:xfrm xmlns:a="http://schemas.openxmlformats.org/drawingml/2006/main">
            <a:off x="400050"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Démarrer le serveur HTTP sur le port 8000.</a:t>
            </a:r>
          </a:p>
        </p:txBody>
      </p:sp>
      <p:sp>
        <p:nvSpPr>
          <p:cNvPr id="10" name="Montrer">
            <a:extLst xmlns:a="http://schemas.openxmlformats.org/drawingml/2006/main">
              <a:ext uri="{FF2B5EF4-FFF2-40B4-BE49-F238E27FC236}">
                <a16:creationId xmlns:a16="http://schemas.microsoft.com/office/drawing/2014/main" id="{03AE68CF-28F8-46E5-B3E4-9FE15F8F7312}"/>
              </a:ext>
            </a:extLst>
          </p:cNvPr>
          <p:cNvSpPr>
            <a:spLocks xmlns:a="http://schemas.openxmlformats.org/drawingml/2006/main" noGrp="1"/>
          </p:cNvSpPr>
          <p:nvPr/>
        </p:nvSpPr>
        <p:spPr>
          <a:xfrm xmlns:a="http://schemas.openxmlformats.org/drawingml/2006/main">
            <a:off x="6257925" y="205740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400" b="1">
                <a:solidFill>
                  <a:srgbClr val="111111"/>
                </a:solidFill>
              </a:defRPr>
            </a:pPr>
            <a:r>
              <a:rPr sz="2400" b="1">
                <a:solidFill>
                  <a:srgbClr val="111111"/>
                </a:solidFill>
              </a:rPr>
              <a:t>Montrer</a:t>
            </a:r>
          </a:p>
        </p:txBody>
      </p:sp>
      <p:sp>
        <p:nvSpPr>
          <p:cNvPr id="11" name="Parcourir portail, tableaux et carte.">
            <a:extLst xmlns:a="http://schemas.openxmlformats.org/drawingml/2006/main">
              <a:ext uri="{FF2B5EF4-FFF2-40B4-BE49-F238E27FC236}">
                <a16:creationId xmlns:a16="http://schemas.microsoft.com/office/drawing/2014/main" id="{9886DC8E-48A9-4331-A611-2B0EA7BD253F}"/>
              </a:ext>
            </a:extLst>
          </p:cNvPr>
          <p:cNvSpPr>
            <a:spLocks xmlns:a="http://schemas.openxmlformats.org/drawingml/2006/main" noGrp="1"/>
          </p:cNvSpPr>
          <p:nvPr/>
        </p:nvSpPr>
        <p:spPr>
          <a:xfrm xmlns:a="http://schemas.openxmlformats.org/drawingml/2006/main">
            <a:off x="6257925" y="280035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Parcourir portail, tableaux et carte.</a:t>
            </a:r>
          </a:p>
        </p:txBody>
      </p:sp>
      <p:sp>
        <p:nvSpPr>
          <p:cNvPr id="12" name="Démarrer platform_api.py et rechercher Soja.">
            <a:extLst xmlns:a="http://schemas.openxmlformats.org/drawingml/2006/main">
              <a:ext uri="{FF2B5EF4-FFF2-40B4-BE49-F238E27FC236}">
                <a16:creationId xmlns:a16="http://schemas.microsoft.com/office/drawing/2014/main" id="{185D4349-0ABD-496E-AEA1-CC328B4A3231}"/>
              </a:ext>
            </a:extLst>
          </p:cNvPr>
          <p:cNvSpPr>
            <a:spLocks xmlns:a="http://schemas.openxmlformats.org/drawingml/2006/main" noGrp="1"/>
          </p:cNvSpPr>
          <p:nvPr/>
        </p:nvSpPr>
        <p:spPr>
          <a:xfrm xmlns:a="http://schemas.openxmlformats.org/drawingml/2006/main">
            <a:off x="6257925" y="374332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Démarrer platform_api.py et rechercher Soja.</a:t>
            </a:r>
          </a:p>
        </p:txBody>
      </p:sp>
      <p:sp>
        <p:nvSpPr>
          <p:cNvPr id="13" name="Expliquer une prédiction puis ses limites.">
            <a:extLst xmlns:a="http://schemas.openxmlformats.org/drawingml/2006/main">
              <a:ext uri="{FF2B5EF4-FFF2-40B4-BE49-F238E27FC236}">
                <a16:creationId xmlns:a16="http://schemas.microsoft.com/office/drawing/2014/main" id="{F6FD0B8D-607D-4293-B96F-D12D5438D73F}"/>
              </a:ext>
            </a:extLst>
          </p:cNvPr>
          <p:cNvSpPr>
            <a:spLocks xmlns:a="http://schemas.openxmlformats.org/drawingml/2006/main" noGrp="1"/>
          </p:cNvSpPr>
          <p:nvPr/>
        </p:nvSpPr>
        <p:spPr>
          <a:xfrm xmlns:a="http://schemas.openxmlformats.org/drawingml/2006/main">
            <a:off x="6257925" y="4686300"/>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950" b="0">
                <a:solidFill>
                  <a:srgbClr val="111111"/>
                </a:solidFill>
              </a:defRPr>
            </a:pPr>
            <a:r>
              <a:rPr sz="1950" b="0">
                <a:solidFill>
                  <a:srgbClr val="111111"/>
                </a:solidFill>
              </a:rPr>
              <a:t>Expliquer une prédiction puis ses limites.</a:t>
            </a:r>
          </a:p>
        </p:txBody>
      </p:sp>
    </p:spTree>
    <p:extLst>
      <p:ext uri="{BB962C8B-B14F-4D97-AF65-F5344CB8AC3E}">
        <p14:creationId xmlns:p14="http://schemas.microsoft.com/office/powerpoint/2010/main" val="1545205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14 · CONCLUSION">
            <a:extLst xmlns:a="http://schemas.openxmlformats.org/drawingml/2006/main">
              <a:ext uri="{FF2B5EF4-FFF2-40B4-BE49-F238E27FC236}">
                <a16:creationId xmlns:a16="http://schemas.microsoft.com/office/drawing/2014/main" id="{F1251985-95F8-45FE-9C95-524ED19226E4}"/>
              </a:ext>
            </a:extLst>
          </p:cNvPr>
          <p:cNvSpPr>
            <a:spLocks xmlns:a="http://schemas.openxmlformats.org/drawingml/2006/main" noGrp="1"/>
          </p:cNvSpPr>
          <p:nvPr/>
        </p:nvSpPr>
        <p:spPr>
          <a:xfrm xmlns:a="http://schemas.openxmlformats.org/drawingml/2006/main">
            <a:off x="40005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1">
                <a:solidFill>
                  <a:srgbClr val="525860"/>
                </a:solidFill>
              </a:defRPr>
            </a:pPr>
            <a:r>
              <a:rPr sz="1650" b="1">
                <a:solidFill>
                  <a:srgbClr val="525860"/>
                </a:solidFill>
              </a:rPr>
              <a:t>14 · CONCLUSION</a:t>
            </a:r>
          </a:p>
        </p:txBody>
      </p:sp>
      <p:sp>
        <p:nvSpPr>
          <p:cNvPr id="2" name="Une base vérifiable pour le groupe">
            <a:extLst xmlns:a="http://schemas.openxmlformats.org/drawingml/2006/main">
              <a:ext uri="{FF2B5EF4-FFF2-40B4-BE49-F238E27FC236}">
                <a16:creationId xmlns:a16="http://schemas.microsoft.com/office/drawing/2014/main" id="{6DE2E481-C19B-48B1-85DC-C126B520F937}"/>
              </a:ext>
            </a:extLst>
          </p:cNvPr>
          <p:cNvSpPr>
            <a:spLocks xmlns:a="http://schemas.openxmlformats.org/drawingml/2006/main" noGrp="1"/>
          </p:cNvSpPr>
          <p:nvPr/>
        </p:nvSpPr>
        <p:spPr>
          <a:xfrm xmlns:a="http://schemas.openxmlformats.org/drawingml/2006/main">
            <a:off x="400050" y="742950"/>
            <a:ext cx="11391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3600" b="1">
                <a:solidFill>
                  <a:srgbClr val="111111"/>
                </a:solidFill>
              </a:defRPr>
            </a:pPr>
            <a:r>
              <a:rPr sz="3600" b="1">
                <a:solidFill>
                  <a:srgbClr val="111111"/>
                </a:solidFill>
              </a:rPr>
              <a:t>Une base vérifiable pour le groupe</a:t>
            </a:r>
          </a:p>
        </p:txBody>
      </p:sp>
      <p:sp>
        <p:nvSpPr>
          <p:cNvPr id="3" name="">
            <a:extLst xmlns:a="http://schemas.openxmlformats.org/drawingml/2006/main">
              <a:ext uri="{FF2B5EF4-FFF2-40B4-BE49-F238E27FC236}">
                <a16:creationId xmlns:a16="http://schemas.microsoft.com/office/drawing/2014/main" id="{047CA6C3-2695-41F2-96DA-CFB5ADDC9DA3}"/>
              </a:ext>
            </a:extLst>
          </p:cNvPr>
          <p:cNvSpPr>
            <a:spLocks xmlns:a="http://schemas.openxmlformats.org/drawingml/2006/main" noGrp="1"/>
          </p:cNvSpPr>
          <p:nvPr/>
        </p:nvSpPr>
        <p:spPr>
          <a:xfrm xmlns:a="http://schemas.openxmlformats.org/drawingml/2006/main">
            <a:off x="400050" y="62293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ln>
        </p:spPr>
      </p:sp>
      <p:sp>
        <p:nvSpPr>
          <p:cNvPr id="4" name="SEMENCES R&amp;D · PROJET DE GROUPE">
            <a:extLst xmlns:a="http://schemas.openxmlformats.org/drawingml/2006/main">
              <a:ext uri="{FF2B5EF4-FFF2-40B4-BE49-F238E27FC236}">
                <a16:creationId xmlns:a16="http://schemas.microsoft.com/office/drawing/2014/main" id="{4087AAE9-ED5F-4F2B-BA10-6111AB14303C}"/>
              </a:ext>
            </a:extLst>
          </p:cNvPr>
          <p:cNvSpPr>
            <a:spLocks xmlns:a="http://schemas.openxmlformats.org/drawingml/2006/main" noGrp="1"/>
          </p:cNvSpPr>
          <p:nvPr/>
        </p:nvSpPr>
        <p:spPr>
          <a:xfrm xmlns:a="http://schemas.openxmlformats.org/drawingml/2006/main">
            <a:off x="400050" y="64103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SEMENCES R&amp;D · PROJET DE GROUPE</a:t>
            </a:r>
          </a:p>
        </p:txBody>
      </p:sp>
      <p:sp>
        <p:nvSpPr>
          <p:cNvPr id="5" name="26">
            <a:extLst xmlns:a="http://schemas.openxmlformats.org/drawingml/2006/main">
              <a:ext uri="{FF2B5EF4-FFF2-40B4-BE49-F238E27FC236}">
                <a16:creationId xmlns:a16="http://schemas.microsoft.com/office/drawing/2014/main" id="{84D880FF-D6CD-4EA1-A018-CEB5BE8A472F}"/>
              </a:ext>
            </a:extLst>
          </p:cNvPr>
          <p:cNvSpPr>
            <a:spLocks xmlns:a="http://schemas.openxmlformats.org/drawingml/2006/main" noGrp="1"/>
          </p:cNvSpPr>
          <p:nvPr/>
        </p:nvSpPr>
        <p:spPr>
          <a:xfrm xmlns:a="http://schemas.openxmlformats.org/drawingml/2006/main">
            <a:off x="11239500" y="64103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1650" b="0">
                <a:solidFill>
                  <a:srgbClr val="525860"/>
                </a:solidFill>
              </a:defRPr>
            </a:pPr>
            <a:r>
              <a:rPr sz="1650" b="0">
                <a:solidFill>
                  <a:srgbClr val="525860"/>
                </a:solidFill>
              </a:rPr>
              <a:t>26</a:t>
            </a:r>
          </a:p>
        </p:txBody>
      </p:sp>
      <p:sp>
        <p:nvSpPr>
          <p:cNvPr id="6" name="Centraliser. Expliquer. Reproduire.">
            <a:extLst xmlns:a="http://schemas.openxmlformats.org/drawingml/2006/main">
              <a:ext uri="{FF2B5EF4-FFF2-40B4-BE49-F238E27FC236}">
                <a16:creationId xmlns:a16="http://schemas.microsoft.com/office/drawing/2014/main" id="{78DBD733-2E79-4129-97AA-574A6231C72A}"/>
              </a:ext>
            </a:extLst>
          </p:cNvPr>
          <p:cNvSpPr>
            <a:spLocks xmlns:a="http://schemas.openxmlformats.org/drawingml/2006/main" noGrp="1"/>
          </p:cNvSpPr>
          <p:nvPr/>
        </p:nvSpPr>
        <p:spPr>
          <a:xfrm xmlns:a="http://schemas.openxmlformats.org/drawingml/2006/main">
            <a:off x="400050" y="2314575"/>
            <a:ext cx="113919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4950" b="1">
                <a:solidFill>
                  <a:srgbClr val="111111"/>
                </a:solidFill>
              </a:defRPr>
            </a:pPr>
            <a:r>
              <a:rPr sz="4950" b="1">
                <a:solidFill>
                  <a:srgbClr val="111111"/>
                </a:solidFill>
              </a:rPr>
              <a:t>Centraliser. Expliquer. Reproduire.</a:t>
            </a:r>
          </a:p>
        </p:txBody>
      </p:sp>
      <p:sp>
        <p:nvSpPr>
          <p:cNvPr id="7" name="Une chaîne locale documentée, des résultats traçables et une traj">
            <a:extLst xmlns:a="http://schemas.openxmlformats.org/drawingml/2006/main">
              <a:ext uri="{FF2B5EF4-FFF2-40B4-BE49-F238E27FC236}">
                <a16:creationId xmlns:a16="http://schemas.microsoft.com/office/drawing/2014/main" id="{D33B7CB2-1BA4-4A97-9E35-BC33134EFEEA}"/>
              </a:ext>
            </a:extLst>
          </p:cNvPr>
          <p:cNvSpPr>
            <a:spLocks xmlns:a="http://schemas.openxmlformats.org/drawingml/2006/main" noGrp="1"/>
          </p:cNvSpPr>
          <p:nvPr/>
        </p:nvSpPr>
        <p:spPr>
          <a:xfrm xmlns:a="http://schemas.openxmlformats.org/drawingml/2006/main">
            <a:off x="400050" y="424815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p xmlns:a="http://schemas.openxmlformats.org/drawingml/2006/main">
            <a:pPr>
              <a:defRPr sz="2700" b="0">
                <a:solidFill>
                  <a:srgbClr val="111111"/>
                </a:solidFill>
              </a:defRPr>
            </a:pPr>
            <a:r>
              <a:rPr sz="2700" b="0">
                <a:solidFill>
                  <a:srgbClr val="111111"/>
                </a:solidFill>
              </a:rPr>
              <a:t>Une chaîne locale documentée, des résultats traçables et une trajectoire d’industrialisation explicite.</a:t>
            </a:r>
          </a:p>
        </p:txBody>
      </p:sp>
    </p:spTree>
    <p:extLst>
      <p:ext uri="{BB962C8B-B14F-4D97-AF65-F5344CB8AC3E}">
        <p14:creationId xmlns:p14="http://schemas.microsoft.com/office/powerpoint/2010/main" val="16672236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Équipe Semences</dc:creator>
  <lastModifiedBy>Walnut Exporter</lastModifiedBy>
  <dc:title>Presentation</dc:title>
  <dcterms:created xsi:type="dcterms:W3CDTF">2026-09-12T23:00:35.1890000Z</dcterms:created>
  <dcterms:modified xsi:type="dcterms:W3CDTF">2026-09-12T23:00:35.1890000Z</dcterms:modified>
</coreProperties>
</file>