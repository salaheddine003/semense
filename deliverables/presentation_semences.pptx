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543D"/>
                </a:solidFill>
              </a:defRPr>
            </a:pPr>
            <a:r>
              <a:t>Plateforme Big Data agricole SEMENCE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5A5A5A"/>
                </a:solidFill>
              </a:defRPr>
            </a:pPr>
            <a:r>
              <a:t>Prototype fonctionnel pour le pôle Recherche &amp; Développement</a:t>
            </a:r>
          </a:p>
        </p:txBody>
      </p:sp>
      <p:pic>
        <p:nvPicPr>
          <p:cNvPr id="4" name="Picture 3" descr="architecture_big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17320"/>
            <a:ext cx="10698480" cy="461211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543D"/>
                </a:solidFill>
              </a:defRPr>
            </a:pPr>
            <a:r>
              <a:t>Contexte et objectifs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/>
            </a:pPr>
            <a:r>
              <a:t>Centraliser les données culturales et génétiques dans un Data Lake zoné.</a:t>
            </a:r>
          </a:p>
          <a:p>
            <a:pPr>
              <a:spcAft>
                <a:spcPts val="1400"/>
              </a:spcAft>
              <a:defRPr sz="2000"/>
            </a:pPr>
            <a:r>
              <a:t>Garantir qualité, traçabilité, recherche et accès statistique depuis R.</a:t>
            </a:r>
          </a:p>
          <a:p>
            <a:pPr>
              <a:spcAft>
                <a:spcPts val="1400"/>
              </a:spcAft>
              <a:defRPr sz="2000"/>
            </a:pPr>
            <a:r>
              <a:t>Produire indicateurs, graphes, géolocalisation et prédictions culturales.</a:t>
            </a:r>
          </a:p>
          <a:p>
            <a:pPr>
              <a:spcAft>
                <a:spcPts val="1400"/>
              </a:spcAft>
              <a:defRPr sz="2000"/>
            </a:pPr>
            <a:r>
              <a:t>Préparer l'arrivée de données météo et d'images issues des drones.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543D"/>
                </a:solidFill>
              </a:defRPr>
            </a:pPr>
            <a:r>
              <a:t>Données et gouvernance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/>
            </a:pPr>
            <a:r>
              <a:t>136,358 mesures et 2,116 essais.</a:t>
            </a:r>
          </a:p>
          <a:p>
            <a:pPr>
              <a:spcAft>
                <a:spcPts val="1400"/>
              </a:spcAft>
              <a:defRPr sz="2000"/>
            </a:pPr>
            <a:r>
              <a:t>28,697 matériels génétiques catalogués.</a:t>
            </a:r>
          </a:p>
          <a:p>
            <a:pPr>
              <a:spcAft>
                <a:spcPts val="1400"/>
              </a:spcAft>
              <a:defRPr sz="2000"/>
            </a:pPr>
            <a:r>
              <a:t>Catalogue de métadonnées, moteur de recherche FTS et lineage de bout en bout.</a:t>
            </a:r>
          </a:p>
          <a:p>
            <a:pPr>
              <a:spcAft>
                <a:spcPts val="1400"/>
              </a:spcAft>
              <a:defRPr sz="2000"/>
            </a:pPr>
            <a:r>
              <a:t>32 lignes mises en quarantaine.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543D"/>
                </a:solidFill>
              </a:defRPr>
            </a:pPr>
            <a:r>
              <a:t>Analyses et restitution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/>
            </a:pPr>
            <a:r>
              <a:t>Analyses Python, PySpark et Rscript avec ANOVA.</a:t>
            </a:r>
          </a:p>
          <a:p>
            <a:pPr>
              <a:spcAft>
                <a:spcPts val="1400"/>
              </a:spcAft>
              <a:defRPr sz="2000"/>
            </a:pPr>
            <a:r>
              <a:t>Dashboard consolidé et carte interactive Folium.</a:t>
            </a:r>
          </a:p>
          <a:p>
            <a:pPr>
              <a:spcAft>
                <a:spcPts val="1400"/>
              </a:spcAft>
              <a:defRPr sz="2000"/>
            </a:pPr>
            <a:r>
              <a:t>Requêtes analytiques Hive et Drill adaptées au prototype local.</a:t>
            </a:r>
          </a:p>
          <a:p>
            <a:pPr>
              <a:spcAft>
                <a:spcPts val="1400"/>
              </a:spcAft>
              <a:defRPr sz="2000"/>
            </a:pPr>
            <a:r>
              <a:t>API protégée pour santé, catalogue, recherche et prédiction.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543D"/>
                </a:solidFill>
              </a:defRPr>
            </a:pPr>
            <a:r>
              <a:t>Modèle prédictif sans fuite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/>
            </a:pPr>
            <a:r>
              <a:t>Cible : rendement YD15QH; classe élevée à partir de 80 q/ha.</a:t>
            </a:r>
          </a:p>
          <a:p>
            <a:pPr>
              <a:spcAft>
                <a:spcPts val="1400"/>
              </a:spcAft>
              <a:defRPr sz="2000"/>
            </a:pPr>
            <a:r>
              <a:t>GroupKFold par essai sur 2015-2017 et test final temporel 2018.</a:t>
            </a:r>
          </a:p>
          <a:p>
            <a:pPr>
              <a:spcAft>
                <a:spcPts val="1400"/>
              </a:spcAft>
              <a:defRPr sz="2000"/>
            </a:pPr>
            <a:r>
              <a:t>Variables postérieures et identifiants mémorisables exclus.</a:t>
            </a:r>
          </a:p>
          <a:p>
            <a:pPr>
              <a:spcAft>
                <a:spcPts val="1400"/>
              </a:spcAft>
              <a:defRPr sz="2000"/>
            </a:pPr>
            <a:r>
              <a:t>MAE=13.2904 · RMSE=16.9167 · R²=0.4548.</a:t>
            </a:r>
          </a:p>
          <a:p>
            <a:pPr>
              <a:spcAft>
                <a:spcPts val="1400"/>
              </a:spcAft>
              <a:defRPr sz="2000"/>
            </a:pPr>
            <a:r>
              <a:t>Accuracy=0.7551 · Précision=0.6587 · Rappel=0.9106 · F1=0.7645.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543D"/>
                </a:solidFill>
              </a:defRPr>
            </a:pPr>
            <a:r>
              <a:t>Exploitation et sécurité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/>
            </a:pPr>
            <a:r>
              <a:t>Checkpoint et reprise explicite avec python main.py --resume.</a:t>
            </a:r>
          </a:p>
          <a:p>
            <a:pPr>
              <a:spcAft>
                <a:spcPts val="1400"/>
              </a:spcAft>
              <a:defRPr sz="2000"/>
            </a:pPr>
            <a:r>
              <a:t>RBAC local : chercheur, sélectionneur et opérateur.</a:t>
            </a:r>
          </a:p>
          <a:p>
            <a:pPr>
              <a:spcAft>
                <a:spcPts val="1400"/>
              </a:spcAft>
              <a:defRPr sz="2000"/>
            </a:pPr>
            <a:r>
              <a:t>Journal d'audit API et historique des exécutions.</a:t>
            </a:r>
          </a:p>
          <a:p>
            <a:pPr>
              <a:spcAft>
                <a:spcPts val="1400"/>
              </a:spcAft>
              <a:defRPr sz="2000"/>
            </a:pPr>
            <a:r>
              <a:t>Cible production : TLS, SSO, coffre de secrets, Prometheus/Grafana et haute disponibilité.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543D"/>
                </a:solidFill>
              </a:defRPr>
            </a:pPr>
            <a:r>
              <a:t>Limites et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/>
            </a:pPr>
            <a:r>
              <a:t>Acquérir météo, sol et conduite culturale pour améliorer la généralisation.</a:t>
            </a:r>
          </a:p>
          <a:p>
            <a:pPr>
              <a:spcAft>
                <a:spcPts val="1400"/>
              </a:spcAft>
              <a:defRPr sz="2000"/>
            </a:pPr>
            <a:r>
              <a:t>Déployer les services distribués sur une infrastructure de préproduction.</a:t>
            </a:r>
          </a:p>
          <a:p>
            <a:pPr>
              <a:spcAft>
                <a:spcPts val="1400"/>
              </a:spcAft>
              <a:defRPr sz="2000"/>
            </a:pPr>
            <a:r>
              <a:t>Valider les seuils et les résultats avec un expert agronome.</a:t>
            </a:r>
          </a:p>
          <a:p>
            <a:pPr>
              <a:spcAft>
                <a:spcPts val="1400"/>
              </a:spcAft>
              <a:defRPr sz="2000"/>
            </a:pPr>
            <a:r>
              <a:t>Industrialiser sécurité, sauvegardes, supervision et tests de charge.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