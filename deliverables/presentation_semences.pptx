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8b67a0f06c548f5" /><Relationship Type="http://schemas.openxmlformats.org/officeDocument/2006/relationships/extended-properties" Target="/docProps/app.xml" Id="Rc10c1a63d3934255" /><Relationship Type="http://schemas.openxmlformats.org/officeDocument/2006/relationships/officeDocument" Target="/ppt/presentation.xml" Id="R6db4812980634064" /></Relationships>
</file>

<file path=ppt/presentation.xml><?xml version="1.0" encoding="utf-8"?>
<p:presentation xmlns:p="http://schemas.openxmlformats.org/presentationml/2006/main">
  <p:sldMasterIdLst>
    <p:sldMasterId xmlns:r="http://schemas.openxmlformats.org/officeDocument/2006/relationships" id="2147483648" r:id="Rb06f92c239034816"/>
  </p:sldMasterIdLst>
  <p:notesMasterIdLst>
    <p:notesMasterId xmlns:r="http://schemas.openxmlformats.org/officeDocument/2006/relationships" r:id="R7f7e8a62e57c434e"/>
  </p:notesMasterIdLst>
  <p:sldIdLst>
    <p:sldId xmlns:r="http://schemas.openxmlformats.org/officeDocument/2006/relationships" id="256" r:id="Rde2c9462408c42a8"/>
    <p:sldId xmlns:r="http://schemas.openxmlformats.org/officeDocument/2006/relationships" id="257" r:id="Redc297e0f85b452d"/>
    <p:sldId xmlns:r="http://schemas.openxmlformats.org/officeDocument/2006/relationships" id="258" r:id="R18d138cf8caa4f31"/>
    <p:sldId xmlns:r="http://schemas.openxmlformats.org/officeDocument/2006/relationships" id="259" r:id="R80b4431ace8a4d79"/>
    <p:sldId xmlns:r="http://schemas.openxmlformats.org/officeDocument/2006/relationships" id="260" r:id="Rcc6b2f51ef044aff"/>
    <p:sldId xmlns:r="http://schemas.openxmlformats.org/officeDocument/2006/relationships" id="261" r:id="Rab7699648bcd416a"/>
    <p:sldId xmlns:r="http://schemas.openxmlformats.org/officeDocument/2006/relationships" id="262" r:id="R5091628bcba94997"/>
    <p:sldId xmlns:r="http://schemas.openxmlformats.org/officeDocument/2006/relationships" id="263" r:id="Ra4e8b83a4ad34e0e"/>
    <p:sldId xmlns:r="http://schemas.openxmlformats.org/officeDocument/2006/relationships" id="264" r:id="R210663e9882a4977"/>
    <p:sldId xmlns:r="http://schemas.openxmlformats.org/officeDocument/2006/relationships" id="265" r:id="Rb0f0e59eb74741fa"/>
    <p:sldId xmlns:r="http://schemas.openxmlformats.org/officeDocument/2006/relationships" id="266" r:id="R1d6a2fa3a1334577"/>
    <p:sldId xmlns:r="http://schemas.openxmlformats.org/officeDocument/2006/relationships" id="267" r:id="R9eaf86b6bfc34fd6"/>
    <p:sldId xmlns:r="http://schemas.openxmlformats.org/officeDocument/2006/relationships" id="268" r:id="Rf99c91149155493b"/>
    <p:sldId xmlns:r="http://schemas.openxmlformats.org/officeDocument/2006/relationships" id="269" r:id="R42d7e1fb438046fe"/>
    <p:sldId xmlns:r="http://schemas.openxmlformats.org/officeDocument/2006/relationships" id="270" r:id="Rd5fa1f506f7448ee"/>
    <p:sldId xmlns:r="http://schemas.openxmlformats.org/officeDocument/2006/relationships" id="271" r:id="R5355ba6bd7e6491a"/>
    <p:sldId xmlns:r="http://schemas.openxmlformats.org/officeDocument/2006/relationships" id="272" r:id="R53b143ab50a94fb4"/>
    <p:sldId xmlns:r="http://schemas.openxmlformats.org/officeDocument/2006/relationships" id="273" r:id="Ra12e8c0f1d974dc0"/>
    <p:sldId xmlns:r="http://schemas.openxmlformats.org/officeDocument/2006/relationships" id="274" r:id="R87d2c134639d4106"/>
    <p:sldId xmlns:r="http://schemas.openxmlformats.org/officeDocument/2006/relationships" id="275" r:id="R19994bbdd2d74943"/>
    <p:sldId xmlns:r="http://schemas.openxmlformats.org/officeDocument/2006/relationships" id="276" r:id="Rf56fde49098f4ac4"/>
    <p:sldId xmlns:r="http://schemas.openxmlformats.org/officeDocument/2006/relationships" id="277" r:id="R5cee02fc0a13411d"/>
    <p:sldId xmlns:r="http://schemas.openxmlformats.org/officeDocument/2006/relationships" id="278" r:id="Rc0d452279e9349cd"/>
    <p:sldId xmlns:r="http://schemas.openxmlformats.org/officeDocument/2006/relationships" id="279" r:id="R436b7cdcc6544ff6"/>
    <p:sldId xmlns:r="http://schemas.openxmlformats.org/officeDocument/2006/relationships" id="280" r:id="R3fc70b04bdf648ca"/>
    <p:sldId xmlns:r="http://schemas.openxmlformats.org/officeDocument/2006/relationships" id="281" r:id="Radea613bbae945cf"/>
    <p:sldId xmlns:r="http://schemas.openxmlformats.org/officeDocument/2006/relationships" id="282" r:id="R8badd8b7d9a64227"/>
    <p:sldId xmlns:r="http://schemas.openxmlformats.org/officeDocument/2006/relationships" id="283" r:id="R88ba28fdc4cb4713"/>
    <p:sldId xmlns:r="http://schemas.openxmlformats.org/officeDocument/2006/relationships" id="284" r:id="Rd28778aee0c54eb0"/>
    <p:sldId xmlns:r="http://schemas.openxmlformats.org/officeDocument/2006/relationships" id="285" r:id="R37bd8649fc8d46ae"/>
    <p:sldId xmlns:r="http://schemas.openxmlformats.org/officeDocument/2006/relationships" id="286" r:id="R61667bb1dc044239"/>
    <p:sldId xmlns:r="http://schemas.openxmlformats.org/officeDocument/2006/relationships" id="287" r:id="R75bd42840e3e477c"/>
    <p:sldId xmlns:r="http://schemas.openxmlformats.org/officeDocument/2006/relationships" id="288" r:id="Rf90dd13044924382"/>
    <p:sldId xmlns:r="http://schemas.openxmlformats.org/officeDocument/2006/relationships" id="289" r:id="R8d923639e16f48af"/>
    <p:sldId xmlns:r="http://schemas.openxmlformats.org/officeDocument/2006/relationships" id="290" r:id="Rd5acca242f4b48d2"/>
    <p:sldId xmlns:r="http://schemas.openxmlformats.org/officeDocument/2006/relationships" id="291" r:id="R09c2dc05ef214b4e"/>
    <p:sldId xmlns:r="http://schemas.openxmlformats.org/officeDocument/2006/relationships" id="292" r:id="R67c44b9b72ec4702"/>
    <p:sldId xmlns:r="http://schemas.openxmlformats.org/officeDocument/2006/relationships" id="293" r:id="R2015de64c88f47e7"/>
    <p:sldId xmlns:r="http://schemas.openxmlformats.org/officeDocument/2006/relationships" id="294" r:id="Ra6c6ad87efc74d19"/>
    <p:sldId xmlns:r="http://schemas.openxmlformats.org/officeDocument/2006/relationships" id="295" r:id="Rb3a8a5e295b9465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0f98c56fab54aa4" /><Relationship Type="http://schemas.openxmlformats.org/officeDocument/2006/relationships/slideMaster" Target="/ppt/slideMasters/slideMaster1.xml" Id="Rb06f92c239034816" /><Relationship Type="http://schemas.openxmlformats.org/officeDocument/2006/relationships/notesMaster" Target="/ppt/notesMasters/notesMaster1.xml" Id="R7f7e8a62e57c434e" /><Relationship Type="http://schemas.openxmlformats.org/officeDocument/2006/relationships/presProps" Target="/ppt/presProps.xml" Id="R7532993aa5474abf" /><Relationship Type="http://schemas.openxmlformats.org/officeDocument/2006/relationships/tableStyles" Target="/ppt/tableStyles.xml" Id="R0ea710a29e684be3" /><Relationship Type="http://schemas.openxmlformats.org/officeDocument/2006/relationships/slide" Target="/ppt/slides/slide1.xml" Id="Rde2c9462408c42a8" /><Relationship Type="http://schemas.openxmlformats.org/officeDocument/2006/relationships/slide" Target="/ppt/slides/slide2.xml" Id="Redc297e0f85b452d" /><Relationship Type="http://schemas.openxmlformats.org/officeDocument/2006/relationships/slide" Target="/ppt/slides/slide3.xml" Id="R18d138cf8caa4f31" /><Relationship Type="http://schemas.openxmlformats.org/officeDocument/2006/relationships/slide" Target="/ppt/slides/slide4.xml" Id="R80b4431ace8a4d79" /><Relationship Type="http://schemas.openxmlformats.org/officeDocument/2006/relationships/slide" Target="/ppt/slides/slide5.xml" Id="Rcc6b2f51ef044aff" /><Relationship Type="http://schemas.openxmlformats.org/officeDocument/2006/relationships/slide" Target="/ppt/slides/slide6.xml" Id="Rab7699648bcd416a" /><Relationship Type="http://schemas.openxmlformats.org/officeDocument/2006/relationships/slide" Target="/ppt/slides/slide7.xml" Id="R5091628bcba94997" /><Relationship Type="http://schemas.openxmlformats.org/officeDocument/2006/relationships/slide" Target="/ppt/slides/slide8.xml" Id="Ra4e8b83a4ad34e0e" /><Relationship Type="http://schemas.openxmlformats.org/officeDocument/2006/relationships/slide" Target="/ppt/slides/slide9.xml" Id="R210663e9882a4977" /><Relationship Type="http://schemas.openxmlformats.org/officeDocument/2006/relationships/slide" Target="/ppt/slides/slide10.xml" Id="Rb0f0e59eb74741fa" /><Relationship Type="http://schemas.openxmlformats.org/officeDocument/2006/relationships/slide" Target="/ppt/slides/slide11.xml" Id="R1d6a2fa3a1334577" /><Relationship Type="http://schemas.openxmlformats.org/officeDocument/2006/relationships/slide" Target="/ppt/slides/slide12.xml" Id="R9eaf86b6bfc34fd6" /><Relationship Type="http://schemas.openxmlformats.org/officeDocument/2006/relationships/slide" Target="/ppt/slides/slide13.xml" Id="Rf99c91149155493b" /><Relationship Type="http://schemas.openxmlformats.org/officeDocument/2006/relationships/slide" Target="/ppt/slides/slide14.xml" Id="R42d7e1fb438046fe" /><Relationship Type="http://schemas.openxmlformats.org/officeDocument/2006/relationships/slide" Target="/ppt/slides/slide15.xml" Id="Rd5fa1f506f7448ee" /><Relationship Type="http://schemas.openxmlformats.org/officeDocument/2006/relationships/slide" Target="/ppt/slides/slide16.xml" Id="R5355ba6bd7e6491a" /><Relationship Type="http://schemas.openxmlformats.org/officeDocument/2006/relationships/slide" Target="/ppt/slides/slide17.xml" Id="R53b143ab50a94fb4" /><Relationship Type="http://schemas.openxmlformats.org/officeDocument/2006/relationships/slide" Target="/ppt/slides/slide18.xml" Id="Ra12e8c0f1d974dc0" /><Relationship Type="http://schemas.openxmlformats.org/officeDocument/2006/relationships/slide" Target="/ppt/slides/slide19.xml" Id="R87d2c134639d4106" /><Relationship Type="http://schemas.openxmlformats.org/officeDocument/2006/relationships/slide" Target="/ppt/slides/slide20.xml" Id="R19994bbdd2d74943" /><Relationship Type="http://schemas.openxmlformats.org/officeDocument/2006/relationships/slide" Target="/ppt/slides/slide21.xml" Id="Rf56fde49098f4ac4" /><Relationship Type="http://schemas.openxmlformats.org/officeDocument/2006/relationships/slide" Target="/ppt/slides/slide22.xml" Id="R5cee02fc0a13411d" /><Relationship Type="http://schemas.openxmlformats.org/officeDocument/2006/relationships/slide" Target="/ppt/slides/slide23.xml" Id="Rc0d452279e9349cd" /><Relationship Type="http://schemas.openxmlformats.org/officeDocument/2006/relationships/slide" Target="/ppt/slides/slide24.xml" Id="R436b7cdcc6544ff6" /><Relationship Type="http://schemas.openxmlformats.org/officeDocument/2006/relationships/slide" Target="/ppt/slides/slide25.xml" Id="R3fc70b04bdf648ca" /><Relationship Type="http://schemas.openxmlformats.org/officeDocument/2006/relationships/slide" Target="/ppt/slides/slide26.xml" Id="Radea613bbae945cf" /><Relationship Type="http://schemas.openxmlformats.org/officeDocument/2006/relationships/slide" Target="/ppt/slides/slide27.xml" Id="R8badd8b7d9a64227" /><Relationship Type="http://schemas.openxmlformats.org/officeDocument/2006/relationships/slide" Target="/ppt/slides/slide28.xml" Id="R88ba28fdc4cb4713" /><Relationship Type="http://schemas.openxmlformats.org/officeDocument/2006/relationships/slide" Target="/ppt/slides/slide29.xml" Id="Rd28778aee0c54eb0" /><Relationship Type="http://schemas.openxmlformats.org/officeDocument/2006/relationships/slide" Target="/ppt/slides/slide30.xml" Id="R37bd8649fc8d46ae" /><Relationship Type="http://schemas.openxmlformats.org/officeDocument/2006/relationships/slide" Target="/ppt/slides/slide31.xml" Id="R61667bb1dc044239" /><Relationship Type="http://schemas.openxmlformats.org/officeDocument/2006/relationships/slide" Target="/ppt/slides/slide32.xml" Id="R75bd42840e3e477c" /><Relationship Type="http://schemas.openxmlformats.org/officeDocument/2006/relationships/slide" Target="/ppt/slides/slide33.xml" Id="Rf90dd13044924382" /><Relationship Type="http://schemas.openxmlformats.org/officeDocument/2006/relationships/slide" Target="/ppt/slides/slide34.xml" Id="R8d923639e16f48af" /><Relationship Type="http://schemas.openxmlformats.org/officeDocument/2006/relationships/slide" Target="/ppt/slides/slide35.xml" Id="Rd5acca242f4b48d2" /><Relationship Type="http://schemas.openxmlformats.org/officeDocument/2006/relationships/slide" Target="/ppt/slides/slide36.xml" Id="R09c2dc05ef214b4e" /><Relationship Type="http://schemas.openxmlformats.org/officeDocument/2006/relationships/slide" Target="/ppt/slides/slide37.xml" Id="R67c44b9b72ec4702" /><Relationship Type="http://schemas.openxmlformats.org/officeDocument/2006/relationships/slide" Target="/ppt/slides/slide38.xml" Id="R2015de64c88f47e7" /><Relationship Type="http://schemas.openxmlformats.org/officeDocument/2006/relationships/slide" Target="/ppt/slides/slide39.xml" Id="Ra6c6ad87efc74d19" /><Relationship Type="http://schemas.openxmlformats.org/officeDocument/2006/relationships/slide" Target="/ppt/slides/slide40.xml" Id="Rb3a8a5e295b9465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0a63418d9b34e4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b9ee186d13f4e83" /><Relationship Type="http://schemas.openxmlformats.org/officeDocument/2006/relationships/notesMaster" Target="/ppt/notesMasters/notesMaster1.xml" Id="R1f3cd4b746a74715" /></Relationships>
</file>

<file path=ppt/notesSlides/_rels/notesSlide2.xml.rels>&#65279;<?xml version="1.0" encoding="utf-8"?><Relationships xmlns="http://schemas.openxmlformats.org/package/2006/relationships"><Relationship Type="http://schemas.openxmlformats.org/officeDocument/2006/relationships/slide" Target="/ppt/slides/slide2.xml" Id="R7ba76e4b3e2a4a76" /><Relationship Type="http://schemas.openxmlformats.org/officeDocument/2006/relationships/notesMaster" Target="/ppt/notesMasters/notesMaster1.xml" Id="Rddeb1ed7c6d54de5" /></Relationships>
</file>

<file path=ppt/notesSlides/_rels/notesSlide3.xml.rels>&#65279;<?xml version="1.0" encoding="utf-8"?><Relationships xmlns="http://schemas.openxmlformats.org/package/2006/relationships"><Relationship Type="http://schemas.openxmlformats.org/officeDocument/2006/relationships/slide" Target="/ppt/slides/slide3.xml" Id="R8a967caaf69a4750" /><Relationship Type="http://schemas.openxmlformats.org/officeDocument/2006/relationships/notesMaster" Target="/ppt/notesMasters/notesMaster1.xml" Id="R1ee3a2720e604cd3" /></Relationships>
</file>

<file path=ppt/notesSlides/_rels/notesSlide4.xml.rels>&#65279;<?xml version="1.0" encoding="utf-8"?><Relationships xmlns="http://schemas.openxmlformats.org/package/2006/relationships"><Relationship Type="http://schemas.openxmlformats.org/officeDocument/2006/relationships/slide" Target="/ppt/slides/slide4.xml" Id="Ra2f209b9193d4a79" /><Relationship Type="http://schemas.openxmlformats.org/officeDocument/2006/relationships/notesMaster" Target="/ppt/notesMasters/notesMaster1.xml" Id="R6a859e55cacf4ec8" /></Relationships>
</file>

<file path=ppt/notesSlides/_rels/notesSlide5.xml.rels>&#65279;<?xml version="1.0" encoding="utf-8"?><Relationships xmlns="http://schemas.openxmlformats.org/package/2006/relationships"><Relationship Type="http://schemas.openxmlformats.org/officeDocument/2006/relationships/slide" Target="/ppt/slides/slide5.xml" Id="R54292adc008a4f2e" /><Relationship Type="http://schemas.openxmlformats.org/officeDocument/2006/relationships/notesMaster" Target="/ppt/notesMasters/notesMaster1.xml" Id="Ra23fe4ac8cfc42cb" /></Relationships>
</file>

<file path=ppt/notesSlides/_rels/notesSlide6.xml.rels>&#65279;<?xml version="1.0" encoding="utf-8"?><Relationships xmlns="http://schemas.openxmlformats.org/package/2006/relationships"><Relationship Type="http://schemas.openxmlformats.org/officeDocument/2006/relationships/slide" Target="/ppt/slides/slide6.xml" Id="R84b8d4beac594b74" /><Relationship Type="http://schemas.openxmlformats.org/officeDocument/2006/relationships/notesMaster" Target="/ppt/notesMasters/notesMaster1.xml" Id="Rae72d1a10f034504" /></Relationships>
</file>

<file path=ppt/notesSlides/_rels/notesSlide7.xml.rels>&#65279;<?xml version="1.0" encoding="utf-8"?><Relationships xmlns="http://schemas.openxmlformats.org/package/2006/relationships"><Relationship Type="http://schemas.openxmlformats.org/officeDocument/2006/relationships/slide" Target="/ppt/slides/slide7.xml" Id="Rffe65481385c448f" /><Relationship Type="http://schemas.openxmlformats.org/officeDocument/2006/relationships/notesMaster" Target="/ppt/notesMasters/notesMaster1.xml" Id="R621a842d83b4476c" /></Relationships>
</file>

<file path=ppt/notesSlides/_rels/notesSlide8.xml.rels>&#65279;<?xml version="1.0" encoding="utf-8"?><Relationships xmlns="http://schemas.openxmlformats.org/package/2006/relationships"><Relationship Type="http://schemas.openxmlformats.org/officeDocument/2006/relationships/slide" Target="/ppt/slides/slide8.xml" Id="Rbffa8e1f71ba4cdc" /><Relationship Type="http://schemas.openxmlformats.org/officeDocument/2006/relationships/notesMaster" Target="/ppt/notesMasters/notesMaster1.xml" Id="Raaefe6922b4945c2" /></Relationships>
</file>

<file path=ppt/notesSlides/_rels/notesSlide9.xml.rels>&#65279;<?xml version="1.0" encoding="utf-8"?><Relationships xmlns="http://schemas.openxmlformats.org/package/2006/relationships"><Relationship Type="http://schemas.openxmlformats.org/officeDocument/2006/relationships/slide" Target="/ppt/slides/slide9.xml" Id="R47ff5a655b7d4761" /><Relationship Type="http://schemas.openxmlformats.org/officeDocument/2006/relationships/notesMaster" Target="/ppt/notesMasters/notesMaster1.xml" Id="R4fcc6864228d471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3e02ad7471e4b1c" /><Relationship Type="http://schemas.openxmlformats.org/officeDocument/2006/relationships/notesMaster" Target="/ppt/notesMasters/notesMaster1.xml" Id="R0c0e487b12bf46f9"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f601d1f506c402a" /><Relationship Type="http://schemas.openxmlformats.org/officeDocument/2006/relationships/notesMaster" Target="/ppt/notesMasters/notesMaster1.xml" Id="Rc66018bb7f83446b"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2fbe083dff884a9e" /><Relationship Type="http://schemas.openxmlformats.org/officeDocument/2006/relationships/notesMaster" Target="/ppt/notesMasters/notesMaster1.xml" Id="Re7b10598915b44ce"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f69c53d550b647ea" /><Relationship Type="http://schemas.openxmlformats.org/officeDocument/2006/relationships/notesMaster" Target="/ppt/notesMasters/notesMaster1.xml" Id="Rd66470cbbe18484c"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87bb5b0e25ed4d31" /><Relationship Type="http://schemas.openxmlformats.org/officeDocument/2006/relationships/notesMaster" Target="/ppt/notesMasters/notesMaster1.xml" Id="Red3f41b413dd4d61"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2f55bb6d9458495f" /><Relationship Type="http://schemas.openxmlformats.org/officeDocument/2006/relationships/notesMaster" Target="/ppt/notesMasters/notesMaster1.xml" Id="R02f07d7c82b84a87"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752c245866a74d14" /><Relationship Type="http://schemas.openxmlformats.org/officeDocument/2006/relationships/notesMaster" Target="/ppt/notesMasters/notesMaster1.xml" Id="R18feccf544fe40f5"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6f833d5df2c045fd" /><Relationship Type="http://schemas.openxmlformats.org/officeDocument/2006/relationships/notesMaster" Target="/ppt/notesMasters/notesMaster1.xml" Id="R65fd2add3ff240a3"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20cc95c6e42a4a0c" /><Relationship Type="http://schemas.openxmlformats.org/officeDocument/2006/relationships/notesMaster" Target="/ppt/notesMasters/notesMaster1.xml" Id="R620eecb352dc48c5"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0c77d4ffc70e4d53" /><Relationship Type="http://schemas.openxmlformats.org/officeDocument/2006/relationships/notesMaster" Target="/ppt/notesMasters/notesMaster1.xml" Id="Rcad5b0951f184b85"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7ed76723ef224846" /><Relationship Type="http://schemas.openxmlformats.org/officeDocument/2006/relationships/notesMaster" Target="/ppt/notesMasters/notesMaster1.xml" Id="Rec58136d24fe4603"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ee77be93f96740df" /><Relationship Type="http://schemas.openxmlformats.org/officeDocument/2006/relationships/notesMaster" Target="/ppt/notesMasters/notesMaster1.xml" Id="Rd431ba5499234981"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9886dc2effa64c9d" /><Relationship Type="http://schemas.openxmlformats.org/officeDocument/2006/relationships/notesMaster" Target="/ppt/notesMasters/notesMaster1.xml" Id="R40cb76f821514071"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1c181b81120d49ad" /><Relationship Type="http://schemas.openxmlformats.org/officeDocument/2006/relationships/notesMaster" Target="/ppt/notesMasters/notesMaster1.xml" Id="R85a159583a5a4e10"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2fb06bd3ec93421c" /><Relationship Type="http://schemas.openxmlformats.org/officeDocument/2006/relationships/notesMaster" Target="/ppt/notesMasters/notesMaster1.xml" Id="R63f4c6b92f3145b4"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d396bf9317434c7d" /><Relationship Type="http://schemas.openxmlformats.org/officeDocument/2006/relationships/notesMaster" Target="/ppt/notesMasters/notesMaster1.xml" Id="R55023c661c2e4468"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447820ffd1194412" /><Relationship Type="http://schemas.openxmlformats.org/officeDocument/2006/relationships/notesMaster" Target="/ppt/notesMasters/notesMaster1.xml" Id="R3e317792cdee468c"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5f174e3775814920" /><Relationship Type="http://schemas.openxmlformats.org/officeDocument/2006/relationships/notesMaster" Target="/ppt/notesMasters/notesMaster1.xml" Id="Rd0a742bce0764366"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20e0e117466149d7" /><Relationship Type="http://schemas.openxmlformats.org/officeDocument/2006/relationships/notesMaster" Target="/ppt/notesMasters/notesMaster1.xml" Id="R3853725963f84781"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edd17584c9fd4f0d" /><Relationship Type="http://schemas.openxmlformats.org/officeDocument/2006/relationships/notesMaster" Target="/ppt/notesMasters/notesMaster1.xml" Id="Rd90cd0c0ac054ca4"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25036ba7c92e44a0" /><Relationship Type="http://schemas.openxmlformats.org/officeDocument/2006/relationships/notesMaster" Target="/ppt/notesMasters/notesMaster1.xml" Id="Rc4150205d1cd489a"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8195cde6cd0f4237" /><Relationship Type="http://schemas.openxmlformats.org/officeDocument/2006/relationships/notesMaster" Target="/ppt/notesMasters/notesMaster1.xml" Id="Rb969be37f64d4f67"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e424b9b720084c98" /><Relationship Type="http://schemas.openxmlformats.org/officeDocument/2006/relationships/notesMaster" Target="/ppt/notesMasters/notesMaster1.xml" Id="R9e425d31732e4d35"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4737a421b7324f97" /><Relationship Type="http://schemas.openxmlformats.org/officeDocument/2006/relationships/notesMaster" Target="/ppt/notesMasters/notesMaster1.xml" Id="R58a2f21fd7b54384"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07e839c67a844eed" /><Relationship Type="http://schemas.openxmlformats.org/officeDocument/2006/relationships/notesMaster" Target="/ppt/notesMasters/notesMaster1.xml" Id="Rd8080105c0f74ae4"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d30115bb88b44a0e" /><Relationship Type="http://schemas.openxmlformats.org/officeDocument/2006/relationships/notesMaster" Target="/ppt/notesMasters/notesMaster1.xml" Id="R945699e9d40e4077"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f44372f21e34476a" /><Relationship Type="http://schemas.openxmlformats.org/officeDocument/2006/relationships/notesMaster" Target="/ppt/notesMasters/notesMaster1.xml" Id="R5b5e26a564d94d94"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2ecdb7914eeb423e" /><Relationship Type="http://schemas.openxmlformats.org/officeDocument/2006/relationships/notesMaster" Target="/ppt/notesMasters/notesMaster1.xml" Id="Rd66445caccbd4dfa"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2df0490e13954d6a" /><Relationship Type="http://schemas.openxmlformats.org/officeDocument/2006/relationships/notesMaster" Target="/ppt/notesMasters/notesMaster1.xml" Id="R40041074755f4822"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c9d8347c61db40d8" /><Relationship Type="http://schemas.openxmlformats.org/officeDocument/2006/relationships/notesMaster" Target="/ppt/notesMasters/notesMaster1.xml" Id="Ra3a19a26acca4c8a"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af97042e14ef438f" /><Relationship Type="http://schemas.openxmlformats.org/officeDocument/2006/relationships/notesMaster" Target="/ppt/notesMasters/notesMaster1.xml" Id="R189a3b2e522f463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Présentation d’architecture du prototype livré. Montrer le fonctionnement réel, les choix, les preuves et les limites. Les composants distribués sont des adaptations locales sauf PySpark exécuté en mode local.</a:t>
            </a:r>
          </a:p>
          <a:p xmlns:a="http://schemas.openxmlformats.org/drawingml/2006/main">
            <a:r>
              <a:t>[Sources]</a:t>
            </a:r>
          </a:p>
          <a:p xmlns:a="http://schemas.openxmlformats.org/drawingml/2006/main">
            <a:r>
              <a:t>Dépôt : main.py ; README.md</a:t>
            </a:r>
          </a:p>
          <a:p xmlns:a="http://schemas.openxmlformats.org/drawingml/2006/main">
            <a:r>
              <a:t>[/Sources]</a:t>
            </a:r>
          </a:p>
          <a:p xmlns:a="http://schemas.openxmlformats.org/drawingml/2006/main">
            <a:r>
              <a:t/>
            </a:r>
          </a:p>
          <a:p xmlns:a="http://schemas.openxmlformats.org/drawingml/2006/main">
            <a:r>
              <a:t>Le fil conducteur relie trois questions : quelles données avons-nous, comment les transformer en résultats explicables et comment un autre membre du groupe peut-il reproduire le travail ? La présentation distingue le calcul, la consultation et la prédiction, puis donne les commandes et les contrôles nécessaires à chacun de ces usages.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 problème est la cohérence des données et leur exploitation par le groupe. Les jointures permettent de relier une mesure à son contexte. Les métadonnées absentes restent explicitement absentes.</a:t>
            </a:r>
          </a:p>
          <a:p xmlns:a="http://schemas.openxmlformats.org/drawingml/2006/main">
            <a:r>
              <a:t/>
            </a:r>
          </a:p>
          <a:p xmlns:a="http://schemas.openxmlformats.org/drawingml/2006/main">
            <a:r>
              <a:t>[Sources]</a:t>
            </a:r>
          </a:p>
          <a:p xmlns:a="http://schemas.openxmlformats.org/drawingml/2006/main">
            <a:r>
              <a:t>Dépôt : CSV/</a:t>
            </a:r>
          </a:p>
          <a:p xmlns:a="http://schemas.openxmlformats.org/drawingml/2006/main">
            <a:r>
              <a:t>Dépôt : src/02_etl.py</a:t>
            </a:r>
          </a:p>
          <a:p xmlns:a="http://schemas.openxmlformats.org/drawingml/2006/main">
            <a:r>
              <a:t>Dépôt : docs/DATA_MODEL.md</a:t>
            </a:r>
          </a:p>
          <a:p xmlns:a="http://schemas.openxmlformats.org/drawingml/2006/main">
            <a:r>
              <a:t>[/Sources]</a:t>
            </a:r>
          </a:p>
          <a:p xmlns:a="http://schemas.openxmlformats.org/drawingml/2006/main">
            <a:r>
              <a:t/>
            </a:r>
          </a:p>
          <a:p xmlns:a="http://schemas.openxmlformats.org/drawingml/2006/main">
            <a:r>
              <a:t>Un essai agronomique compare des matériels dans un contexte donné. Le résultat ne peut être interprété correctement sans connaître le trait, l’année, la réplication et les métadonnées disponibles. La plateforme rassemble ces dimensions et expose aussi leurs lacunes ; elle soutient l’exploration et la validation scientifique du groupe.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Les campagnes couvrent 2015 à 2018. Les huit catégories du dashboard comprennent cinq libellés et trois codes non résolus : ne pas les annoncer comme huit espèces validées. La carte ne couvre que 424 essais géolocalisés.</a:t>
            </a:r>
          </a:p>
          <a:p xmlns:a="http://schemas.openxmlformats.org/drawingml/2006/main">
            <a:r>
              <a:t/>
            </a:r>
          </a:p>
          <a:p xmlns:a="http://schemas.openxmlformats.org/drawingml/2006/main">
            <a:r>
              <a:t>[Sources]</a:t>
            </a:r>
          </a:p>
          <a:p xmlns:a="http://schemas.openxmlformats.org/drawingml/2006/main">
            <a:r>
              <a:t>Dépôt : reports/kpi_globaux.json</a:t>
            </a:r>
          </a:p>
          <a:p xmlns:a="http://schemas.openxmlformats.org/drawingml/2006/main">
            <a:r>
              <a:t>Dépôt : reports/species_mapping.json</a:t>
            </a:r>
          </a:p>
          <a:p xmlns:a="http://schemas.openxmlformats.org/drawingml/2006/main">
            <a:r>
              <a:t>[/Sources]</a:t>
            </a:r>
          </a:p>
          <a:p xmlns:a="http://schemas.openxmlformats.org/drawingml/2006/main">
            <a:r>
              <a:t/>
            </a:r>
          </a:p>
          <a:p xmlns:a="http://schemas.openxmlformats.org/drawingml/2006/main">
            <a:r>
              <a:t>Les trois volumes répondent à des questions différentes. Les mesures décrivent les observations ; les essais regroupent un protocole ou un contexte ; les matériels correspondent aux objets génétiques comparés. Les résultats couvrent plusieurs années et plusieurs traits : diviser les mesures par les essais ne donne pas un rendement moyen.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Noms complets et identifiants techniques dans le README. Le grain analytique part des résultats. La parcelle relie une entrée et une réplication au matériel. Les qualifications sont pivotées avant enrichissement.</a:t>
            </a:r>
          </a:p>
          <a:p xmlns:a="http://schemas.openxmlformats.org/drawingml/2006/main">
            <a:r>
              <a:t/>
            </a:r>
          </a:p>
          <a:p xmlns:a="http://schemas.openxmlformats.org/drawingml/2006/main">
            <a:r>
              <a:t>[Sources]</a:t>
            </a:r>
          </a:p>
          <a:p xmlns:a="http://schemas.openxmlformats.org/drawingml/2006/main">
            <a:r>
              <a:t>Dépôt : src/02_etl.py</a:t>
            </a:r>
          </a:p>
          <a:p xmlns:a="http://schemas.openxmlformats.org/drawingml/2006/main">
            <a:r>
              <a:t>Dépôt : docs/DATA_MODEL.md</a:t>
            </a:r>
          </a:p>
          <a:p xmlns:a="http://schemas.openxmlformats.org/drawingml/2006/main">
            <a:r>
              <a:t>[/Sources]</a:t>
            </a:r>
          </a:p>
          <a:p xmlns:a="http://schemas.openxmlformats.org/drawingml/2006/main">
            <a:r>
              <a:t/>
            </a:r>
          </a:p>
          <a:p xmlns:a="http://schemas.openxmlformats.org/drawingml/2006/main">
            <a:r>
              <a:t>Les noms affichés sont abrégés pour rester lisibles. Les fichiers réels et les noms de colonnes complets figurent dans le README et le dictionnaire. Vérifier les clés au moment de joindre les données, et utiliser ensemble l’année et l’essai pour les qualifications. Le référentiel disponible ne résout pas tous les codes observés.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 grain est l’unité décrite par une ligne. Un même essai peut produire plusieurs mesures, pour plusieurs entrées, répétitions et traits : le nombre de lignes ne correspond donc pas au nombre d’essais. L’ETL part des résultats, puis ajoute les métadonnées par jointures gauches. Cela évite de supprimer une mesure lorsque le site ou le matériel ne possède pas de correspondance. Avant une nouvelle importation, contrôler l’unicité des clés des tables jointes : une relation involontairement multiple pourrait multiplier les résultats. Les identifiants complets sont documentés dans docs/DATA_MODEL.md.</a:t>
            </a:r>
          </a:p>
          <a:p xmlns:a="http://schemas.openxmlformats.org/drawingml/2006/main">
            <a:r>
              <a:t/>
            </a:r>
          </a:p>
          <a:p xmlns:a="http://schemas.openxmlformats.org/drawingml/2006/main">
            <a:r>
              <a:t>[Sources]</a:t>
            </a:r>
          </a:p>
          <a:p xmlns:a="http://schemas.openxmlformats.org/drawingml/2006/main">
            <a:r>
              <a:t>Dépôt : docs/DATA_MODEL.md</a:t>
            </a:r>
          </a:p>
          <a:p xmlns:a="http://schemas.openxmlformats.org/drawingml/2006/main">
            <a:r>
              <a:t>Dépôt : src/02_etl.py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 flux ETL principal consomme Raw. NiFi produit séparément des fichiers de démonstration *_nifi.parquet. Les traitements SQL, statistiques et ML lisent la table de faits. Gouvernance et qualité sont transversales, même si la phase qualité se déroule tard dans la séquence actuelle.</a:t>
            </a:r>
          </a:p>
          <a:p xmlns:a="http://schemas.openxmlformats.org/drawingml/2006/main">
            <a:r>
              <a:t/>
            </a:r>
          </a:p>
          <a:p xmlns:a="http://schemas.openxmlformats.org/drawingml/2006/main">
            <a:r>
              <a:t>[Sources]</a:t>
            </a:r>
          </a:p>
          <a:p xmlns:a="http://schemas.openxmlformats.org/drawingml/2006/main">
            <a:r>
              <a:t>Dépôt : main.py</a:t>
            </a:r>
          </a:p>
          <a:p xmlns:a="http://schemas.openxmlformats.org/drawingml/2006/main">
            <a:r>
              <a:t>Dépôt : src/02_etl.py</a:t>
            </a:r>
          </a:p>
          <a:p xmlns:a="http://schemas.openxmlformats.org/drawingml/2006/main">
            <a:r>
              <a:t>Dépôt : src/07_nifi_flow.py</a:t>
            </a:r>
          </a:p>
          <a:p xmlns:a="http://schemas.openxmlformats.org/drawingml/2006/main">
            <a:r>
              <a:t>[/Sources]</a:t>
            </a:r>
          </a:p>
          <a:p xmlns:a="http://schemas.openxmlformats.org/drawingml/2006/main">
            <a:r>
              <a:t/>
            </a:r>
          </a:p>
          <a:p xmlns:a="http://schemas.openxmlformats.org/drawingml/2006/main">
            <a:r>
              <a:t>Lire le diagramme de gauche à droite : ingestion, conservation intermédiaire, nettoyage et enrichissement, puis consommation. Les flèches représentent des dépendances de données. Le calcul des sorties est orchestré par main.py ; ouvrir une page HTML ne relance pas ces transformations. La séparation des couches permet d’examiner les résultats intermédiaires.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Les noms pédagogiques servent à expliquer une architecture cible. Les ports Hive, Kafka et Drill affichés par les modules ne correspondent pas à des serveurs démarrés. Rscript et scikit-learn sont réellement exécutés.</a:t>
            </a:r>
          </a:p>
          <a:p xmlns:a="http://schemas.openxmlformats.org/drawingml/2006/main">
            <a:r>
              <a:t/>
            </a:r>
          </a:p>
          <a:p xmlns:a="http://schemas.openxmlformats.org/drawingml/2006/main">
            <a:r>
              <a:t>[Sources]</a:t>
            </a:r>
          </a:p>
          <a:p xmlns:a="http://schemas.openxmlformats.org/drawingml/2006/main">
            <a:r>
              <a:t>Dépôt : README.md</a:t>
            </a:r>
          </a:p>
          <a:p xmlns:a="http://schemas.openxmlformats.org/drawingml/2006/main">
            <a:r>
              <a:t>Dépôt : src/06_sqoop_import.py</a:t>
            </a:r>
          </a:p>
          <a:p xmlns:a="http://schemas.openxmlformats.org/drawingml/2006/main">
            <a:r>
              <a:t>Dépôt : src/08_hbase_store.py</a:t>
            </a:r>
          </a:p>
          <a:p xmlns:a="http://schemas.openxmlformats.org/drawingml/2006/main">
            <a:r>
              <a:t>Dépôt : src/09_kafka_streaming.py</a:t>
            </a:r>
          </a:p>
          <a:p xmlns:a="http://schemas.openxmlformats.org/drawingml/2006/main">
            <a:r>
              <a:t>Dépôt : src/11_spark_analysis.py</a:t>
            </a:r>
          </a:p>
          <a:p xmlns:a="http://schemas.openxmlformats.org/drawingml/2006/main">
            <a:r>
              <a:t>[/Sources]</a:t>
            </a:r>
          </a:p>
          <a:p xmlns:a="http://schemas.openxmlformats.org/drawingml/2006/main">
            <a:r>
              <a:t/>
            </a:r>
          </a:p>
          <a:p xmlns:a="http://schemas.openxmlformats.org/drawingml/2006/main">
            <a:r>
              <a:t>L’objectif pédagogique est d’expliquer les responsabilités des composants Big Data avec une installation locale reproductible. Les adaptations exécutent des opérations utiles sur les données, mais leurs noms ne prouvent pas la présence de services distribués. Pour une soutenance, présenter le moteur concret avant de décrire l’éventuelle cible industrielle.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Parquet est utilisé par les traitements Python et SQL. Le CSV de faits est exporté pour R. Le zonage fournit une séparation logique ; il ne constitue pas à lui seul un système de versions, de réplication ou de contrôle d’accès.</a:t>
            </a:r>
          </a:p>
          <a:p xmlns:a="http://schemas.openxmlformats.org/drawingml/2006/main">
            <a:r>
              <a:t/>
            </a:r>
          </a:p>
          <a:p xmlns:a="http://schemas.openxmlformats.org/drawingml/2006/main">
            <a:r>
              <a:t>[Sources]</a:t>
            </a:r>
          </a:p>
          <a:p xmlns:a="http://schemas.openxmlformats.org/drawingml/2006/main">
            <a:r>
              <a:t>Dépôt : src/02_etl.py</a:t>
            </a:r>
          </a:p>
          <a:p xmlns:a="http://schemas.openxmlformats.org/drawingml/2006/main">
            <a:r>
              <a:t>Dépôt : src/16_quality_gates.py</a:t>
            </a:r>
          </a:p>
          <a:p xmlns:a="http://schemas.openxmlformats.org/drawingml/2006/main">
            <a:r>
              <a:t>[/Sources]</a:t>
            </a:r>
          </a:p>
          <a:p xmlns:a="http://schemas.openxmlformats.org/drawingml/2006/main">
            <a:r>
              <a:t/>
            </a:r>
          </a:p>
          <a:p xmlns:a="http://schemas.openxmlformats.org/drawingml/2006/main">
            <a:r>
              <a:t>Le zonage rend visibles les états successifs des fichiers. Il faut toutefois conserver les sources et le code utilisés si l’on veut reproduire un ancien résultat. Une nouvelle exécution peut remplacer des sorties existantes. La quarantaine contient des copies signalées pour analyse et n’efface pas automatiquement leurs usages antérieurs.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Ces choix correspondent au prototype réellement livré. Les fichiers Parquet sont lus par pandas et DuckDB ; le CSV de faits facilite aussi l’intégration de R. SQLite porte les tables de type HBase et le catalogue, sans nécessiter de serveurs externes. L’environnement virtuel doit être recréé par chaque membre du groupe à partir des versions fixées, et ne doit pas être copié depuis un autre ordinateur. Spark est exécuté par main.py dans un sous-processus ; ce choix évite de conserver son contexte pendant les traitements ML suivants. Les compromis concernent la concurrence, la sauvegarde et l’exploitation distribuée.</a:t>
            </a:r>
          </a:p>
          <a:p xmlns:a="http://schemas.openxmlformats.org/drawingml/2006/main">
            <a:r>
              <a:t/>
            </a:r>
          </a:p>
          <a:p xmlns:a="http://schemas.openxmlformats.org/drawingml/2006/main">
            <a:r>
              <a:t>[Sources]</a:t>
            </a:r>
          </a:p>
          <a:p xmlns:a="http://schemas.openxmlformats.org/drawingml/2006/main">
            <a:r>
              <a:t>Dépôt : requirements.txt</a:t>
            </a:r>
          </a:p>
          <a:p xmlns:a="http://schemas.openxmlformats.org/drawingml/2006/main">
            <a:r>
              <a:t>Dépôt : main.py</a:t>
            </a:r>
          </a:p>
          <a:p xmlns:a="http://schemas.openxmlformats.org/drawingml/2006/main">
            <a:r>
              <a:t>Dépôt : docs/ARCHITECTURE_CHOICES.md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Les trois processus s’exécutent sur le même ordinateur et utilisent le même dossier du projet. Le pipeline produit les fichiers de données, les modèles et le catalogue ; il n’est pas un serveur. Les deux autres processus restent actifs tant que leurs terminaux sont ouverts. Le navigateur lit le dashboard sur le port 8000 ; les clients de l’API contactent le port 8080. L’API n’est pas requise pour ouvrir les tableaux existants. Les adresses 127.0.0.1 désignent l’ordinateur de chaque utilisateur : la page GitHub ne lance aucun de ces processus. L’accès Internet de la carte sert aux bibliothèques et aux fonds cartographiques.</a:t>
            </a:r>
          </a:p>
          <a:p xmlns:a="http://schemas.openxmlformats.org/drawingml/2006/main">
            <a:r>
              <a:t/>
            </a:r>
          </a:p>
          <a:p xmlns:a="http://schemas.openxmlformats.org/drawingml/2006/main">
            <a:r>
              <a:t>[Sources]</a:t>
            </a:r>
          </a:p>
          <a:p xmlns:a="http://schemas.openxmlformats.org/drawingml/2006/main">
            <a:r>
              <a:t>Dépôt : README.md</a:t>
            </a:r>
          </a:p>
          <a:p xmlns:a="http://schemas.openxmlformats.org/drawingml/2006/main">
            <a:r>
              <a:t>Dépôt : main.py</a:t>
            </a:r>
          </a:p>
          <a:p xmlns:a="http://schemas.openxmlformats.org/drawingml/2006/main">
            <a:r>
              <a:t>Dépôt : platform_api.py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 numérotation de main.py est la référence ; les préfixes des fichiers sont historiques. Chaque phase fournit statut et durée. Arrêt au premier échec, code de sortie non nul, checkpoint des étapes réussies. Spark tourne dans un processus isolé.</a:t>
            </a:r>
          </a:p>
          <a:p xmlns:a="http://schemas.openxmlformats.org/drawingml/2006/main">
            <a:r>
              <a:t/>
            </a:r>
          </a:p>
          <a:p xmlns:a="http://schemas.openxmlformats.org/drawingml/2006/main">
            <a:r>
              <a:t>[Sources]</a:t>
            </a:r>
          </a:p>
          <a:p xmlns:a="http://schemas.openxmlformats.org/drawingml/2006/main">
            <a:r>
              <a:t>Dépôt : main.py</a:t>
            </a:r>
          </a:p>
          <a:p xmlns:a="http://schemas.openxmlformats.org/drawingml/2006/main">
            <a:r>
              <a:t>[/Sources]</a:t>
            </a:r>
          </a:p>
          <a:p xmlns:a="http://schemas.openxmlformats.org/drawingml/2006/main">
            <a:r>
              <a:t/>
            </a:r>
          </a:p>
          <a:p xmlns:a="http://schemas.openxmlformats.org/drawingml/2006/main">
            <a:r>
              <a:t>Les groupes de phases résument la progression de main.py. Les préfixes numériques des scripts ne doivent pas être utilisés pour reconstituer manuellement l’ordre du pipeline. Le lancement centralisé est préférable, car il fournit un suivi commun des statuts et des durées ainsi qu’un comportement cohérent en cas d’erreur.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Les jointures gauches gardent les mesures sans métadonnées correspondantes. Les espèces inconnues restent visibles. Attention aux changements de cardinalité sur de nouvelles données : contrôler les clés et le volume final avant restitution.</a:t>
            </a:r>
          </a:p>
          <a:p xmlns:a="http://schemas.openxmlformats.org/drawingml/2006/main">
            <a:r>
              <a:t/>
            </a:r>
          </a:p>
          <a:p xmlns:a="http://schemas.openxmlformats.org/drawingml/2006/main">
            <a:r>
              <a:t>[Sources]</a:t>
            </a:r>
          </a:p>
          <a:p xmlns:a="http://schemas.openxmlformats.org/drawingml/2006/main">
            <a:r>
              <a:t>Dépôt : src/02_etl.py</a:t>
            </a:r>
          </a:p>
          <a:p xmlns:a="http://schemas.openxmlformats.org/drawingml/2006/main">
            <a:r>
              <a:t>[/Sources]</a:t>
            </a:r>
          </a:p>
          <a:p xmlns:a="http://schemas.openxmlformats.org/drawingml/2006/main">
            <a:r>
              <a:t/>
            </a:r>
          </a:p>
          <a:p xmlns:a="http://schemas.openxmlformats.org/drawingml/2006/main">
            <a:r>
              <a:t>La transformation numérique est indispensable avant les moyennes et les modèles. Une virgule décimale encore stockée comme texte peut empêcher le calcul. Les jointures gauches choisissent de conserver les observations ; il faut donc distinguer une mesure exploitable d’un enregistrement complètement documenté. Le contrôle des clés protège également contre les multiplications de lignes.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Pour expliquer une valeur affichée, commencer par identifier le CSV chargé par le tableau du dashboard. Retrouver ensuite le traitement qui produit ce fichier et les colonnes utilisées dans la table de faits. Le catalogue expose le schéma et les relations déclarées ; les rapports donnent les volumes et statuts de l’exécution. Il ne s’agit pas d’une traçabilité automatique de chaque cellule ni d’un historique complet de toutes les versions. Lors d’un changement des sources, effectuer un recalcul complet et réexaminer les textes éditoriaux du dashboard, qui ne sont pas tous régénérés.</a:t>
            </a:r>
          </a:p>
          <a:p xmlns:a="http://schemas.openxmlformats.org/drawingml/2006/main">
            <a:r>
              <a:t/>
            </a:r>
          </a:p>
          <a:p xmlns:a="http://schemas.openxmlformats.org/drawingml/2006/main">
            <a:r>
              <a:t>[Sources]</a:t>
            </a:r>
          </a:p>
          <a:p xmlns:a="http://schemas.openxmlformats.org/drawingml/2006/main">
            <a:r>
              <a:t>Dépôt : reports/dashboard.js</a:t>
            </a:r>
          </a:p>
          <a:p xmlns:a="http://schemas.openxmlformats.org/drawingml/2006/main">
            <a:r>
              <a:t>Dépôt : src/02_etl.py</a:t>
            </a:r>
          </a:p>
          <a:p xmlns:a="http://schemas.openxmlformats.org/drawingml/2006/main">
            <a:r>
              <a:t>Dépôt : src/14_catalog_search.py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326 688 lignes sources sont contrôlées. La quarantaine ne retire pas automatiquement les lignes déjà utilisées par les traitements. Les doublons sont reportés et non supprimés silencieusement. Le ML applique en plus son propre filtre de rendement entre 0 et 250.</a:t>
            </a:r>
          </a:p>
          <a:p xmlns:a="http://schemas.openxmlformats.org/drawingml/2006/main">
            <a:r>
              <a:t/>
            </a:r>
          </a:p>
          <a:p xmlns:a="http://schemas.openxmlformats.org/drawingml/2006/main">
            <a:r>
              <a:t>[Sources]</a:t>
            </a:r>
          </a:p>
          <a:p xmlns:a="http://schemas.openxmlformats.org/drawingml/2006/main">
            <a:r>
              <a:t>Dépôt : reports/data_quality_report.json</a:t>
            </a:r>
          </a:p>
          <a:p xmlns:a="http://schemas.openxmlformats.org/drawingml/2006/main">
            <a:r>
              <a:t>Dépôt : src/16_quality_gates.py</a:t>
            </a:r>
          </a:p>
          <a:p xmlns:a="http://schemas.openxmlformats.org/drawingml/2006/main">
            <a:r>
              <a:t>Dépôt : src/13_prediction.py</a:t>
            </a:r>
          </a:p>
          <a:p xmlns:a="http://schemas.openxmlformats.org/drawingml/2006/main">
            <a:r>
              <a:t>[/Sources]</a:t>
            </a:r>
          </a:p>
          <a:p xmlns:a="http://schemas.openxmlformats.org/drawingml/2006/main">
            <a:r>
              <a:t/>
            </a:r>
          </a:p>
          <a:p xmlns:a="http://schemas.openxmlformats.org/drawingml/2006/main">
            <a:r>
              <a:t>Les compteurs se lisent selon leur définition : 34 lignes sont impliquées dans des clés dupliquées, ce qui n’est pas nécessairement 34 clés différentes. Les 32 lignes en quarantaine portent un motif à examiner. Le statut d’exécution indique que les contrôles ont fonctionné ; la décision d’accepter les données reste une étape métier.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 catalogue actuel enregistre six datasets, dont la table de faits. Le lineage est descriptif et déclaré dans le code : il ne capture pas automatiquement toutes les opérations internes. L’index est local, sans service de recherche distribué.</a:t>
            </a:r>
          </a:p>
          <a:p xmlns:a="http://schemas.openxmlformats.org/drawingml/2006/main">
            <a:r>
              <a:t/>
            </a:r>
          </a:p>
          <a:p xmlns:a="http://schemas.openxmlformats.org/drawingml/2006/main">
            <a:r>
              <a:t>[Sources]</a:t>
            </a:r>
          </a:p>
          <a:p xmlns:a="http://schemas.openxmlformats.org/drawingml/2006/main">
            <a:r>
              <a:t>Dépôt : src/14_catalog_search.py</a:t>
            </a:r>
          </a:p>
          <a:p xmlns:a="http://schemas.openxmlformats.org/drawingml/2006/main">
            <a:r>
              <a:t>Dépôt : platform_api.py</a:t>
            </a:r>
          </a:p>
          <a:p xmlns:a="http://schemas.openxmlformats.org/drawingml/2006/main">
            <a:r>
              <a:t>[/Sources]</a:t>
            </a:r>
          </a:p>
          <a:p xmlns:a="http://schemas.openxmlformats.org/drawingml/2006/main">
            <a:r>
              <a:t/>
            </a:r>
          </a:p>
          <a:p xmlns:a="http://schemas.openxmlformats.org/drawingml/2006/main">
            <a:r>
              <a:t>La recherche sert à retrouver un jeu de données ou un matériel sans parcourir tous les fichiers. Les métadonnées décrivent leur structure et facilitent l’exploration. Le lineage est déclaré par les modules ; il ne remplace pas une capture automatique de chaque transformation ni une politique de versionnement des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 lot de démonstration produit et consomme 535 messages. Les files en mémoire ne persistent pas comme un vrai broker Kafka. Il n’y a ni réplication, ni garantie de livraison distribuée, ni flux météo ou drone réel.</a:t>
            </a:r>
          </a:p>
          <a:p xmlns:a="http://schemas.openxmlformats.org/drawingml/2006/main">
            <a:r>
              <a:t/>
            </a:r>
          </a:p>
          <a:p xmlns:a="http://schemas.openxmlformats.org/drawingml/2006/main">
            <a:r>
              <a:t>[Sources]</a:t>
            </a:r>
          </a:p>
          <a:p xmlns:a="http://schemas.openxmlformats.org/drawingml/2006/main">
            <a:r>
              <a:t>Dépôt : src/08_hbase_store.py</a:t>
            </a:r>
          </a:p>
          <a:p xmlns:a="http://schemas.openxmlformats.org/drawingml/2006/main">
            <a:r>
              <a:t>Dépôt : src/09_kafka_streaming.py</a:t>
            </a:r>
          </a:p>
          <a:p xmlns:a="http://schemas.openxmlformats.org/drawingml/2006/main">
            <a:r>
              <a:t>Dépôt : reports/kafka_report.json</a:t>
            </a:r>
          </a:p>
          <a:p xmlns:a="http://schemas.openxmlformats.org/drawingml/2006/main">
            <a:r>
              <a:t>[/Sources]</a:t>
            </a:r>
          </a:p>
          <a:p xmlns:a="http://schemas.openxmlformats.org/drawingml/2006/main">
            <a:r>
              <a:t/>
            </a:r>
          </a:p>
          <a:p xmlns:a="http://schemas.openxmlformats.org/drawingml/2006/main">
            <a:r>
              <a:t>Le stockage par clé et les événements répondent à des besoins distincts. Le premier retrouve un enregistrement identifié ; le second illustre la transmission entre producteur et consommateur. Dans ce prototype, les sorties et les compteurs permettent de vérifier le scénario, sans démontrer la résistance à une panne de broker ou une livraison exactement une fois.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Hive et Drill s’appuient tous deux sur DuckDB. Spark utilise PySpark local si disponible et un repli pandas explicite sinon. Les ANOVA sont exploratoires ; les données ne démontrent pas à elles seules une causalité régionale.</a:t>
            </a:r>
          </a:p>
          <a:p xmlns:a="http://schemas.openxmlformats.org/drawingml/2006/main">
            <a:r>
              <a:t/>
            </a:r>
          </a:p>
          <a:p xmlns:a="http://schemas.openxmlformats.org/drawingml/2006/main">
            <a:r>
              <a:t>[Sources]</a:t>
            </a:r>
          </a:p>
          <a:p xmlns:a="http://schemas.openxmlformats.org/drawingml/2006/main">
            <a:r>
              <a:t>Dépôt : src/10_hive_queries.py</a:t>
            </a:r>
          </a:p>
          <a:p xmlns:a="http://schemas.openxmlformats.org/drawingml/2006/main">
            <a:r>
              <a:t>Dépôt : src/11_spark_analysis.py</a:t>
            </a:r>
          </a:p>
          <a:p xmlns:a="http://schemas.openxmlformats.org/drawingml/2006/main">
            <a:r>
              <a:t>Dépôt : src/12_drill_queries.py</a:t>
            </a:r>
          </a:p>
          <a:p xmlns:a="http://schemas.openxmlformats.org/drawingml/2006/main">
            <a:r>
              <a:t>Dépôt : R/analyse_pipeline.R</a:t>
            </a:r>
          </a:p>
          <a:p xmlns:a="http://schemas.openxmlformats.org/drawingml/2006/main">
            <a:r>
              <a:t>[/Sources]</a:t>
            </a:r>
          </a:p>
          <a:p xmlns:a="http://schemas.openxmlformats.org/drawingml/2006/main">
            <a:r>
              <a:t/>
            </a:r>
          </a:p>
          <a:p xmlns:a="http://schemas.openxmlformats.org/drawingml/2006/main">
            <a:r>
              <a:t>Les voies d’analyse partagent les mêmes données enrichies. Les exports SQL alimentent l’exploration et les classements ; les calculs statistiques résument des distributions et comparent des groupes. Une différence entre régions peut refléter d’autres variables absentes du lot. Les résultats doivent rester associés à leur trait, leur unité et leur population.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 dashboard existant est conservé. Son générateur détecte le marqueur data-static-dashboard=v2 et ne réécrit pas la page éditoriale. Les tableaux sont dynamiques depuis les CSV, mais une partie de la synthèse est figée.</a:t>
            </a:r>
          </a:p>
          <a:p xmlns:a="http://schemas.openxmlformats.org/drawingml/2006/main">
            <a:r>
              <a:t/>
            </a:r>
          </a:p>
          <a:p xmlns:a="http://schemas.openxmlformats.org/drawingml/2006/main">
            <a:r>
              <a:t>[Sources]</a:t>
            </a:r>
          </a:p>
          <a:p xmlns:a="http://schemas.openxmlformats.org/drawingml/2006/main">
            <a:r>
              <a:t>Dépôt : reports/dashboard.html</a:t>
            </a:r>
          </a:p>
          <a:p xmlns:a="http://schemas.openxmlformats.org/drawingml/2006/main">
            <a:r>
              <a:t>Dépôt : reports/dashboard.js</a:t>
            </a:r>
          </a:p>
          <a:p xmlns:a="http://schemas.openxmlformats.org/drawingml/2006/main">
            <a:r>
              <a:t>Dépôt : src/05_dashboard.py</a:t>
            </a:r>
          </a:p>
          <a:p xmlns:a="http://schemas.openxmlformats.org/drawingml/2006/main">
            <a:r>
              <a:t>[/Sources]</a:t>
            </a:r>
          </a:p>
          <a:p xmlns:a="http://schemas.openxmlformats.org/drawingml/2006/main">
            <a:r>
              <a:t/>
            </a:r>
          </a:p>
          <a:p xmlns:a="http://schemas.openxmlformats.org/drawingml/2006/main">
            <a:r>
              <a:t>Le parcours de démonstration peut commencer par la synthèse, puis filtrer une catégorie comme Soja, trier un tableau et exporter les lignes. Vérifier les définitions des indicateurs avant la comparaison. La page et ses textes éditoriaux sont maintenus : un nouveau lot impose de vérifier leur cohérence avec les CSV actualisés.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Ne pas confondre le nombre de mesures, le nombre d’essais de la table de faits et les essais ayant des coordonnées exploitables. Le code de la carte est produit par le module de visualisation.</a:t>
            </a:r>
          </a:p>
          <a:p xmlns:a="http://schemas.openxmlformats.org/drawingml/2006/main">
            <a:r>
              <a:t/>
            </a:r>
          </a:p>
          <a:p xmlns:a="http://schemas.openxmlformats.org/drawingml/2006/main">
            <a:r>
              <a:t>[Sources]</a:t>
            </a:r>
          </a:p>
          <a:p xmlns:a="http://schemas.openxmlformats.org/drawingml/2006/main">
            <a:r>
              <a:t>Dépôt : src/04_visualisation.py</a:t>
            </a:r>
          </a:p>
          <a:p xmlns:a="http://schemas.openxmlformats.org/drawingml/2006/main">
            <a:r>
              <a:t>Dépôt : reports/carte_essais.html</a:t>
            </a:r>
          </a:p>
          <a:p xmlns:a="http://schemas.openxmlformats.org/drawingml/2006/main">
            <a:r>
              <a:t>[/Sources]</a:t>
            </a:r>
          </a:p>
          <a:p xmlns:a="http://schemas.openxmlformats.org/drawingml/2006/main">
            <a:r>
              <a:t/>
            </a:r>
          </a:p>
          <a:p xmlns:a="http://schemas.openxmlformats.org/drawingml/2006/main">
            <a:r>
              <a:t>La carte illustre la couverture géographique des métadonnées disponibles. Des essais sans coordonnées contribuent encore aux analyses qui ne nécessitent pas de localisation. La connectivité Internet influence l’affichage des fonds cartographiques, pas l’existence des données sources. Ce point évite d’interpréter une carte blanche comme une perte de données.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 modèle utilise des variables disponibles dans le lot. Leur disponibilité avant décision doit être confirmée métier. Le seuil de 80 q/ha est une convention globale qui doit être validée par catégorie agronomique.</a:t>
            </a:r>
          </a:p>
          <a:p xmlns:a="http://schemas.openxmlformats.org/drawingml/2006/main">
            <a:r>
              <a:t/>
            </a:r>
          </a:p>
          <a:p xmlns:a="http://schemas.openxmlformats.org/drawingml/2006/main">
            <a:r>
              <a:t>[Sources]</a:t>
            </a:r>
          </a:p>
          <a:p xmlns:a="http://schemas.openxmlformats.org/drawingml/2006/main">
            <a:r>
              <a:t>Dépôt : src/13_prediction.py</a:t>
            </a:r>
          </a:p>
          <a:p xmlns:a="http://schemas.openxmlformats.org/drawingml/2006/main">
            <a:r>
              <a:t>[/Sources]</a:t>
            </a:r>
          </a:p>
          <a:p xmlns:a="http://schemas.openxmlformats.org/drawingml/2006/main">
            <a:r>
              <a:t/>
            </a:r>
          </a:p>
          <a:p xmlns:a="http://schemas.openxmlformats.org/drawingml/2006/main">
            <a:r>
              <a:t>La régression estime une valeur numérique, alors que la classification estime l’appartenance à une classe. Ces objectifs ne sont pas interchangeables. La sélection de variables exclut plusieurs informations liées aux rendements observés pour limiter les fuites. La pertinence prédictive reste limitée par l’absence de météo, de sol et de conduite culturale.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 classification recherche des paramètres et un seuil avec les prédictions hors pli sur le train uniquement. La régression utilise des paramètres fixés. Le test final évalue la généralisation temporelle, sans prouver une généralisation à d’autres sites ou campagnes.</a:t>
            </a:r>
          </a:p>
          <a:p xmlns:a="http://schemas.openxmlformats.org/drawingml/2006/main">
            <a:r>
              <a:t/>
            </a:r>
          </a:p>
          <a:p xmlns:a="http://schemas.openxmlformats.org/drawingml/2006/main">
            <a:r>
              <a:t>[Sources]</a:t>
            </a:r>
          </a:p>
          <a:p xmlns:a="http://schemas.openxmlformats.org/drawingml/2006/main">
            <a:r>
              <a:t>Dépôt : src/13_prediction.py</a:t>
            </a:r>
          </a:p>
          <a:p xmlns:a="http://schemas.openxmlformats.org/drawingml/2006/main">
            <a:r>
              <a:t>Dépôt : reports/prediction_report.json</a:t>
            </a:r>
          </a:p>
          <a:p xmlns:a="http://schemas.openxmlformats.org/drawingml/2006/main">
            <a:r>
              <a:t>[/Sources]</a:t>
            </a:r>
          </a:p>
          <a:p xmlns:a="http://schemas.openxmlformats.org/drawingml/2006/main">
            <a:r>
              <a:t/>
            </a:r>
          </a:p>
          <a:p xmlns:a="http://schemas.openxmlformats.org/drawingml/2006/main">
            <a:r>
              <a:t>Le découpage temporel évalue le modèle sur une année plus récente. La validation groupée empêche de répartir les lignes d’un même essai entre les plis de sélection. Le prétraitement appartient au pipeline appris, afin de ne pas utiliser les statistiques du jeu de test lors de l’ajustement. Ces règles réduisent les fuites d’information.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Les pipelines scikit-learn associent le prétraitement au modèle. Les valeurs numériques manquantes sont imputées à partir de l’apprentissage ; les catégories sont également imputées et encodées. L’API charge ces objets pour appliquer exactement les transformations apprises, au lieu de recalculer un encodage indépendant à chaque requête. Les données 2018 sont réservées à l’évaluation finale. Une catégorie inconnue peut être traitée techniquement sans que la prédiction soit pertinente scientifiquement. La réponse de classification utilise le seuil de probabilité sélectionné sur les données d’apprentissage, distinct du seuil métier de 80 q/ha.</a:t>
            </a:r>
          </a:p>
          <a:p xmlns:a="http://schemas.openxmlformats.org/drawingml/2006/main">
            <a:r>
              <a:t/>
            </a:r>
          </a:p>
          <a:p xmlns:a="http://schemas.openxmlformats.org/drawingml/2006/main">
            <a:r>
              <a:t>[Sources]</a:t>
            </a:r>
          </a:p>
          <a:p xmlns:a="http://schemas.openxmlformats.org/drawingml/2006/main">
            <a:r>
              <a:t>Dépôt : src/13_prediction.py</a:t>
            </a:r>
          </a:p>
          <a:p xmlns:a="http://schemas.openxmlformats.org/drawingml/2006/main">
            <a:r>
              <a:t>Dépôt : platform_api.py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 référence prédit la moyenne du rendement de l’apprentissage. Le modèle améliore cette référence ; R² reste modéré. Ne pas présenter ces résultats comme suffisants pour décider automatiquement du choix des semences.</a:t>
            </a:r>
          </a:p>
          <a:p xmlns:a="http://schemas.openxmlformats.org/drawingml/2006/main">
            <a:r>
              <a:t/>
            </a:r>
          </a:p>
          <a:p xmlns:a="http://schemas.openxmlformats.org/drawingml/2006/main">
            <a:r>
              <a:t>[Sources]</a:t>
            </a:r>
          </a:p>
          <a:p xmlns:a="http://schemas.openxmlformats.org/drawingml/2006/main">
            <a:r>
              <a:t>Dépôt : reports/prediction_report.json</a:t>
            </a:r>
          </a:p>
          <a:p xmlns:a="http://schemas.openxmlformats.org/drawingml/2006/main">
            <a:r>
              <a:t>[/Sources]</a:t>
            </a:r>
          </a:p>
          <a:p xmlns:a="http://schemas.openxmlformats.org/drawingml/2006/main">
            <a:r>
              <a:t/>
            </a:r>
          </a:p>
          <a:p xmlns:a="http://schemas.openxmlformats.org/drawingml/2006/main">
            <a:r>
              <a:t>La MAE mesure la taille moyenne de l’erreur absolue ; le RMSE pénalise davantage les grandes erreurs. Le coefficient R² se lit par rapport à la variabilité des rendements de test. La comparaison à une référence simple permet de vérifier l’apport du modèle, mais ne suffit pas pour juger son utilité agronomique dans une décision réelle.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 matrice de confusion contient 4 891 vrais positifs, 2 534 faux positifs, 480 faux négatifs et 4 401 vrais négatifs pour le lot fourni. Le rappel élevé réduit les occasions manquées, mais génère des sélections erronées. Les métriques par espèce sont nécessaires : certaines catégories ont un F1 nul.</a:t>
            </a:r>
          </a:p>
          <a:p xmlns:a="http://schemas.openxmlformats.org/drawingml/2006/main">
            <a:r>
              <a:t/>
            </a:r>
          </a:p>
          <a:p xmlns:a="http://schemas.openxmlformats.org/drawingml/2006/main">
            <a:r>
              <a:t>[Sources]</a:t>
            </a:r>
          </a:p>
          <a:p xmlns:a="http://schemas.openxmlformats.org/drawingml/2006/main">
            <a:r>
              <a:t>Dépôt : reports/prediction_report.json</a:t>
            </a:r>
          </a:p>
          <a:p xmlns:a="http://schemas.openxmlformats.org/drawingml/2006/main">
            <a:r>
              <a:t>[/Sources]</a:t>
            </a:r>
          </a:p>
          <a:p xmlns:a="http://schemas.openxmlformats.org/drawingml/2006/main">
            <a:r>
              <a:t/>
            </a:r>
          </a:p>
          <a:p xmlns:a="http://schemas.openxmlformats.org/drawingml/2006/main">
            <a:r>
              <a:t>Le rappel répond à la question : quelle part des vrais rendements élevés est retrouvée ? La précision demande quelle part des alertes positives est correcte. Un seuil de probabilité bas peut améliorer le rappel en augmentant les faux positifs. Le compromis doit être choisi avec les utilisateurs selon le coût des erreurs.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L’API écoute par défaut sur 127.0.0.1:8080. Les clés X-API-Key de démonstration sont publiques et réservées à l’usage local. Le serveur des pages tourne séparément sur 8000. Aucun endpoint ne déclenche le pipeline.</a:t>
            </a:r>
          </a:p>
          <a:p xmlns:a="http://schemas.openxmlformats.org/drawingml/2006/main">
            <a:r>
              <a:t/>
            </a:r>
          </a:p>
          <a:p xmlns:a="http://schemas.openxmlformats.org/drawingml/2006/main">
            <a:r>
              <a:t>[Sources]</a:t>
            </a:r>
          </a:p>
          <a:p xmlns:a="http://schemas.openxmlformats.org/drawingml/2006/main">
            <a:r>
              <a:t>Dépôt : platform_api.py</a:t>
            </a:r>
          </a:p>
          <a:p xmlns:a="http://schemas.openxmlformats.org/drawingml/2006/main">
            <a:r>
              <a:t>Dépôt : README.md</a:t>
            </a:r>
          </a:p>
          <a:p xmlns:a="http://schemas.openxmlformats.org/drawingml/2006/main">
            <a:r>
              <a:t>[/Sources]</a:t>
            </a:r>
          </a:p>
          <a:p xmlns:a="http://schemas.openxmlformats.org/drawingml/2006/main">
            <a:r>
              <a:t/>
            </a:r>
          </a:p>
          <a:p xmlns:a="http://schemas.openxmlformats.org/drawingml/2006/main">
            <a:r>
              <a:t>Le serveur contrôle le rôle avant d’exécuter une action protégée. Les requêtes de recherche interrogent le catalogue local ; les prédictions chargent les modèles fournis. L’API ne calcule pas de nouveau pipeline. Les clés sont destinées à la démonstration : une exposition réseau plus large nécessite une conception d’authentification et d’exploitation adaptée.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Exemple de format, et non recommandation agronomique. Envoyer un POST sur http://127.0.0.1:8080/api/predict avec Content-Type: application/json et X-API-Key: semences-researcher-demo. Le corps complet est {"YEAR":2018,"REPLICATION_NUM":1,"ENTRY_NUM":10,"SPECIES":"W","SPECIES_SPECIFICITY":"","REGION":"CENTRE"}. Les six clés sont obligatoires. Utiliser des codes et régions présents dans les données pour une démonstration interprétable. Le README contient la commande PowerShell Invoke-RestMethod prête à copier. La clé publique de démonstration donne le rôle chercheur ; les clés ne sont pas des identifiants de production.</a:t>
            </a:r>
          </a:p>
          <a:p xmlns:a="http://schemas.openxmlformats.org/drawingml/2006/main">
            <a:r>
              <a:t/>
            </a:r>
          </a:p>
          <a:p xmlns:a="http://schemas.openxmlformats.org/drawingml/2006/main">
            <a:r>
              <a:t>[Sources]</a:t>
            </a:r>
          </a:p>
          <a:p xmlns:a="http://schemas.openxmlformats.org/drawingml/2006/main">
            <a:r>
              <a:t>Dépôt : README.md</a:t>
            </a:r>
          </a:p>
          <a:p xmlns:a="http://schemas.openxmlformats.org/drawingml/2006/main">
            <a:r>
              <a:t>Dépôt : platform_api.py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L’API expose deux problèmes différents : prédire une valeur continue et estimer une classe. Le booléen high_yield provient de la probabilité du classifieur, pas d’une comparaison de la sortie de régression avec 80. Le seuil de rendement définit la cible pendant l’apprentissage ; le seuil de probabilité transforme le score de classification en décision. Le seuil 0,41 est celui du rapport fourni et peut changer après réentraînement. Vérifier le JSON actuel plutôt que figer cette valeur dans un nouveau client. Aucun résultat de prédiction individuel n’est inventé dans cette présentation.</a:t>
            </a:r>
          </a:p>
          <a:p xmlns:a="http://schemas.openxmlformats.org/drawingml/2006/main">
            <a:r>
              <a:t/>
            </a:r>
          </a:p>
          <a:p xmlns:a="http://schemas.openxmlformats.org/drawingml/2006/main">
            <a:r>
              <a:t>[Sources]</a:t>
            </a:r>
          </a:p>
          <a:p xmlns:a="http://schemas.openxmlformats.org/drawingml/2006/main">
            <a:r>
              <a:t>Dépôt : platform_api.py</a:t>
            </a:r>
          </a:p>
          <a:p xmlns:a="http://schemas.openxmlformats.org/drawingml/2006/main">
            <a:r>
              <a:t>Dépôt : reports/prediction_report.json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 checkpoint ne valide pas l’existence ni la fraîcheur de chaque fichier. Une suppression de sorties ou un changement de code impose une exécution complète. Ne pas exécuter deux pipelines dans le même dossier en parallèle.</a:t>
            </a:r>
          </a:p>
          <a:p xmlns:a="http://schemas.openxmlformats.org/drawingml/2006/main">
            <a:r>
              <a:t/>
            </a:r>
          </a:p>
          <a:p xmlns:a="http://schemas.openxmlformats.org/drawingml/2006/main">
            <a:r>
              <a:t>[Sources]</a:t>
            </a:r>
          </a:p>
          <a:p xmlns:a="http://schemas.openxmlformats.org/drawingml/2006/main">
            <a:r>
              <a:t>Dépôt : main.py</a:t>
            </a:r>
          </a:p>
          <a:p xmlns:a="http://schemas.openxmlformats.org/drawingml/2006/main">
            <a:r>
              <a:t>Dépôt : src/11_spark_analysis.py</a:t>
            </a:r>
          </a:p>
          <a:p xmlns:a="http://schemas.openxmlformats.org/drawingml/2006/main">
            <a:r>
              <a:t>[/Sources]</a:t>
            </a:r>
          </a:p>
          <a:p xmlns:a="http://schemas.openxmlformats.org/drawingml/2006/main">
            <a:r>
              <a:t/>
            </a:r>
          </a:p>
          <a:p xmlns:a="http://schemas.openxmlformats.org/drawingml/2006/main">
            <a:r>
              <a:t>Une reprise est utile si un incident survient après plusieurs étapes coûteuses déjà terminées. Elle est inadaptée lorsque les sources ou la logique amont ont changé, car un résultat marqué OK peut alors être obsolète. Conserver le journal, identifier la phase fautive et corriger la cause avant de choisir entre reprise et recalcul complet.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Commande de référence : python -m unittest discover -s tests -v. Les tests reposent sur les données et artefacts de démonstration. Ils ne remplacent pas des tests de charge ou un audit complet de sécurité. Le README contient les commandes exactes.</a:t>
            </a:r>
          </a:p>
          <a:p xmlns:a="http://schemas.openxmlformats.org/drawingml/2006/main">
            <a:r>
              <a:t/>
            </a:r>
          </a:p>
          <a:p xmlns:a="http://schemas.openxmlformats.org/drawingml/2006/main">
            <a:r>
              <a:t>[Sources]</a:t>
            </a:r>
          </a:p>
          <a:p xmlns:a="http://schemas.openxmlformats.org/drawingml/2006/main">
            <a:r>
              <a:t>Dépôt : tests/test_platform.py</a:t>
            </a:r>
          </a:p>
          <a:p xmlns:a="http://schemas.openxmlformats.org/drawingml/2006/main">
            <a:r>
              <a:t>Dépôt : README.md</a:t>
            </a:r>
          </a:p>
          <a:p xmlns:a="http://schemas.openxmlformats.org/drawingml/2006/main">
            <a:r>
              <a:t>[/Sources]</a:t>
            </a:r>
          </a:p>
          <a:p xmlns:a="http://schemas.openxmlformats.org/drawingml/2006/main">
            <a:r>
              <a:t/>
            </a:r>
          </a:p>
          <a:p xmlns:a="http://schemas.openxmlformats.org/drawingml/2006/main">
            <a:r>
              <a:t>Les preuves doivent être cohérentes entre elles : succès des étapes, présence des fichiers attendus, fonctionnement des usages et bilan des tests. Un statut isolé ne garantit pas la qualité scientifique. Le lot livré dispose de 25 tests réussis, couvrant les contrats, l’intégration et plusieurs régressions corrigées.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Ces limites définissent le périmètre du prototype. Les fichiers du dépôt constituent une démonstration locale reproductible. Les futurs composants ne sont pas annoncés comme déjà installés ou opérationnels.</a:t>
            </a:r>
          </a:p>
          <a:p xmlns:a="http://schemas.openxmlformats.org/drawingml/2006/main">
            <a:r>
              <a:t/>
            </a:r>
          </a:p>
          <a:p xmlns:a="http://schemas.openxmlformats.org/drawingml/2006/main">
            <a:r>
              <a:t>[Sources]</a:t>
            </a:r>
          </a:p>
          <a:p xmlns:a="http://schemas.openxmlformats.org/drawingml/2006/main">
            <a:r>
              <a:t>Dépôt : docs/ROADMAP.md</a:t>
            </a:r>
          </a:p>
          <a:p xmlns:a="http://schemas.openxmlformats.org/drawingml/2006/main">
            <a:r>
              <a:t>Dépôt : docs/ML_DATA_REQUIREMENTS.md</a:t>
            </a:r>
          </a:p>
          <a:p xmlns:a="http://schemas.openxmlformats.org/drawingml/2006/main">
            <a:r>
              <a:t>Dépôt : platform_api.py</a:t>
            </a:r>
          </a:p>
          <a:p xmlns:a="http://schemas.openxmlformats.org/drawingml/2006/main">
            <a:r>
              <a:t>[/Sources]</a:t>
            </a:r>
          </a:p>
          <a:p xmlns:a="http://schemas.openxmlformats.org/drawingml/2006/main">
            <a:r>
              <a:t/>
            </a:r>
          </a:p>
          <a:p xmlns:a="http://schemas.openxmlformats.org/drawingml/2006/main">
            <a:r>
              <a:t>L’industrialisation n’est pas un simple changement de nom des technologies. Elle demande de définir les volumes, les utilisateurs, la fréquence d’actualisation et les exigences de disponibilité, puis de choisir les services correspondants. Les limites scientifiques demandent également de nouvelles données et une évaluation dans le contexte réel d’utilisation.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 cible évoquée dans la documentation comprend stockage objet/HDFS, Kafka, NiFi, Spark et Hive, avec catalogue et BI. Il s’agit d’une proposition à dimensionner. Aucun débit, coût, SLA ni date de déploiement ne sont inventés.</a:t>
            </a:r>
          </a:p>
          <a:p xmlns:a="http://schemas.openxmlformats.org/drawingml/2006/main">
            <a:r>
              <a:t/>
            </a:r>
          </a:p>
          <a:p xmlns:a="http://schemas.openxmlformats.org/drawingml/2006/main">
            <a:r>
              <a:t>[Sources]</a:t>
            </a:r>
          </a:p>
          <a:p xmlns:a="http://schemas.openxmlformats.org/drawingml/2006/main">
            <a:r>
              <a:t>Dépôt : docs/ARCHITECTURE_CHOICES.md</a:t>
            </a:r>
          </a:p>
          <a:p xmlns:a="http://schemas.openxmlformats.org/drawingml/2006/main">
            <a:r>
              <a:t>Dépôt : docs/ROADMAP.md</a:t>
            </a:r>
          </a:p>
          <a:p xmlns:a="http://schemas.openxmlformats.org/drawingml/2006/main">
            <a:r>
              <a:t>[/Sources]</a:t>
            </a:r>
          </a:p>
          <a:p xmlns:a="http://schemas.openxmlformats.org/drawingml/2006/main">
            <a:r>
              <a:t/>
            </a:r>
          </a:p>
          <a:p xmlns:a="http://schemas.openxmlformats.org/drawingml/2006/main">
            <a:r>
              <a:t>Chaque étape doit apporter des preuves adaptées : reproduction sur un autre poste pour le prototype, reprise après incident pour la préproduction, puis supervision et validation métier pour l’exploitation. La cible doit être dimensionnée à partir d’un besoin mesuré, sans annoncer de débit, coût ou engagement de service qui n’a pas été testé.</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Ce parcours utilise les résultats déjà inclus dans le dépôt. Installer Python si nécessaire, puis télécharger tous les fichiers et extraire l’archive avant d’exécuter les commandes. Le terminal doit être placé dans la racine du projet ; ne pas servir uniquement le dossier reports. Sous Windows, py -3.12 sélectionne la version de référence. Si le lanceur py est absent mais que python fonctionne, remplacer py -3.12 par python. Le mode --demo vérifie les fichiers nécessaires à la consultation sans demander R ni les bibliothèques d’analyse. Garder le terminal ouvert. Un double-clic sur le HTML peut empêcher le chargement des CSV.</a:t>
            </a:r>
          </a:p>
          <a:p xmlns:a="http://schemas.openxmlformats.org/drawingml/2006/main">
            <a:r>
              <a:t/>
            </a:r>
          </a:p>
          <a:p xmlns:a="http://schemas.openxmlformats.org/drawingml/2006/main">
            <a:r>
              <a:t>[Sources]</a:t>
            </a:r>
          </a:p>
          <a:p xmlns:a="http://schemas.openxmlformats.org/drawingml/2006/main">
            <a:r>
              <a:t>Dépôt : README.md</a:t>
            </a:r>
          </a:p>
          <a:p xmlns:a="http://schemas.openxmlformats.org/drawingml/2006/main">
            <a:r>
              <a:t>Dépôt : tools/check_environment.py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Exécuter les commandes dans l’ordre, dans le même terminal PowerShell. La variable $py contient le chemin de l’interpréteur du projet ; le symbole &amp; demande à PowerShell de l’exécuter. Cette méthode n’impose pas d’activer l’environnement ni de modifier la politique d’exécution. Les dépendances sont fixées dans requirements.txt. R de base suffit pour la phase automatisée ; les packages du script R complémentaire ne sont pas requis pour main.py. Le poste de validation utilise Java 11 et Python 3.12. Ne pas ajouter des mises à jour de bibliothèques pendant une démonstration déjà préparée.</a:t>
            </a:r>
          </a:p>
          <a:p xmlns:a="http://schemas.openxmlformats.org/drawingml/2006/main">
            <a:r>
              <a:t/>
            </a:r>
          </a:p>
          <a:p xmlns:a="http://schemas.openxmlformats.org/drawingml/2006/main">
            <a:r>
              <a:t>[Sources]</a:t>
            </a:r>
          </a:p>
          <a:p xmlns:a="http://schemas.openxmlformats.org/drawingml/2006/main">
            <a:r>
              <a:t>Dépôt : README.md</a:t>
            </a:r>
          </a:p>
          <a:p xmlns:a="http://schemas.openxmlformats.org/drawingml/2006/main">
            <a:r>
              <a:t>Dépôt : requirements.txt</a:t>
            </a:r>
          </a:p>
          <a:p xmlns:a="http://schemas.openxmlformats.org/drawingml/2006/main">
            <a:r>
              <a:t>Dépôt : R/analyse_pipeline.R</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 variable $py est définie à la diapositive précédente. Un diagnostic positif vérifie la présence des prérequis, pas la réussite de tous les calculs. Lancer ensuite main.py sans --resume pour un premier calcul ou après changement des sources. Le pipeline s’arrête au premier échec. Après correction, une reprise peut réutiliser les phases validées, mais ne vérifie pas automatiquement la fraîcheur des fichiers. La suite de tests doit se terminer par OK ; certains tests provoquent volontairement des erreurs et peuvent afficher des messages intermédiaires. Le lot livré a été validé avec 25 tests réussis ; la durée d’exécution dépend de la machine.</a:t>
            </a:r>
          </a:p>
          <a:p xmlns:a="http://schemas.openxmlformats.org/drawingml/2006/main">
            <a:r>
              <a:t/>
            </a:r>
          </a:p>
          <a:p xmlns:a="http://schemas.openxmlformats.org/drawingml/2006/main">
            <a:r>
              <a:t>[Sources]</a:t>
            </a:r>
          </a:p>
          <a:p xmlns:a="http://schemas.openxmlformats.org/drawingml/2006/main">
            <a:r>
              <a:t>Dépôt : README.md</a:t>
            </a:r>
          </a:p>
          <a:p xmlns:a="http://schemas.openxmlformats.org/drawingml/2006/main">
            <a:r>
              <a:t>Dépôt : tools/check_environment.py</a:t>
            </a:r>
          </a:p>
          <a:p xmlns:a="http://schemas.openxmlformats.org/drawingml/2006/main">
            <a:r>
              <a:t>Dépôt : main.py</a:t>
            </a:r>
          </a:p>
          <a:p xmlns:a="http://schemas.openxmlformats.org/drawingml/2006/main">
            <a:r>
              <a:t>Dépôt : reports/test_report.json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Ouvrir chaque terminal dans la racine du projet. Le serveur HTTP et l’API sont des processus persistants : une console qui reste occupée après le message de démarrage est normale. La route /api/health est publique ; une route protégée nécessite un en-tête X-API-Key, ce qui se teste avec PowerShell ou un client HTTP. Pour changer le port HTTP, remplacer 8000 par 8001 dans la commande et l’URL. Pour changer le port API, utiliser SEMENCES_PORT avant le lancement. Fermer le serveur arrête l’accès, sans supprimer ni recalculer les données.</a:t>
            </a:r>
          </a:p>
          <a:p xmlns:a="http://schemas.openxmlformats.org/drawingml/2006/main">
            <a:r>
              <a:t/>
            </a:r>
          </a:p>
          <a:p xmlns:a="http://schemas.openxmlformats.org/drawingml/2006/main">
            <a:r>
              <a:t>[Sources]</a:t>
            </a:r>
          </a:p>
          <a:p xmlns:a="http://schemas.openxmlformats.org/drawingml/2006/main">
            <a:r>
              <a:t>Dépôt : README.md</a:t>
            </a:r>
          </a:p>
          <a:p xmlns:a="http://schemas.openxmlformats.org/drawingml/2006/main">
            <a:r>
              <a:t>Dépôt : platform_api.py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Ces commandes sont documentées pour Linux et macOS, mais la validation complète du dépôt a été réalisée sous Windows. Installer Python 3.12, R et Java avec les moyens adaptés au système, puis vérifier qu’ils sont accessibles dans le PATH. Après l’activation de .venv, python doit désigner l’interpréteur de cet environnement. Dans un autre terminal à la racine, servir les pages avec python3 -m http.server 8000 --bind 127.0.0.1. Pour l’API, réactiver .venv dans le nouveau terminal puis lancer python -X utf8 platform_api.py. La consultation des résultats fournis reste possible sans recalculer le pipeline.</a:t>
            </a:r>
          </a:p>
          <a:p xmlns:a="http://schemas.openxmlformats.org/drawingml/2006/main">
            <a:r>
              <a:t/>
            </a:r>
          </a:p>
          <a:p xmlns:a="http://schemas.openxmlformats.org/drawingml/2006/main">
            <a:r>
              <a:t>[Sources]</a:t>
            </a:r>
          </a:p>
          <a:p xmlns:a="http://schemas.openxmlformats.org/drawingml/2006/main">
            <a:r>
              <a:t>Dépôt : README.md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 README contient les commandes Windows et Linux, les exemples PowerShell d’API et le dépannage. Pour une présentation rapide, les résultats fournis permettent d’ouvrir le portail sans recalculer le ML.</a:t>
            </a:r>
          </a:p>
          <a:p xmlns:a="http://schemas.openxmlformats.org/drawingml/2006/main">
            <a:r>
              <a:t/>
            </a:r>
          </a:p>
          <a:p xmlns:a="http://schemas.openxmlformats.org/drawingml/2006/main">
            <a:r>
              <a:t>[Sources]</a:t>
            </a:r>
          </a:p>
          <a:p xmlns:a="http://schemas.openxmlformats.org/drawingml/2006/main">
            <a:r>
              <a:t>Dépôt : README.md</a:t>
            </a:r>
          </a:p>
          <a:p xmlns:a="http://schemas.openxmlformats.org/drawingml/2006/main">
            <a:r>
              <a:t>[/Sources]</a:t>
            </a:r>
          </a:p>
          <a:p xmlns:a="http://schemas.openxmlformats.org/drawingml/2006/main">
            <a:r>
              <a:t/>
            </a:r>
          </a:p>
          <a:p xmlns:a="http://schemas.openxmlformats.org/drawingml/2006/main">
            <a:r>
              <a:t>Pour une démonstration fluide, préparer les prérequis et vérifier les résultats avant la soutenance. Ouvrir le portail, montrer un filtre et un export, expliquer la couverture de la carte, puis interroger la recherche et la prédiction. Conclure sur les résultats observés et les limites, en montrant les preuves JSON si une question technique l’exige.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Commencer par lire le premier message d’erreur, pas seulement la dernière ligne de la console. Un package installé dans le Python global n’est pas forcément disponible dans .venv. Si Spark se replie sur pandas, le pipeline peut continuer mais cela ne constitue pas une exécution PySpark ; consulter spark_report.json. Si les tableaux sont vides, vérifier le serveur, le chemin des CSV et la console du navigateur. Une API 403 n’est pas un échec du modèle : elle signale un accès interdit. Éviter deux pipelines simultanés, et refaire un calcul complet quand les résultats ne correspondent plus aux sources.</a:t>
            </a:r>
          </a:p>
          <a:p xmlns:a="http://schemas.openxmlformats.org/drawingml/2006/main">
            <a:r>
              <a:t/>
            </a:r>
          </a:p>
          <a:p xmlns:a="http://schemas.openxmlformats.org/drawingml/2006/main">
            <a:r>
              <a:t>[Sources]</a:t>
            </a:r>
          </a:p>
          <a:p xmlns:a="http://schemas.openxmlformats.org/drawingml/2006/main">
            <a:r>
              <a:t>Dépôt : README.md</a:t>
            </a:r>
          </a:p>
          <a:p xmlns:a="http://schemas.openxmlformats.org/drawingml/2006/main">
            <a:r>
              <a:t>Dépôt : platform_api.py</a:t>
            </a:r>
          </a:p>
          <a:p xmlns:a="http://schemas.openxmlformats.org/drawingml/2006/main">
            <a:r>
              <a:t>Dépôt : main.py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 travail peut être réparti entre ingestion et qualité, stockage et SQL, statistiques et ML, restitution et documentation. Chaque modification doit être accompagnée de la mise à jour des contrats réellement affectés. Une nouvelle source impose d’adapter l’import, l’ETL, le catalogue et les tests ; une nouvelle sortie implique de vérifier ses consommateurs. Pour la remise, tools/prepare_submission.py crée une archive sans environnement virtuel, historique Git, caches ou PDF. Conserver les données et ressources nécessaires à la démonstration. Les rôles sont proposés au groupe sans attribuer le travail à une personne.</a:t>
            </a:r>
          </a:p>
          <a:p xmlns:a="http://schemas.openxmlformats.org/drawingml/2006/main">
            <a:r>
              <a:t/>
            </a:r>
          </a:p>
          <a:p xmlns:a="http://schemas.openxmlformats.org/drawingml/2006/main">
            <a:r>
              <a:t>[Sources]</a:t>
            </a:r>
          </a:p>
          <a:p xmlns:a="http://schemas.openxmlformats.org/drawingml/2006/main">
            <a:r>
              <a:t>Dépôt : README.md</a:t>
            </a:r>
          </a:p>
          <a:p xmlns:a="http://schemas.openxmlformats.org/drawingml/2006/main">
            <a:r>
              <a:t>Dépôt : tools/prepare_submission.py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 prototype relie les sources aux usages et montre les limites scientifiques et techniques. La suite doit prioriser la qualité des données, la validation agronomique et une exploitation adaptée aux besoins réels. Les rôles de contribution peuvent être répartis dans le groupe sans attribution individuelle imposée.</a:t>
            </a:r>
          </a:p>
          <a:p xmlns:a="http://schemas.openxmlformats.org/drawingml/2006/main">
            <a:r>
              <a:t/>
            </a:r>
          </a:p>
          <a:p xmlns:a="http://schemas.openxmlformats.org/drawingml/2006/main">
            <a:r>
              <a:t>[Sources]</a:t>
            </a:r>
          </a:p>
          <a:p xmlns:a="http://schemas.openxmlformats.org/drawingml/2006/main">
            <a:r>
              <a:t>Dépôt : README.md</a:t>
            </a:r>
          </a:p>
          <a:p xmlns:a="http://schemas.openxmlformats.org/drawingml/2006/main">
            <a:r>
              <a:t>Dépôt : docs/ROADMAP.md</a:t>
            </a:r>
          </a:p>
          <a:p xmlns:a="http://schemas.openxmlformats.org/drawingml/2006/main">
            <a:r>
              <a:t>[/Sources]</a:t>
            </a:r>
          </a:p>
          <a:p xmlns:a="http://schemas.openxmlformats.org/drawingml/2006/main">
            <a:r>
              <a:t/>
            </a:r>
          </a:p>
          <a:p xmlns:a="http://schemas.openxmlformats.org/drawingml/2006/main">
            <a:r>
              <a:t>La valeur du travail de groupe vient de la cohérence entre sources, transformations, résultats et documentation. Une personne qui récupère le dépôt doit pouvoir choisir la consultation rapide ou le recalcul complet, connaître les prérequis et vérifier le résultat. Les évolutions doivent conserver cette capacité de reproduction et améliorer la qualité métier.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6bb9970f7894c1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164855a257e4ebb" /><Relationship Type="http://schemas.openxmlformats.org/officeDocument/2006/relationships/slideLayout" Target="/ppt/slideLayouts/slideLayout1.xml" Id="R120d625b63f248f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20d625b63f248f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09a9158c73244ab2" /><Relationship Type="http://schemas.openxmlformats.org/officeDocument/2006/relationships/notesSlide" Target="/ppt/notesSlides/notesSlide1.xml" Id="R4e96f452f26e4dcf"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bb0444451a694a3f" /><Relationship Type="http://schemas.openxmlformats.org/officeDocument/2006/relationships/notesSlide" Target="/ppt/notesSlides/notesSlide2.xml" Id="R4f39bd2a24234059"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a55cebbaf0ef47d3" /><Relationship Type="http://schemas.openxmlformats.org/officeDocument/2006/relationships/notesSlide" Target="/ppt/notesSlides/notesSlide3.xml" Id="Rf3eb17fa34f14dc7"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5ea24a8fdaa24d50" /><Relationship Type="http://schemas.openxmlformats.org/officeDocument/2006/relationships/notesSlide" Target="/ppt/notesSlides/notesSlide4.xml" Id="R68dd5234450f4b7f"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9660e733eec04947" /><Relationship Type="http://schemas.openxmlformats.org/officeDocument/2006/relationships/notesSlide" Target="/ppt/notesSlides/notesSlide5.xml" Id="R1a6cf427cf344759"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d998e6eb75cc468a" /><Relationship Type="http://schemas.openxmlformats.org/officeDocument/2006/relationships/notesSlide" Target="/ppt/notesSlides/notesSlide6.xml" Id="R66cd3d93cde54e3f"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534da31c529045d6" /><Relationship Type="http://schemas.openxmlformats.org/officeDocument/2006/relationships/notesSlide" Target="/ppt/notesSlides/notesSlide7.xml" Id="R0d5f8929b79a486b"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0d039cc08c5a44c0" /><Relationship Type="http://schemas.openxmlformats.org/officeDocument/2006/relationships/notesSlide" Target="/ppt/notesSlides/notesSlide8.xml" Id="R47209f57a01941d6"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bf1f821be98c4c19" /><Relationship Type="http://schemas.openxmlformats.org/officeDocument/2006/relationships/notesSlide" Target="/ppt/notesSlides/notesSlide9.xml" Id="R8598c7d9a4674d4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8540f99c250e4821" /><Relationship Type="http://schemas.openxmlformats.org/officeDocument/2006/relationships/notesSlide" Target="/ppt/notesSlides/notesSlide10.xml" Id="R0b6468a617b54c70"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62f97797a8944e46" /><Relationship Type="http://schemas.openxmlformats.org/officeDocument/2006/relationships/notesSlide" Target="/ppt/notesSlides/notesSlide11.xml" Id="Re601378828154ab4"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827a9bdb06314770" /><Relationship Type="http://schemas.openxmlformats.org/officeDocument/2006/relationships/notesSlide" Target="/ppt/notesSlides/notesSlide12.xml" Id="R41b1fb55aab44f97"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fcecc707575c4e27" /><Relationship Type="http://schemas.openxmlformats.org/officeDocument/2006/relationships/notesSlide" Target="/ppt/notesSlides/notesSlide13.xml" Id="Reb84ba70040b4e3d"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cadd048cfcac4dfc" /><Relationship Type="http://schemas.openxmlformats.org/officeDocument/2006/relationships/notesSlide" Target="/ppt/notesSlides/notesSlide14.xml" Id="Ra502be2628d0471c"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c8642ac298ec43f6" /><Relationship Type="http://schemas.openxmlformats.org/officeDocument/2006/relationships/notesSlide" Target="/ppt/notesSlides/notesSlide15.xml" Id="Re74d8761ab4a4b36"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c269b96cde7c4e74" /><Relationship Type="http://schemas.openxmlformats.org/officeDocument/2006/relationships/notesSlide" Target="/ppt/notesSlides/notesSlide16.xml" Id="R6c5b9ef8189840bb"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7ca989f08e7b40f6" /><Relationship Type="http://schemas.openxmlformats.org/officeDocument/2006/relationships/notesSlide" Target="/ppt/notesSlides/notesSlide17.xml" Id="R1ae80e7842e54b1e"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88f6beb5311b4eac" /><Relationship Type="http://schemas.openxmlformats.org/officeDocument/2006/relationships/notesSlide" Target="/ppt/notesSlides/notesSlide18.xml" Id="R69e4ba4f63d347e0"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aeaf7eeb88ff4db6" /><Relationship Type="http://schemas.openxmlformats.org/officeDocument/2006/relationships/notesSlide" Target="/ppt/notesSlides/notesSlide19.xml" Id="R23e69e5e1b8c4df3"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ba97a31bb0bd45d0" /><Relationship Type="http://schemas.openxmlformats.org/officeDocument/2006/relationships/notesSlide" Target="/ppt/notesSlides/notesSlide20.xml" Id="Rb05829fed7f84ab1"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f217e47a538144a8" /><Relationship Type="http://schemas.openxmlformats.org/officeDocument/2006/relationships/notesSlide" Target="/ppt/notesSlides/notesSlide21.xml" Id="R5f9831fd5c764ac8"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fc9083e8716c49fb" /><Relationship Type="http://schemas.openxmlformats.org/officeDocument/2006/relationships/notesSlide" Target="/ppt/notesSlides/notesSlide22.xml" Id="Rceff797010444bc3"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b5b8ec56e3724310" /><Relationship Type="http://schemas.openxmlformats.org/officeDocument/2006/relationships/notesSlide" Target="/ppt/notesSlides/notesSlide23.xml" Id="R4bf5cdf6dccf44b4"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37524248beaf41b8" /><Relationship Type="http://schemas.openxmlformats.org/officeDocument/2006/relationships/notesSlide" Target="/ppt/notesSlides/notesSlide24.xml" Id="R05a4b10aa37a49e5"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c2571e41f97443d7" /><Relationship Type="http://schemas.openxmlformats.org/officeDocument/2006/relationships/notesSlide" Target="/ppt/notesSlides/notesSlide25.xml" Id="Rb4471b2bd6ba420d"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63f1eee5ae274552" /><Relationship Type="http://schemas.openxmlformats.org/officeDocument/2006/relationships/notesSlide" Target="/ppt/notesSlides/notesSlide26.xml" Id="Rfc88411ffa98472f"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49c245ebb5654461" /><Relationship Type="http://schemas.openxmlformats.org/officeDocument/2006/relationships/notesSlide" Target="/ppt/notesSlides/notesSlide27.xml" Id="R29e9fb0aa3fd4655"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b795d78d935f49bd" /><Relationship Type="http://schemas.openxmlformats.org/officeDocument/2006/relationships/notesSlide" Target="/ppt/notesSlides/notesSlide28.xml" Id="R6877e4836905421f"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9771139c91904f9c" /><Relationship Type="http://schemas.openxmlformats.org/officeDocument/2006/relationships/notesSlide" Target="/ppt/notesSlides/notesSlide29.xml" Id="Re36ff361975c4231"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5345b6363ee941b8" /><Relationship Type="http://schemas.openxmlformats.org/officeDocument/2006/relationships/notesSlide" Target="/ppt/notesSlides/notesSlide30.xml" Id="R624ca4d296ed4dc2"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984f95b782aa4cb4" /><Relationship Type="http://schemas.openxmlformats.org/officeDocument/2006/relationships/notesSlide" Target="/ppt/notesSlides/notesSlide31.xml" Id="R98e50b96feb74a53"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2ccffd32c0ea4d94" /><Relationship Type="http://schemas.openxmlformats.org/officeDocument/2006/relationships/notesSlide" Target="/ppt/notesSlides/notesSlide32.xml" Id="R0f680b7674174d58"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f204fdd1888a4cb9" /><Relationship Type="http://schemas.openxmlformats.org/officeDocument/2006/relationships/notesSlide" Target="/ppt/notesSlides/notesSlide33.xml" Id="R94b4ac061d6d4a70"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6b3805e6fcca4e2e" /><Relationship Type="http://schemas.openxmlformats.org/officeDocument/2006/relationships/notesSlide" Target="/ppt/notesSlides/notesSlide34.xml" Id="R0139ee4c22254c3f"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4f5852863163486f" /><Relationship Type="http://schemas.openxmlformats.org/officeDocument/2006/relationships/notesSlide" Target="/ppt/notesSlides/notesSlide35.xml" Id="Re7fcfc2f1b324352"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7d8e90576b914bf2" /><Relationship Type="http://schemas.openxmlformats.org/officeDocument/2006/relationships/notesSlide" Target="/ppt/notesSlides/notesSlide36.xml" Id="Rc81fc1b273084ec8"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034ee001aa7d47fb" /><Relationship Type="http://schemas.openxmlformats.org/officeDocument/2006/relationships/notesSlide" Target="/ppt/notesSlides/notesSlide37.xml" Id="R18eab736672340ef"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bd4963712643419d" /><Relationship Type="http://schemas.openxmlformats.org/officeDocument/2006/relationships/notesSlide" Target="/ppt/notesSlides/notesSlide38.xml" Id="Re42a1ef2f4524b1d"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67a5e8173c684d98" /><Relationship Type="http://schemas.openxmlformats.org/officeDocument/2006/relationships/notesSlide" Target="/ppt/notesSlides/notesSlide39.xml" Id="R1823df8113fd403c"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e8302de0512f4edc" /><Relationship Type="http://schemas.openxmlformats.org/officeDocument/2006/relationships/notesSlide" Target="/ppt/notesSlides/notesSlide40.xml" Id="Rd6fd6147b5e2425d"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SYSTÈME D’INFORMATION SEMENCIER">
            <a:extLst xmlns:a="http://schemas.openxmlformats.org/drawingml/2006/main">
              <a:ext uri="{FF2B5EF4-FFF2-40B4-BE49-F238E27FC236}">
                <a16:creationId xmlns:a16="http://schemas.microsoft.com/office/drawing/2014/main" id="{21A9BD2F-FA23-488C-A848-9E44ECF24491}"/>
              </a:ext>
            </a:extLst>
          </p:cNvPr>
          <p:cNvSpPr>
            <a:spLocks xmlns:a="http://schemas.openxmlformats.org/drawingml/2006/main" noGrp="1"/>
          </p:cNvSpPr>
          <p:nvPr/>
        </p:nvSpPr>
        <p:spPr>
          <a:xfrm xmlns:a="http://schemas.openxmlformats.org/drawingml/2006/main">
            <a:off x="400050" y="400050"/>
            <a:ext cx="113919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2100" b="1">
                <a:solidFill>
                  <a:srgbClr val="525860"/>
                </a:solidFill>
              </a:defRPr>
            </a:pPr>
            <a:r>
              <a:rPr sz="2100" b="1">
                <a:solidFill>
                  <a:srgbClr val="525860"/>
                </a:solidFill>
              </a:rPr>
              <a:t>SYSTÈME D’INFORMATION SEMENCIER</a:t>
            </a:r>
          </a:p>
        </p:txBody>
      </p:sp>
      <p:sp>
        <p:nvSpPr>
          <p:cNvPr id="2" name="Semences R&amp;D">
            <a:extLst xmlns:a="http://schemas.openxmlformats.org/drawingml/2006/main">
              <a:ext uri="{FF2B5EF4-FFF2-40B4-BE49-F238E27FC236}">
                <a16:creationId xmlns:a16="http://schemas.microsoft.com/office/drawing/2014/main" id="{DAAD3754-E6EE-4958-ACAE-7BA4506E2916}"/>
              </a:ext>
            </a:extLst>
          </p:cNvPr>
          <p:cNvSpPr>
            <a:spLocks xmlns:a="http://schemas.openxmlformats.org/drawingml/2006/main" noGrp="1"/>
          </p:cNvSpPr>
          <p:nvPr/>
        </p:nvSpPr>
        <p:spPr>
          <a:xfrm xmlns:a="http://schemas.openxmlformats.org/drawingml/2006/main">
            <a:off x="400050" y="2047875"/>
            <a:ext cx="113919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6600" b="1">
                <a:solidFill>
                  <a:srgbClr val="111111"/>
                </a:solidFill>
              </a:defRPr>
            </a:pPr>
            <a:r>
              <a:rPr sz="6600" b="1">
                <a:solidFill>
                  <a:srgbClr val="111111"/>
                </a:solidFill>
              </a:rPr>
              <a:t>Semences R&amp;D</a:t>
            </a:r>
          </a:p>
        </p:txBody>
      </p:sp>
      <p:sp>
        <p:nvSpPr>
          <p:cNvPr id="3" name="Architecture et fonctionnement&#10;d’une plateforme analytique locale">
            <a:extLst xmlns:a="http://schemas.openxmlformats.org/drawingml/2006/main">
              <a:ext uri="{FF2B5EF4-FFF2-40B4-BE49-F238E27FC236}">
                <a16:creationId xmlns:a16="http://schemas.microsoft.com/office/drawing/2014/main" id="{2F1DD5CD-2453-43D4-B819-6442AF045BCC}"/>
              </a:ext>
            </a:extLst>
          </p:cNvPr>
          <p:cNvSpPr>
            <a:spLocks xmlns:a="http://schemas.openxmlformats.org/drawingml/2006/main" noGrp="1"/>
          </p:cNvSpPr>
          <p:nvPr/>
        </p:nvSpPr>
        <p:spPr>
          <a:xfrm xmlns:a="http://schemas.openxmlformats.org/drawingml/2006/main">
            <a:off x="400050" y="3409950"/>
            <a:ext cx="108585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3450" b="0">
                <a:solidFill>
                  <a:srgbClr val="111111"/>
                </a:solidFill>
              </a:defRPr>
            </a:pPr>
            <a:r>
              <a:rPr sz="3450" b="0">
                <a:solidFill>
                  <a:srgbClr val="111111"/>
                </a:solidFill>
              </a:rPr>
              <a:t>Architecture et fonctionnement</a:t>
            </a:r>
          </a:p>
          <a:p xmlns:a="http://schemas.openxmlformats.org/drawingml/2006/main">
            <a:pPr>
              <a:buNone/>
              <a:defRPr sz="3450" b="0">
                <a:solidFill>
                  <a:srgbClr val="111111"/>
                </a:solidFill>
              </a:defRPr>
            </a:pPr>
            <a:r>
              <a:rPr sz="3450" b="0">
                <a:solidFill>
                  <a:srgbClr val="111111"/>
                </a:solidFill>
              </a:rPr>
              <a:t>d’une plateforme analytique locale</a:t>
            </a:r>
          </a:p>
        </p:txBody>
      </p:sp>
      <p:sp>
        <p:nvSpPr>
          <p:cNvPr id="4" name="Projet de groupe · Données, qualité, analyses et prédiction">
            <a:extLst xmlns:a="http://schemas.openxmlformats.org/drawingml/2006/main">
              <a:ext uri="{FF2B5EF4-FFF2-40B4-BE49-F238E27FC236}">
                <a16:creationId xmlns:a16="http://schemas.microsoft.com/office/drawing/2014/main" id="{BFD27B51-1A7D-4816-8E6B-30F3EE0753B2}"/>
              </a:ext>
            </a:extLst>
          </p:cNvPr>
          <p:cNvSpPr>
            <a:spLocks xmlns:a="http://schemas.openxmlformats.org/drawingml/2006/main" noGrp="1"/>
          </p:cNvSpPr>
          <p:nvPr/>
        </p:nvSpPr>
        <p:spPr>
          <a:xfrm xmlns:a="http://schemas.openxmlformats.org/drawingml/2006/main">
            <a:off x="400050" y="5600700"/>
            <a:ext cx="113919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525860"/>
                </a:solidFill>
              </a:defRPr>
            </a:pPr>
            <a:r>
              <a:rPr sz="1950" b="0">
                <a:solidFill>
                  <a:srgbClr val="525860"/>
                </a:solidFill>
              </a:rPr>
              <a:t>Projet de groupe · Données, qualité, analyses et prédiction</a:t>
            </a:r>
          </a:p>
        </p:txBody>
      </p:sp>
    </p:spTree>
    <p:extLst>
      <p:ext uri="{BB962C8B-B14F-4D97-AF65-F5344CB8AC3E}">
        <p14:creationId xmlns:p14="http://schemas.microsoft.com/office/powerpoint/2010/main" val="1911729838"/>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01 · BESOIN MÉTIER">
            <a:extLst xmlns:a="http://schemas.openxmlformats.org/drawingml/2006/main">
              <a:ext uri="{FF2B5EF4-FFF2-40B4-BE49-F238E27FC236}">
                <a16:creationId xmlns:a16="http://schemas.microsoft.com/office/drawing/2014/main" id="{4918FA1E-1CA2-4465-A3FD-8271B64D4ADB}"/>
              </a:ext>
            </a:extLst>
          </p:cNvPr>
          <p:cNvSpPr>
            <a:spLocks xmlns:a="http://schemas.openxmlformats.org/drawingml/2006/main" noGrp="1"/>
          </p:cNvSpPr>
          <p:nvPr/>
        </p:nvSpPr>
        <p:spPr>
          <a:xfrm xmlns:a="http://schemas.openxmlformats.org/drawingml/2006/main">
            <a:off x="400050" y="228600"/>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1">
                <a:solidFill>
                  <a:srgbClr val="525860"/>
                </a:solidFill>
              </a:defRPr>
            </a:pPr>
            <a:r>
              <a:rPr sz="1650" b="1">
                <a:solidFill>
                  <a:srgbClr val="525860"/>
                </a:solidFill>
              </a:rPr>
              <a:t>01 · BESOIN MÉTIER</a:t>
            </a:r>
          </a:p>
        </p:txBody>
      </p:sp>
      <p:sp>
        <p:nvSpPr>
          <p:cNvPr id="2" name="Une chaîne commune pour les essais">
            <a:extLst xmlns:a="http://schemas.openxmlformats.org/drawingml/2006/main">
              <a:ext uri="{FF2B5EF4-FFF2-40B4-BE49-F238E27FC236}">
                <a16:creationId xmlns:a16="http://schemas.microsoft.com/office/drawing/2014/main" id="{582004AA-442D-44BD-A084-3EF72F430642}"/>
              </a:ext>
            </a:extLst>
          </p:cNvPr>
          <p:cNvSpPr>
            <a:spLocks xmlns:a="http://schemas.openxmlformats.org/drawingml/2006/main" noGrp="1"/>
          </p:cNvSpPr>
          <p:nvPr/>
        </p:nvSpPr>
        <p:spPr>
          <a:xfrm xmlns:a="http://schemas.openxmlformats.org/drawingml/2006/main">
            <a:off x="400050" y="742950"/>
            <a:ext cx="113919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3600" b="1">
                <a:solidFill>
                  <a:srgbClr val="111111"/>
                </a:solidFill>
              </a:defRPr>
            </a:pPr>
            <a:r>
              <a:rPr sz="3600" b="1">
                <a:solidFill>
                  <a:srgbClr val="111111"/>
                </a:solidFill>
              </a:rPr>
              <a:t>Une chaîne commune pour les essais</a:t>
            </a:r>
          </a:p>
        </p:txBody>
      </p:sp>
      <p:sp>
        <p:nvSpPr>
          <p:cNvPr id="3" name="">
            <a:extLst xmlns:a="http://schemas.openxmlformats.org/drawingml/2006/main">
              <a:ext uri="{FF2B5EF4-FFF2-40B4-BE49-F238E27FC236}">
                <a16:creationId xmlns:a16="http://schemas.microsoft.com/office/drawing/2014/main" id="{90D8C472-0880-4E51-801C-ABC68E8D630A}"/>
              </a:ext>
            </a:extLst>
          </p:cNvPr>
          <p:cNvSpPr>
            <a:spLocks xmlns:a="http://schemas.openxmlformats.org/drawingml/2006/main" noGrp="1"/>
          </p:cNvSpPr>
          <p:nvPr/>
        </p:nvSpPr>
        <p:spPr>
          <a:xfrm xmlns:a="http://schemas.openxmlformats.org/drawingml/2006/main">
            <a:off x="400050" y="62293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4" name="SEMENCES R&amp;D · PROJET DE GROUPE">
            <a:extLst xmlns:a="http://schemas.openxmlformats.org/drawingml/2006/main">
              <a:ext uri="{FF2B5EF4-FFF2-40B4-BE49-F238E27FC236}">
                <a16:creationId xmlns:a16="http://schemas.microsoft.com/office/drawing/2014/main" id="{E367BF29-BD6B-4531-BBDA-2BF3824C149A}"/>
              </a:ext>
            </a:extLst>
          </p:cNvPr>
          <p:cNvSpPr>
            <a:spLocks xmlns:a="http://schemas.openxmlformats.org/drawingml/2006/main" noGrp="1"/>
          </p:cNvSpPr>
          <p:nvPr/>
        </p:nvSpPr>
        <p:spPr>
          <a:xfrm xmlns:a="http://schemas.openxmlformats.org/drawingml/2006/main">
            <a:off x="400050" y="641032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0">
                <a:solidFill>
                  <a:srgbClr val="525860"/>
                </a:solidFill>
              </a:defRPr>
            </a:pPr>
            <a:r>
              <a:rPr sz="1650" b="0">
                <a:solidFill>
                  <a:srgbClr val="525860"/>
                </a:solidFill>
              </a:rPr>
              <a:t>SEMENCES R&amp;D · PROJET DE GROUPE</a:t>
            </a:r>
          </a:p>
        </p:txBody>
      </p:sp>
      <p:sp>
        <p:nvSpPr>
          <p:cNvPr id="5" name="02">
            <a:extLst xmlns:a="http://schemas.openxmlformats.org/drawingml/2006/main">
              <a:ext uri="{FF2B5EF4-FFF2-40B4-BE49-F238E27FC236}">
                <a16:creationId xmlns:a16="http://schemas.microsoft.com/office/drawing/2014/main" id="{CE7F22FF-0554-4C2D-842A-A3EF89211E9A}"/>
              </a:ext>
            </a:extLst>
          </p:cNvPr>
          <p:cNvSpPr>
            <a:spLocks xmlns:a="http://schemas.openxmlformats.org/drawingml/2006/main" noGrp="1"/>
          </p:cNvSpPr>
          <p:nvPr/>
        </p:nvSpPr>
        <p:spPr>
          <a:xfrm xmlns:a="http://schemas.openxmlformats.org/drawingml/2006/main">
            <a:off x="11239500" y="64103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0">
                <a:solidFill>
                  <a:srgbClr val="525860"/>
                </a:solidFill>
              </a:defRPr>
            </a:pPr>
            <a:r>
              <a:rPr sz="1650" b="0">
                <a:solidFill>
                  <a:srgbClr val="525860"/>
                </a:solidFill>
              </a:rPr>
              <a:t>02</a:t>
            </a:r>
          </a:p>
        </p:txBody>
      </p:sp>
      <p:sp>
        <p:nvSpPr>
          <p:cNvPr id="6" name="Données dispersées">
            <a:extLst xmlns:a="http://schemas.openxmlformats.org/drawingml/2006/main">
              <a:ext uri="{FF2B5EF4-FFF2-40B4-BE49-F238E27FC236}">
                <a16:creationId xmlns:a16="http://schemas.microsoft.com/office/drawing/2014/main" id="{4EE8312A-2531-461C-8A53-64A72804157D}"/>
              </a:ext>
            </a:extLst>
          </p:cNvPr>
          <p:cNvSpPr>
            <a:spLocks xmlns:a="http://schemas.openxmlformats.org/drawingml/2006/main" noGrp="1"/>
          </p:cNvSpPr>
          <p:nvPr/>
        </p:nvSpPr>
        <p:spPr>
          <a:xfrm xmlns:a="http://schemas.openxmlformats.org/drawingml/2006/main">
            <a:off x="400050" y="2057400"/>
            <a:ext cx="54768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2400" b="1">
                <a:solidFill>
                  <a:srgbClr val="111111"/>
                </a:solidFill>
              </a:defRPr>
            </a:pPr>
            <a:r>
              <a:rPr sz="2400" b="1">
                <a:solidFill>
                  <a:srgbClr val="111111"/>
                </a:solidFill>
              </a:rPr>
              <a:t>Données dispersées</a:t>
            </a:r>
          </a:p>
        </p:txBody>
      </p:sp>
      <p:sp>
        <p:nvSpPr>
          <p:cNvPr id="7" name="Les essais, résultats, parcelles et matériels sont répartis dans ">
            <a:extLst xmlns:a="http://schemas.openxmlformats.org/drawingml/2006/main">
              <a:ext uri="{FF2B5EF4-FFF2-40B4-BE49-F238E27FC236}">
                <a16:creationId xmlns:a16="http://schemas.microsoft.com/office/drawing/2014/main" id="{0175D916-23F1-4701-A1E0-3D28D8646127}"/>
              </a:ext>
            </a:extLst>
          </p:cNvPr>
          <p:cNvSpPr>
            <a:spLocks xmlns:a="http://schemas.openxmlformats.org/drawingml/2006/main" noGrp="1"/>
          </p:cNvSpPr>
          <p:nvPr/>
        </p:nvSpPr>
        <p:spPr>
          <a:xfrm xmlns:a="http://schemas.openxmlformats.org/drawingml/2006/main">
            <a:off x="400050" y="2800350"/>
            <a:ext cx="54768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Les essais, résultats, parcelles et matériels sont répartis dans six CSV.</a:t>
            </a:r>
          </a:p>
        </p:txBody>
      </p:sp>
      <p:sp>
        <p:nvSpPr>
          <p:cNvPr id="8" name="Les clés, nombres et métadonnées nécessitent une normalisation.">
            <a:extLst xmlns:a="http://schemas.openxmlformats.org/drawingml/2006/main">
              <a:ext uri="{FF2B5EF4-FFF2-40B4-BE49-F238E27FC236}">
                <a16:creationId xmlns:a16="http://schemas.microsoft.com/office/drawing/2014/main" id="{DD478A21-5F58-4307-B15A-67F7A6D97331}"/>
              </a:ext>
            </a:extLst>
          </p:cNvPr>
          <p:cNvSpPr>
            <a:spLocks xmlns:a="http://schemas.openxmlformats.org/drawingml/2006/main" noGrp="1"/>
          </p:cNvSpPr>
          <p:nvPr/>
        </p:nvSpPr>
        <p:spPr>
          <a:xfrm xmlns:a="http://schemas.openxmlformats.org/drawingml/2006/main">
            <a:off x="400050" y="3743325"/>
            <a:ext cx="54768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Les clés, nombres et métadonnées nécessitent une normalisation.</a:t>
            </a:r>
          </a:p>
        </p:txBody>
      </p:sp>
      <p:sp>
        <p:nvSpPr>
          <p:cNvPr id="9" name="La localisation ne couvre qu’une partie des essais.">
            <a:extLst xmlns:a="http://schemas.openxmlformats.org/drawingml/2006/main">
              <a:ext uri="{FF2B5EF4-FFF2-40B4-BE49-F238E27FC236}">
                <a16:creationId xmlns:a16="http://schemas.microsoft.com/office/drawing/2014/main" id="{5DDA381D-EF5C-4100-89EF-DEE50D0906D4}"/>
              </a:ext>
            </a:extLst>
          </p:cNvPr>
          <p:cNvSpPr>
            <a:spLocks xmlns:a="http://schemas.openxmlformats.org/drawingml/2006/main" noGrp="1"/>
          </p:cNvSpPr>
          <p:nvPr/>
        </p:nvSpPr>
        <p:spPr>
          <a:xfrm xmlns:a="http://schemas.openxmlformats.org/drawingml/2006/main">
            <a:off x="400050" y="4686300"/>
            <a:ext cx="54768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La localisation ne couvre qu’une partie des essais.</a:t>
            </a:r>
          </a:p>
        </p:txBody>
      </p:sp>
      <p:sp>
        <p:nvSpPr>
          <p:cNvPr id="10" name="Usages attendus">
            <a:extLst xmlns:a="http://schemas.openxmlformats.org/drawingml/2006/main">
              <a:ext uri="{FF2B5EF4-FFF2-40B4-BE49-F238E27FC236}">
                <a16:creationId xmlns:a16="http://schemas.microsoft.com/office/drawing/2014/main" id="{57D7E65A-4370-4678-953C-51F3B9C91EF2}"/>
              </a:ext>
            </a:extLst>
          </p:cNvPr>
          <p:cNvSpPr>
            <a:spLocks xmlns:a="http://schemas.openxmlformats.org/drawingml/2006/main" noGrp="1"/>
          </p:cNvSpPr>
          <p:nvPr/>
        </p:nvSpPr>
        <p:spPr>
          <a:xfrm xmlns:a="http://schemas.openxmlformats.org/drawingml/2006/main">
            <a:off x="6257925" y="2057400"/>
            <a:ext cx="54768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2400" b="1">
                <a:solidFill>
                  <a:srgbClr val="111111"/>
                </a:solidFill>
              </a:defRPr>
            </a:pPr>
            <a:r>
              <a:rPr sz="2400" b="1">
                <a:solidFill>
                  <a:srgbClr val="111111"/>
                </a:solidFill>
              </a:rPr>
              <a:t>Usages attendus</a:t>
            </a:r>
          </a:p>
        </p:txBody>
      </p:sp>
      <p:sp>
        <p:nvSpPr>
          <p:cNvPr id="11" name="Comparer les catégories, campagnes, régions et matériels.">
            <a:extLst xmlns:a="http://schemas.openxmlformats.org/drawingml/2006/main">
              <a:ext uri="{FF2B5EF4-FFF2-40B4-BE49-F238E27FC236}">
                <a16:creationId xmlns:a16="http://schemas.microsoft.com/office/drawing/2014/main" id="{5885D678-AEF6-4E9C-9863-5D74F0FE259B}"/>
              </a:ext>
            </a:extLst>
          </p:cNvPr>
          <p:cNvSpPr>
            <a:spLocks xmlns:a="http://schemas.openxmlformats.org/drawingml/2006/main" noGrp="1"/>
          </p:cNvSpPr>
          <p:nvPr/>
        </p:nvSpPr>
        <p:spPr>
          <a:xfrm xmlns:a="http://schemas.openxmlformats.org/drawingml/2006/main">
            <a:off x="6257925" y="2800350"/>
            <a:ext cx="54768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Comparer les catégories, campagnes, régions et matériels.</a:t>
            </a:r>
          </a:p>
        </p:txBody>
      </p:sp>
      <p:sp>
        <p:nvSpPr>
          <p:cNvPr id="12" name="Retrouver un matériel et comprendre la provenance des données.">
            <a:extLst xmlns:a="http://schemas.openxmlformats.org/drawingml/2006/main">
              <a:ext uri="{FF2B5EF4-FFF2-40B4-BE49-F238E27FC236}">
                <a16:creationId xmlns:a16="http://schemas.microsoft.com/office/drawing/2014/main" id="{6E22209C-5045-48BA-B874-3C6FAABDE6EA}"/>
              </a:ext>
            </a:extLst>
          </p:cNvPr>
          <p:cNvSpPr>
            <a:spLocks xmlns:a="http://schemas.openxmlformats.org/drawingml/2006/main" noGrp="1"/>
          </p:cNvSpPr>
          <p:nvPr/>
        </p:nvSpPr>
        <p:spPr>
          <a:xfrm xmlns:a="http://schemas.openxmlformats.org/drawingml/2006/main">
            <a:off x="6257925" y="3743325"/>
            <a:ext cx="54768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Retrouver un matériel et comprendre la provenance des données.</a:t>
            </a:r>
          </a:p>
        </p:txBody>
      </p:sp>
      <p:sp>
        <p:nvSpPr>
          <p:cNvPr id="13" name="Explorer les résultats et évaluer une prédiction de rendement.">
            <a:extLst xmlns:a="http://schemas.openxmlformats.org/drawingml/2006/main">
              <a:ext uri="{FF2B5EF4-FFF2-40B4-BE49-F238E27FC236}">
                <a16:creationId xmlns:a16="http://schemas.microsoft.com/office/drawing/2014/main" id="{7AC94F89-E568-43C3-A5A3-947B2812E344}"/>
              </a:ext>
            </a:extLst>
          </p:cNvPr>
          <p:cNvSpPr>
            <a:spLocks xmlns:a="http://schemas.openxmlformats.org/drawingml/2006/main" noGrp="1"/>
          </p:cNvSpPr>
          <p:nvPr/>
        </p:nvSpPr>
        <p:spPr>
          <a:xfrm xmlns:a="http://schemas.openxmlformats.org/drawingml/2006/main">
            <a:off x="6257925" y="4686300"/>
            <a:ext cx="54768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Explorer les résultats et évaluer une prédiction de rendement.</a:t>
            </a:r>
          </a:p>
        </p:txBody>
      </p:sp>
    </p:spTree>
    <p:extLst>
      <p:ext uri="{BB962C8B-B14F-4D97-AF65-F5344CB8AC3E}">
        <p14:creationId xmlns:p14="http://schemas.microsoft.com/office/powerpoint/2010/main" val="1433487000"/>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02 · DONNÉES">
            <a:extLst xmlns:a="http://schemas.openxmlformats.org/drawingml/2006/main">
              <a:ext uri="{FF2B5EF4-FFF2-40B4-BE49-F238E27FC236}">
                <a16:creationId xmlns:a16="http://schemas.microsoft.com/office/drawing/2014/main" id="{A10AE886-908D-43B7-BE04-2BD24FC45DA0}"/>
              </a:ext>
            </a:extLst>
          </p:cNvPr>
          <p:cNvSpPr>
            <a:spLocks xmlns:a="http://schemas.openxmlformats.org/drawingml/2006/main" noGrp="1"/>
          </p:cNvSpPr>
          <p:nvPr/>
        </p:nvSpPr>
        <p:spPr>
          <a:xfrm xmlns:a="http://schemas.openxmlformats.org/drawingml/2006/main">
            <a:off x="400050" y="228600"/>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1">
                <a:solidFill>
                  <a:srgbClr val="525860"/>
                </a:solidFill>
              </a:defRPr>
            </a:pPr>
            <a:r>
              <a:rPr sz="1650" b="1">
                <a:solidFill>
                  <a:srgbClr val="525860"/>
                </a:solidFill>
              </a:rPr>
              <a:t>02 · DONNÉES</a:t>
            </a:r>
          </a:p>
        </p:txBody>
      </p:sp>
      <p:sp>
        <p:nvSpPr>
          <p:cNvPr id="2" name="Le lot de données fixe le périmètre">
            <a:extLst xmlns:a="http://schemas.openxmlformats.org/drawingml/2006/main">
              <a:ext uri="{FF2B5EF4-FFF2-40B4-BE49-F238E27FC236}">
                <a16:creationId xmlns:a16="http://schemas.microsoft.com/office/drawing/2014/main" id="{FADAFB98-B001-41F7-812E-6AD61288D5F1}"/>
              </a:ext>
            </a:extLst>
          </p:cNvPr>
          <p:cNvSpPr>
            <a:spLocks xmlns:a="http://schemas.openxmlformats.org/drawingml/2006/main" noGrp="1"/>
          </p:cNvSpPr>
          <p:nvPr/>
        </p:nvSpPr>
        <p:spPr>
          <a:xfrm xmlns:a="http://schemas.openxmlformats.org/drawingml/2006/main">
            <a:off x="400050" y="742950"/>
            <a:ext cx="113919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3600" b="1">
                <a:solidFill>
                  <a:srgbClr val="111111"/>
                </a:solidFill>
              </a:defRPr>
            </a:pPr>
            <a:r>
              <a:rPr sz="3600" b="1">
                <a:solidFill>
                  <a:srgbClr val="111111"/>
                </a:solidFill>
              </a:rPr>
              <a:t>Le lot de données fixe le périmètre</a:t>
            </a:r>
          </a:p>
        </p:txBody>
      </p:sp>
      <p:sp>
        <p:nvSpPr>
          <p:cNvPr id="3" name="">
            <a:extLst xmlns:a="http://schemas.openxmlformats.org/drawingml/2006/main">
              <a:ext uri="{FF2B5EF4-FFF2-40B4-BE49-F238E27FC236}">
                <a16:creationId xmlns:a16="http://schemas.microsoft.com/office/drawing/2014/main" id="{56872855-50E3-4C45-A5FB-7EE74259FB4D}"/>
              </a:ext>
            </a:extLst>
          </p:cNvPr>
          <p:cNvSpPr>
            <a:spLocks xmlns:a="http://schemas.openxmlformats.org/drawingml/2006/main" noGrp="1"/>
          </p:cNvSpPr>
          <p:nvPr/>
        </p:nvSpPr>
        <p:spPr>
          <a:xfrm xmlns:a="http://schemas.openxmlformats.org/drawingml/2006/main">
            <a:off x="400050" y="62293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4" name="SEMENCES R&amp;D · PROJET DE GROUPE">
            <a:extLst xmlns:a="http://schemas.openxmlformats.org/drawingml/2006/main">
              <a:ext uri="{FF2B5EF4-FFF2-40B4-BE49-F238E27FC236}">
                <a16:creationId xmlns:a16="http://schemas.microsoft.com/office/drawing/2014/main" id="{4F767EC7-8C7B-493F-9841-A67B7A5B2490}"/>
              </a:ext>
            </a:extLst>
          </p:cNvPr>
          <p:cNvSpPr>
            <a:spLocks xmlns:a="http://schemas.openxmlformats.org/drawingml/2006/main" noGrp="1"/>
          </p:cNvSpPr>
          <p:nvPr/>
        </p:nvSpPr>
        <p:spPr>
          <a:xfrm xmlns:a="http://schemas.openxmlformats.org/drawingml/2006/main">
            <a:off x="400050" y="641032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0">
                <a:solidFill>
                  <a:srgbClr val="525860"/>
                </a:solidFill>
              </a:defRPr>
            </a:pPr>
            <a:r>
              <a:rPr sz="1650" b="0">
                <a:solidFill>
                  <a:srgbClr val="525860"/>
                </a:solidFill>
              </a:rPr>
              <a:t>SEMENCES R&amp;D · PROJET DE GROUPE</a:t>
            </a:r>
          </a:p>
        </p:txBody>
      </p:sp>
      <p:sp>
        <p:nvSpPr>
          <p:cNvPr id="5" name="03">
            <a:extLst xmlns:a="http://schemas.openxmlformats.org/drawingml/2006/main">
              <a:ext uri="{FF2B5EF4-FFF2-40B4-BE49-F238E27FC236}">
                <a16:creationId xmlns:a16="http://schemas.microsoft.com/office/drawing/2014/main" id="{084C1FBD-DEAF-4C7D-BFC2-41BF6CC4FC44}"/>
              </a:ext>
            </a:extLst>
          </p:cNvPr>
          <p:cNvSpPr>
            <a:spLocks xmlns:a="http://schemas.openxmlformats.org/drawingml/2006/main" noGrp="1"/>
          </p:cNvSpPr>
          <p:nvPr/>
        </p:nvSpPr>
        <p:spPr>
          <a:xfrm xmlns:a="http://schemas.openxmlformats.org/drawingml/2006/main">
            <a:off x="11239500" y="64103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0">
                <a:solidFill>
                  <a:srgbClr val="525860"/>
                </a:solidFill>
              </a:defRPr>
            </a:pPr>
            <a:r>
              <a:rPr sz="1650" b="0">
                <a:solidFill>
                  <a:srgbClr val="525860"/>
                </a:solidFill>
              </a:rPr>
              <a:t>03</a:t>
            </a:r>
          </a:p>
        </p:txBody>
      </p:sp>
      <p:sp>
        <p:nvSpPr>
          <p:cNvPr id="6" name="">
            <a:extLst xmlns:a="http://schemas.openxmlformats.org/drawingml/2006/main">
              <a:ext uri="{FF2B5EF4-FFF2-40B4-BE49-F238E27FC236}">
                <a16:creationId xmlns:a16="http://schemas.microsoft.com/office/drawing/2014/main" id="{48D6851C-2E95-40C4-95E8-9BF6A7814B12}"/>
              </a:ext>
            </a:extLst>
          </p:cNvPr>
          <p:cNvSpPr>
            <a:spLocks xmlns:a="http://schemas.openxmlformats.org/drawingml/2006/main" noGrp="1"/>
          </p:cNvSpPr>
          <p:nvPr/>
        </p:nvSpPr>
        <p:spPr>
          <a:xfrm xmlns:a="http://schemas.openxmlformats.org/drawingml/2006/main">
            <a:off x="400050" y="33337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7" name="136 358">
            <a:extLst xmlns:a="http://schemas.openxmlformats.org/drawingml/2006/main">
              <a:ext uri="{FF2B5EF4-FFF2-40B4-BE49-F238E27FC236}">
                <a16:creationId xmlns:a16="http://schemas.microsoft.com/office/drawing/2014/main" id="{1840531C-BE97-4A15-873E-CA32C309EF92}"/>
              </a:ext>
            </a:extLst>
          </p:cNvPr>
          <p:cNvSpPr>
            <a:spLocks xmlns:a="http://schemas.openxmlformats.org/drawingml/2006/main" noGrp="1"/>
          </p:cNvSpPr>
          <p:nvPr/>
        </p:nvSpPr>
        <p:spPr>
          <a:xfrm xmlns:a="http://schemas.openxmlformats.org/drawingml/2006/main">
            <a:off x="400050" y="2571750"/>
            <a:ext cx="3486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3000" b="1">
                <a:solidFill>
                  <a:srgbClr val="2475AC"/>
                </a:solidFill>
              </a:defRPr>
            </a:pPr>
            <a:r>
              <a:rPr sz="3000" b="1">
                <a:solidFill>
                  <a:srgbClr val="2475AC"/>
                </a:solidFill>
              </a:rPr>
              <a:t>136 358</a:t>
            </a:r>
          </a:p>
        </p:txBody>
      </p:sp>
      <p:sp>
        <p:nvSpPr>
          <p:cNvPr id="8" name="Mesures">
            <a:extLst xmlns:a="http://schemas.openxmlformats.org/drawingml/2006/main">
              <a:ext uri="{FF2B5EF4-FFF2-40B4-BE49-F238E27FC236}">
                <a16:creationId xmlns:a16="http://schemas.microsoft.com/office/drawing/2014/main" id="{14250A6A-F490-4F59-B451-CD7ACFEECAFA}"/>
              </a:ext>
            </a:extLst>
          </p:cNvPr>
          <p:cNvSpPr>
            <a:spLocks xmlns:a="http://schemas.openxmlformats.org/drawingml/2006/main" noGrp="1"/>
          </p:cNvSpPr>
          <p:nvPr/>
        </p:nvSpPr>
        <p:spPr>
          <a:xfrm xmlns:a="http://schemas.openxmlformats.org/drawingml/2006/main">
            <a:off x="400050" y="3743325"/>
            <a:ext cx="3486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2400" b="1">
                <a:solidFill>
                  <a:srgbClr val="111111"/>
                </a:solidFill>
              </a:defRPr>
            </a:pPr>
            <a:r>
              <a:rPr sz="2400" b="1">
                <a:solidFill>
                  <a:srgbClr val="111111"/>
                </a:solidFill>
              </a:rPr>
              <a:t>Mesures</a:t>
            </a:r>
          </a:p>
        </p:txBody>
      </p:sp>
      <p:sp>
        <p:nvSpPr>
          <p:cNvPr id="9" name="Une ligne de la table de faits décrit un trait mesuré.">
            <a:extLst xmlns:a="http://schemas.openxmlformats.org/drawingml/2006/main">
              <a:ext uri="{FF2B5EF4-FFF2-40B4-BE49-F238E27FC236}">
                <a16:creationId xmlns:a16="http://schemas.microsoft.com/office/drawing/2014/main" id="{F5C98D61-FEFF-4740-B40C-F9B4C6B7C3FC}"/>
              </a:ext>
            </a:extLst>
          </p:cNvPr>
          <p:cNvSpPr>
            <a:spLocks xmlns:a="http://schemas.openxmlformats.org/drawingml/2006/main" noGrp="1"/>
          </p:cNvSpPr>
          <p:nvPr/>
        </p:nvSpPr>
        <p:spPr>
          <a:xfrm xmlns:a="http://schemas.openxmlformats.org/drawingml/2006/main">
            <a:off x="400050" y="4514850"/>
            <a:ext cx="348615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Une ligne de la table de faits décrit un trait mesuré.</a:t>
            </a:r>
          </a:p>
        </p:txBody>
      </p:sp>
      <p:sp>
        <p:nvSpPr>
          <p:cNvPr id="10" name="2 116">
            <a:extLst xmlns:a="http://schemas.openxmlformats.org/drawingml/2006/main">
              <a:ext uri="{FF2B5EF4-FFF2-40B4-BE49-F238E27FC236}">
                <a16:creationId xmlns:a16="http://schemas.microsoft.com/office/drawing/2014/main" id="{C80F28CF-9D12-43A0-A862-5D4E17F6FEF8}"/>
              </a:ext>
            </a:extLst>
          </p:cNvPr>
          <p:cNvSpPr>
            <a:spLocks xmlns:a="http://schemas.openxmlformats.org/drawingml/2006/main" noGrp="1"/>
          </p:cNvSpPr>
          <p:nvPr/>
        </p:nvSpPr>
        <p:spPr>
          <a:xfrm xmlns:a="http://schemas.openxmlformats.org/drawingml/2006/main">
            <a:off x="4314825" y="2571750"/>
            <a:ext cx="3486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3000" b="1">
                <a:solidFill>
                  <a:srgbClr val="2475AC"/>
                </a:solidFill>
              </a:defRPr>
            </a:pPr>
            <a:r>
              <a:rPr sz="3000" b="1">
                <a:solidFill>
                  <a:srgbClr val="2475AC"/>
                </a:solidFill>
              </a:rPr>
              <a:t>2 116</a:t>
            </a:r>
          </a:p>
        </p:txBody>
      </p:sp>
      <p:sp>
        <p:nvSpPr>
          <p:cNvPr id="11" name="Essais distincts">
            <a:extLst xmlns:a="http://schemas.openxmlformats.org/drawingml/2006/main">
              <a:ext uri="{FF2B5EF4-FFF2-40B4-BE49-F238E27FC236}">
                <a16:creationId xmlns:a16="http://schemas.microsoft.com/office/drawing/2014/main" id="{067AAFC1-8D24-46B5-BC42-5886EC19EA95}"/>
              </a:ext>
            </a:extLst>
          </p:cNvPr>
          <p:cNvSpPr>
            <a:spLocks xmlns:a="http://schemas.openxmlformats.org/drawingml/2006/main" noGrp="1"/>
          </p:cNvSpPr>
          <p:nvPr/>
        </p:nvSpPr>
        <p:spPr>
          <a:xfrm xmlns:a="http://schemas.openxmlformats.org/drawingml/2006/main">
            <a:off x="4314825" y="3743325"/>
            <a:ext cx="3486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2400" b="1">
                <a:solidFill>
                  <a:srgbClr val="111111"/>
                </a:solidFill>
              </a:defRPr>
            </a:pPr>
            <a:r>
              <a:rPr sz="2400" b="1">
                <a:solidFill>
                  <a:srgbClr val="111111"/>
                </a:solidFill>
              </a:rPr>
              <a:t>Essais distincts</a:t>
            </a:r>
          </a:p>
        </p:txBody>
      </p:sp>
      <p:sp>
        <p:nvSpPr>
          <p:cNvPr id="12" name="Identifiants présents dans les résultats consolidés.">
            <a:extLst xmlns:a="http://schemas.openxmlformats.org/drawingml/2006/main">
              <a:ext uri="{FF2B5EF4-FFF2-40B4-BE49-F238E27FC236}">
                <a16:creationId xmlns:a16="http://schemas.microsoft.com/office/drawing/2014/main" id="{79434C08-1A7F-48BC-A9BC-B7A1A463D542}"/>
              </a:ext>
            </a:extLst>
          </p:cNvPr>
          <p:cNvSpPr>
            <a:spLocks xmlns:a="http://schemas.openxmlformats.org/drawingml/2006/main" noGrp="1"/>
          </p:cNvSpPr>
          <p:nvPr/>
        </p:nvSpPr>
        <p:spPr>
          <a:xfrm xmlns:a="http://schemas.openxmlformats.org/drawingml/2006/main">
            <a:off x="4314825" y="4514850"/>
            <a:ext cx="348615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Identifiants présents dans les résultats consolidés.</a:t>
            </a:r>
          </a:p>
        </p:txBody>
      </p:sp>
      <p:sp>
        <p:nvSpPr>
          <p:cNvPr id="13" name="28 697">
            <a:extLst xmlns:a="http://schemas.openxmlformats.org/drawingml/2006/main">
              <a:ext uri="{FF2B5EF4-FFF2-40B4-BE49-F238E27FC236}">
                <a16:creationId xmlns:a16="http://schemas.microsoft.com/office/drawing/2014/main" id="{1924D678-57A9-41B6-82F1-109CE9EDB255}"/>
              </a:ext>
            </a:extLst>
          </p:cNvPr>
          <p:cNvSpPr>
            <a:spLocks xmlns:a="http://schemas.openxmlformats.org/drawingml/2006/main" noGrp="1"/>
          </p:cNvSpPr>
          <p:nvPr/>
        </p:nvSpPr>
        <p:spPr>
          <a:xfrm xmlns:a="http://schemas.openxmlformats.org/drawingml/2006/main">
            <a:off x="8229600" y="2571750"/>
            <a:ext cx="3486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3000" b="1">
                <a:solidFill>
                  <a:srgbClr val="2475AC"/>
                </a:solidFill>
              </a:defRPr>
            </a:pPr>
            <a:r>
              <a:rPr sz="3000" b="1">
                <a:solidFill>
                  <a:srgbClr val="2475AC"/>
                </a:solidFill>
              </a:rPr>
              <a:t>28 697</a:t>
            </a:r>
          </a:p>
        </p:txBody>
      </p:sp>
      <p:sp>
        <p:nvSpPr>
          <p:cNvPr id="14" name="Matériels">
            <a:extLst xmlns:a="http://schemas.openxmlformats.org/drawingml/2006/main">
              <a:ext uri="{FF2B5EF4-FFF2-40B4-BE49-F238E27FC236}">
                <a16:creationId xmlns:a16="http://schemas.microsoft.com/office/drawing/2014/main" id="{E9B9A194-0FD0-4A06-BA68-14E4365AF65E}"/>
              </a:ext>
            </a:extLst>
          </p:cNvPr>
          <p:cNvSpPr>
            <a:spLocks xmlns:a="http://schemas.openxmlformats.org/drawingml/2006/main" noGrp="1"/>
          </p:cNvSpPr>
          <p:nvPr/>
        </p:nvSpPr>
        <p:spPr>
          <a:xfrm xmlns:a="http://schemas.openxmlformats.org/drawingml/2006/main">
            <a:off x="8229600" y="3743325"/>
            <a:ext cx="3486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2400" b="1">
                <a:solidFill>
                  <a:srgbClr val="111111"/>
                </a:solidFill>
              </a:defRPr>
            </a:pPr>
            <a:r>
              <a:rPr sz="2400" b="1">
                <a:solidFill>
                  <a:srgbClr val="111111"/>
                </a:solidFill>
              </a:rPr>
              <a:t>Matériels</a:t>
            </a:r>
          </a:p>
        </p:txBody>
      </p:sp>
      <p:sp>
        <p:nvSpPr>
          <p:cNvPr id="15" name="Matériels génétiques reliés à la table de faits.">
            <a:extLst xmlns:a="http://schemas.openxmlformats.org/drawingml/2006/main">
              <a:ext uri="{FF2B5EF4-FFF2-40B4-BE49-F238E27FC236}">
                <a16:creationId xmlns:a16="http://schemas.microsoft.com/office/drawing/2014/main" id="{E3A0C1BA-7983-4608-AF10-3F90E4ECA8B0}"/>
              </a:ext>
            </a:extLst>
          </p:cNvPr>
          <p:cNvSpPr>
            <a:spLocks xmlns:a="http://schemas.openxmlformats.org/drawingml/2006/main" noGrp="1"/>
          </p:cNvSpPr>
          <p:nvPr/>
        </p:nvSpPr>
        <p:spPr>
          <a:xfrm xmlns:a="http://schemas.openxmlformats.org/drawingml/2006/main">
            <a:off x="8229600" y="4514850"/>
            <a:ext cx="348615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Matériels génétiques reliés à la table de faits.</a:t>
            </a:r>
          </a:p>
        </p:txBody>
      </p:sp>
    </p:spTree>
    <p:extLst>
      <p:ext uri="{BB962C8B-B14F-4D97-AF65-F5344CB8AC3E}">
        <p14:creationId xmlns:p14="http://schemas.microsoft.com/office/powerpoint/2010/main" val="185975233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3" name="02 · DONNÉES">
            <a:extLst xmlns:a="http://schemas.openxmlformats.org/drawingml/2006/main">
              <a:ext uri="{FF2B5EF4-FFF2-40B4-BE49-F238E27FC236}">
                <a16:creationId xmlns:a16="http://schemas.microsoft.com/office/drawing/2014/main" id="{CF57C80B-A933-4522-B2B2-E759CDAEBB23}"/>
              </a:ext>
            </a:extLst>
          </p:cNvPr>
          <p:cNvSpPr>
            <a:spLocks xmlns:a="http://schemas.openxmlformats.org/drawingml/2006/main" noGrp="1"/>
          </p:cNvSpPr>
          <p:nvPr/>
        </p:nvSpPr>
        <p:spPr>
          <a:xfrm xmlns:a="http://schemas.openxmlformats.org/drawingml/2006/main">
            <a:off x="400050" y="228600"/>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1">
                <a:solidFill>
                  <a:srgbClr val="525860"/>
                </a:solidFill>
              </a:defRPr>
            </a:pPr>
            <a:r>
              <a:rPr sz="1650" b="1">
                <a:solidFill>
                  <a:srgbClr val="525860"/>
                </a:solidFill>
              </a:rPr>
              <a:t>02 · DONNÉES</a:t>
            </a:r>
          </a:p>
        </p:txBody>
      </p:sp>
      <p:sp>
        <p:nvSpPr>
          <p:cNvPr id="2" name="Six sources reliées par des clés">
            <a:extLst xmlns:a="http://schemas.openxmlformats.org/drawingml/2006/main">
              <a:ext uri="{FF2B5EF4-FFF2-40B4-BE49-F238E27FC236}">
                <a16:creationId xmlns:a16="http://schemas.microsoft.com/office/drawing/2014/main" id="{BF7DD68F-2E38-4EDC-8538-E5E1811F6FA6}"/>
              </a:ext>
            </a:extLst>
          </p:cNvPr>
          <p:cNvSpPr>
            <a:spLocks xmlns:a="http://schemas.openxmlformats.org/drawingml/2006/main" noGrp="1"/>
          </p:cNvSpPr>
          <p:nvPr/>
        </p:nvSpPr>
        <p:spPr>
          <a:xfrm xmlns:a="http://schemas.openxmlformats.org/drawingml/2006/main">
            <a:off x="400050" y="742950"/>
            <a:ext cx="113919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3600" b="1">
                <a:solidFill>
                  <a:srgbClr val="111111"/>
                </a:solidFill>
              </a:defRPr>
            </a:pPr>
            <a:r>
              <a:rPr sz="3600" b="1">
                <a:solidFill>
                  <a:srgbClr val="111111"/>
                </a:solidFill>
              </a:rPr>
              <a:t>Six sources reliées par des clés</a:t>
            </a:r>
          </a:p>
        </p:txBody>
      </p:sp>
      <p:sp>
        <p:nvSpPr>
          <p:cNvPr id="3" name="">
            <a:extLst xmlns:a="http://schemas.openxmlformats.org/drawingml/2006/main">
              <a:ext uri="{FF2B5EF4-FFF2-40B4-BE49-F238E27FC236}">
                <a16:creationId xmlns:a16="http://schemas.microsoft.com/office/drawing/2014/main" id="{420E3ACC-A485-4427-8A0E-77AE41AE98A9}"/>
              </a:ext>
            </a:extLst>
          </p:cNvPr>
          <p:cNvSpPr>
            <a:spLocks xmlns:a="http://schemas.openxmlformats.org/drawingml/2006/main" noGrp="1"/>
          </p:cNvSpPr>
          <p:nvPr/>
        </p:nvSpPr>
        <p:spPr>
          <a:xfrm xmlns:a="http://schemas.openxmlformats.org/drawingml/2006/main">
            <a:off x="400050" y="62293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4" name="SEMENCES R&amp;D · PROJET DE GROUPE">
            <a:extLst xmlns:a="http://schemas.openxmlformats.org/drawingml/2006/main">
              <a:ext uri="{FF2B5EF4-FFF2-40B4-BE49-F238E27FC236}">
                <a16:creationId xmlns:a16="http://schemas.microsoft.com/office/drawing/2014/main" id="{17AF0E7D-73FF-4C6F-AEA1-717D5BB12581}"/>
              </a:ext>
            </a:extLst>
          </p:cNvPr>
          <p:cNvSpPr>
            <a:spLocks xmlns:a="http://schemas.openxmlformats.org/drawingml/2006/main" noGrp="1"/>
          </p:cNvSpPr>
          <p:nvPr/>
        </p:nvSpPr>
        <p:spPr>
          <a:xfrm xmlns:a="http://schemas.openxmlformats.org/drawingml/2006/main">
            <a:off x="400050" y="641032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0">
                <a:solidFill>
                  <a:srgbClr val="525860"/>
                </a:solidFill>
              </a:defRPr>
            </a:pPr>
            <a:r>
              <a:rPr sz="1650" b="0">
                <a:solidFill>
                  <a:srgbClr val="525860"/>
                </a:solidFill>
              </a:rPr>
              <a:t>SEMENCES R&amp;D · PROJET DE GROUPE</a:t>
            </a:r>
          </a:p>
        </p:txBody>
      </p:sp>
      <p:sp>
        <p:nvSpPr>
          <p:cNvPr id="5" name="04">
            <a:extLst xmlns:a="http://schemas.openxmlformats.org/drawingml/2006/main">
              <a:ext uri="{FF2B5EF4-FFF2-40B4-BE49-F238E27FC236}">
                <a16:creationId xmlns:a16="http://schemas.microsoft.com/office/drawing/2014/main" id="{DA87132D-2C1F-41AE-A14D-4CDEB6B92FF9}"/>
              </a:ext>
            </a:extLst>
          </p:cNvPr>
          <p:cNvSpPr>
            <a:spLocks xmlns:a="http://schemas.openxmlformats.org/drawingml/2006/main" noGrp="1"/>
          </p:cNvSpPr>
          <p:nvPr/>
        </p:nvSpPr>
        <p:spPr>
          <a:xfrm xmlns:a="http://schemas.openxmlformats.org/drawingml/2006/main">
            <a:off x="11239500" y="64103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0">
                <a:solidFill>
                  <a:srgbClr val="525860"/>
                </a:solidFill>
              </a:defRPr>
            </a:pPr>
            <a:r>
              <a:rPr sz="1650" b="0">
                <a:solidFill>
                  <a:srgbClr val="525860"/>
                </a:solidFill>
              </a:rPr>
              <a:t>04</a:t>
            </a:r>
          </a:p>
        </p:txBody>
      </p:sp>
      <p:sp>
        <p:nvSpPr>
          <p:cNvPr id="6" name="Source">
            <a:extLst xmlns:a="http://schemas.openxmlformats.org/drawingml/2006/main">
              <a:ext uri="{FF2B5EF4-FFF2-40B4-BE49-F238E27FC236}">
                <a16:creationId xmlns:a16="http://schemas.microsoft.com/office/drawing/2014/main" id="{49BC5624-5DE5-4952-8CE7-6F39169612A9}"/>
              </a:ext>
            </a:extLst>
          </p:cNvPr>
          <p:cNvSpPr>
            <a:spLocks xmlns:a="http://schemas.openxmlformats.org/drawingml/2006/main" noGrp="1"/>
          </p:cNvSpPr>
          <p:nvPr/>
        </p:nvSpPr>
        <p:spPr>
          <a:xfrm xmlns:a="http://schemas.openxmlformats.org/drawingml/2006/main">
            <a:off x="400050" y="1838325"/>
            <a:ext cx="25431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1">
                <a:solidFill>
                  <a:srgbClr val="111111"/>
                </a:solidFill>
              </a:defRPr>
            </a:pPr>
            <a:r>
              <a:rPr sz="1950" b="1">
                <a:solidFill>
                  <a:srgbClr val="111111"/>
                </a:solidFill>
              </a:rPr>
              <a:t>Source</a:t>
            </a:r>
          </a:p>
        </p:txBody>
      </p:sp>
      <p:sp>
        <p:nvSpPr>
          <p:cNvPr id="7" name="Clé principale">
            <a:extLst xmlns:a="http://schemas.openxmlformats.org/drawingml/2006/main">
              <a:ext uri="{FF2B5EF4-FFF2-40B4-BE49-F238E27FC236}">
                <a16:creationId xmlns:a16="http://schemas.microsoft.com/office/drawing/2014/main" id="{D9406A64-6AC7-4602-AAED-87FA23552F68}"/>
              </a:ext>
            </a:extLst>
          </p:cNvPr>
          <p:cNvSpPr>
            <a:spLocks xmlns:a="http://schemas.openxmlformats.org/drawingml/2006/main" noGrp="1"/>
          </p:cNvSpPr>
          <p:nvPr/>
        </p:nvSpPr>
        <p:spPr>
          <a:xfrm xmlns:a="http://schemas.openxmlformats.org/drawingml/2006/main">
            <a:off x="3114675" y="1838325"/>
            <a:ext cx="39243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1">
                <a:solidFill>
                  <a:srgbClr val="111111"/>
                </a:solidFill>
              </a:defRPr>
            </a:pPr>
            <a:r>
              <a:rPr sz="1950" b="1">
                <a:solidFill>
                  <a:srgbClr val="111111"/>
                </a:solidFill>
              </a:rPr>
              <a:t>Clé principale</a:t>
            </a:r>
          </a:p>
        </p:txBody>
      </p:sp>
      <p:sp>
        <p:nvSpPr>
          <p:cNvPr id="8" name="Rôle">
            <a:extLst xmlns:a="http://schemas.openxmlformats.org/drawingml/2006/main">
              <a:ext uri="{FF2B5EF4-FFF2-40B4-BE49-F238E27FC236}">
                <a16:creationId xmlns:a16="http://schemas.microsoft.com/office/drawing/2014/main" id="{82EE53EA-B497-405D-916F-A8BD9D219C0E}"/>
              </a:ext>
            </a:extLst>
          </p:cNvPr>
          <p:cNvSpPr>
            <a:spLocks xmlns:a="http://schemas.openxmlformats.org/drawingml/2006/main" noGrp="1"/>
          </p:cNvSpPr>
          <p:nvPr/>
        </p:nvSpPr>
        <p:spPr>
          <a:xfrm xmlns:a="http://schemas.openxmlformats.org/drawingml/2006/main">
            <a:off x="7210425" y="1838325"/>
            <a:ext cx="44100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1">
                <a:solidFill>
                  <a:srgbClr val="111111"/>
                </a:solidFill>
              </a:defRPr>
            </a:pPr>
            <a:r>
              <a:rPr sz="1950" b="1">
                <a:solidFill>
                  <a:srgbClr val="111111"/>
                </a:solidFill>
              </a:rPr>
              <a:t>Rôle</a:t>
            </a:r>
          </a:p>
        </p:txBody>
      </p:sp>
      <p:sp>
        <p:nvSpPr>
          <p:cNvPr id="9" name="">
            <a:extLst xmlns:a="http://schemas.openxmlformats.org/drawingml/2006/main">
              <a:ext uri="{FF2B5EF4-FFF2-40B4-BE49-F238E27FC236}">
                <a16:creationId xmlns:a16="http://schemas.microsoft.com/office/drawing/2014/main" id="{5D375BAA-85A6-4DAD-B144-AEF5DBCC802D}"/>
              </a:ext>
            </a:extLst>
          </p:cNvPr>
          <p:cNvSpPr>
            <a:spLocks xmlns:a="http://schemas.openxmlformats.org/drawingml/2006/main" noGrp="1"/>
          </p:cNvSpPr>
          <p:nvPr/>
        </p:nvSpPr>
        <p:spPr>
          <a:xfrm xmlns:a="http://schemas.openxmlformats.org/drawingml/2006/main">
            <a:off x="400050" y="23050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10" name="ESSAI">
            <a:extLst xmlns:a="http://schemas.openxmlformats.org/drawingml/2006/main">
              <a:ext uri="{FF2B5EF4-FFF2-40B4-BE49-F238E27FC236}">
                <a16:creationId xmlns:a16="http://schemas.microsoft.com/office/drawing/2014/main" id="{6454C958-89C8-40FE-BFFC-AE1D05F4D9A9}"/>
              </a:ext>
            </a:extLst>
          </p:cNvPr>
          <p:cNvSpPr>
            <a:spLocks xmlns:a="http://schemas.openxmlformats.org/drawingml/2006/main" noGrp="1"/>
          </p:cNvSpPr>
          <p:nvPr/>
        </p:nvSpPr>
        <p:spPr>
          <a:xfrm xmlns:a="http://schemas.openxmlformats.org/drawingml/2006/main">
            <a:off x="400050" y="2447925"/>
            <a:ext cx="25241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ESSAI</a:t>
            </a:r>
          </a:p>
        </p:txBody>
      </p:sp>
      <p:sp>
        <p:nvSpPr>
          <p:cNvPr id="11" name="Identifiant d’essai">
            <a:extLst xmlns:a="http://schemas.openxmlformats.org/drawingml/2006/main">
              <a:ext uri="{FF2B5EF4-FFF2-40B4-BE49-F238E27FC236}">
                <a16:creationId xmlns:a16="http://schemas.microsoft.com/office/drawing/2014/main" id="{506D23C4-A179-4618-9B5C-DCDB52FD2661}"/>
              </a:ext>
            </a:extLst>
          </p:cNvPr>
          <p:cNvSpPr>
            <a:spLocks xmlns:a="http://schemas.openxmlformats.org/drawingml/2006/main" noGrp="1"/>
          </p:cNvSpPr>
          <p:nvPr/>
        </p:nvSpPr>
        <p:spPr>
          <a:xfrm xmlns:a="http://schemas.openxmlformats.org/drawingml/2006/main">
            <a:off x="3114675" y="2447925"/>
            <a:ext cx="3905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Identifiant d’essai</a:t>
            </a:r>
          </a:p>
        </p:txBody>
      </p:sp>
      <p:sp>
        <p:nvSpPr>
          <p:cNvPr id="12" name="Campagne et géographie">
            <a:extLst xmlns:a="http://schemas.openxmlformats.org/drawingml/2006/main">
              <a:ext uri="{FF2B5EF4-FFF2-40B4-BE49-F238E27FC236}">
                <a16:creationId xmlns:a16="http://schemas.microsoft.com/office/drawing/2014/main" id="{85B7EDAE-4B8A-44C3-804F-A60DEEA6CEB1}"/>
              </a:ext>
            </a:extLst>
          </p:cNvPr>
          <p:cNvSpPr>
            <a:spLocks xmlns:a="http://schemas.openxmlformats.org/drawingml/2006/main" noGrp="1"/>
          </p:cNvSpPr>
          <p:nvPr/>
        </p:nvSpPr>
        <p:spPr>
          <a:xfrm xmlns:a="http://schemas.openxmlformats.org/drawingml/2006/main">
            <a:off x="7210425" y="2447925"/>
            <a:ext cx="43910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Campagne et géographie</a:t>
            </a:r>
          </a:p>
        </p:txBody>
      </p:sp>
      <p:sp>
        <p:nvSpPr>
          <p:cNvPr id="13" name="">
            <a:extLst xmlns:a="http://schemas.openxmlformats.org/drawingml/2006/main">
              <a:ext uri="{FF2B5EF4-FFF2-40B4-BE49-F238E27FC236}">
                <a16:creationId xmlns:a16="http://schemas.microsoft.com/office/drawing/2014/main" id="{49C3ED4D-3A4F-4A76-B2B3-E4143DBE1764}"/>
              </a:ext>
            </a:extLst>
          </p:cNvPr>
          <p:cNvSpPr>
            <a:spLocks xmlns:a="http://schemas.openxmlformats.org/drawingml/2006/main" noGrp="1"/>
          </p:cNvSpPr>
          <p:nvPr/>
        </p:nvSpPr>
        <p:spPr>
          <a:xfrm xmlns:a="http://schemas.openxmlformats.org/drawingml/2006/main">
            <a:off x="400050" y="29908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14" name="RESULTAT_ESSAIS">
            <a:extLst xmlns:a="http://schemas.openxmlformats.org/drawingml/2006/main">
              <a:ext uri="{FF2B5EF4-FFF2-40B4-BE49-F238E27FC236}">
                <a16:creationId xmlns:a16="http://schemas.microsoft.com/office/drawing/2014/main" id="{B9303FDA-2080-4791-8AD3-A9ABD99824D5}"/>
              </a:ext>
            </a:extLst>
          </p:cNvPr>
          <p:cNvSpPr>
            <a:spLocks xmlns:a="http://schemas.openxmlformats.org/drawingml/2006/main" noGrp="1"/>
          </p:cNvSpPr>
          <p:nvPr/>
        </p:nvSpPr>
        <p:spPr>
          <a:xfrm xmlns:a="http://schemas.openxmlformats.org/drawingml/2006/main">
            <a:off x="400050" y="3057525"/>
            <a:ext cx="25241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RESULTAT_ESSAIS</a:t>
            </a:r>
          </a:p>
        </p:txBody>
      </p:sp>
      <p:sp>
        <p:nvSpPr>
          <p:cNvPr id="15" name="Identifiant de mesure">
            <a:extLst xmlns:a="http://schemas.openxmlformats.org/drawingml/2006/main">
              <a:ext uri="{FF2B5EF4-FFF2-40B4-BE49-F238E27FC236}">
                <a16:creationId xmlns:a16="http://schemas.microsoft.com/office/drawing/2014/main" id="{FC59DF1B-A104-4A27-9CFD-E44CD9BE3FF3}"/>
              </a:ext>
            </a:extLst>
          </p:cNvPr>
          <p:cNvSpPr>
            <a:spLocks xmlns:a="http://schemas.openxmlformats.org/drawingml/2006/main" noGrp="1"/>
          </p:cNvSpPr>
          <p:nvPr/>
        </p:nvSpPr>
        <p:spPr>
          <a:xfrm xmlns:a="http://schemas.openxmlformats.org/drawingml/2006/main">
            <a:off x="3114675" y="3057525"/>
            <a:ext cx="3905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Identifiant de mesure</a:t>
            </a:r>
          </a:p>
        </p:txBody>
      </p:sp>
      <p:sp>
        <p:nvSpPr>
          <p:cNvPr id="16" name="Trait et valeur">
            <a:extLst xmlns:a="http://schemas.openxmlformats.org/drawingml/2006/main">
              <a:ext uri="{FF2B5EF4-FFF2-40B4-BE49-F238E27FC236}">
                <a16:creationId xmlns:a16="http://schemas.microsoft.com/office/drawing/2014/main" id="{AC5C734F-771E-4423-884F-7A3C9CB45EA6}"/>
              </a:ext>
            </a:extLst>
          </p:cNvPr>
          <p:cNvSpPr>
            <a:spLocks xmlns:a="http://schemas.openxmlformats.org/drawingml/2006/main" noGrp="1"/>
          </p:cNvSpPr>
          <p:nvPr/>
        </p:nvSpPr>
        <p:spPr>
          <a:xfrm xmlns:a="http://schemas.openxmlformats.org/drawingml/2006/main">
            <a:off x="7210425" y="3057525"/>
            <a:ext cx="43910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Trait et valeur</a:t>
            </a:r>
          </a:p>
        </p:txBody>
      </p:sp>
      <p:sp>
        <p:nvSpPr>
          <p:cNvPr id="17" name="">
            <a:extLst xmlns:a="http://schemas.openxmlformats.org/drawingml/2006/main">
              <a:ext uri="{FF2B5EF4-FFF2-40B4-BE49-F238E27FC236}">
                <a16:creationId xmlns:a16="http://schemas.microsoft.com/office/drawing/2014/main" id="{328F16E1-EE0A-41C6-9445-23F6D2B0DE0C}"/>
              </a:ext>
            </a:extLst>
          </p:cNvPr>
          <p:cNvSpPr>
            <a:spLocks xmlns:a="http://schemas.openxmlformats.org/drawingml/2006/main" noGrp="1"/>
          </p:cNvSpPr>
          <p:nvPr/>
        </p:nvSpPr>
        <p:spPr>
          <a:xfrm xmlns:a="http://schemas.openxmlformats.org/drawingml/2006/main">
            <a:off x="400050" y="36004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18" name="PARCELLE">
            <a:extLst xmlns:a="http://schemas.openxmlformats.org/drawingml/2006/main">
              <a:ext uri="{FF2B5EF4-FFF2-40B4-BE49-F238E27FC236}">
                <a16:creationId xmlns:a16="http://schemas.microsoft.com/office/drawing/2014/main" id="{49B87FCE-D602-46B4-8D4E-3346F0090E45}"/>
              </a:ext>
            </a:extLst>
          </p:cNvPr>
          <p:cNvSpPr>
            <a:spLocks xmlns:a="http://schemas.openxmlformats.org/drawingml/2006/main" noGrp="1"/>
          </p:cNvSpPr>
          <p:nvPr/>
        </p:nvSpPr>
        <p:spPr>
          <a:xfrm xmlns:a="http://schemas.openxmlformats.org/drawingml/2006/main">
            <a:off x="400050" y="3667125"/>
            <a:ext cx="25241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PARCELLE</a:t>
            </a:r>
          </a:p>
        </p:txBody>
      </p:sp>
      <p:sp>
        <p:nvSpPr>
          <p:cNvPr id="19" name="Identifiant de parcelle">
            <a:extLst xmlns:a="http://schemas.openxmlformats.org/drawingml/2006/main">
              <a:ext uri="{FF2B5EF4-FFF2-40B4-BE49-F238E27FC236}">
                <a16:creationId xmlns:a16="http://schemas.microsoft.com/office/drawing/2014/main" id="{2156C649-1848-43BC-96D2-6C5E8F080EF4}"/>
              </a:ext>
            </a:extLst>
          </p:cNvPr>
          <p:cNvSpPr>
            <a:spLocks xmlns:a="http://schemas.openxmlformats.org/drawingml/2006/main" noGrp="1"/>
          </p:cNvSpPr>
          <p:nvPr/>
        </p:nvSpPr>
        <p:spPr>
          <a:xfrm xmlns:a="http://schemas.openxmlformats.org/drawingml/2006/main">
            <a:off x="3114675" y="3667125"/>
            <a:ext cx="3905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Identifiant de parcelle</a:t>
            </a:r>
          </a:p>
        </p:txBody>
      </p:sp>
      <p:sp>
        <p:nvSpPr>
          <p:cNvPr id="20" name="Entrée, réplication, matériel">
            <a:extLst xmlns:a="http://schemas.openxmlformats.org/drawingml/2006/main">
              <a:ext uri="{FF2B5EF4-FFF2-40B4-BE49-F238E27FC236}">
                <a16:creationId xmlns:a16="http://schemas.microsoft.com/office/drawing/2014/main" id="{32136B6B-C9E7-4E75-81F8-367AA8577279}"/>
              </a:ext>
            </a:extLst>
          </p:cNvPr>
          <p:cNvSpPr>
            <a:spLocks xmlns:a="http://schemas.openxmlformats.org/drawingml/2006/main" noGrp="1"/>
          </p:cNvSpPr>
          <p:nvPr/>
        </p:nvSpPr>
        <p:spPr>
          <a:xfrm xmlns:a="http://schemas.openxmlformats.org/drawingml/2006/main">
            <a:off x="7210425" y="3667125"/>
            <a:ext cx="43910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Entrée, réplication, matériel</a:t>
            </a:r>
          </a:p>
        </p:txBody>
      </p:sp>
      <p:sp>
        <p:nvSpPr>
          <p:cNvPr id="21" name="">
            <a:extLst xmlns:a="http://schemas.openxmlformats.org/drawingml/2006/main">
              <a:ext uri="{FF2B5EF4-FFF2-40B4-BE49-F238E27FC236}">
                <a16:creationId xmlns:a16="http://schemas.microsoft.com/office/drawing/2014/main" id="{EEE7692E-2FC4-4EE4-A0C5-3B1BDDE9C539}"/>
              </a:ext>
            </a:extLst>
          </p:cNvPr>
          <p:cNvSpPr>
            <a:spLocks xmlns:a="http://schemas.openxmlformats.org/drawingml/2006/main" noGrp="1"/>
          </p:cNvSpPr>
          <p:nvPr/>
        </p:nvSpPr>
        <p:spPr>
          <a:xfrm xmlns:a="http://schemas.openxmlformats.org/drawingml/2006/main">
            <a:off x="400050" y="42100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22" name="LK_CRISP_MATERIAL">
            <a:extLst xmlns:a="http://schemas.openxmlformats.org/drawingml/2006/main">
              <a:ext uri="{FF2B5EF4-FFF2-40B4-BE49-F238E27FC236}">
                <a16:creationId xmlns:a16="http://schemas.microsoft.com/office/drawing/2014/main" id="{68C91560-2D34-4A6B-937D-C4F56350BB7B}"/>
              </a:ext>
            </a:extLst>
          </p:cNvPr>
          <p:cNvSpPr>
            <a:spLocks xmlns:a="http://schemas.openxmlformats.org/drawingml/2006/main" noGrp="1"/>
          </p:cNvSpPr>
          <p:nvPr/>
        </p:nvSpPr>
        <p:spPr>
          <a:xfrm xmlns:a="http://schemas.openxmlformats.org/drawingml/2006/main">
            <a:off x="400050" y="4276725"/>
            <a:ext cx="25241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LK_CRISP_MATERIAL</a:t>
            </a:r>
          </a:p>
        </p:txBody>
      </p:sp>
      <p:sp>
        <p:nvSpPr>
          <p:cNvPr id="23" name="Identifiant de matériel">
            <a:extLst xmlns:a="http://schemas.openxmlformats.org/drawingml/2006/main">
              <a:ext uri="{FF2B5EF4-FFF2-40B4-BE49-F238E27FC236}">
                <a16:creationId xmlns:a16="http://schemas.microsoft.com/office/drawing/2014/main" id="{41DFD8FD-BBD4-43BF-95E9-41EE2C427739}"/>
              </a:ext>
            </a:extLst>
          </p:cNvPr>
          <p:cNvSpPr>
            <a:spLocks xmlns:a="http://schemas.openxmlformats.org/drawingml/2006/main" noGrp="1"/>
          </p:cNvSpPr>
          <p:nvPr/>
        </p:nvSpPr>
        <p:spPr>
          <a:xfrm xmlns:a="http://schemas.openxmlformats.org/drawingml/2006/main">
            <a:off x="3114675" y="4276725"/>
            <a:ext cx="3905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Identifiant de matériel</a:t>
            </a:r>
          </a:p>
        </p:txBody>
      </p:sp>
      <p:sp>
        <p:nvSpPr>
          <p:cNvPr id="24" name="Nom et pedigree">
            <a:extLst xmlns:a="http://schemas.openxmlformats.org/drawingml/2006/main">
              <a:ext uri="{FF2B5EF4-FFF2-40B4-BE49-F238E27FC236}">
                <a16:creationId xmlns:a16="http://schemas.microsoft.com/office/drawing/2014/main" id="{CDA075CD-704A-4291-9A53-7C927110A557}"/>
              </a:ext>
            </a:extLst>
          </p:cNvPr>
          <p:cNvSpPr>
            <a:spLocks xmlns:a="http://schemas.openxmlformats.org/drawingml/2006/main" noGrp="1"/>
          </p:cNvSpPr>
          <p:nvPr/>
        </p:nvSpPr>
        <p:spPr>
          <a:xfrm xmlns:a="http://schemas.openxmlformats.org/drawingml/2006/main">
            <a:off x="7210425" y="4276725"/>
            <a:ext cx="43910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Nom et pedigree</a:t>
            </a:r>
          </a:p>
        </p:txBody>
      </p:sp>
      <p:sp>
        <p:nvSpPr>
          <p:cNvPr id="25" name="">
            <a:extLst xmlns:a="http://schemas.openxmlformats.org/drawingml/2006/main">
              <a:ext uri="{FF2B5EF4-FFF2-40B4-BE49-F238E27FC236}">
                <a16:creationId xmlns:a16="http://schemas.microsoft.com/office/drawing/2014/main" id="{885F013E-23A7-490E-8346-C48DF40E2141}"/>
              </a:ext>
            </a:extLst>
          </p:cNvPr>
          <p:cNvSpPr>
            <a:spLocks xmlns:a="http://schemas.openxmlformats.org/drawingml/2006/main" noGrp="1"/>
          </p:cNvSpPr>
          <p:nvPr/>
        </p:nvSpPr>
        <p:spPr>
          <a:xfrm xmlns:a="http://schemas.openxmlformats.org/drawingml/2006/main">
            <a:off x="400050" y="48196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26" name="REF_ESPECES">
            <a:extLst xmlns:a="http://schemas.openxmlformats.org/drawingml/2006/main">
              <a:ext uri="{FF2B5EF4-FFF2-40B4-BE49-F238E27FC236}">
                <a16:creationId xmlns:a16="http://schemas.microsoft.com/office/drawing/2014/main" id="{0DACA18E-7ED9-4111-812D-EEDFAFBFB55C}"/>
              </a:ext>
            </a:extLst>
          </p:cNvPr>
          <p:cNvSpPr>
            <a:spLocks xmlns:a="http://schemas.openxmlformats.org/drawingml/2006/main" noGrp="1"/>
          </p:cNvSpPr>
          <p:nvPr/>
        </p:nvSpPr>
        <p:spPr>
          <a:xfrm xmlns:a="http://schemas.openxmlformats.org/drawingml/2006/main">
            <a:off x="400050" y="4886325"/>
            <a:ext cx="25241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REF_ESPECES</a:t>
            </a:r>
          </a:p>
        </p:txBody>
      </p:sp>
      <p:sp>
        <p:nvSpPr>
          <p:cNvPr id="27" name="Espèce + spécificité">
            <a:extLst xmlns:a="http://schemas.openxmlformats.org/drawingml/2006/main">
              <a:ext uri="{FF2B5EF4-FFF2-40B4-BE49-F238E27FC236}">
                <a16:creationId xmlns:a16="http://schemas.microsoft.com/office/drawing/2014/main" id="{0B88F184-D02B-4E7F-83FF-DFB589E1A403}"/>
              </a:ext>
            </a:extLst>
          </p:cNvPr>
          <p:cNvSpPr>
            <a:spLocks xmlns:a="http://schemas.openxmlformats.org/drawingml/2006/main" noGrp="1"/>
          </p:cNvSpPr>
          <p:nvPr/>
        </p:nvSpPr>
        <p:spPr>
          <a:xfrm xmlns:a="http://schemas.openxmlformats.org/drawingml/2006/main">
            <a:off x="3114675" y="4886325"/>
            <a:ext cx="3905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Espèce + spécificité</a:t>
            </a:r>
          </a:p>
        </p:txBody>
      </p:sp>
      <p:sp>
        <p:nvSpPr>
          <p:cNvPr id="28" name="Référentiel disponible">
            <a:extLst xmlns:a="http://schemas.openxmlformats.org/drawingml/2006/main">
              <a:ext uri="{FF2B5EF4-FFF2-40B4-BE49-F238E27FC236}">
                <a16:creationId xmlns:a16="http://schemas.microsoft.com/office/drawing/2014/main" id="{89A85F13-C55D-42A4-BBEF-27CC5C73BF52}"/>
              </a:ext>
            </a:extLst>
          </p:cNvPr>
          <p:cNvSpPr>
            <a:spLocks xmlns:a="http://schemas.openxmlformats.org/drawingml/2006/main" noGrp="1"/>
          </p:cNvSpPr>
          <p:nvPr/>
        </p:nvSpPr>
        <p:spPr>
          <a:xfrm xmlns:a="http://schemas.openxmlformats.org/drawingml/2006/main">
            <a:off x="7210425" y="4886325"/>
            <a:ext cx="43910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Référentiel disponible</a:t>
            </a:r>
          </a:p>
        </p:txBody>
      </p:sp>
      <p:sp>
        <p:nvSpPr>
          <p:cNvPr id="29" name="">
            <a:extLst xmlns:a="http://schemas.openxmlformats.org/drawingml/2006/main">
              <a:ext uri="{FF2B5EF4-FFF2-40B4-BE49-F238E27FC236}">
                <a16:creationId xmlns:a16="http://schemas.microsoft.com/office/drawing/2014/main" id="{90570DDD-CD55-46E4-AFEC-5E4DF7CA2EEB}"/>
              </a:ext>
            </a:extLst>
          </p:cNvPr>
          <p:cNvSpPr>
            <a:spLocks xmlns:a="http://schemas.openxmlformats.org/drawingml/2006/main" noGrp="1"/>
          </p:cNvSpPr>
          <p:nvPr/>
        </p:nvSpPr>
        <p:spPr>
          <a:xfrm xmlns:a="http://schemas.openxmlformats.org/drawingml/2006/main">
            <a:off x="400050" y="54292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30" name="TRIAL_QUALIFICATION">
            <a:extLst xmlns:a="http://schemas.openxmlformats.org/drawingml/2006/main">
              <a:ext uri="{FF2B5EF4-FFF2-40B4-BE49-F238E27FC236}">
                <a16:creationId xmlns:a16="http://schemas.microsoft.com/office/drawing/2014/main" id="{3B415DC1-A9A5-42D4-A053-4D88680DC954}"/>
              </a:ext>
            </a:extLst>
          </p:cNvPr>
          <p:cNvSpPr>
            <a:spLocks xmlns:a="http://schemas.openxmlformats.org/drawingml/2006/main" noGrp="1"/>
          </p:cNvSpPr>
          <p:nvPr/>
        </p:nvSpPr>
        <p:spPr>
          <a:xfrm xmlns:a="http://schemas.openxmlformats.org/drawingml/2006/main">
            <a:off x="400050" y="5495925"/>
            <a:ext cx="25241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TRIAL_QUALIFICATION</a:t>
            </a:r>
          </a:p>
        </p:txBody>
      </p:sp>
      <p:sp>
        <p:nvSpPr>
          <p:cNvPr id="31" name="Essai + année + attribut">
            <a:extLst xmlns:a="http://schemas.openxmlformats.org/drawingml/2006/main">
              <a:ext uri="{FF2B5EF4-FFF2-40B4-BE49-F238E27FC236}">
                <a16:creationId xmlns:a16="http://schemas.microsoft.com/office/drawing/2014/main" id="{585C179C-1F25-41CB-A84A-FEC3AFA67A16}"/>
              </a:ext>
            </a:extLst>
          </p:cNvPr>
          <p:cNvSpPr>
            <a:spLocks xmlns:a="http://schemas.openxmlformats.org/drawingml/2006/main" noGrp="1"/>
          </p:cNvSpPr>
          <p:nvPr/>
        </p:nvSpPr>
        <p:spPr>
          <a:xfrm xmlns:a="http://schemas.openxmlformats.org/drawingml/2006/main">
            <a:off x="3114675" y="5495925"/>
            <a:ext cx="3905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Essai + année + attribut</a:t>
            </a:r>
          </a:p>
        </p:txBody>
      </p:sp>
      <p:sp>
        <p:nvSpPr>
          <p:cNvPr id="32" name="Qualification pivotée">
            <a:extLst xmlns:a="http://schemas.openxmlformats.org/drawingml/2006/main">
              <a:ext uri="{FF2B5EF4-FFF2-40B4-BE49-F238E27FC236}">
                <a16:creationId xmlns:a16="http://schemas.microsoft.com/office/drawing/2014/main" id="{08EFB51D-3C3D-4A50-BBA5-97EBA72FD3E6}"/>
              </a:ext>
            </a:extLst>
          </p:cNvPr>
          <p:cNvSpPr>
            <a:spLocks xmlns:a="http://schemas.openxmlformats.org/drawingml/2006/main" noGrp="1"/>
          </p:cNvSpPr>
          <p:nvPr/>
        </p:nvSpPr>
        <p:spPr>
          <a:xfrm xmlns:a="http://schemas.openxmlformats.org/drawingml/2006/main">
            <a:off x="7210425" y="5495925"/>
            <a:ext cx="43910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Qualification pivotée</a:t>
            </a:r>
          </a:p>
        </p:txBody>
      </p:sp>
    </p:spTree>
    <p:extLst>
      <p:ext uri="{BB962C8B-B14F-4D97-AF65-F5344CB8AC3E}">
        <p14:creationId xmlns:p14="http://schemas.microsoft.com/office/powerpoint/2010/main" val="961894661"/>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01 · BESOIN MÉTIER">
            <a:extLst xmlns:a="http://schemas.openxmlformats.org/drawingml/2006/main">
              <a:ext uri="{FF2B5EF4-FFF2-40B4-BE49-F238E27FC236}">
                <a16:creationId xmlns:a16="http://schemas.microsoft.com/office/drawing/2014/main" id="{4918FA1E-1CA2-4465-A3FD-8271B64D4ADB}"/>
              </a:ext>
            </a:extLst>
          </p:cNvPr>
          <p:cNvSpPr>
            <a:spLocks xmlns:a="http://schemas.openxmlformats.org/drawingml/2006/main" noGrp="1"/>
          </p:cNvSpPr>
          <p:nvPr/>
        </p:nvSpPr>
        <p:spPr>
          <a:xfrm xmlns:a="http://schemas.openxmlformats.org/drawingml/2006/main">
            <a:off x="400050" y="228600"/>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1">
                <a:solidFill>
                  <a:srgbClr val="525860"/>
                </a:solidFill>
              </a:defRPr>
            </a:pPr>
            <a:r>
              <a:rPr sz="1650" b="1">
                <a:solidFill>
                  <a:srgbClr val="525860"/>
                </a:solidFill>
              </a:rPr>
              <a:t>02 · MODÈLE DE DONNÉES</a:t>
            </a:r>
          </a:p>
        </p:txBody>
      </p:sp>
      <p:sp>
        <p:nvSpPr>
          <p:cNvPr id="2" name="Une chaîne commune pour les essais">
            <a:extLst xmlns:a="http://schemas.openxmlformats.org/drawingml/2006/main">
              <a:ext uri="{FF2B5EF4-FFF2-40B4-BE49-F238E27FC236}">
                <a16:creationId xmlns:a16="http://schemas.microsoft.com/office/drawing/2014/main" id="{582004AA-442D-44BD-A084-3EF72F430642}"/>
              </a:ext>
            </a:extLst>
          </p:cNvPr>
          <p:cNvSpPr>
            <a:spLocks xmlns:a="http://schemas.openxmlformats.org/drawingml/2006/main" noGrp="1"/>
          </p:cNvSpPr>
          <p:nvPr/>
        </p:nvSpPr>
        <p:spPr>
          <a:xfrm xmlns:a="http://schemas.openxmlformats.org/drawingml/2006/main">
            <a:off x="400050" y="742950"/>
            <a:ext cx="113919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3600" b="1">
                <a:solidFill>
                  <a:srgbClr val="111111"/>
                </a:solidFill>
              </a:defRPr>
            </a:pPr>
            <a:r>
              <a:rPr sz="3600" b="1">
                <a:solidFill>
                  <a:srgbClr val="111111"/>
                </a:solidFill>
              </a:rPr>
              <a:t>Une mesure prend sens avec son contexte</a:t>
            </a:r>
          </a:p>
        </p:txBody>
      </p:sp>
      <p:sp>
        <p:nvSpPr>
          <p:cNvPr id="3" name="">
            <a:extLst xmlns:a="http://schemas.openxmlformats.org/drawingml/2006/main">
              <a:ext uri="{FF2B5EF4-FFF2-40B4-BE49-F238E27FC236}">
                <a16:creationId xmlns:a16="http://schemas.microsoft.com/office/drawing/2014/main" id="{90D8C472-0880-4E51-801C-ABC68E8D630A}"/>
              </a:ext>
            </a:extLst>
          </p:cNvPr>
          <p:cNvSpPr>
            <a:spLocks xmlns:a="http://schemas.openxmlformats.org/drawingml/2006/main" noGrp="1"/>
          </p:cNvSpPr>
          <p:nvPr/>
        </p:nvSpPr>
        <p:spPr>
          <a:xfrm xmlns:a="http://schemas.openxmlformats.org/drawingml/2006/main">
            <a:off x="400050" y="62293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4" name="SEMENCES R&amp;D · PROJET DE GROUPE">
            <a:extLst xmlns:a="http://schemas.openxmlformats.org/drawingml/2006/main">
              <a:ext uri="{FF2B5EF4-FFF2-40B4-BE49-F238E27FC236}">
                <a16:creationId xmlns:a16="http://schemas.microsoft.com/office/drawing/2014/main" id="{E367BF29-BD6B-4531-BBDA-2BF3824C149A}"/>
              </a:ext>
            </a:extLst>
          </p:cNvPr>
          <p:cNvSpPr>
            <a:spLocks xmlns:a="http://schemas.openxmlformats.org/drawingml/2006/main" noGrp="1"/>
          </p:cNvSpPr>
          <p:nvPr/>
        </p:nvSpPr>
        <p:spPr>
          <a:xfrm xmlns:a="http://schemas.openxmlformats.org/drawingml/2006/main">
            <a:off x="400050" y="641032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0">
                <a:solidFill>
                  <a:srgbClr val="525860"/>
                </a:solidFill>
              </a:defRPr>
            </a:pPr>
            <a:r>
              <a:rPr sz="1650" b="0">
                <a:solidFill>
                  <a:srgbClr val="525860"/>
                </a:solidFill>
              </a:rPr>
              <a:t>SEMENCES R&amp;D · PROJET DE GROUPE</a:t>
            </a:r>
          </a:p>
        </p:txBody>
      </p:sp>
      <p:sp>
        <p:nvSpPr>
          <p:cNvPr id="5" name="02">
            <a:extLst xmlns:a="http://schemas.openxmlformats.org/drawingml/2006/main">
              <a:ext uri="{FF2B5EF4-FFF2-40B4-BE49-F238E27FC236}">
                <a16:creationId xmlns:a16="http://schemas.microsoft.com/office/drawing/2014/main" id="{CE7F22FF-0554-4C2D-842A-A3EF89211E9A}"/>
              </a:ext>
            </a:extLst>
          </p:cNvPr>
          <p:cNvSpPr>
            <a:spLocks xmlns:a="http://schemas.openxmlformats.org/drawingml/2006/main" noGrp="1"/>
          </p:cNvSpPr>
          <p:nvPr/>
        </p:nvSpPr>
        <p:spPr>
          <a:xfrm xmlns:a="http://schemas.openxmlformats.org/drawingml/2006/main">
            <a:off x="11239500" y="64103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0">
                <a:solidFill>
                  <a:srgbClr val="525860"/>
                </a:solidFill>
              </a:defRPr>
            </a:pPr>
            <a:r>
              <a:rPr sz="1650" b="0">
                <a:solidFill>
                  <a:srgbClr val="525860"/>
                </a:solidFill>
              </a:rPr>
              <a:t>05</a:t>
            </a:r>
          </a:p>
        </p:txBody>
      </p:sp>
      <p:sp>
        <p:nvSpPr>
          <p:cNvPr id="6" name="Données dispersées">
            <a:extLst xmlns:a="http://schemas.openxmlformats.org/drawingml/2006/main">
              <a:ext uri="{FF2B5EF4-FFF2-40B4-BE49-F238E27FC236}">
                <a16:creationId xmlns:a16="http://schemas.microsoft.com/office/drawing/2014/main" id="{4EE8312A-2531-461C-8A53-64A72804157D}"/>
              </a:ext>
            </a:extLst>
          </p:cNvPr>
          <p:cNvSpPr>
            <a:spLocks xmlns:a="http://schemas.openxmlformats.org/drawingml/2006/main" noGrp="1"/>
          </p:cNvSpPr>
          <p:nvPr/>
        </p:nvSpPr>
        <p:spPr>
          <a:xfrm xmlns:a="http://schemas.openxmlformats.org/drawingml/2006/main">
            <a:off x="400050" y="2057400"/>
            <a:ext cx="54768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2400" b="1">
                <a:solidFill>
                  <a:srgbClr val="111111"/>
                </a:solidFill>
              </a:defRPr>
            </a:pPr>
            <a:r>
              <a:rPr sz="2400" b="1">
                <a:solidFill>
                  <a:srgbClr val="111111"/>
                </a:solidFill>
              </a:rPr>
              <a:t>Le grain de la table</a:t>
            </a:r>
          </a:p>
        </p:txBody>
      </p:sp>
      <p:sp>
        <p:nvSpPr>
          <p:cNvPr id="7" name="Les essais, résultats, parcelles et matériels sont répartis dans ">
            <a:extLst xmlns:a="http://schemas.openxmlformats.org/drawingml/2006/main">
              <a:ext uri="{FF2B5EF4-FFF2-40B4-BE49-F238E27FC236}">
                <a16:creationId xmlns:a16="http://schemas.microsoft.com/office/drawing/2014/main" id="{0175D916-23F1-4701-A1E0-3D28D8646127}"/>
              </a:ext>
            </a:extLst>
          </p:cNvPr>
          <p:cNvSpPr>
            <a:spLocks xmlns:a="http://schemas.openxmlformats.org/drawingml/2006/main" noGrp="1"/>
          </p:cNvSpPr>
          <p:nvPr/>
        </p:nvSpPr>
        <p:spPr>
          <a:xfrm xmlns:a="http://schemas.openxmlformats.org/drawingml/2006/main">
            <a:off x="400050" y="2800350"/>
            <a:ext cx="54768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Une ligne représente la valeur d’un trait pour une entrée et une réplication.</a:t>
            </a:r>
          </a:p>
        </p:txBody>
      </p:sp>
      <p:sp>
        <p:nvSpPr>
          <p:cNvPr id="8" name="Les clés, nombres et métadonnées nécessitent une normalisation.">
            <a:extLst xmlns:a="http://schemas.openxmlformats.org/drawingml/2006/main">
              <a:ext uri="{FF2B5EF4-FFF2-40B4-BE49-F238E27FC236}">
                <a16:creationId xmlns:a16="http://schemas.microsoft.com/office/drawing/2014/main" id="{DD478A21-5F58-4307-B15A-67F7A6D97331}"/>
              </a:ext>
            </a:extLst>
          </p:cNvPr>
          <p:cNvSpPr>
            <a:spLocks xmlns:a="http://schemas.openxmlformats.org/drawingml/2006/main" noGrp="1"/>
          </p:cNvSpPr>
          <p:nvPr/>
        </p:nvSpPr>
        <p:spPr>
          <a:xfrm xmlns:a="http://schemas.openxmlformats.org/drawingml/2006/main">
            <a:off x="400050" y="3743325"/>
            <a:ext cx="54768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TRAIT identifie le caractère ; RESULT_NUM contient la valeur normalisée.</a:t>
            </a:r>
          </a:p>
        </p:txBody>
      </p:sp>
      <p:sp>
        <p:nvSpPr>
          <p:cNvPr id="9" name="La localisation ne couvre qu’une partie des essais.">
            <a:extLst xmlns:a="http://schemas.openxmlformats.org/drawingml/2006/main">
              <a:ext uri="{FF2B5EF4-FFF2-40B4-BE49-F238E27FC236}">
                <a16:creationId xmlns:a16="http://schemas.microsoft.com/office/drawing/2014/main" id="{5DDA381D-EF5C-4100-89EF-DEE50D0906D4}"/>
              </a:ext>
            </a:extLst>
          </p:cNvPr>
          <p:cNvSpPr>
            <a:spLocks xmlns:a="http://schemas.openxmlformats.org/drawingml/2006/main" noGrp="1"/>
          </p:cNvSpPr>
          <p:nvPr/>
        </p:nvSpPr>
        <p:spPr>
          <a:xfrm xmlns:a="http://schemas.openxmlformats.org/drawingml/2006/main">
            <a:off x="400050" y="4686300"/>
            <a:ext cx="54768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YEAR, REGION et MAIN_NAME rendent la mesure interprétable.</a:t>
            </a:r>
          </a:p>
        </p:txBody>
      </p:sp>
      <p:sp>
        <p:nvSpPr>
          <p:cNvPr id="10" name="Usages attendus">
            <a:extLst xmlns:a="http://schemas.openxmlformats.org/drawingml/2006/main">
              <a:ext uri="{FF2B5EF4-FFF2-40B4-BE49-F238E27FC236}">
                <a16:creationId xmlns:a16="http://schemas.microsoft.com/office/drawing/2014/main" id="{57D7E65A-4370-4678-953C-51F3B9C91EF2}"/>
              </a:ext>
            </a:extLst>
          </p:cNvPr>
          <p:cNvSpPr>
            <a:spLocks xmlns:a="http://schemas.openxmlformats.org/drawingml/2006/main" noGrp="1"/>
          </p:cNvSpPr>
          <p:nvPr/>
        </p:nvSpPr>
        <p:spPr>
          <a:xfrm xmlns:a="http://schemas.openxmlformats.org/drawingml/2006/main">
            <a:off x="6257925" y="2057400"/>
            <a:ext cx="54768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2400" b="1">
                <a:solidFill>
                  <a:srgbClr val="111111"/>
                </a:solidFill>
              </a:defRPr>
            </a:pPr>
            <a:r>
              <a:rPr sz="2400" b="1">
                <a:solidFill>
                  <a:srgbClr val="111111"/>
                </a:solidFill>
              </a:rPr>
              <a:t>Les relations à préserver</a:t>
            </a:r>
          </a:p>
        </p:txBody>
      </p:sp>
      <p:sp>
        <p:nvSpPr>
          <p:cNvPr id="11" name="Comparer les catégories, campagnes, régions et matériels.">
            <a:extLst xmlns:a="http://schemas.openxmlformats.org/drawingml/2006/main">
              <a:ext uri="{FF2B5EF4-FFF2-40B4-BE49-F238E27FC236}">
                <a16:creationId xmlns:a16="http://schemas.microsoft.com/office/drawing/2014/main" id="{5885D678-AEF6-4E9C-9863-5D74F0FE259B}"/>
              </a:ext>
            </a:extLst>
          </p:cNvPr>
          <p:cNvSpPr>
            <a:spLocks xmlns:a="http://schemas.openxmlformats.org/drawingml/2006/main" noGrp="1"/>
          </p:cNvSpPr>
          <p:nvPr/>
        </p:nvSpPr>
        <p:spPr>
          <a:xfrm xmlns:a="http://schemas.openxmlformats.org/drawingml/2006/main">
            <a:off x="6257925" y="2800350"/>
            <a:ext cx="54768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SL_TRIAL relie la mesure à l’essai et à ses métadonnées.</a:t>
            </a:r>
          </a:p>
        </p:txBody>
      </p:sp>
      <p:sp>
        <p:nvSpPr>
          <p:cNvPr id="12" name="Retrouver un matériel et comprendre la provenance des données.">
            <a:extLst xmlns:a="http://schemas.openxmlformats.org/drawingml/2006/main">
              <a:ext uri="{FF2B5EF4-FFF2-40B4-BE49-F238E27FC236}">
                <a16:creationId xmlns:a16="http://schemas.microsoft.com/office/drawing/2014/main" id="{6E22209C-5045-48BA-B874-3C6FAABDE6EA}"/>
              </a:ext>
            </a:extLst>
          </p:cNvPr>
          <p:cNvSpPr>
            <a:spLocks xmlns:a="http://schemas.openxmlformats.org/drawingml/2006/main" noGrp="1"/>
          </p:cNvSpPr>
          <p:nvPr/>
        </p:nvSpPr>
        <p:spPr>
          <a:xfrm xmlns:a="http://schemas.openxmlformats.org/drawingml/2006/main">
            <a:off x="6257925" y="3743325"/>
            <a:ext cx="54768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L’entrée et la réplication permettent de retrouver la parcelle et le matériel.</a:t>
            </a:r>
          </a:p>
        </p:txBody>
      </p:sp>
      <p:sp>
        <p:nvSpPr>
          <p:cNvPr id="13" name="Explorer les résultats et évaluer une prédiction de rendement.">
            <a:extLst xmlns:a="http://schemas.openxmlformats.org/drawingml/2006/main">
              <a:ext uri="{FF2B5EF4-FFF2-40B4-BE49-F238E27FC236}">
                <a16:creationId xmlns:a16="http://schemas.microsoft.com/office/drawing/2014/main" id="{7AC94F89-E568-43C3-A5A3-947B2812E344}"/>
              </a:ext>
            </a:extLst>
          </p:cNvPr>
          <p:cNvSpPr>
            <a:spLocks xmlns:a="http://schemas.openxmlformats.org/drawingml/2006/main" noGrp="1"/>
          </p:cNvSpPr>
          <p:nvPr/>
        </p:nvSpPr>
        <p:spPr>
          <a:xfrm xmlns:a="http://schemas.openxmlformats.org/drawingml/2006/main">
            <a:off x="6257925" y="4686300"/>
            <a:ext cx="54768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Une métadonnée absente reste nulle ; la mesure est conservée.</a:t>
            </a:r>
          </a:p>
        </p:txBody>
      </p:sp>
    </p:spTree>
    <p:extLst>
      <p:ext uri="{BB962C8B-B14F-4D97-AF65-F5344CB8AC3E}">
        <p14:creationId xmlns:p14="http://schemas.microsoft.com/office/powerpoint/2010/main" val="1433487000"/>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03 · ARCHITECTURE">
            <a:extLst xmlns:a="http://schemas.openxmlformats.org/drawingml/2006/main">
              <a:ext uri="{FF2B5EF4-FFF2-40B4-BE49-F238E27FC236}">
                <a16:creationId xmlns:a16="http://schemas.microsoft.com/office/drawing/2014/main" id="{3882CAA6-2987-45D0-B66B-9ED07BDA6918}"/>
              </a:ext>
            </a:extLst>
          </p:cNvPr>
          <p:cNvSpPr>
            <a:spLocks xmlns:a="http://schemas.openxmlformats.org/drawingml/2006/main" noGrp="1"/>
          </p:cNvSpPr>
          <p:nvPr/>
        </p:nvSpPr>
        <p:spPr>
          <a:xfrm xmlns:a="http://schemas.openxmlformats.org/drawingml/2006/main">
            <a:off x="400050" y="228600"/>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1">
                <a:solidFill>
                  <a:srgbClr val="525860"/>
                </a:solidFill>
              </a:defRPr>
            </a:pPr>
            <a:r>
              <a:rPr sz="1650" b="1">
                <a:solidFill>
                  <a:srgbClr val="525860"/>
                </a:solidFill>
              </a:rPr>
              <a:t>03 · ARCHITECTURE</a:t>
            </a:r>
          </a:p>
        </p:txBody>
      </p:sp>
      <p:sp>
        <p:nvSpPr>
          <p:cNvPr id="2" name="Un flux local, des couches séparées">
            <a:extLst xmlns:a="http://schemas.openxmlformats.org/drawingml/2006/main">
              <a:ext uri="{FF2B5EF4-FFF2-40B4-BE49-F238E27FC236}">
                <a16:creationId xmlns:a16="http://schemas.microsoft.com/office/drawing/2014/main" id="{1B3D5DEC-75D4-4EB4-9EFA-D4C3D5B69321}"/>
              </a:ext>
            </a:extLst>
          </p:cNvPr>
          <p:cNvSpPr>
            <a:spLocks xmlns:a="http://schemas.openxmlformats.org/drawingml/2006/main" noGrp="1"/>
          </p:cNvSpPr>
          <p:nvPr/>
        </p:nvSpPr>
        <p:spPr>
          <a:xfrm xmlns:a="http://schemas.openxmlformats.org/drawingml/2006/main">
            <a:off x="400050" y="742950"/>
            <a:ext cx="113919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3600" b="1">
                <a:solidFill>
                  <a:srgbClr val="111111"/>
                </a:solidFill>
              </a:defRPr>
            </a:pPr>
            <a:r>
              <a:rPr sz="3600" b="1">
                <a:solidFill>
                  <a:srgbClr val="111111"/>
                </a:solidFill>
              </a:rPr>
              <a:t>Un flux local, des couches séparées</a:t>
            </a:r>
          </a:p>
        </p:txBody>
      </p:sp>
      <p:sp>
        <p:nvSpPr>
          <p:cNvPr id="3" name="">
            <a:extLst xmlns:a="http://schemas.openxmlformats.org/drawingml/2006/main">
              <a:ext uri="{FF2B5EF4-FFF2-40B4-BE49-F238E27FC236}">
                <a16:creationId xmlns:a16="http://schemas.microsoft.com/office/drawing/2014/main" id="{4DE0B18E-15E8-4AFB-9A6E-0F6E0ECF161E}"/>
              </a:ext>
            </a:extLst>
          </p:cNvPr>
          <p:cNvSpPr>
            <a:spLocks xmlns:a="http://schemas.openxmlformats.org/drawingml/2006/main" noGrp="1"/>
          </p:cNvSpPr>
          <p:nvPr/>
        </p:nvSpPr>
        <p:spPr>
          <a:xfrm xmlns:a="http://schemas.openxmlformats.org/drawingml/2006/main">
            <a:off x="400050" y="62293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4" name="SEMENCES R&amp;D · PROJET DE GROUPE">
            <a:extLst xmlns:a="http://schemas.openxmlformats.org/drawingml/2006/main">
              <a:ext uri="{FF2B5EF4-FFF2-40B4-BE49-F238E27FC236}">
                <a16:creationId xmlns:a16="http://schemas.microsoft.com/office/drawing/2014/main" id="{985C0FC3-981B-499A-B72E-7E0422EDA579}"/>
              </a:ext>
            </a:extLst>
          </p:cNvPr>
          <p:cNvSpPr>
            <a:spLocks xmlns:a="http://schemas.openxmlformats.org/drawingml/2006/main" noGrp="1"/>
          </p:cNvSpPr>
          <p:nvPr/>
        </p:nvSpPr>
        <p:spPr>
          <a:xfrm xmlns:a="http://schemas.openxmlformats.org/drawingml/2006/main">
            <a:off x="400050" y="641032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0">
                <a:solidFill>
                  <a:srgbClr val="525860"/>
                </a:solidFill>
              </a:defRPr>
            </a:pPr>
            <a:r>
              <a:rPr sz="1650" b="0">
                <a:solidFill>
                  <a:srgbClr val="525860"/>
                </a:solidFill>
              </a:rPr>
              <a:t>SEMENCES R&amp;D · PROJET DE GROUPE</a:t>
            </a:r>
          </a:p>
        </p:txBody>
      </p:sp>
      <p:sp>
        <p:nvSpPr>
          <p:cNvPr id="5" name="05">
            <a:extLst xmlns:a="http://schemas.openxmlformats.org/drawingml/2006/main">
              <a:ext uri="{FF2B5EF4-FFF2-40B4-BE49-F238E27FC236}">
                <a16:creationId xmlns:a16="http://schemas.microsoft.com/office/drawing/2014/main" id="{8BB65DB7-69DE-403C-A96A-4C8C68596E41}"/>
              </a:ext>
            </a:extLst>
          </p:cNvPr>
          <p:cNvSpPr>
            <a:spLocks xmlns:a="http://schemas.openxmlformats.org/drawingml/2006/main" noGrp="1"/>
          </p:cNvSpPr>
          <p:nvPr/>
        </p:nvSpPr>
        <p:spPr>
          <a:xfrm xmlns:a="http://schemas.openxmlformats.org/drawingml/2006/main">
            <a:off x="11239500" y="64103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0">
                <a:solidFill>
                  <a:srgbClr val="525860"/>
                </a:solidFill>
              </a:defRPr>
            </a:pPr>
            <a:r>
              <a:rPr sz="1650" b="0">
                <a:solidFill>
                  <a:srgbClr val="525860"/>
                </a:solidFill>
              </a:rPr>
              <a:t>06</a:t>
            </a:r>
          </a:p>
        </p:txBody>
      </p:sp>
      <p:sp>
        <p:nvSpPr>
          <p:cNvPr id="6" name="→">
            <a:extLst xmlns:a="http://schemas.openxmlformats.org/drawingml/2006/main">
              <a:ext uri="{FF2B5EF4-FFF2-40B4-BE49-F238E27FC236}">
                <a16:creationId xmlns:a16="http://schemas.microsoft.com/office/drawing/2014/main" id="{460C0685-3CA9-48A3-9987-2CB6A6CDC0AE}"/>
              </a:ext>
            </a:extLst>
          </p:cNvPr>
          <p:cNvSpPr>
            <a:spLocks xmlns:a="http://schemas.openxmlformats.org/drawingml/2006/main" noGrp="1"/>
          </p:cNvSpPr>
          <p:nvPr/>
        </p:nvSpPr>
        <p:spPr>
          <a:xfrm xmlns:a="http://schemas.openxmlformats.org/drawingml/2006/main">
            <a:off x="2914650" y="2752725"/>
            <a:ext cx="4191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3000" b="0">
                <a:solidFill>
                  <a:srgbClr val="525860"/>
                </a:solidFill>
              </a:defRPr>
            </a:pPr>
            <a:r>
              <a:rPr sz="3000" b="0">
                <a:solidFill>
                  <a:srgbClr val="525860"/>
                </a:solidFill>
              </a:rPr>
              <a:t>→</a:t>
            </a:r>
          </a:p>
        </p:txBody>
      </p:sp>
      <p:sp>
        <p:nvSpPr>
          <p:cNvPr id="7" name="→">
            <a:extLst xmlns:a="http://schemas.openxmlformats.org/drawingml/2006/main">
              <a:ext uri="{FF2B5EF4-FFF2-40B4-BE49-F238E27FC236}">
                <a16:creationId xmlns:a16="http://schemas.microsoft.com/office/drawing/2014/main" id="{E4605EF0-A27A-4B55-AAF6-2B4427A91DEF}"/>
              </a:ext>
            </a:extLst>
          </p:cNvPr>
          <p:cNvSpPr>
            <a:spLocks xmlns:a="http://schemas.openxmlformats.org/drawingml/2006/main" noGrp="1"/>
          </p:cNvSpPr>
          <p:nvPr/>
        </p:nvSpPr>
        <p:spPr>
          <a:xfrm xmlns:a="http://schemas.openxmlformats.org/drawingml/2006/main">
            <a:off x="5848350" y="2752725"/>
            <a:ext cx="4191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3000" b="0">
                <a:solidFill>
                  <a:srgbClr val="525860"/>
                </a:solidFill>
              </a:defRPr>
            </a:pPr>
            <a:r>
              <a:rPr sz="3000" b="0">
                <a:solidFill>
                  <a:srgbClr val="525860"/>
                </a:solidFill>
              </a:rPr>
              <a:t>→</a:t>
            </a:r>
          </a:p>
        </p:txBody>
      </p:sp>
      <p:sp>
        <p:nvSpPr>
          <p:cNvPr id="8" name="→">
            <a:extLst xmlns:a="http://schemas.openxmlformats.org/drawingml/2006/main">
              <a:ext uri="{FF2B5EF4-FFF2-40B4-BE49-F238E27FC236}">
                <a16:creationId xmlns:a16="http://schemas.microsoft.com/office/drawing/2014/main" id="{18C387F8-AC97-48F0-A5AD-91FECFF2D7A3}"/>
              </a:ext>
            </a:extLst>
          </p:cNvPr>
          <p:cNvSpPr>
            <a:spLocks xmlns:a="http://schemas.openxmlformats.org/drawingml/2006/main" noGrp="1"/>
          </p:cNvSpPr>
          <p:nvPr/>
        </p:nvSpPr>
        <p:spPr>
          <a:xfrm xmlns:a="http://schemas.openxmlformats.org/drawingml/2006/main">
            <a:off x="8782050" y="2752725"/>
            <a:ext cx="4191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3000" b="0">
                <a:solidFill>
                  <a:srgbClr val="525860"/>
                </a:solidFill>
              </a:defRPr>
            </a:pPr>
            <a:r>
              <a:rPr sz="3000" b="0">
                <a:solidFill>
                  <a:srgbClr val="525860"/>
                </a:solidFill>
              </a:rPr>
              <a:t>→</a:t>
            </a:r>
          </a:p>
        </p:txBody>
      </p:sp>
      <p:sp>
        <p:nvSpPr>
          <p:cNvPr id="9" name="">
            <a:extLst xmlns:a="http://schemas.openxmlformats.org/drawingml/2006/main">
              <a:ext uri="{FF2B5EF4-FFF2-40B4-BE49-F238E27FC236}">
                <a16:creationId xmlns:a16="http://schemas.microsoft.com/office/drawing/2014/main" id="{9166CCC3-CCE3-4D6F-B48C-1092B5E37B5C}"/>
              </a:ext>
            </a:extLst>
          </p:cNvPr>
          <p:cNvSpPr>
            <a:spLocks xmlns:a="http://schemas.openxmlformats.org/drawingml/2006/main" noGrp="1"/>
          </p:cNvSpPr>
          <p:nvPr/>
        </p:nvSpPr>
        <p:spPr>
          <a:xfrm xmlns:a="http://schemas.openxmlformats.org/drawingml/2006/main">
            <a:off x="400050" y="2257425"/>
            <a:ext cx="2495550" cy="1581150"/>
          </a:xfrm>
          <a:prstGeom xmlns:a="http://schemas.openxmlformats.org/drawingml/2006/main" prst="rect">
            <a:avLst/>
          </a:prstGeom>
          <a:solidFill xmlns:a="http://schemas.openxmlformats.org/drawingml/2006/main">
            <a:srgbClr val="EDEDED"/>
          </a:solidFill>
          <a:ln xmlns:a="http://schemas.openxmlformats.org/drawingml/2006/main" w="0">
            <a:noFill/>
          </a:ln>
        </p:spPr>
      </p:sp>
      <p:sp>
        <p:nvSpPr>
          <p:cNvPr id="10" name="Sources">
            <a:extLst xmlns:a="http://schemas.openxmlformats.org/drawingml/2006/main">
              <a:ext uri="{FF2B5EF4-FFF2-40B4-BE49-F238E27FC236}">
                <a16:creationId xmlns:a16="http://schemas.microsoft.com/office/drawing/2014/main" id="{66AFEBBF-29BF-406A-BD97-399DF0968C72}"/>
              </a:ext>
            </a:extLst>
          </p:cNvPr>
          <p:cNvSpPr>
            <a:spLocks xmlns:a="http://schemas.openxmlformats.org/drawingml/2006/main" noGrp="1"/>
          </p:cNvSpPr>
          <p:nvPr/>
        </p:nvSpPr>
        <p:spPr>
          <a:xfrm xmlns:a="http://schemas.openxmlformats.org/drawingml/2006/main">
            <a:off x="590550" y="2543175"/>
            <a:ext cx="21145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2400" b="1">
                <a:solidFill>
                  <a:srgbClr val="111111"/>
                </a:solidFill>
              </a:defRPr>
            </a:pPr>
            <a:r>
              <a:rPr sz="2400" b="1">
                <a:solidFill>
                  <a:srgbClr val="111111"/>
                </a:solidFill>
              </a:rPr>
              <a:t>Sources</a:t>
            </a:r>
          </a:p>
        </p:txBody>
      </p:sp>
      <p:sp>
        <p:nvSpPr>
          <p:cNvPr id="11" name="6 CSV">
            <a:extLst xmlns:a="http://schemas.openxmlformats.org/drawingml/2006/main">
              <a:ext uri="{FF2B5EF4-FFF2-40B4-BE49-F238E27FC236}">
                <a16:creationId xmlns:a16="http://schemas.microsoft.com/office/drawing/2014/main" id="{0E01E158-3E6D-444E-98EF-DE1F552A7A27}"/>
              </a:ext>
            </a:extLst>
          </p:cNvPr>
          <p:cNvSpPr>
            <a:spLocks xmlns:a="http://schemas.openxmlformats.org/drawingml/2006/main" noGrp="1"/>
          </p:cNvSpPr>
          <p:nvPr/>
        </p:nvSpPr>
        <p:spPr>
          <a:xfrm xmlns:a="http://schemas.openxmlformats.org/drawingml/2006/main">
            <a:off x="590550" y="3209925"/>
            <a:ext cx="2114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6 CSV</a:t>
            </a:r>
          </a:p>
        </p:txBody>
      </p:sp>
      <p:sp>
        <p:nvSpPr>
          <p:cNvPr id="12" name="">
            <a:extLst xmlns:a="http://schemas.openxmlformats.org/drawingml/2006/main">
              <a:ext uri="{FF2B5EF4-FFF2-40B4-BE49-F238E27FC236}">
                <a16:creationId xmlns:a16="http://schemas.microsoft.com/office/drawing/2014/main" id="{14E2192D-C508-4B29-9BC6-8C853D515127}"/>
              </a:ext>
            </a:extLst>
          </p:cNvPr>
          <p:cNvSpPr>
            <a:spLocks xmlns:a="http://schemas.openxmlformats.org/drawingml/2006/main" noGrp="1"/>
          </p:cNvSpPr>
          <p:nvPr/>
        </p:nvSpPr>
        <p:spPr>
          <a:xfrm xmlns:a="http://schemas.openxmlformats.org/drawingml/2006/main">
            <a:off x="3333750" y="2257425"/>
            <a:ext cx="2495550" cy="1581150"/>
          </a:xfrm>
          <a:prstGeom xmlns:a="http://schemas.openxmlformats.org/drawingml/2006/main" prst="rect">
            <a:avLst/>
          </a:prstGeom>
          <a:solidFill xmlns:a="http://schemas.openxmlformats.org/drawingml/2006/main">
            <a:srgbClr val="EDEDED"/>
          </a:solidFill>
          <a:ln xmlns:a="http://schemas.openxmlformats.org/drawingml/2006/main" w="0">
            <a:noFill/>
          </a:ln>
        </p:spPr>
      </p:sp>
      <p:sp>
        <p:nvSpPr>
          <p:cNvPr id="13" name="Raw">
            <a:extLst xmlns:a="http://schemas.openxmlformats.org/drawingml/2006/main">
              <a:ext uri="{FF2B5EF4-FFF2-40B4-BE49-F238E27FC236}">
                <a16:creationId xmlns:a16="http://schemas.microsoft.com/office/drawing/2014/main" id="{9F754535-4F42-4517-B44D-BDAEE5060DD6}"/>
              </a:ext>
            </a:extLst>
          </p:cNvPr>
          <p:cNvSpPr>
            <a:spLocks xmlns:a="http://schemas.openxmlformats.org/drawingml/2006/main" noGrp="1"/>
          </p:cNvSpPr>
          <p:nvPr/>
        </p:nvSpPr>
        <p:spPr>
          <a:xfrm xmlns:a="http://schemas.openxmlformats.org/drawingml/2006/main">
            <a:off x="3524250" y="2543175"/>
            <a:ext cx="21145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2400" b="1">
                <a:solidFill>
                  <a:srgbClr val="111111"/>
                </a:solidFill>
              </a:defRPr>
            </a:pPr>
            <a:r>
              <a:rPr sz="2400" b="1">
                <a:solidFill>
                  <a:srgbClr val="111111"/>
                </a:solidFill>
              </a:rPr>
              <a:t>Raw</a:t>
            </a:r>
          </a:p>
        </p:txBody>
      </p:sp>
      <p:sp>
        <p:nvSpPr>
          <p:cNvPr id="14" name="Parquet">
            <a:extLst xmlns:a="http://schemas.openxmlformats.org/drawingml/2006/main">
              <a:ext uri="{FF2B5EF4-FFF2-40B4-BE49-F238E27FC236}">
                <a16:creationId xmlns:a16="http://schemas.microsoft.com/office/drawing/2014/main" id="{BD32B1B2-C265-4F77-B218-79201F5577B0}"/>
              </a:ext>
            </a:extLst>
          </p:cNvPr>
          <p:cNvSpPr>
            <a:spLocks xmlns:a="http://schemas.openxmlformats.org/drawingml/2006/main" noGrp="1"/>
          </p:cNvSpPr>
          <p:nvPr/>
        </p:nvSpPr>
        <p:spPr>
          <a:xfrm xmlns:a="http://schemas.openxmlformats.org/drawingml/2006/main">
            <a:off x="3524250" y="3209925"/>
            <a:ext cx="2114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Parquet</a:t>
            </a:r>
          </a:p>
        </p:txBody>
      </p:sp>
      <p:sp>
        <p:nvSpPr>
          <p:cNvPr id="15" name="">
            <a:extLst xmlns:a="http://schemas.openxmlformats.org/drawingml/2006/main">
              <a:ext uri="{FF2B5EF4-FFF2-40B4-BE49-F238E27FC236}">
                <a16:creationId xmlns:a16="http://schemas.microsoft.com/office/drawing/2014/main" id="{ACC6FDD1-6EE0-4D0D-8786-2E876E7812E1}"/>
              </a:ext>
            </a:extLst>
          </p:cNvPr>
          <p:cNvSpPr>
            <a:spLocks xmlns:a="http://schemas.openxmlformats.org/drawingml/2006/main" noGrp="1"/>
          </p:cNvSpPr>
          <p:nvPr/>
        </p:nvSpPr>
        <p:spPr>
          <a:xfrm xmlns:a="http://schemas.openxmlformats.org/drawingml/2006/main">
            <a:off x="6267450" y="2257425"/>
            <a:ext cx="2495550" cy="1581150"/>
          </a:xfrm>
          <a:prstGeom xmlns:a="http://schemas.openxmlformats.org/drawingml/2006/main" prst="rect">
            <a:avLst/>
          </a:prstGeom>
          <a:solidFill xmlns:a="http://schemas.openxmlformats.org/drawingml/2006/main">
            <a:srgbClr val="EDEDED"/>
          </a:solidFill>
          <a:ln xmlns:a="http://schemas.openxmlformats.org/drawingml/2006/main" w="0">
            <a:noFill/>
          </a:ln>
        </p:spPr>
      </p:sp>
      <p:sp>
        <p:nvSpPr>
          <p:cNvPr id="16" name="ETL">
            <a:extLst xmlns:a="http://schemas.openxmlformats.org/drawingml/2006/main">
              <a:ext uri="{FF2B5EF4-FFF2-40B4-BE49-F238E27FC236}">
                <a16:creationId xmlns:a16="http://schemas.microsoft.com/office/drawing/2014/main" id="{B2CF2E58-6E7A-4F18-B621-3D23A91DC983}"/>
              </a:ext>
            </a:extLst>
          </p:cNvPr>
          <p:cNvSpPr>
            <a:spLocks xmlns:a="http://schemas.openxmlformats.org/drawingml/2006/main" noGrp="1"/>
          </p:cNvSpPr>
          <p:nvPr/>
        </p:nvSpPr>
        <p:spPr>
          <a:xfrm xmlns:a="http://schemas.openxmlformats.org/drawingml/2006/main">
            <a:off x="6457950" y="2543175"/>
            <a:ext cx="21145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2400" b="1">
                <a:solidFill>
                  <a:srgbClr val="111111"/>
                </a:solidFill>
              </a:defRPr>
            </a:pPr>
            <a:r>
              <a:rPr sz="2400" b="1">
                <a:solidFill>
                  <a:srgbClr val="111111"/>
                </a:solidFill>
              </a:rPr>
              <a:t>ETL</a:t>
            </a:r>
          </a:p>
        </p:txBody>
      </p:sp>
      <p:sp>
        <p:nvSpPr>
          <p:cNvPr id="17" name="pandas">
            <a:extLst xmlns:a="http://schemas.openxmlformats.org/drawingml/2006/main">
              <a:ext uri="{FF2B5EF4-FFF2-40B4-BE49-F238E27FC236}">
                <a16:creationId xmlns:a16="http://schemas.microsoft.com/office/drawing/2014/main" id="{337632E1-7503-4812-ADDB-24576DFBC210}"/>
              </a:ext>
            </a:extLst>
          </p:cNvPr>
          <p:cNvSpPr>
            <a:spLocks xmlns:a="http://schemas.openxmlformats.org/drawingml/2006/main" noGrp="1"/>
          </p:cNvSpPr>
          <p:nvPr/>
        </p:nvSpPr>
        <p:spPr>
          <a:xfrm xmlns:a="http://schemas.openxmlformats.org/drawingml/2006/main">
            <a:off x="6457950" y="3209925"/>
            <a:ext cx="2114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pandas</a:t>
            </a:r>
          </a:p>
        </p:txBody>
      </p:sp>
      <p:sp>
        <p:nvSpPr>
          <p:cNvPr id="18" name="">
            <a:extLst xmlns:a="http://schemas.openxmlformats.org/drawingml/2006/main">
              <a:ext uri="{FF2B5EF4-FFF2-40B4-BE49-F238E27FC236}">
                <a16:creationId xmlns:a16="http://schemas.microsoft.com/office/drawing/2014/main" id="{C838D779-E36E-475B-BEDE-FD4E3FD7E5EB}"/>
              </a:ext>
            </a:extLst>
          </p:cNvPr>
          <p:cNvSpPr>
            <a:spLocks xmlns:a="http://schemas.openxmlformats.org/drawingml/2006/main" noGrp="1"/>
          </p:cNvSpPr>
          <p:nvPr/>
        </p:nvSpPr>
        <p:spPr>
          <a:xfrm xmlns:a="http://schemas.openxmlformats.org/drawingml/2006/main">
            <a:off x="9201150" y="2257425"/>
            <a:ext cx="2495550" cy="1581150"/>
          </a:xfrm>
          <a:prstGeom xmlns:a="http://schemas.openxmlformats.org/drawingml/2006/main" prst="rect">
            <a:avLst/>
          </a:prstGeom>
          <a:solidFill xmlns:a="http://schemas.openxmlformats.org/drawingml/2006/main">
            <a:srgbClr val="EDEDED"/>
          </a:solidFill>
          <a:ln xmlns:a="http://schemas.openxmlformats.org/drawingml/2006/main" w="0">
            <a:noFill/>
          </a:ln>
        </p:spPr>
      </p:sp>
      <p:sp>
        <p:nvSpPr>
          <p:cNvPr id="19" name="Faits">
            <a:extLst xmlns:a="http://schemas.openxmlformats.org/drawingml/2006/main">
              <a:ext uri="{FF2B5EF4-FFF2-40B4-BE49-F238E27FC236}">
                <a16:creationId xmlns:a16="http://schemas.microsoft.com/office/drawing/2014/main" id="{FE8A96E6-268A-4864-8794-23377038DBB9}"/>
              </a:ext>
            </a:extLst>
          </p:cNvPr>
          <p:cNvSpPr>
            <a:spLocks xmlns:a="http://schemas.openxmlformats.org/drawingml/2006/main" noGrp="1"/>
          </p:cNvSpPr>
          <p:nvPr/>
        </p:nvSpPr>
        <p:spPr>
          <a:xfrm xmlns:a="http://schemas.openxmlformats.org/drawingml/2006/main">
            <a:off x="9391650" y="2543175"/>
            <a:ext cx="21145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2400" b="1">
                <a:solidFill>
                  <a:srgbClr val="111111"/>
                </a:solidFill>
              </a:defRPr>
            </a:pPr>
            <a:r>
              <a:rPr sz="2400" b="1">
                <a:solidFill>
                  <a:srgbClr val="111111"/>
                </a:solidFill>
              </a:rPr>
              <a:t>Faits</a:t>
            </a:r>
          </a:p>
        </p:txBody>
      </p:sp>
      <p:sp>
        <p:nvSpPr>
          <p:cNvPr id="20" name="Parquet / CSV">
            <a:extLst xmlns:a="http://schemas.openxmlformats.org/drawingml/2006/main">
              <a:ext uri="{FF2B5EF4-FFF2-40B4-BE49-F238E27FC236}">
                <a16:creationId xmlns:a16="http://schemas.microsoft.com/office/drawing/2014/main" id="{2B8EE2A0-C861-422A-999E-D6E33B1B0C2B}"/>
              </a:ext>
            </a:extLst>
          </p:cNvPr>
          <p:cNvSpPr>
            <a:spLocks xmlns:a="http://schemas.openxmlformats.org/drawingml/2006/main" noGrp="1"/>
          </p:cNvSpPr>
          <p:nvPr/>
        </p:nvSpPr>
        <p:spPr>
          <a:xfrm xmlns:a="http://schemas.openxmlformats.org/drawingml/2006/main">
            <a:off x="9391650" y="3209925"/>
            <a:ext cx="2114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Parquet / CSV</a:t>
            </a:r>
          </a:p>
        </p:txBody>
      </p:sp>
      <p:sp>
        <p:nvSpPr>
          <p:cNvPr id="21" name="Consommateurs">
            <a:extLst xmlns:a="http://schemas.openxmlformats.org/drawingml/2006/main">
              <a:ext uri="{FF2B5EF4-FFF2-40B4-BE49-F238E27FC236}">
                <a16:creationId xmlns:a16="http://schemas.microsoft.com/office/drawing/2014/main" id="{DFA0974B-E6CB-494C-8687-8FBCB81B2EF0}"/>
              </a:ext>
            </a:extLst>
          </p:cNvPr>
          <p:cNvSpPr>
            <a:spLocks xmlns:a="http://schemas.openxmlformats.org/drawingml/2006/main" noGrp="1"/>
          </p:cNvSpPr>
          <p:nvPr/>
        </p:nvSpPr>
        <p:spPr>
          <a:xfrm xmlns:a="http://schemas.openxmlformats.org/drawingml/2006/main">
            <a:off x="400050" y="4476750"/>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2400" b="1">
                <a:solidFill>
                  <a:srgbClr val="111111"/>
                </a:solidFill>
              </a:defRPr>
            </a:pPr>
            <a:r>
              <a:rPr sz="2400" b="1">
                <a:solidFill>
                  <a:srgbClr val="111111"/>
                </a:solidFill>
              </a:rPr>
              <a:t>Consommateurs</a:t>
            </a:r>
          </a:p>
        </p:txBody>
      </p:sp>
      <p:sp>
        <p:nvSpPr>
          <p:cNvPr id="22" name="SQL · statistiques R/Python · modèles ML · stockage SQLite">
            <a:extLst xmlns:a="http://schemas.openxmlformats.org/drawingml/2006/main">
              <a:ext uri="{FF2B5EF4-FFF2-40B4-BE49-F238E27FC236}">
                <a16:creationId xmlns:a16="http://schemas.microsoft.com/office/drawing/2014/main" id="{CEF7144F-A8A4-4246-A266-874B2A588603}"/>
              </a:ext>
            </a:extLst>
          </p:cNvPr>
          <p:cNvSpPr>
            <a:spLocks xmlns:a="http://schemas.openxmlformats.org/drawingml/2006/main" noGrp="1"/>
          </p:cNvSpPr>
          <p:nvPr/>
        </p:nvSpPr>
        <p:spPr>
          <a:xfrm xmlns:a="http://schemas.openxmlformats.org/drawingml/2006/main">
            <a:off x="3619500" y="4476750"/>
            <a:ext cx="81724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2100" b="0">
                <a:solidFill>
                  <a:srgbClr val="111111"/>
                </a:solidFill>
              </a:defRPr>
            </a:pPr>
            <a:r>
              <a:rPr sz="2100" b="0">
                <a:solidFill>
                  <a:srgbClr val="111111"/>
                </a:solidFill>
              </a:rPr>
              <a:t>SQL · statistiques R/Python · modèles ML · stockage SQLite</a:t>
            </a:r>
          </a:p>
        </p:txBody>
      </p:sp>
      <p:sp>
        <p:nvSpPr>
          <p:cNvPr id="23" name="Exposition">
            <a:extLst xmlns:a="http://schemas.openxmlformats.org/drawingml/2006/main">
              <a:ext uri="{FF2B5EF4-FFF2-40B4-BE49-F238E27FC236}">
                <a16:creationId xmlns:a16="http://schemas.microsoft.com/office/drawing/2014/main" id="{EAEE514A-4F5D-498D-B052-30D840C4D0F4}"/>
              </a:ext>
            </a:extLst>
          </p:cNvPr>
          <p:cNvSpPr>
            <a:spLocks xmlns:a="http://schemas.openxmlformats.org/drawingml/2006/main" noGrp="1"/>
          </p:cNvSpPr>
          <p:nvPr/>
        </p:nvSpPr>
        <p:spPr>
          <a:xfrm xmlns:a="http://schemas.openxmlformats.org/drawingml/2006/main">
            <a:off x="400050" y="5476875"/>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2400" b="1">
                <a:solidFill>
                  <a:srgbClr val="111111"/>
                </a:solidFill>
              </a:defRPr>
            </a:pPr>
            <a:r>
              <a:rPr sz="2400" b="1">
                <a:solidFill>
                  <a:srgbClr val="111111"/>
                </a:solidFill>
              </a:rPr>
              <a:t>Exposition</a:t>
            </a:r>
          </a:p>
        </p:txBody>
      </p:sp>
      <p:sp>
        <p:nvSpPr>
          <p:cNvPr id="24" name="Dashboard · carte · recherche · API de prédiction">
            <a:extLst xmlns:a="http://schemas.openxmlformats.org/drawingml/2006/main">
              <a:ext uri="{FF2B5EF4-FFF2-40B4-BE49-F238E27FC236}">
                <a16:creationId xmlns:a16="http://schemas.microsoft.com/office/drawing/2014/main" id="{04F08B8A-D408-4EB2-BA7A-2D6C8B1D3090}"/>
              </a:ext>
            </a:extLst>
          </p:cNvPr>
          <p:cNvSpPr>
            <a:spLocks xmlns:a="http://schemas.openxmlformats.org/drawingml/2006/main" noGrp="1"/>
          </p:cNvSpPr>
          <p:nvPr/>
        </p:nvSpPr>
        <p:spPr>
          <a:xfrm xmlns:a="http://schemas.openxmlformats.org/drawingml/2006/main">
            <a:off x="3619500" y="5476875"/>
            <a:ext cx="81724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2100" b="0">
                <a:solidFill>
                  <a:srgbClr val="111111"/>
                </a:solidFill>
              </a:defRPr>
            </a:pPr>
            <a:r>
              <a:rPr sz="2100" b="0">
                <a:solidFill>
                  <a:srgbClr val="111111"/>
                </a:solidFill>
              </a:rPr>
              <a:t>Dashboard · carte · recherche · API de prédiction</a:t>
            </a:r>
          </a:p>
        </p:txBody>
      </p:sp>
    </p:spTree>
    <p:extLst>
      <p:ext uri="{BB962C8B-B14F-4D97-AF65-F5344CB8AC3E}">
        <p14:creationId xmlns:p14="http://schemas.microsoft.com/office/powerpoint/2010/main" val="1581000210"/>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03 · ARCHITECTURE">
            <a:extLst xmlns:a="http://schemas.openxmlformats.org/drawingml/2006/main">
              <a:ext uri="{FF2B5EF4-FFF2-40B4-BE49-F238E27FC236}">
                <a16:creationId xmlns:a16="http://schemas.microsoft.com/office/drawing/2014/main" id="{CEFB805F-48A2-43D1-A080-5A9BD85741C5}"/>
              </a:ext>
            </a:extLst>
          </p:cNvPr>
          <p:cNvSpPr>
            <a:spLocks xmlns:a="http://schemas.openxmlformats.org/drawingml/2006/main" noGrp="1"/>
          </p:cNvSpPr>
          <p:nvPr/>
        </p:nvSpPr>
        <p:spPr>
          <a:xfrm xmlns:a="http://schemas.openxmlformats.org/drawingml/2006/main">
            <a:off x="400050" y="228600"/>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1">
                <a:solidFill>
                  <a:srgbClr val="525860"/>
                </a:solidFill>
              </a:defRPr>
            </a:pPr>
            <a:r>
              <a:rPr sz="1650" b="1">
                <a:solidFill>
                  <a:srgbClr val="525860"/>
                </a:solidFill>
              </a:rPr>
              <a:t>03 · ARCHITECTURE</a:t>
            </a:r>
          </a:p>
        </p:txBody>
      </p:sp>
      <p:sp>
        <p:nvSpPr>
          <p:cNvPr id="2" name="Les services Big Data sont adaptés">
            <a:extLst xmlns:a="http://schemas.openxmlformats.org/drawingml/2006/main">
              <a:ext uri="{FF2B5EF4-FFF2-40B4-BE49-F238E27FC236}">
                <a16:creationId xmlns:a16="http://schemas.microsoft.com/office/drawing/2014/main" id="{AB89808E-1963-476D-86CC-D81EA922DDFB}"/>
              </a:ext>
            </a:extLst>
          </p:cNvPr>
          <p:cNvSpPr>
            <a:spLocks xmlns:a="http://schemas.openxmlformats.org/drawingml/2006/main" noGrp="1"/>
          </p:cNvSpPr>
          <p:nvPr/>
        </p:nvSpPr>
        <p:spPr>
          <a:xfrm xmlns:a="http://schemas.openxmlformats.org/drawingml/2006/main">
            <a:off x="400050" y="742950"/>
            <a:ext cx="113919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3600" b="1">
                <a:solidFill>
                  <a:srgbClr val="111111"/>
                </a:solidFill>
              </a:defRPr>
            </a:pPr>
            <a:r>
              <a:rPr sz="3600" b="1">
                <a:solidFill>
                  <a:srgbClr val="111111"/>
                </a:solidFill>
              </a:rPr>
              <a:t>Les services Big Data sont adaptés</a:t>
            </a:r>
          </a:p>
        </p:txBody>
      </p:sp>
      <p:sp>
        <p:nvSpPr>
          <p:cNvPr id="3" name="">
            <a:extLst xmlns:a="http://schemas.openxmlformats.org/drawingml/2006/main">
              <a:ext uri="{FF2B5EF4-FFF2-40B4-BE49-F238E27FC236}">
                <a16:creationId xmlns:a16="http://schemas.microsoft.com/office/drawing/2014/main" id="{4D3D59D8-B997-46D7-AA11-0CC1390BAAE5}"/>
              </a:ext>
            </a:extLst>
          </p:cNvPr>
          <p:cNvSpPr>
            <a:spLocks xmlns:a="http://schemas.openxmlformats.org/drawingml/2006/main" noGrp="1"/>
          </p:cNvSpPr>
          <p:nvPr/>
        </p:nvSpPr>
        <p:spPr>
          <a:xfrm xmlns:a="http://schemas.openxmlformats.org/drawingml/2006/main">
            <a:off x="400050" y="62293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4" name="SEMENCES R&amp;D · PROJET DE GROUPE">
            <a:extLst xmlns:a="http://schemas.openxmlformats.org/drawingml/2006/main">
              <a:ext uri="{FF2B5EF4-FFF2-40B4-BE49-F238E27FC236}">
                <a16:creationId xmlns:a16="http://schemas.microsoft.com/office/drawing/2014/main" id="{842893EA-4FC4-4BB1-9163-2E6989615EF9}"/>
              </a:ext>
            </a:extLst>
          </p:cNvPr>
          <p:cNvSpPr>
            <a:spLocks xmlns:a="http://schemas.openxmlformats.org/drawingml/2006/main" noGrp="1"/>
          </p:cNvSpPr>
          <p:nvPr/>
        </p:nvSpPr>
        <p:spPr>
          <a:xfrm xmlns:a="http://schemas.openxmlformats.org/drawingml/2006/main">
            <a:off x="400050" y="641032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0">
                <a:solidFill>
                  <a:srgbClr val="525860"/>
                </a:solidFill>
              </a:defRPr>
            </a:pPr>
            <a:r>
              <a:rPr sz="1650" b="0">
                <a:solidFill>
                  <a:srgbClr val="525860"/>
                </a:solidFill>
              </a:rPr>
              <a:t>SEMENCES R&amp;D · PROJET DE GROUPE</a:t>
            </a:r>
          </a:p>
        </p:txBody>
      </p:sp>
      <p:sp>
        <p:nvSpPr>
          <p:cNvPr id="5" name="06">
            <a:extLst xmlns:a="http://schemas.openxmlformats.org/drawingml/2006/main">
              <a:ext uri="{FF2B5EF4-FFF2-40B4-BE49-F238E27FC236}">
                <a16:creationId xmlns:a16="http://schemas.microsoft.com/office/drawing/2014/main" id="{9321D7A4-937E-4D72-885F-9F3D6BEAF4FF}"/>
              </a:ext>
            </a:extLst>
          </p:cNvPr>
          <p:cNvSpPr>
            <a:spLocks xmlns:a="http://schemas.openxmlformats.org/drawingml/2006/main" noGrp="1"/>
          </p:cNvSpPr>
          <p:nvPr/>
        </p:nvSpPr>
        <p:spPr>
          <a:xfrm xmlns:a="http://schemas.openxmlformats.org/drawingml/2006/main">
            <a:off x="11239500" y="64103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0">
                <a:solidFill>
                  <a:srgbClr val="525860"/>
                </a:solidFill>
              </a:defRPr>
            </a:pPr>
            <a:r>
              <a:rPr sz="1650" b="0">
                <a:solidFill>
                  <a:srgbClr val="525860"/>
                </a:solidFill>
              </a:rPr>
              <a:t>07</a:t>
            </a:r>
          </a:p>
        </p:txBody>
      </p:sp>
      <p:sp>
        <p:nvSpPr>
          <p:cNvPr id="6" name="Concept">
            <a:extLst xmlns:a="http://schemas.openxmlformats.org/drawingml/2006/main">
              <a:ext uri="{FF2B5EF4-FFF2-40B4-BE49-F238E27FC236}">
                <a16:creationId xmlns:a16="http://schemas.microsoft.com/office/drawing/2014/main" id="{66FCDBE3-AEFD-495A-A7FA-DCA0822864A9}"/>
              </a:ext>
            </a:extLst>
          </p:cNvPr>
          <p:cNvSpPr>
            <a:spLocks xmlns:a="http://schemas.openxmlformats.org/drawingml/2006/main" noGrp="1"/>
          </p:cNvSpPr>
          <p:nvPr/>
        </p:nvSpPr>
        <p:spPr>
          <a:xfrm xmlns:a="http://schemas.openxmlformats.org/drawingml/2006/main">
            <a:off x="400050" y="1838325"/>
            <a:ext cx="25431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1">
                <a:solidFill>
                  <a:srgbClr val="111111"/>
                </a:solidFill>
              </a:defRPr>
            </a:pPr>
            <a:r>
              <a:rPr sz="1950" b="1">
                <a:solidFill>
                  <a:srgbClr val="111111"/>
                </a:solidFill>
              </a:rPr>
              <a:t>Concept</a:t>
            </a:r>
          </a:p>
        </p:txBody>
      </p:sp>
      <p:sp>
        <p:nvSpPr>
          <p:cNvPr id="7" name="Moteur du prototype">
            <a:extLst xmlns:a="http://schemas.openxmlformats.org/drawingml/2006/main">
              <a:ext uri="{FF2B5EF4-FFF2-40B4-BE49-F238E27FC236}">
                <a16:creationId xmlns:a16="http://schemas.microsoft.com/office/drawing/2014/main" id="{DAF932EB-AA7B-4A42-BFF4-B037691E34B4}"/>
              </a:ext>
            </a:extLst>
          </p:cNvPr>
          <p:cNvSpPr>
            <a:spLocks xmlns:a="http://schemas.openxmlformats.org/drawingml/2006/main" noGrp="1"/>
          </p:cNvSpPr>
          <p:nvPr/>
        </p:nvSpPr>
        <p:spPr>
          <a:xfrm xmlns:a="http://schemas.openxmlformats.org/drawingml/2006/main">
            <a:off x="3114675" y="1838325"/>
            <a:ext cx="39243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1">
                <a:solidFill>
                  <a:srgbClr val="111111"/>
                </a:solidFill>
              </a:defRPr>
            </a:pPr>
            <a:r>
              <a:rPr sz="1950" b="1">
                <a:solidFill>
                  <a:srgbClr val="111111"/>
                </a:solidFill>
              </a:rPr>
              <a:t>Moteur du prototype</a:t>
            </a:r>
          </a:p>
        </p:txBody>
      </p:sp>
      <p:sp>
        <p:nvSpPr>
          <p:cNvPr id="8" name="Conséquence">
            <a:extLst xmlns:a="http://schemas.openxmlformats.org/drawingml/2006/main">
              <a:ext uri="{FF2B5EF4-FFF2-40B4-BE49-F238E27FC236}">
                <a16:creationId xmlns:a16="http://schemas.microsoft.com/office/drawing/2014/main" id="{77CC9B92-904F-47B7-9283-C8723F9CEEE0}"/>
              </a:ext>
            </a:extLst>
          </p:cNvPr>
          <p:cNvSpPr>
            <a:spLocks xmlns:a="http://schemas.openxmlformats.org/drawingml/2006/main" noGrp="1"/>
          </p:cNvSpPr>
          <p:nvPr/>
        </p:nvSpPr>
        <p:spPr>
          <a:xfrm xmlns:a="http://schemas.openxmlformats.org/drawingml/2006/main">
            <a:off x="7210425" y="1838325"/>
            <a:ext cx="44100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1">
                <a:solidFill>
                  <a:srgbClr val="111111"/>
                </a:solidFill>
              </a:defRPr>
            </a:pPr>
            <a:r>
              <a:rPr sz="1950" b="1">
                <a:solidFill>
                  <a:srgbClr val="111111"/>
                </a:solidFill>
              </a:rPr>
              <a:t>Conséquence</a:t>
            </a:r>
          </a:p>
        </p:txBody>
      </p:sp>
      <p:sp>
        <p:nvSpPr>
          <p:cNvPr id="9" name="">
            <a:extLst xmlns:a="http://schemas.openxmlformats.org/drawingml/2006/main">
              <a:ext uri="{FF2B5EF4-FFF2-40B4-BE49-F238E27FC236}">
                <a16:creationId xmlns:a16="http://schemas.microsoft.com/office/drawing/2014/main" id="{34877D07-00D0-44D2-A810-610928276A11}"/>
              </a:ext>
            </a:extLst>
          </p:cNvPr>
          <p:cNvSpPr>
            <a:spLocks xmlns:a="http://schemas.openxmlformats.org/drawingml/2006/main" noGrp="1"/>
          </p:cNvSpPr>
          <p:nvPr/>
        </p:nvSpPr>
        <p:spPr>
          <a:xfrm xmlns:a="http://schemas.openxmlformats.org/drawingml/2006/main">
            <a:off x="400050" y="23050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10" name="HDFS / Sqoop">
            <a:extLst xmlns:a="http://schemas.openxmlformats.org/drawingml/2006/main">
              <a:ext uri="{FF2B5EF4-FFF2-40B4-BE49-F238E27FC236}">
                <a16:creationId xmlns:a16="http://schemas.microsoft.com/office/drawing/2014/main" id="{A999C34C-32B5-439D-A15D-CAE66BA2D689}"/>
              </a:ext>
            </a:extLst>
          </p:cNvPr>
          <p:cNvSpPr>
            <a:spLocks xmlns:a="http://schemas.openxmlformats.org/drawingml/2006/main" noGrp="1"/>
          </p:cNvSpPr>
          <p:nvPr/>
        </p:nvSpPr>
        <p:spPr>
          <a:xfrm xmlns:a="http://schemas.openxmlformats.org/drawingml/2006/main">
            <a:off x="400050" y="2447925"/>
            <a:ext cx="25241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HDFS / Sqoop</a:t>
            </a:r>
          </a:p>
        </p:txBody>
      </p:sp>
      <p:sp>
        <p:nvSpPr>
          <p:cNvPr id="11" name="Fichiers + pandas">
            <a:extLst xmlns:a="http://schemas.openxmlformats.org/drawingml/2006/main">
              <a:ext uri="{FF2B5EF4-FFF2-40B4-BE49-F238E27FC236}">
                <a16:creationId xmlns:a16="http://schemas.microsoft.com/office/drawing/2014/main" id="{BF7C9C04-DA47-469A-93A7-F23204CCFCC8}"/>
              </a:ext>
            </a:extLst>
          </p:cNvPr>
          <p:cNvSpPr>
            <a:spLocks xmlns:a="http://schemas.openxmlformats.org/drawingml/2006/main" noGrp="1"/>
          </p:cNvSpPr>
          <p:nvPr/>
        </p:nvSpPr>
        <p:spPr>
          <a:xfrm xmlns:a="http://schemas.openxmlformats.org/drawingml/2006/main">
            <a:off x="3114675" y="2447925"/>
            <a:ext cx="3905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Fichiers + pandas</a:t>
            </a:r>
          </a:p>
        </p:txBody>
      </p:sp>
      <p:sp>
        <p:nvSpPr>
          <p:cNvPr id="12" name="Pas de cluster ni de JDBC">
            <a:extLst xmlns:a="http://schemas.openxmlformats.org/drawingml/2006/main">
              <a:ext uri="{FF2B5EF4-FFF2-40B4-BE49-F238E27FC236}">
                <a16:creationId xmlns:a16="http://schemas.microsoft.com/office/drawing/2014/main" id="{ED2210DE-AC13-4C23-99A7-2592A7681BDA}"/>
              </a:ext>
            </a:extLst>
          </p:cNvPr>
          <p:cNvSpPr>
            <a:spLocks xmlns:a="http://schemas.openxmlformats.org/drawingml/2006/main" noGrp="1"/>
          </p:cNvSpPr>
          <p:nvPr/>
        </p:nvSpPr>
        <p:spPr>
          <a:xfrm xmlns:a="http://schemas.openxmlformats.org/drawingml/2006/main">
            <a:off x="7210425" y="2447925"/>
            <a:ext cx="43910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Pas de cluster ni de JDBC</a:t>
            </a:r>
          </a:p>
        </p:txBody>
      </p:sp>
      <p:sp>
        <p:nvSpPr>
          <p:cNvPr id="13" name="">
            <a:extLst xmlns:a="http://schemas.openxmlformats.org/drawingml/2006/main">
              <a:ext uri="{FF2B5EF4-FFF2-40B4-BE49-F238E27FC236}">
                <a16:creationId xmlns:a16="http://schemas.microsoft.com/office/drawing/2014/main" id="{51FE1D4A-830B-4F1B-B964-349CE5A07A63}"/>
              </a:ext>
            </a:extLst>
          </p:cNvPr>
          <p:cNvSpPr>
            <a:spLocks xmlns:a="http://schemas.openxmlformats.org/drawingml/2006/main" noGrp="1"/>
          </p:cNvSpPr>
          <p:nvPr/>
        </p:nvSpPr>
        <p:spPr>
          <a:xfrm xmlns:a="http://schemas.openxmlformats.org/drawingml/2006/main">
            <a:off x="400050" y="31051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14" name="NiFi / Talend">
            <a:extLst xmlns:a="http://schemas.openxmlformats.org/drawingml/2006/main">
              <a:ext uri="{FF2B5EF4-FFF2-40B4-BE49-F238E27FC236}">
                <a16:creationId xmlns:a16="http://schemas.microsoft.com/office/drawing/2014/main" id="{FA6DBDD3-826E-4FF8-B96F-E54B0E7F41BA}"/>
              </a:ext>
            </a:extLst>
          </p:cNvPr>
          <p:cNvSpPr>
            <a:spLocks xmlns:a="http://schemas.openxmlformats.org/drawingml/2006/main" noGrp="1"/>
          </p:cNvSpPr>
          <p:nvPr/>
        </p:nvSpPr>
        <p:spPr>
          <a:xfrm xmlns:a="http://schemas.openxmlformats.org/drawingml/2006/main">
            <a:off x="400050" y="3171825"/>
            <a:ext cx="25241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NiFi / Talend</a:t>
            </a:r>
          </a:p>
        </p:txBody>
      </p:sp>
      <p:sp>
        <p:nvSpPr>
          <p:cNvPr id="15" name="Processeurs et ETL Python">
            <a:extLst xmlns:a="http://schemas.openxmlformats.org/drawingml/2006/main">
              <a:ext uri="{FF2B5EF4-FFF2-40B4-BE49-F238E27FC236}">
                <a16:creationId xmlns:a16="http://schemas.microsoft.com/office/drawing/2014/main" id="{59422911-6F2F-40A9-A5B1-8A55CFA6FB69}"/>
              </a:ext>
            </a:extLst>
          </p:cNvPr>
          <p:cNvSpPr>
            <a:spLocks xmlns:a="http://schemas.openxmlformats.org/drawingml/2006/main" noGrp="1"/>
          </p:cNvSpPr>
          <p:nvPr/>
        </p:nvSpPr>
        <p:spPr>
          <a:xfrm xmlns:a="http://schemas.openxmlformats.org/drawingml/2006/main">
            <a:off x="3114675" y="3171825"/>
            <a:ext cx="3905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Processeurs et ETL Python</a:t>
            </a:r>
          </a:p>
        </p:txBody>
      </p:sp>
      <p:sp>
        <p:nvSpPr>
          <p:cNvPr id="16" name="Logique lisible dans src/">
            <a:extLst xmlns:a="http://schemas.openxmlformats.org/drawingml/2006/main">
              <a:ext uri="{FF2B5EF4-FFF2-40B4-BE49-F238E27FC236}">
                <a16:creationId xmlns:a16="http://schemas.microsoft.com/office/drawing/2014/main" id="{A9465B4C-756F-4526-9ED6-54A40B6B988C}"/>
              </a:ext>
            </a:extLst>
          </p:cNvPr>
          <p:cNvSpPr>
            <a:spLocks xmlns:a="http://schemas.openxmlformats.org/drawingml/2006/main" noGrp="1"/>
          </p:cNvSpPr>
          <p:nvPr/>
        </p:nvSpPr>
        <p:spPr>
          <a:xfrm xmlns:a="http://schemas.openxmlformats.org/drawingml/2006/main">
            <a:off x="7210425" y="3171825"/>
            <a:ext cx="43910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Logique lisible dans src/</a:t>
            </a:r>
          </a:p>
        </p:txBody>
      </p:sp>
      <p:sp>
        <p:nvSpPr>
          <p:cNvPr id="17" name="">
            <a:extLst xmlns:a="http://schemas.openxmlformats.org/drawingml/2006/main">
              <a:ext uri="{FF2B5EF4-FFF2-40B4-BE49-F238E27FC236}">
                <a16:creationId xmlns:a16="http://schemas.microsoft.com/office/drawing/2014/main" id="{D4895E84-92D2-4C13-9F7F-4774B7BB5C09}"/>
              </a:ext>
            </a:extLst>
          </p:cNvPr>
          <p:cNvSpPr>
            <a:spLocks xmlns:a="http://schemas.openxmlformats.org/drawingml/2006/main" noGrp="1"/>
          </p:cNvSpPr>
          <p:nvPr/>
        </p:nvSpPr>
        <p:spPr>
          <a:xfrm xmlns:a="http://schemas.openxmlformats.org/drawingml/2006/main">
            <a:off x="400050" y="38290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18" name="HBase / Kafka">
            <a:extLst xmlns:a="http://schemas.openxmlformats.org/drawingml/2006/main">
              <a:ext uri="{FF2B5EF4-FFF2-40B4-BE49-F238E27FC236}">
                <a16:creationId xmlns:a16="http://schemas.microsoft.com/office/drawing/2014/main" id="{84B052C8-9361-407A-AD26-3840B3B3DD14}"/>
              </a:ext>
            </a:extLst>
          </p:cNvPr>
          <p:cNvSpPr>
            <a:spLocks xmlns:a="http://schemas.openxmlformats.org/drawingml/2006/main" noGrp="1"/>
          </p:cNvSpPr>
          <p:nvPr/>
        </p:nvSpPr>
        <p:spPr>
          <a:xfrm xmlns:a="http://schemas.openxmlformats.org/drawingml/2006/main">
            <a:off x="400050" y="3895725"/>
            <a:ext cx="25241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HBase / Kafka</a:t>
            </a:r>
          </a:p>
        </p:txBody>
      </p:sp>
      <p:sp>
        <p:nvSpPr>
          <p:cNvPr id="19" name="SQLite / files en mémoire">
            <a:extLst xmlns:a="http://schemas.openxmlformats.org/drawingml/2006/main">
              <a:ext uri="{FF2B5EF4-FFF2-40B4-BE49-F238E27FC236}">
                <a16:creationId xmlns:a16="http://schemas.microsoft.com/office/drawing/2014/main" id="{4AA09C27-5FA9-48CB-AE4E-A2FAC5CC35C1}"/>
              </a:ext>
            </a:extLst>
          </p:cNvPr>
          <p:cNvSpPr>
            <a:spLocks xmlns:a="http://schemas.openxmlformats.org/drawingml/2006/main" noGrp="1"/>
          </p:cNvSpPr>
          <p:nvPr/>
        </p:nvSpPr>
        <p:spPr>
          <a:xfrm xmlns:a="http://schemas.openxmlformats.org/drawingml/2006/main">
            <a:off x="3114675" y="3895725"/>
            <a:ext cx="3905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SQLite / files en mémoire</a:t>
            </a:r>
          </a:p>
        </p:txBody>
      </p:sp>
      <p:sp>
        <p:nvSpPr>
          <p:cNvPr id="20" name="Stockage et streaming locaux">
            <a:extLst xmlns:a="http://schemas.openxmlformats.org/drawingml/2006/main">
              <a:ext uri="{FF2B5EF4-FFF2-40B4-BE49-F238E27FC236}">
                <a16:creationId xmlns:a16="http://schemas.microsoft.com/office/drawing/2014/main" id="{EA7EB7C1-CF34-467F-B996-3B9E0513610B}"/>
              </a:ext>
            </a:extLst>
          </p:cNvPr>
          <p:cNvSpPr>
            <a:spLocks xmlns:a="http://schemas.openxmlformats.org/drawingml/2006/main" noGrp="1"/>
          </p:cNvSpPr>
          <p:nvPr/>
        </p:nvSpPr>
        <p:spPr>
          <a:xfrm xmlns:a="http://schemas.openxmlformats.org/drawingml/2006/main">
            <a:off x="7210425" y="3895725"/>
            <a:ext cx="43910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Stockage et streaming locaux</a:t>
            </a:r>
          </a:p>
        </p:txBody>
      </p:sp>
      <p:sp>
        <p:nvSpPr>
          <p:cNvPr id="21" name="">
            <a:extLst xmlns:a="http://schemas.openxmlformats.org/drawingml/2006/main">
              <a:ext uri="{FF2B5EF4-FFF2-40B4-BE49-F238E27FC236}">
                <a16:creationId xmlns:a16="http://schemas.microsoft.com/office/drawing/2014/main" id="{E1717F0B-EF0F-49CF-A808-E04EAEE8D3D5}"/>
              </a:ext>
            </a:extLst>
          </p:cNvPr>
          <p:cNvSpPr>
            <a:spLocks xmlns:a="http://schemas.openxmlformats.org/drawingml/2006/main" noGrp="1"/>
          </p:cNvSpPr>
          <p:nvPr/>
        </p:nvSpPr>
        <p:spPr>
          <a:xfrm xmlns:a="http://schemas.openxmlformats.org/drawingml/2006/main">
            <a:off x="400050" y="45529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22" name="Hive / Drill">
            <a:extLst xmlns:a="http://schemas.openxmlformats.org/drawingml/2006/main">
              <a:ext uri="{FF2B5EF4-FFF2-40B4-BE49-F238E27FC236}">
                <a16:creationId xmlns:a16="http://schemas.microsoft.com/office/drawing/2014/main" id="{A27F45DA-1CDB-4D1E-8C74-7C66DE9E1DF8}"/>
              </a:ext>
            </a:extLst>
          </p:cNvPr>
          <p:cNvSpPr>
            <a:spLocks xmlns:a="http://schemas.openxmlformats.org/drawingml/2006/main" noGrp="1"/>
          </p:cNvSpPr>
          <p:nvPr/>
        </p:nvSpPr>
        <p:spPr>
          <a:xfrm xmlns:a="http://schemas.openxmlformats.org/drawingml/2006/main">
            <a:off x="400050" y="4619625"/>
            <a:ext cx="25241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Hive / Drill</a:t>
            </a:r>
          </a:p>
        </p:txBody>
      </p:sp>
      <p:sp>
        <p:nvSpPr>
          <p:cNvPr id="23" name="DuckDB">
            <a:extLst xmlns:a="http://schemas.openxmlformats.org/drawingml/2006/main">
              <a:ext uri="{FF2B5EF4-FFF2-40B4-BE49-F238E27FC236}">
                <a16:creationId xmlns:a16="http://schemas.microsoft.com/office/drawing/2014/main" id="{D34CA141-647A-4FFA-AF57-422A610C7E2A}"/>
              </a:ext>
            </a:extLst>
          </p:cNvPr>
          <p:cNvSpPr>
            <a:spLocks xmlns:a="http://schemas.openxmlformats.org/drawingml/2006/main" noGrp="1"/>
          </p:cNvSpPr>
          <p:nvPr/>
        </p:nvSpPr>
        <p:spPr>
          <a:xfrm xmlns:a="http://schemas.openxmlformats.org/drawingml/2006/main">
            <a:off x="3114675" y="4619625"/>
            <a:ext cx="3905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DuckDB</a:t>
            </a:r>
          </a:p>
        </p:txBody>
      </p:sp>
      <p:sp>
        <p:nvSpPr>
          <p:cNvPr id="24" name="SQL réellement exécuté">
            <a:extLst xmlns:a="http://schemas.openxmlformats.org/drawingml/2006/main">
              <a:ext uri="{FF2B5EF4-FFF2-40B4-BE49-F238E27FC236}">
                <a16:creationId xmlns:a16="http://schemas.microsoft.com/office/drawing/2014/main" id="{A6462211-4F33-420D-B6CD-AEAA3870EA5D}"/>
              </a:ext>
            </a:extLst>
          </p:cNvPr>
          <p:cNvSpPr>
            <a:spLocks xmlns:a="http://schemas.openxmlformats.org/drawingml/2006/main" noGrp="1"/>
          </p:cNvSpPr>
          <p:nvPr/>
        </p:nvSpPr>
        <p:spPr>
          <a:xfrm xmlns:a="http://schemas.openxmlformats.org/drawingml/2006/main">
            <a:off x="7210425" y="4619625"/>
            <a:ext cx="43910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SQL réellement exécuté</a:t>
            </a:r>
          </a:p>
        </p:txBody>
      </p:sp>
      <p:sp>
        <p:nvSpPr>
          <p:cNvPr id="25" name="">
            <a:extLst xmlns:a="http://schemas.openxmlformats.org/drawingml/2006/main">
              <a:ext uri="{FF2B5EF4-FFF2-40B4-BE49-F238E27FC236}">
                <a16:creationId xmlns:a16="http://schemas.microsoft.com/office/drawing/2014/main" id="{2836DEC9-DD10-45C1-95A6-7D81288314DA}"/>
              </a:ext>
            </a:extLst>
          </p:cNvPr>
          <p:cNvSpPr>
            <a:spLocks xmlns:a="http://schemas.openxmlformats.org/drawingml/2006/main" noGrp="1"/>
          </p:cNvSpPr>
          <p:nvPr/>
        </p:nvSpPr>
        <p:spPr>
          <a:xfrm xmlns:a="http://schemas.openxmlformats.org/drawingml/2006/main">
            <a:off x="400050" y="52768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26" name="Spark">
            <a:extLst xmlns:a="http://schemas.openxmlformats.org/drawingml/2006/main">
              <a:ext uri="{FF2B5EF4-FFF2-40B4-BE49-F238E27FC236}">
                <a16:creationId xmlns:a16="http://schemas.microsoft.com/office/drawing/2014/main" id="{DF219217-B193-428E-AE9F-EE09A05F6161}"/>
              </a:ext>
            </a:extLst>
          </p:cNvPr>
          <p:cNvSpPr>
            <a:spLocks xmlns:a="http://schemas.openxmlformats.org/drawingml/2006/main" noGrp="1"/>
          </p:cNvSpPr>
          <p:nvPr/>
        </p:nvSpPr>
        <p:spPr>
          <a:xfrm xmlns:a="http://schemas.openxmlformats.org/drawingml/2006/main">
            <a:off x="400050" y="5343525"/>
            <a:ext cx="25241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Spark</a:t>
            </a:r>
          </a:p>
        </p:txBody>
      </p:sp>
      <p:sp>
        <p:nvSpPr>
          <p:cNvPr id="27" name="PySpark local ou pandas">
            <a:extLst xmlns:a="http://schemas.openxmlformats.org/drawingml/2006/main">
              <a:ext uri="{FF2B5EF4-FFF2-40B4-BE49-F238E27FC236}">
                <a16:creationId xmlns:a16="http://schemas.microsoft.com/office/drawing/2014/main" id="{529BCC6A-83E3-40A9-B015-4033878A86A3}"/>
              </a:ext>
            </a:extLst>
          </p:cNvPr>
          <p:cNvSpPr>
            <a:spLocks xmlns:a="http://schemas.openxmlformats.org/drawingml/2006/main" noGrp="1"/>
          </p:cNvSpPr>
          <p:nvPr/>
        </p:nvSpPr>
        <p:spPr>
          <a:xfrm xmlns:a="http://schemas.openxmlformats.org/drawingml/2006/main">
            <a:off x="3114675" y="5343525"/>
            <a:ext cx="3905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PySpark local ou pandas</a:t>
            </a:r>
          </a:p>
        </p:txBody>
      </p:sp>
      <p:sp>
        <p:nvSpPr>
          <p:cNvPr id="28" name="Moteur consigné dans le JSON">
            <a:extLst xmlns:a="http://schemas.openxmlformats.org/drawingml/2006/main">
              <a:ext uri="{FF2B5EF4-FFF2-40B4-BE49-F238E27FC236}">
                <a16:creationId xmlns:a16="http://schemas.microsoft.com/office/drawing/2014/main" id="{0D06DCEC-4E0B-4283-BE34-750EFEEF6F30}"/>
              </a:ext>
            </a:extLst>
          </p:cNvPr>
          <p:cNvSpPr>
            <a:spLocks xmlns:a="http://schemas.openxmlformats.org/drawingml/2006/main" noGrp="1"/>
          </p:cNvSpPr>
          <p:nvPr/>
        </p:nvSpPr>
        <p:spPr>
          <a:xfrm xmlns:a="http://schemas.openxmlformats.org/drawingml/2006/main">
            <a:off x="7210425" y="5343525"/>
            <a:ext cx="43910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Moteur consigné dans le JSON</a:t>
            </a:r>
          </a:p>
        </p:txBody>
      </p:sp>
    </p:spTree>
    <p:extLst>
      <p:ext uri="{BB962C8B-B14F-4D97-AF65-F5344CB8AC3E}">
        <p14:creationId xmlns:p14="http://schemas.microsoft.com/office/powerpoint/2010/main" val="740856726"/>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03 · ARCHITECTURE">
            <a:extLst xmlns:a="http://schemas.openxmlformats.org/drawingml/2006/main">
              <a:ext uri="{FF2B5EF4-FFF2-40B4-BE49-F238E27FC236}">
                <a16:creationId xmlns:a16="http://schemas.microsoft.com/office/drawing/2014/main" id="{D471B1AB-DBAD-44AF-891F-03600DDDE7BC}"/>
              </a:ext>
            </a:extLst>
          </p:cNvPr>
          <p:cNvSpPr>
            <a:spLocks xmlns:a="http://schemas.openxmlformats.org/drawingml/2006/main" noGrp="1"/>
          </p:cNvSpPr>
          <p:nvPr/>
        </p:nvSpPr>
        <p:spPr>
          <a:xfrm xmlns:a="http://schemas.openxmlformats.org/drawingml/2006/main">
            <a:off x="400050" y="228600"/>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1">
                <a:solidFill>
                  <a:srgbClr val="525860"/>
                </a:solidFill>
              </a:defRPr>
            </a:pPr>
            <a:r>
              <a:rPr sz="1650" b="1">
                <a:solidFill>
                  <a:srgbClr val="525860"/>
                </a:solidFill>
              </a:rPr>
              <a:t>03 · ARCHITECTURE</a:t>
            </a:r>
          </a:p>
        </p:txBody>
      </p:sp>
      <p:sp>
        <p:nvSpPr>
          <p:cNvPr id="2" name="Séparer les zones facilite la reprise">
            <a:extLst xmlns:a="http://schemas.openxmlformats.org/drawingml/2006/main">
              <a:ext uri="{FF2B5EF4-FFF2-40B4-BE49-F238E27FC236}">
                <a16:creationId xmlns:a16="http://schemas.microsoft.com/office/drawing/2014/main" id="{E3C14E92-D9C9-4937-A1C1-68244F180D05}"/>
              </a:ext>
            </a:extLst>
          </p:cNvPr>
          <p:cNvSpPr>
            <a:spLocks xmlns:a="http://schemas.openxmlformats.org/drawingml/2006/main" noGrp="1"/>
          </p:cNvSpPr>
          <p:nvPr/>
        </p:nvSpPr>
        <p:spPr>
          <a:xfrm xmlns:a="http://schemas.openxmlformats.org/drawingml/2006/main">
            <a:off x="400050" y="742950"/>
            <a:ext cx="113919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3600" b="1">
                <a:solidFill>
                  <a:srgbClr val="111111"/>
                </a:solidFill>
              </a:defRPr>
            </a:pPr>
            <a:r>
              <a:rPr sz="3600" b="1">
                <a:solidFill>
                  <a:srgbClr val="111111"/>
                </a:solidFill>
              </a:rPr>
              <a:t>Séparer les zones facilite la reprise</a:t>
            </a:r>
          </a:p>
        </p:txBody>
      </p:sp>
      <p:sp>
        <p:nvSpPr>
          <p:cNvPr id="3" name="">
            <a:extLst xmlns:a="http://schemas.openxmlformats.org/drawingml/2006/main">
              <a:ext uri="{FF2B5EF4-FFF2-40B4-BE49-F238E27FC236}">
                <a16:creationId xmlns:a16="http://schemas.microsoft.com/office/drawing/2014/main" id="{38896D77-E23E-44AB-B470-CF8737956B59}"/>
              </a:ext>
            </a:extLst>
          </p:cNvPr>
          <p:cNvSpPr>
            <a:spLocks xmlns:a="http://schemas.openxmlformats.org/drawingml/2006/main" noGrp="1"/>
          </p:cNvSpPr>
          <p:nvPr/>
        </p:nvSpPr>
        <p:spPr>
          <a:xfrm xmlns:a="http://schemas.openxmlformats.org/drawingml/2006/main">
            <a:off x="400050" y="62293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4" name="SEMENCES R&amp;D · PROJET DE GROUPE">
            <a:extLst xmlns:a="http://schemas.openxmlformats.org/drawingml/2006/main">
              <a:ext uri="{FF2B5EF4-FFF2-40B4-BE49-F238E27FC236}">
                <a16:creationId xmlns:a16="http://schemas.microsoft.com/office/drawing/2014/main" id="{1B76DA45-6C2C-4A4D-B792-4955EF765AE0}"/>
              </a:ext>
            </a:extLst>
          </p:cNvPr>
          <p:cNvSpPr>
            <a:spLocks xmlns:a="http://schemas.openxmlformats.org/drawingml/2006/main" noGrp="1"/>
          </p:cNvSpPr>
          <p:nvPr/>
        </p:nvSpPr>
        <p:spPr>
          <a:xfrm xmlns:a="http://schemas.openxmlformats.org/drawingml/2006/main">
            <a:off x="400050" y="641032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0">
                <a:solidFill>
                  <a:srgbClr val="525860"/>
                </a:solidFill>
              </a:defRPr>
            </a:pPr>
            <a:r>
              <a:rPr sz="1650" b="0">
                <a:solidFill>
                  <a:srgbClr val="525860"/>
                </a:solidFill>
              </a:rPr>
              <a:t>SEMENCES R&amp;D · PROJET DE GROUPE</a:t>
            </a:r>
          </a:p>
        </p:txBody>
      </p:sp>
      <p:sp>
        <p:nvSpPr>
          <p:cNvPr id="5" name="07">
            <a:extLst xmlns:a="http://schemas.openxmlformats.org/drawingml/2006/main">
              <a:ext uri="{FF2B5EF4-FFF2-40B4-BE49-F238E27FC236}">
                <a16:creationId xmlns:a16="http://schemas.microsoft.com/office/drawing/2014/main" id="{8255B8AB-FB3A-49CD-B039-067C725B8477}"/>
              </a:ext>
            </a:extLst>
          </p:cNvPr>
          <p:cNvSpPr>
            <a:spLocks xmlns:a="http://schemas.openxmlformats.org/drawingml/2006/main" noGrp="1"/>
          </p:cNvSpPr>
          <p:nvPr/>
        </p:nvSpPr>
        <p:spPr>
          <a:xfrm xmlns:a="http://schemas.openxmlformats.org/drawingml/2006/main">
            <a:off x="11239500" y="64103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0">
                <a:solidFill>
                  <a:srgbClr val="525860"/>
                </a:solidFill>
              </a:defRPr>
            </a:pPr>
            <a:r>
              <a:rPr sz="1650" b="0">
                <a:solidFill>
                  <a:srgbClr val="525860"/>
                </a:solidFill>
              </a:rPr>
              <a:t>08</a:t>
            </a:r>
          </a:p>
        </p:txBody>
      </p:sp>
      <p:sp>
        <p:nvSpPr>
          <p:cNvPr id="6" name="Conservation">
            <a:extLst xmlns:a="http://schemas.openxmlformats.org/drawingml/2006/main">
              <a:ext uri="{FF2B5EF4-FFF2-40B4-BE49-F238E27FC236}">
                <a16:creationId xmlns:a16="http://schemas.microsoft.com/office/drawing/2014/main" id="{F679A6F5-76E1-4CC3-906C-03F8AEEB5CA1}"/>
              </a:ext>
            </a:extLst>
          </p:cNvPr>
          <p:cNvSpPr>
            <a:spLocks xmlns:a="http://schemas.openxmlformats.org/drawingml/2006/main" noGrp="1"/>
          </p:cNvSpPr>
          <p:nvPr/>
        </p:nvSpPr>
        <p:spPr>
          <a:xfrm xmlns:a="http://schemas.openxmlformats.org/drawingml/2006/main">
            <a:off x="400050" y="2057400"/>
            <a:ext cx="54768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2400" b="1">
                <a:solidFill>
                  <a:srgbClr val="111111"/>
                </a:solidFill>
              </a:defRPr>
            </a:pPr>
            <a:r>
              <a:rPr sz="2400" b="1">
                <a:solidFill>
                  <a:srgbClr val="111111"/>
                </a:solidFill>
              </a:rPr>
              <a:t>Conservation</a:t>
            </a:r>
          </a:p>
        </p:txBody>
      </p:sp>
      <p:sp>
        <p:nvSpPr>
          <p:cNvPr id="7" name="CSV/ reste la référence source et n’est pas modifié.">
            <a:extLst xmlns:a="http://schemas.openxmlformats.org/drawingml/2006/main">
              <a:ext uri="{FF2B5EF4-FFF2-40B4-BE49-F238E27FC236}">
                <a16:creationId xmlns:a16="http://schemas.microsoft.com/office/drawing/2014/main" id="{7A8E5515-2789-440F-9B97-FFB5658B55BF}"/>
              </a:ext>
            </a:extLst>
          </p:cNvPr>
          <p:cNvSpPr>
            <a:spLocks xmlns:a="http://schemas.openxmlformats.org/drawingml/2006/main" noGrp="1"/>
          </p:cNvSpPr>
          <p:nvPr/>
        </p:nvSpPr>
        <p:spPr>
          <a:xfrm xmlns:a="http://schemas.openxmlformats.org/drawingml/2006/main">
            <a:off x="400050" y="2800350"/>
            <a:ext cx="54768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CSV/ reste la référence source et n’est pas modifié.</a:t>
            </a:r>
          </a:p>
        </p:txBody>
      </p:sp>
      <p:sp>
        <p:nvSpPr>
          <p:cNvPr id="8" name="Raw contient les six imports au format Parquet.">
            <a:extLst xmlns:a="http://schemas.openxmlformats.org/drawingml/2006/main">
              <a:ext uri="{FF2B5EF4-FFF2-40B4-BE49-F238E27FC236}">
                <a16:creationId xmlns:a16="http://schemas.microsoft.com/office/drawing/2014/main" id="{0A0DBA3E-1964-4464-9273-B4E58FB9F8F6}"/>
              </a:ext>
            </a:extLst>
          </p:cNvPr>
          <p:cNvSpPr>
            <a:spLocks xmlns:a="http://schemas.openxmlformats.org/drawingml/2006/main" noGrp="1"/>
          </p:cNvSpPr>
          <p:nvPr/>
        </p:nvSpPr>
        <p:spPr>
          <a:xfrm xmlns:a="http://schemas.openxmlformats.org/drawingml/2006/main">
            <a:off x="400050" y="3743325"/>
            <a:ext cx="54768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Raw contient les six imports au format Parquet.</a:t>
            </a:r>
          </a:p>
        </p:txBody>
      </p:sp>
      <p:sp>
        <p:nvSpPr>
          <p:cNvPr id="9" name="Transformed contient les tables nettoyées et la démonstration NiF">
            <a:extLst xmlns:a="http://schemas.openxmlformats.org/drawingml/2006/main">
              <a:ext uri="{FF2B5EF4-FFF2-40B4-BE49-F238E27FC236}">
                <a16:creationId xmlns:a16="http://schemas.microsoft.com/office/drawing/2014/main" id="{F2874708-C566-4884-BEF9-7CE25863E452}"/>
              </a:ext>
            </a:extLst>
          </p:cNvPr>
          <p:cNvSpPr>
            <a:spLocks xmlns:a="http://schemas.openxmlformats.org/drawingml/2006/main" noGrp="1"/>
          </p:cNvSpPr>
          <p:nvPr/>
        </p:nvSpPr>
        <p:spPr>
          <a:xfrm xmlns:a="http://schemas.openxmlformats.org/drawingml/2006/main">
            <a:off x="400050" y="4686300"/>
            <a:ext cx="54768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Transformed contient les tables nettoyées et la démonstration NiFi.</a:t>
            </a:r>
          </a:p>
        </p:txBody>
      </p:sp>
      <p:sp>
        <p:nvSpPr>
          <p:cNvPr id="10" name="Consommation">
            <a:extLst xmlns:a="http://schemas.openxmlformats.org/drawingml/2006/main">
              <a:ext uri="{FF2B5EF4-FFF2-40B4-BE49-F238E27FC236}">
                <a16:creationId xmlns:a16="http://schemas.microsoft.com/office/drawing/2014/main" id="{A280B311-D027-4148-B1FD-A9B385FCE193}"/>
              </a:ext>
            </a:extLst>
          </p:cNvPr>
          <p:cNvSpPr>
            <a:spLocks xmlns:a="http://schemas.openxmlformats.org/drawingml/2006/main" noGrp="1"/>
          </p:cNvSpPr>
          <p:nvPr/>
        </p:nvSpPr>
        <p:spPr>
          <a:xfrm xmlns:a="http://schemas.openxmlformats.org/drawingml/2006/main">
            <a:off x="6257925" y="2057400"/>
            <a:ext cx="54768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2400" b="1">
                <a:solidFill>
                  <a:srgbClr val="111111"/>
                </a:solidFill>
              </a:defRPr>
            </a:pPr>
            <a:r>
              <a:rPr sz="2400" b="1">
                <a:solidFill>
                  <a:srgbClr val="111111"/>
                </a:solidFill>
              </a:rPr>
              <a:t>Consommation</a:t>
            </a:r>
          </a:p>
        </p:txBody>
      </p:sp>
      <p:sp>
        <p:nvSpPr>
          <p:cNvPr id="11" name="Enriched contient la table de faits et les agrégats.">
            <a:extLst xmlns:a="http://schemas.openxmlformats.org/drawingml/2006/main">
              <a:ext uri="{FF2B5EF4-FFF2-40B4-BE49-F238E27FC236}">
                <a16:creationId xmlns:a16="http://schemas.microsoft.com/office/drawing/2014/main" id="{2F0F57C8-9366-417E-922E-86391B8E99FF}"/>
              </a:ext>
            </a:extLst>
          </p:cNvPr>
          <p:cNvSpPr>
            <a:spLocks xmlns:a="http://schemas.openxmlformats.org/drawingml/2006/main" noGrp="1"/>
          </p:cNvSpPr>
          <p:nvPr/>
        </p:nvSpPr>
        <p:spPr>
          <a:xfrm xmlns:a="http://schemas.openxmlformats.org/drawingml/2006/main">
            <a:off x="6257925" y="2800350"/>
            <a:ext cx="54768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Enriched contient la table de faits et les agrégats.</a:t>
            </a:r>
          </a:p>
        </p:txBody>
      </p:sp>
      <p:sp>
        <p:nvSpPr>
          <p:cNvPr id="12" name="Exposed contient les prédictions de test exportées.">
            <a:extLst xmlns:a="http://schemas.openxmlformats.org/drawingml/2006/main">
              <a:ext uri="{FF2B5EF4-FFF2-40B4-BE49-F238E27FC236}">
                <a16:creationId xmlns:a16="http://schemas.microsoft.com/office/drawing/2014/main" id="{0A84B1F5-2285-48C2-993D-CE990B5A8800}"/>
              </a:ext>
            </a:extLst>
          </p:cNvPr>
          <p:cNvSpPr>
            <a:spLocks xmlns:a="http://schemas.openxmlformats.org/drawingml/2006/main" noGrp="1"/>
          </p:cNvSpPr>
          <p:nvPr/>
        </p:nvSpPr>
        <p:spPr>
          <a:xfrm xmlns:a="http://schemas.openxmlformats.org/drawingml/2006/main">
            <a:off x="6257925" y="3743325"/>
            <a:ext cx="54768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Exposed contient les prédictions de test exportées.</a:t>
            </a:r>
          </a:p>
        </p:txBody>
      </p:sp>
      <p:sp>
        <p:nvSpPr>
          <p:cNvPr id="13" name="Quarantine garde les lignes signalées et leurs motifs.">
            <a:extLst xmlns:a="http://schemas.openxmlformats.org/drawingml/2006/main">
              <a:ext uri="{FF2B5EF4-FFF2-40B4-BE49-F238E27FC236}">
                <a16:creationId xmlns:a16="http://schemas.microsoft.com/office/drawing/2014/main" id="{F8BF26D3-F264-4DDB-A1DA-B0DD30089769}"/>
              </a:ext>
            </a:extLst>
          </p:cNvPr>
          <p:cNvSpPr>
            <a:spLocks xmlns:a="http://schemas.openxmlformats.org/drawingml/2006/main" noGrp="1"/>
          </p:cNvSpPr>
          <p:nvPr/>
        </p:nvSpPr>
        <p:spPr>
          <a:xfrm xmlns:a="http://schemas.openxmlformats.org/drawingml/2006/main">
            <a:off x="6257925" y="4686300"/>
            <a:ext cx="54768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Quarantine garde les lignes signalées et leurs motifs.</a:t>
            </a:r>
          </a:p>
        </p:txBody>
      </p:sp>
    </p:spTree>
    <p:extLst>
      <p:ext uri="{BB962C8B-B14F-4D97-AF65-F5344CB8AC3E}">
        <p14:creationId xmlns:p14="http://schemas.microsoft.com/office/powerpoint/2010/main" val="679257524"/>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05 · GOUVERNANCE">
            <a:extLst xmlns:a="http://schemas.openxmlformats.org/drawingml/2006/main">
              <a:ext uri="{FF2B5EF4-FFF2-40B4-BE49-F238E27FC236}">
                <a16:creationId xmlns:a16="http://schemas.microsoft.com/office/drawing/2014/main" id="{BA2B76F4-D12F-4D22-829A-FFAE2E89F76B}"/>
              </a:ext>
            </a:extLst>
          </p:cNvPr>
          <p:cNvSpPr>
            <a:spLocks xmlns:a="http://schemas.openxmlformats.org/drawingml/2006/main" noGrp="1"/>
          </p:cNvSpPr>
          <p:nvPr/>
        </p:nvSpPr>
        <p:spPr>
          <a:xfrm xmlns:a="http://schemas.openxmlformats.org/drawingml/2006/main">
            <a:off x="400050" y="228600"/>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1">
                <a:solidFill>
                  <a:srgbClr val="525860"/>
                </a:solidFill>
              </a:defRPr>
            </a:pPr>
            <a:r>
              <a:rPr sz="1650" b="1">
                <a:solidFill>
                  <a:srgbClr val="525860"/>
                </a:solidFill>
              </a:rPr>
              <a:t>03 · CHOIX D’ARCHITECTURE</a:t>
            </a:r>
          </a:p>
        </p:txBody>
      </p:sp>
      <p:sp>
        <p:nvSpPr>
          <p:cNvPr id="2" name="La qualité expose les anomalies">
            <a:extLst xmlns:a="http://schemas.openxmlformats.org/drawingml/2006/main">
              <a:ext uri="{FF2B5EF4-FFF2-40B4-BE49-F238E27FC236}">
                <a16:creationId xmlns:a16="http://schemas.microsoft.com/office/drawing/2014/main" id="{88DD8AA3-8C98-4A4D-B677-7AD417E29058}"/>
              </a:ext>
            </a:extLst>
          </p:cNvPr>
          <p:cNvSpPr>
            <a:spLocks xmlns:a="http://schemas.openxmlformats.org/drawingml/2006/main" noGrp="1"/>
          </p:cNvSpPr>
          <p:nvPr/>
        </p:nvSpPr>
        <p:spPr>
          <a:xfrm xmlns:a="http://schemas.openxmlformats.org/drawingml/2006/main">
            <a:off x="400050" y="742950"/>
            <a:ext cx="113919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3600" b="1">
                <a:solidFill>
                  <a:srgbClr val="111111"/>
                </a:solidFill>
              </a:defRPr>
            </a:pPr>
            <a:r>
              <a:rPr sz="3600" b="1">
                <a:solidFill>
                  <a:srgbClr val="111111"/>
                </a:solidFill>
              </a:rPr>
              <a:t>Les choix techniques servent la reproduction</a:t>
            </a:r>
          </a:p>
        </p:txBody>
      </p:sp>
      <p:sp>
        <p:nvSpPr>
          <p:cNvPr id="3" name="">
            <a:extLst xmlns:a="http://schemas.openxmlformats.org/drawingml/2006/main">
              <a:ext uri="{FF2B5EF4-FFF2-40B4-BE49-F238E27FC236}">
                <a16:creationId xmlns:a16="http://schemas.microsoft.com/office/drawing/2014/main" id="{D77441C1-CED2-4491-9E1B-3614700FF8EE}"/>
              </a:ext>
            </a:extLst>
          </p:cNvPr>
          <p:cNvSpPr>
            <a:spLocks xmlns:a="http://schemas.openxmlformats.org/drawingml/2006/main" noGrp="1"/>
          </p:cNvSpPr>
          <p:nvPr/>
        </p:nvSpPr>
        <p:spPr>
          <a:xfrm xmlns:a="http://schemas.openxmlformats.org/drawingml/2006/main">
            <a:off x="400050" y="62293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4" name="SEMENCES R&amp;D · PROJET DE GROUPE">
            <a:extLst xmlns:a="http://schemas.openxmlformats.org/drawingml/2006/main">
              <a:ext uri="{FF2B5EF4-FFF2-40B4-BE49-F238E27FC236}">
                <a16:creationId xmlns:a16="http://schemas.microsoft.com/office/drawing/2014/main" id="{248D1C1B-85D8-41DD-8670-ED12D1213E90}"/>
              </a:ext>
            </a:extLst>
          </p:cNvPr>
          <p:cNvSpPr>
            <a:spLocks xmlns:a="http://schemas.openxmlformats.org/drawingml/2006/main" noGrp="1"/>
          </p:cNvSpPr>
          <p:nvPr/>
        </p:nvSpPr>
        <p:spPr>
          <a:xfrm xmlns:a="http://schemas.openxmlformats.org/drawingml/2006/main">
            <a:off x="400050" y="641032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0">
                <a:solidFill>
                  <a:srgbClr val="525860"/>
                </a:solidFill>
              </a:defRPr>
            </a:pPr>
            <a:r>
              <a:rPr sz="1650" b="0">
                <a:solidFill>
                  <a:srgbClr val="525860"/>
                </a:solidFill>
              </a:rPr>
              <a:t>SEMENCES R&amp;D · PROJET DE GROUPE</a:t>
            </a:r>
          </a:p>
        </p:txBody>
      </p:sp>
      <p:sp>
        <p:nvSpPr>
          <p:cNvPr id="5" name="10">
            <a:extLst xmlns:a="http://schemas.openxmlformats.org/drawingml/2006/main">
              <a:ext uri="{FF2B5EF4-FFF2-40B4-BE49-F238E27FC236}">
                <a16:creationId xmlns:a16="http://schemas.microsoft.com/office/drawing/2014/main" id="{250D617A-6EC1-4B34-9710-1D32288E607C}"/>
              </a:ext>
            </a:extLst>
          </p:cNvPr>
          <p:cNvSpPr>
            <a:spLocks xmlns:a="http://schemas.openxmlformats.org/drawingml/2006/main" noGrp="1"/>
          </p:cNvSpPr>
          <p:nvPr/>
        </p:nvSpPr>
        <p:spPr>
          <a:xfrm xmlns:a="http://schemas.openxmlformats.org/drawingml/2006/main">
            <a:off x="11239500" y="64103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0">
                <a:solidFill>
                  <a:srgbClr val="525860"/>
                </a:solidFill>
              </a:defRPr>
            </a:pPr>
            <a:r>
              <a:rPr sz="1650" b="0">
                <a:solidFill>
                  <a:srgbClr val="525860"/>
                </a:solidFill>
              </a:rPr>
              <a:t>09</a:t>
            </a:r>
          </a:p>
        </p:txBody>
      </p:sp>
      <p:sp>
        <p:nvSpPr>
          <p:cNvPr id="6" name="Contrôle">
            <a:extLst xmlns:a="http://schemas.openxmlformats.org/drawingml/2006/main">
              <a:ext uri="{FF2B5EF4-FFF2-40B4-BE49-F238E27FC236}">
                <a16:creationId xmlns:a16="http://schemas.microsoft.com/office/drawing/2014/main" id="{12BBEFF3-8D83-4ED7-935D-786DE03D7438}"/>
              </a:ext>
            </a:extLst>
          </p:cNvPr>
          <p:cNvSpPr>
            <a:spLocks xmlns:a="http://schemas.openxmlformats.org/drawingml/2006/main" noGrp="1"/>
          </p:cNvSpPr>
          <p:nvPr/>
        </p:nvSpPr>
        <p:spPr>
          <a:xfrm xmlns:a="http://schemas.openxmlformats.org/drawingml/2006/main">
            <a:off x="400050" y="1838325"/>
            <a:ext cx="4019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1">
                <a:solidFill>
                  <a:srgbClr val="111111"/>
                </a:solidFill>
              </a:defRPr>
            </a:pPr>
            <a:r>
              <a:rPr sz="1950" b="1">
                <a:solidFill>
                  <a:srgbClr val="111111"/>
                </a:solidFill>
              </a:rPr>
              <a:t>Choix</a:t>
            </a:r>
          </a:p>
        </p:txBody>
      </p:sp>
      <p:sp>
        <p:nvSpPr>
          <p:cNvPr id="7" name="Comportement">
            <a:extLst xmlns:a="http://schemas.openxmlformats.org/drawingml/2006/main">
              <a:ext uri="{FF2B5EF4-FFF2-40B4-BE49-F238E27FC236}">
                <a16:creationId xmlns:a16="http://schemas.microsoft.com/office/drawing/2014/main" id="{A22C0B52-9FCF-452D-8257-6986D42E59BB}"/>
              </a:ext>
            </a:extLst>
          </p:cNvPr>
          <p:cNvSpPr>
            <a:spLocks xmlns:a="http://schemas.openxmlformats.org/drawingml/2006/main" noGrp="1"/>
          </p:cNvSpPr>
          <p:nvPr/>
        </p:nvSpPr>
        <p:spPr>
          <a:xfrm xmlns:a="http://schemas.openxmlformats.org/drawingml/2006/main">
            <a:off x="4591050" y="1838325"/>
            <a:ext cx="7029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1">
                <a:solidFill>
                  <a:srgbClr val="111111"/>
                </a:solidFill>
              </a:defRPr>
            </a:pPr>
            <a:r>
              <a:rPr sz="1950" b="1">
                <a:solidFill>
                  <a:srgbClr val="111111"/>
                </a:solidFill>
              </a:rPr>
              <a:t>Bénéfice et compromis</a:t>
            </a:r>
          </a:p>
        </p:txBody>
      </p:sp>
      <p:sp>
        <p:nvSpPr>
          <p:cNvPr id="8" name="">
            <a:extLst xmlns:a="http://schemas.openxmlformats.org/drawingml/2006/main">
              <a:ext uri="{FF2B5EF4-FFF2-40B4-BE49-F238E27FC236}">
                <a16:creationId xmlns:a16="http://schemas.microsoft.com/office/drawing/2014/main" id="{6A4A888A-0709-4C45-BD74-761487D4DE8A}"/>
              </a:ext>
            </a:extLst>
          </p:cNvPr>
          <p:cNvSpPr>
            <a:spLocks xmlns:a="http://schemas.openxmlformats.org/drawingml/2006/main" noGrp="1"/>
          </p:cNvSpPr>
          <p:nvPr/>
        </p:nvSpPr>
        <p:spPr>
          <a:xfrm xmlns:a="http://schemas.openxmlformats.org/drawingml/2006/main">
            <a:off x="400050" y="23050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9" name="Schéma">
            <a:extLst xmlns:a="http://schemas.openxmlformats.org/drawingml/2006/main">
              <a:ext uri="{FF2B5EF4-FFF2-40B4-BE49-F238E27FC236}">
                <a16:creationId xmlns:a16="http://schemas.microsoft.com/office/drawing/2014/main" id="{4C526CC1-D93D-4C76-8C25-8550EBA2BD0B}"/>
              </a:ext>
            </a:extLst>
          </p:cNvPr>
          <p:cNvSpPr>
            <a:spLocks xmlns:a="http://schemas.openxmlformats.org/drawingml/2006/main" noGrp="1"/>
          </p:cNvSpPr>
          <p:nvPr/>
        </p:nvSpPr>
        <p:spPr>
          <a:xfrm xmlns:a="http://schemas.openxmlformats.org/drawingml/2006/main">
            <a:off x="400050" y="2447925"/>
            <a:ext cx="4000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Fichiers Parquet</a:t>
            </a:r>
          </a:p>
        </p:txBody>
      </p:sp>
      <p:sp>
        <p:nvSpPr>
          <p:cNvPr id="10" name="Présence des colonnes obligatoires">
            <a:extLst xmlns:a="http://schemas.openxmlformats.org/drawingml/2006/main">
              <a:ext uri="{FF2B5EF4-FFF2-40B4-BE49-F238E27FC236}">
                <a16:creationId xmlns:a16="http://schemas.microsoft.com/office/drawing/2014/main" id="{DD8F86DC-13E9-48E5-8990-425863F6A6C2}"/>
              </a:ext>
            </a:extLst>
          </p:cNvPr>
          <p:cNvSpPr>
            <a:spLocks xmlns:a="http://schemas.openxmlformats.org/drawingml/2006/main" noGrp="1"/>
          </p:cNvSpPr>
          <p:nvPr/>
        </p:nvSpPr>
        <p:spPr>
          <a:xfrm xmlns:a="http://schemas.openxmlformats.org/drawingml/2006/main">
            <a:off x="4591050" y="2447925"/>
            <a:ext cx="701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Données typées pour Python et SQL ; fichiers à conserver.</a:t>
            </a:r>
          </a:p>
        </p:txBody>
      </p:sp>
      <p:sp>
        <p:nvSpPr>
          <p:cNvPr id="11" name="">
            <a:extLst xmlns:a="http://schemas.openxmlformats.org/drawingml/2006/main">
              <a:ext uri="{FF2B5EF4-FFF2-40B4-BE49-F238E27FC236}">
                <a16:creationId xmlns:a16="http://schemas.microsoft.com/office/drawing/2014/main" id="{E0396EF7-814F-4FAD-97D7-47852AE77D75}"/>
              </a:ext>
            </a:extLst>
          </p:cNvPr>
          <p:cNvSpPr>
            <a:spLocks xmlns:a="http://schemas.openxmlformats.org/drawingml/2006/main" noGrp="1"/>
          </p:cNvSpPr>
          <p:nvPr/>
        </p:nvSpPr>
        <p:spPr>
          <a:xfrm xmlns:a="http://schemas.openxmlformats.org/drawingml/2006/main">
            <a:off x="400050" y="31051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12" name="Complétude et valeurs">
            <a:extLst xmlns:a="http://schemas.openxmlformats.org/drawingml/2006/main">
              <a:ext uri="{FF2B5EF4-FFF2-40B4-BE49-F238E27FC236}">
                <a16:creationId xmlns:a16="http://schemas.microsoft.com/office/drawing/2014/main" id="{5BB18D91-3BDB-4BC5-A367-9B28F1F82457}"/>
              </a:ext>
            </a:extLst>
          </p:cNvPr>
          <p:cNvSpPr>
            <a:spLocks xmlns:a="http://schemas.openxmlformats.org/drawingml/2006/main" noGrp="1"/>
          </p:cNvSpPr>
          <p:nvPr/>
        </p:nvSpPr>
        <p:spPr>
          <a:xfrm xmlns:a="http://schemas.openxmlformats.org/drawingml/2006/main">
            <a:off x="400050" y="3171825"/>
            <a:ext cx="4000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DuckDB et SQLite</a:t>
            </a:r>
          </a:p>
        </p:txBody>
      </p:sp>
      <p:sp>
        <p:nvSpPr>
          <p:cNvPr id="13" name="Nullité, bornes de rendement et années">
            <a:extLst xmlns:a="http://schemas.openxmlformats.org/drawingml/2006/main">
              <a:ext uri="{FF2B5EF4-FFF2-40B4-BE49-F238E27FC236}">
                <a16:creationId xmlns:a16="http://schemas.microsoft.com/office/drawing/2014/main" id="{488EF1E6-6939-4DB7-AF68-5006ACA83DF4}"/>
              </a:ext>
            </a:extLst>
          </p:cNvPr>
          <p:cNvSpPr>
            <a:spLocks xmlns:a="http://schemas.openxmlformats.org/drawingml/2006/main" noGrp="1"/>
          </p:cNvSpPr>
          <p:nvPr/>
        </p:nvSpPr>
        <p:spPr>
          <a:xfrm xmlns:a="http://schemas.openxmlformats.org/drawingml/2006/main">
            <a:off x="4591050" y="3171825"/>
            <a:ext cx="701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Calcul et index locaux ; aucune haute disponibilité.</a:t>
            </a:r>
          </a:p>
        </p:txBody>
      </p:sp>
      <p:sp>
        <p:nvSpPr>
          <p:cNvPr id="14" name="">
            <a:extLst xmlns:a="http://schemas.openxmlformats.org/drawingml/2006/main">
              <a:ext uri="{FF2B5EF4-FFF2-40B4-BE49-F238E27FC236}">
                <a16:creationId xmlns:a16="http://schemas.microsoft.com/office/drawing/2014/main" id="{9565B91F-A970-4A36-8B54-A42553F46C57}"/>
              </a:ext>
            </a:extLst>
          </p:cNvPr>
          <p:cNvSpPr>
            <a:spLocks xmlns:a="http://schemas.openxmlformats.org/drawingml/2006/main" noGrp="1"/>
          </p:cNvSpPr>
          <p:nvPr/>
        </p:nvSpPr>
        <p:spPr>
          <a:xfrm xmlns:a="http://schemas.openxmlformats.org/drawingml/2006/main">
            <a:off x="400050" y="38290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15" name="Clés dupliquées">
            <a:extLst xmlns:a="http://schemas.openxmlformats.org/drawingml/2006/main">
              <a:ext uri="{FF2B5EF4-FFF2-40B4-BE49-F238E27FC236}">
                <a16:creationId xmlns:a16="http://schemas.microsoft.com/office/drawing/2014/main" id="{B3230046-4507-4B4E-8992-567DFAACD3BC}"/>
              </a:ext>
            </a:extLst>
          </p:cNvPr>
          <p:cNvSpPr>
            <a:spLocks xmlns:a="http://schemas.openxmlformats.org/drawingml/2006/main" noGrp="1"/>
          </p:cNvSpPr>
          <p:nvPr/>
        </p:nvSpPr>
        <p:spPr>
          <a:xfrm xmlns:a="http://schemas.openxmlformats.org/drawingml/2006/main">
            <a:off x="400050" y="3895725"/>
            <a:ext cx="4000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Environnement .venv</a:t>
            </a:r>
          </a:p>
        </p:txBody>
      </p:sp>
      <p:sp>
        <p:nvSpPr>
          <p:cNvPr id="16" name="34 lignes concernées sur le lot fourni">
            <a:extLst xmlns:a="http://schemas.openxmlformats.org/drawingml/2006/main">
              <a:ext uri="{FF2B5EF4-FFF2-40B4-BE49-F238E27FC236}">
                <a16:creationId xmlns:a16="http://schemas.microsoft.com/office/drawing/2014/main" id="{9B13FB3A-7C93-406C-8B27-FB5641D3E248}"/>
              </a:ext>
            </a:extLst>
          </p:cNvPr>
          <p:cNvSpPr>
            <a:spLocks xmlns:a="http://schemas.openxmlformats.org/drawingml/2006/main" noGrp="1"/>
          </p:cNvSpPr>
          <p:nvPr/>
        </p:nvSpPr>
        <p:spPr>
          <a:xfrm xmlns:a="http://schemas.openxmlformats.org/drawingml/2006/main">
            <a:off x="4591050" y="3895725"/>
            <a:ext cx="701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Versions Python isolées ; installation propre à chaque poste.</a:t>
            </a:r>
          </a:p>
        </p:txBody>
      </p:sp>
      <p:sp>
        <p:nvSpPr>
          <p:cNvPr id="17" name="">
            <a:extLst xmlns:a="http://schemas.openxmlformats.org/drawingml/2006/main">
              <a:ext uri="{FF2B5EF4-FFF2-40B4-BE49-F238E27FC236}">
                <a16:creationId xmlns:a16="http://schemas.microsoft.com/office/drawing/2014/main" id="{90A3DC67-6B03-4055-A964-CB00DE5175EF}"/>
              </a:ext>
            </a:extLst>
          </p:cNvPr>
          <p:cNvSpPr>
            <a:spLocks xmlns:a="http://schemas.openxmlformats.org/drawingml/2006/main" noGrp="1"/>
          </p:cNvSpPr>
          <p:nvPr/>
        </p:nvSpPr>
        <p:spPr>
          <a:xfrm xmlns:a="http://schemas.openxmlformats.org/drawingml/2006/main">
            <a:off x="400050" y="45529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18" name="Quarantaine">
            <a:extLst xmlns:a="http://schemas.openxmlformats.org/drawingml/2006/main">
              <a:ext uri="{FF2B5EF4-FFF2-40B4-BE49-F238E27FC236}">
                <a16:creationId xmlns:a16="http://schemas.microsoft.com/office/drawing/2014/main" id="{F569B73E-53AD-4B70-9E49-12E6AA05FD39}"/>
              </a:ext>
            </a:extLst>
          </p:cNvPr>
          <p:cNvSpPr>
            <a:spLocks xmlns:a="http://schemas.openxmlformats.org/drawingml/2006/main" noGrp="1"/>
          </p:cNvSpPr>
          <p:nvPr/>
        </p:nvSpPr>
        <p:spPr>
          <a:xfrm xmlns:a="http://schemas.openxmlformats.org/drawingml/2006/main">
            <a:off x="400050" y="4619625"/>
            <a:ext cx="4000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PySpark en processus séparé</a:t>
            </a:r>
          </a:p>
        </p:txBody>
      </p:sp>
      <p:sp>
        <p:nvSpPr>
          <p:cNvPr id="19" name="32 lignes copiées avec motif">
            <a:extLst xmlns:a="http://schemas.openxmlformats.org/drawingml/2006/main">
              <a:ext uri="{FF2B5EF4-FFF2-40B4-BE49-F238E27FC236}">
                <a16:creationId xmlns:a16="http://schemas.microsoft.com/office/drawing/2014/main" id="{F260AFDB-BB36-427B-B692-AD67D6DA36C0}"/>
              </a:ext>
            </a:extLst>
          </p:cNvPr>
          <p:cNvSpPr>
            <a:spLocks xmlns:a="http://schemas.openxmlformats.org/drawingml/2006/main" noGrp="1"/>
          </p:cNvSpPr>
          <p:nvPr/>
        </p:nvSpPr>
        <p:spPr>
          <a:xfrm xmlns:a="http://schemas.openxmlformats.org/drawingml/2006/main">
            <a:off x="4591050" y="4619625"/>
            <a:ext cx="701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Contexte libéré après calcul ; Java reste nécessaire.</a:t>
            </a:r>
          </a:p>
        </p:txBody>
      </p:sp>
      <p:sp>
        <p:nvSpPr>
          <p:cNvPr id="20" name="">
            <a:extLst xmlns:a="http://schemas.openxmlformats.org/drawingml/2006/main">
              <a:ext uri="{FF2B5EF4-FFF2-40B4-BE49-F238E27FC236}">
                <a16:creationId xmlns:a16="http://schemas.microsoft.com/office/drawing/2014/main" id="{49D344C5-07E2-48A3-BFB9-F9D334549A41}"/>
              </a:ext>
            </a:extLst>
          </p:cNvPr>
          <p:cNvSpPr>
            <a:spLocks xmlns:a="http://schemas.openxmlformats.org/drawingml/2006/main" noGrp="1"/>
          </p:cNvSpPr>
          <p:nvPr/>
        </p:nvSpPr>
        <p:spPr>
          <a:xfrm xmlns:a="http://schemas.openxmlformats.org/drawingml/2006/main">
            <a:off x="400050" y="52768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21" name="Portée du statut OK">
            <a:extLst xmlns:a="http://schemas.openxmlformats.org/drawingml/2006/main">
              <a:ext uri="{FF2B5EF4-FFF2-40B4-BE49-F238E27FC236}">
                <a16:creationId xmlns:a16="http://schemas.microsoft.com/office/drawing/2014/main" id="{7F27ED0D-E629-4DD2-BF65-E597E08605FE}"/>
              </a:ext>
            </a:extLst>
          </p:cNvPr>
          <p:cNvSpPr>
            <a:spLocks xmlns:a="http://schemas.openxmlformats.org/drawingml/2006/main" noGrp="1"/>
          </p:cNvSpPr>
          <p:nvPr/>
        </p:nvSpPr>
        <p:spPr>
          <a:xfrm xmlns:a="http://schemas.openxmlformats.org/drawingml/2006/main">
            <a:off x="400050" y="5343525"/>
            <a:ext cx="4000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HTML et API séparés</a:t>
            </a:r>
          </a:p>
        </p:txBody>
      </p:sp>
      <p:sp>
        <p:nvSpPr>
          <p:cNvPr id="22" name="Contrôles exécutés, pas absence d’anomalies">
            <a:extLst xmlns:a="http://schemas.openxmlformats.org/drawingml/2006/main">
              <a:ext uri="{FF2B5EF4-FFF2-40B4-BE49-F238E27FC236}">
                <a16:creationId xmlns:a16="http://schemas.microsoft.com/office/drawing/2014/main" id="{3D1A84CD-6E07-4A08-8557-97A9A9A3AC5B}"/>
              </a:ext>
            </a:extLst>
          </p:cNvPr>
          <p:cNvSpPr>
            <a:spLocks xmlns:a="http://schemas.openxmlformats.org/drawingml/2006/main" noGrp="1"/>
          </p:cNvSpPr>
          <p:nvPr/>
        </p:nvSpPr>
        <p:spPr>
          <a:xfrm xmlns:a="http://schemas.openxmlformats.org/drawingml/2006/main">
            <a:off x="4591050" y="5343525"/>
            <a:ext cx="701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Consultation simple ; deux serveurs pour les deux usages.</a:t>
            </a:r>
          </a:p>
        </p:txBody>
      </p:sp>
    </p:spTree>
    <p:extLst>
      <p:ext uri="{BB962C8B-B14F-4D97-AF65-F5344CB8AC3E}">
        <p14:creationId xmlns:p14="http://schemas.microsoft.com/office/powerpoint/2010/main" val="408948474"/>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02 · DONNÉES">
            <a:extLst xmlns:a="http://schemas.openxmlformats.org/drawingml/2006/main">
              <a:ext uri="{FF2B5EF4-FFF2-40B4-BE49-F238E27FC236}">
                <a16:creationId xmlns:a16="http://schemas.microsoft.com/office/drawing/2014/main" id="{A10AE886-908D-43B7-BE04-2BD24FC45DA0}"/>
              </a:ext>
            </a:extLst>
          </p:cNvPr>
          <p:cNvSpPr>
            <a:spLocks xmlns:a="http://schemas.openxmlformats.org/drawingml/2006/main" noGrp="1"/>
          </p:cNvSpPr>
          <p:nvPr/>
        </p:nvSpPr>
        <p:spPr>
          <a:xfrm xmlns:a="http://schemas.openxmlformats.org/drawingml/2006/main">
            <a:off x="400050" y="228600"/>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1">
                <a:solidFill>
                  <a:srgbClr val="525860"/>
                </a:solidFill>
              </a:defRPr>
            </a:pPr>
            <a:r>
              <a:rPr sz="1650" b="1">
                <a:solidFill>
                  <a:srgbClr val="525860"/>
                </a:solidFill>
              </a:rPr>
              <a:t>03 · DÉPLOIEMENT LOCAL</a:t>
            </a:r>
          </a:p>
        </p:txBody>
      </p:sp>
      <p:sp>
        <p:nvSpPr>
          <p:cNvPr id="2" name="Le lot de données fixe le périmètre">
            <a:extLst xmlns:a="http://schemas.openxmlformats.org/drawingml/2006/main">
              <a:ext uri="{FF2B5EF4-FFF2-40B4-BE49-F238E27FC236}">
                <a16:creationId xmlns:a16="http://schemas.microsoft.com/office/drawing/2014/main" id="{FADAFB98-B001-41F7-812E-6AD61288D5F1}"/>
              </a:ext>
            </a:extLst>
          </p:cNvPr>
          <p:cNvSpPr>
            <a:spLocks xmlns:a="http://schemas.openxmlformats.org/drawingml/2006/main" noGrp="1"/>
          </p:cNvSpPr>
          <p:nvPr/>
        </p:nvSpPr>
        <p:spPr>
          <a:xfrm xmlns:a="http://schemas.openxmlformats.org/drawingml/2006/main">
            <a:off x="400050" y="742950"/>
            <a:ext cx="113919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3600" b="1">
                <a:solidFill>
                  <a:srgbClr val="111111"/>
                </a:solidFill>
              </a:defRPr>
            </a:pPr>
            <a:r>
              <a:rPr sz="3600" b="1">
                <a:solidFill>
                  <a:srgbClr val="111111"/>
                </a:solidFill>
              </a:rPr>
              <a:t>Trois processus, trois responsabilités</a:t>
            </a:r>
          </a:p>
        </p:txBody>
      </p:sp>
      <p:sp>
        <p:nvSpPr>
          <p:cNvPr id="3" name="">
            <a:extLst xmlns:a="http://schemas.openxmlformats.org/drawingml/2006/main">
              <a:ext uri="{FF2B5EF4-FFF2-40B4-BE49-F238E27FC236}">
                <a16:creationId xmlns:a16="http://schemas.microsoft.com/office/drawing/2014/main" id="{56872855-50E3-4C45-A5FB-7EE74259FB4D}"/>
              </a:ext>
            </a:extLst>
          </p:cNvPr>
          <p:cNvSpPr>
            <a:spLocks xmlns:a="http://schemas.openxmlformats.org/drawingml/2006/main" noGrp="1"/>
          </p:cNvSpPr>
          <p:nvPr/>
        </p:nvSpPr>
        <p:spPr>
          <a:xfrm xmlns:a="http://schemas.openxmlformats.org/drawingml/2006/main">
            <a:off x="400050" y="62293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4" name="SEMENCES R&amp;D · PROJET DE GROUPE">
            <a:extLst xmlns:a="http://schemas.openxmlformats.org/drawingml/2006/main">
              <a:ext uri="{FF2B5EF4-FFF2-40B4-BE49-F238E27FC236}">
                <a16:creationId xmlns:a16="http://schemas.microsoft.com/office/drawing/2014/main" id="{4F767EC7-8C7B-493F-9841-A67B7A5B2490}"/>
              </a:ext>
            </a:extLst>
          </p:cNvPr>
          <p:cNvSpPr>
            <a:spLocks xmlns:a="http://schemas.openxmlformats.org/drawingml/2006/main" noGrp="1"/>
          </p:cNvSpPr>
          <p:nvPr/>
        </p:nvSpPr>
        <p:spPr>
          <a:xfrm xmlns:a="http://schemas.openxmlformats.org/drawingml/2006/main">
            <a:off x="400050" y="641032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0">
                <a:solidFill>
                  <a:srgbClr val="525860"/>
                </a:solidFill>
              </a:defRPr>
            </a:pPr>
            <a:r>
              <a:rPr sz="1650" b="0">
                <a:solidFill>
                  <a:srgbClr val="525860"/>
                </a:solidFill>
              </a:rPr>
              <a:t>SEMENCES R&amp;D · PROJET DE GROUPE</a:t>
            </a:r>
          </a:p>
        </p:txBody>
      </p:sp>
      <p:sp>
        <p:nvSpPr>
          <p:cNvPr id="5" name="03">
            <a:extLst xmlns:a="http://schemas.openxmlformats.org/drawingml/2006/main">
              <a:ext uri="{FF2B5EF4-FFF2-40B4-BE49-F238E27FC236}">
                <a16:creationId xmlns:a16="http://schemas.microsoft.com/office/drawing/2014/main" id="{084C1FBD-DEAF-4C7D-BFC2-41BF6CC4FC44}"/>
              </a:ext>
            </a:extLst>
          </p:cNvPr>
          <p:cNvSpPr>
            <a:spLocks xmlns:a="http://schemas.openxmlformats.org/drawingml/2006/main" noGrp="1"/>
          </p:cNvSpPr>
          <p:nvPr/>
        </p:nvSpPr>
        <p:spPr>
          <a:xfrm xmlns:a="http://schemas.openxmlformats.org/drawingml/2006/main">
            <a:off x="11239500" y="64103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0">
                <a:solidFill>
                  <a:srgbClr val="525860"/>
                </a:solidFill>
              </a:defRPr>
            </a:pPr>
            <a:r>
              <a:rPr sz="1650" b="0">
                <a:solidFill>
                  <a:srgbClr val="525860"/>
                </a:solidFill>
              </a:rPr>
              <a:t>10</a:t>
            </a:r>
          </a:p>
        </p:txBody>
      </p:sp>
      <p:sp>
        <p:nvSpPr>
          <p:cNvPr id="6" name="">
            <a:extLst xmlns:a="http://schemas.openxmlformats.org/drawingml/2006/main">
              <a:ext uri="{FF2B5EF4-FFF2-40B4-BE49-F238E27FC236}">
                <a16:creationId xmlns:a16="http://schemas.microsoft.com/office/drawing/2014/main" id="{48D6851C-2E95-40C4-95E8-9BF6A7814B12}"/>
              </a:ext>
            </a:extLst>
          </p:cNvPr>
          <p:cNvSpPr>
            <a:spLocks xmlns:a="http://schemas.openxmlformats.org/drawingml/2006/main" noGrp="1"/>
          </p:cNvSpPr>
          <p:nvPr/>
        </p:nvSpPr>
        <p:spPr>
          <a:xfrm xmlns:a="http://schemas.openxmlformats.org/drawingml/2006/main">
            <a:off x="400050" y="33337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7" name="136 358">
            <a:extLst xmlns:a="http://schemas.openxmlformats.org/drawingml/2006/main">
              <a:ext uri="{FF2B5EF4-FFF2-40B4-BE49-F238E27FC236}">
                <a16:creationId xmlns:a16="http://schemas.microsoft.com/office/drawing/2014/main" id="{1840531C-BE97-4A15-873E-CA32C309EF92}"/>
              </a:ext>
            </a:extLst>
          </p:cNvPr>
          <p:cNvSpPr>
            <a:spLocks xmlns:a="http://schemas.openxmlformats.org/drawingml/2006/main" noGrp="1"/>
          </p:cNvSpPr>
          <p:nvPr/>
        </p:nvSpPr>
        <p:spPr>
          <a:xfrm xmlns:a="http://schemas.openxmlformats.org/drawingml/2006/main">
            <a:off x="400050" y="2571750"/>
            <a:ext cx="3486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3000" b="1">
                <a:solidFill>
                  <a:srgbClr val="2475AC"/>
                </a:solidFill>
              </a:defRPr>
            </a:pPr>
            <a:r>
              <a:rPr sz="3000" b="1">
                <a:solidFill>
                  <a:srgbClr val="2475AC"/>
                </a:solidFill>
              </a:rPr>
              <a:t>Calcul</a:t>
            </a:r>
          </a:p>
        </p:txBody>
      </p:sp>
      <p:sp>
        <p:nvSpPr>
          <p:cNvPr id="8" name="Mesures">
            <a:extLst xmlns:a="http://schemas.openxmlformats.org/drawingml/2006/main">
              <a:ext uri="{FF2B5EF4-FFF2-40B4-BE49-F238E27FC236}">
                <a16:creationId xmlns:a16="http://schemas.microsoft.com/office/drawing/2014/main" id="{14250A6A-F490-4F59-B451-CD7ACFEECAFA}"/>
              </a:ext>
            </a:extLst>
          </p:cNvPr>
          <p:cNvSpPr>
            <a:spLocks xmlns:a="http://schemas.openxmlformats.org/drawingml/2006/main" noGrp="1"/>
          </p:cNvSpPr>
          <p:nvPr/>
        </p:nvSpPr>
        <p:spPr>
          <a:xfrm xmlns:a="http://schemas.openxmlformats.org/drawingml/2006/main">
            <a:off x="400050" y="3743325"/>
            <a:ext cx="3486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2400" b="1">
                <a:solidFill>
                  <a:srgbClr val="111111"/>
                </a:solidFill>
              </a:defRPr>
            </a:pPr>
            <a:r>
              <a:rPr sz="2400" b="1">
                <a:solidFill>
                  <a:srgbClr val="111111"/>
                </a:solidFill>
              </a:rPr>
              <a:t>Terminal 1</a:t>
            </a:r>
          </a:p>
        </p:txBody>
      </p:sp>
      <p:sp>
        <p:nvSpPr>
          <p:cNvPr id="9" name="Une ligne de la table de faits décrit un trait mesuré.">
            <a:extLst xmlns:a="http://schemas.openxmlformats.org/drawingml/2006/main">
              <a:ext uri="{FF2B5EF4-FFF2-40B4-BE49-F238E27FC236}">
                <a16:creationId xmlns:a16="http://schemas.microsoft.com/office/drawing/2014/main" id="{F5C98D61-FEFF-4740-B40C-F9B4C6B7C3FC}"/>
              </a:ext>
            </a:extLst>
          </p:cNvPr>
          <p:cNvSpPr>
            <a:spLocks xmlns:a="http://schemas.openxmlformats.org/drawingml/2006/main" noGrp="1"/>
          </p:cNvSpPr>
          <p:nvPr/>
        </p:nvSpPr>
        <p:spPr>
          <a:xfrm xmlns:a="http://schemas.openxmlformats.org/drawingml/2006/main">
            <a:off x="400050" y="4514850"/>
            <a:ext cx="348615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main.py écrit les résultats, puis se termine après les 17 phases.</a:t>
            </a:r>
          </a:p>
        </p:txBody>
      </p:sp>
      <p:sp>
        <p:nvSpPr>
          <p:cNvPr id="10" name="2 116">
            <a:extLst xmlns:a="http://schemas.openxmlformats.org/drawingml/2006/main">
              <a:ext uri="{FF2B5EF4-FFF2-40B4-BE49-F238E27FC236}">
                <a16:creationId xmlns:a16="http://schemas.microsoft.com/office/drawing/2014/main" id="{C80F28CF-9D12-43A0-A862-5D4E17F6FEF8}"/>
              </a:ext>
            </a:extLst>
          </p:cNvPr>
          <p:cNvSpPr>
            <a:spLocks xmlns:a="http://schemas.openxmlformats.org/drawingml/2006/main" noGrp="1"/>
          </p:cNvSpPr>
          <p:nvPr/>
        </p:nvSpPr>
        <p:spPr>
          <a:xfrm xmlns:a="http://schemas.openxmlformats.org/drawingml/2006/main">
            <a:off x="4314825" y="2571750"/>
            <a:ext cx="3486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3000" b="1">
                <a:solidFill>
                  <a:srgbClr val="2475AC"/>
                </a:solidFill>
              </a:defRPr>
            </a:pPr>
            <a:r>
              <a:rPr sz="3000" b="1">
                <a:solidFill>
                  <a:srgbClr val="2475AC"/>
                </a:solidFill>
              </a:rPr>
              <a:t>HTTP · 8000</a:t>
            </a:r>
          </a:p>
        </p:txBody>
      </p:sp>
      <p:sp>
        <p:nvSpPr>
          <p:cNvPr id="11" name="Essais distincts">
            <a:extLst xmlns:a="http://schemas.openxmlformats.org/drawingml/2006/main">
              <a:ext uri="{FF2B5EF4-FFF2-40B4-BE49-F238E27FC236}">
                <a16:creationId xmlns:a16="http://schemas.microsoft.com/office/drawing/2014/main" id="{067AAFC1-8D24-46B5-BC42-5886EC19EA95}"/>
              </a:ext>
            </a:extLst>
          </p:cNvPr>
          <p:cNvSpPr>
            <a:spLocks xmlns:a="http://schemas.openxmlformats.org/drawingml/2006/main" noGrp="1"/>
          </p:cNvSpPr>
          <p:nvPr/>
        </p:nvSpPr>
        <p:spPr>
          <a:xfrm xmlns:a="http://schemas.openxmlformats.org/drawingml/2006/main">
            <a:off x="4314825" y="3743325"/>
            <a:ext cx="3486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2400" b="1">
                <a:solidFill>
                  <a:srgbClr val="111111"/>
                </a:solidFill>
              </a:defRPr>
            </a:pPr>
            <a:r>
              <a:rPr sz="2400" b="1">
                <a:solidFill>
                  <a:srgbClr val="111111"/>
                </a:solidFill>
              </a:rPr>
              <a:t>Terminal 2</a:t>
            </a:r>
          </a:p>
        </p:txBody>
      </p:sp>
      <p:sp>
        <p:nvSpPr>
          <p:cNvPr id="12" name="Identifiants présents dans les résultats consolidés.">
            <a:extLst xmlns:a="http://schemas.openxmlformats.org/drawingml/2006/main">
              <a:ext uri="{FF2B5EF4-FFF2-40B4-BE49-F238E27FC236}">
                <a16:creationId xmlns:a16="http://schemas.microsoft.com/office/drawing/2014/main" id="{79434C08-1A7F-48BC-A9BC-B7A1A463D542}"/>
              </a:ext>
            </a:extLst>
          </p:cNvPr>
          <p:cNvSpPr>
            <a:spLocks xmlns:a="http://schemas.openxmlformats.org/drawingml/2006/main" noGrp="1"/>
          </p:cNvSpPr>
          <p:nvPr/>
        </p:nvSpPr>
        <p:spPr>
          <a:xfrm xmlns:a="http://schemas.openxmlformats.org/drawingml/2006/main">
            <a:off x="4314825" y="4514850"/>
            <a:ext cx="348615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http.server sert les pages et les CSV au navigateur.</a:t>
            </a:r>
          </a:p>
        </p:txBody>
      </p:sp>
      <p:sp>
        <p:nvSpPr>
          <p:cNvPr id="13" name="28 697">
            <a:extLst xmlns:a="http://schemas.openxmlformats.org/drawingml/2006/main">
              <a:ext uri="{FF2B5EF4-FFF2-40B4-BE49-F238E27FC236}">
                <a16:creationId xmlns:a16="http://schemas.microsoft.com/office/drawing/2014/main" id="{1924D678-57A9-41B6-82F1-109CE9EDB255}"/>
              </a:ext>
            </a:extLst>
          </p:cNvPr>
          <p:cNvSpPr>
            <a:spLocks xmlns:a="http://schemas.openxmlformats.org/drawingml/2006/main" noGrp="1"/>
          </p:cNvSpPr>
          <p:nvPr/>
        </p:nvSpPr>
        <p:spPr>
          <a:xfrm xmlns:a="http://schemas.openxmlformats.org/drawingml/2006/main">
            <a:off x="8229600" y="2571750"/>
            <a:ext cx="3486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3000" b="1">
                <a:solidFill>
                  <a:srgbClr val="2475AC"/>
                </a:solidFill>
              </a:defRPr>
            </a:pPr>
            <a:r>
              <a:rPr sz="3000" b="1">
                <a:solidFill>
                  <a:srgbClr val="2475AC"/>
                </a:solidFill>
              </a:rPr>
              <a:t>API · 8080</a:t>
            </a:r>
          </a:p>
        </p:txBody>
      </p:sp>
      <p:sp>
        <p:nvSpPr>
          <p:cNvPr id="14" name="Matériels">
            <a:extLst xmlns:a="http://schemas.openxmlformats.org/drawingml/2006/main">
              <a:ext uri="{FF2B5EF4-FFF2-40B4-BE49-F238E27FC236}">
                <a16:creationId xmlns:a16="http://schemas.microsoft.com/office/drawing/2014/main" id="{E9B9A194-0FD0-4A06-BA68-14E4365AF65E}"/>
              </a:ext>
            </a:extLst>
          </p:cNvPr>
          <p:cNvSpPr>
            <a:spLocks xmlns:a="http://schemas.openxmlformats.org/drawingml/2006/main" noGrp="1"/>
          </p:cNvSpPr>
          <p:nvPr/>
        </p:nvSpPr>
        <p:spPr>
          <a:xfrm xmlns:a="http://schemas.openxmlformats.org/drawingml/2006/main">
            <a:off x="8229600" y="3743325"/>
            <a:ext cx="3486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2400" b="1">
                <a:solidFill>
                  <a:srgbClr val="111111"/>
                </a:solidFill>
              </a:defRPr>
            </a:pPr>
            <a:r>
              <a:rPr sz="2400" b="1">
                <a:solidFill>
                  <a:srgbClr val="111111"/>
                </a:solidFill>
              </a:rPr>
              <a:t>Terminal 3</a:t>
            </a:r>
          </a:p>
        </p:txBody>
      </p:sp>
      <p:sp>
        <p:nvSpPr>
          <p:cNvPr id="15" name="Matériels génétiques reliés à la table de faits.">
            <a:extLst xmlns:a="http://schemas.openxmlformats.org/drawingml/2006/main">
              <a:ext uri="{FF2B5EF4-FFF2-40B4-BE49-F238E27FC236}">
                <a16:creationId xmlns:a16="http://schemas.microsoft.com/office/drawing/2014/main" id="{E3A0C1BA-7983-4608-AF10-3F90E4ECA8B0}"/>
              </a:ext>
            </a:extLst>
          </p:cNvPr>
          <p:cNvSpPr>
            <a:spLocks xmlns:a="http://schemas.openxmlformats.org/drawingml/2006/main" noGrp="1"/>
          </p:cNvSpPr>
          <p:nvPr/>
        </p:nvSpPr>
        <p:spPr>
          <a:xfrm xmlns:a="http://schemas.openxmlformats.org/drawingml/2006/main">
            <a:off x="8229600" y="4514850"/>
            <a:ext cx="348615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platform_api.py répond aux recherches et aux prédictions.</a:t>
            </a:r>
          </a:p>
        </p:txBody>
      </p:sp>
    </p:spTree>
    <p:extLst>
      <p:ext uri="{BB962C8B-B14F-4D97-AF65-F5344CB8AC3E}">
        <p14:creationId xmlns:p14="http://schemas.microsoft.com/office/powerpoint/2010/main" val="1859752339"/>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04 · EXÉCUTION">
            <a:extLst xmlns:a="http://schemas.openxmlformats.org/drawingml/2006/main">
              <a:ext uri="{FF2B5EF4-FFF2-40B4-BE49-F238E27FC236}">
                <a16:creationId xmlns:a16="http://schemas.microsoft.com/office/drawing/2014/main" id="{86A17E10-A116-4989-93E7-454B34F17276}"/>
              </a:ext>
            </a:extLst>
          </p:cNvPr>
          <p:cNvSpPr>
            <a:spLocks xmlns:a="http://schemas.openxmlformats.org/drawingml/2006/main" noGrp="1"/>
          </p:cNvSpPr>
          <p:nvPr/>
        </p:nvSpPr>
        <p:spPr>
          <a:xfrm xmlns:a="http://schemas.openxmlformats.org/drawingml/2006/main">
            <a:off x="400050" y="228600"/>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1">
                <a:solidFill>
                  <a:srgbClr val="525860"/>
                </a:solidFill>
              </a:defRPr>
            </a:pPr>
            <a:r>
              <a:rPr sz="1650" b="1">
                <a:solidFill>
                  <a:srgbClr val="525860"/>
                </a:solidFill>
              </a:rPr>
              <a:t>04 · EXÉCUTION</a:t>
            </a:r>
          </a:p>
        </p:txBody>
      </p:sp>
      <p:sp>
        <p:nvSpPr>
          <p:cNvPr id="2" name="L’orchestrateur déroule 17 phases">
            <a:extLst xmlns:a="http://schemas.openxmlformats.org/drawingml/2006/main">
              <a:ext uri="{FF2B5EF4-FFF2-40B4-BE49-F238E27FC236}">
                <a16:creationId xmlns:a16="http://schemas.microsoft.com/office/drawing/2014/main" id="{9EA8D986-9604-4F54-AB72-5E405980CB8D}"/>
              </a:ext>
            </a:extLst>
          </p:cNvPr>
          <p:cNvSpPr>
            <a:spLocks xmlns:a="http://schemas.openxmlformats.org/drawingml/2006/main" noGrp="1"/>
          </p:cNvSpPr>
          <p:nvPr/>
        </p:nvSpPr>
        <p:spPr>
          <a:xfrm xmlns:a="http://schemas.openxmlformats.org/drawingml/2006/main">
            <a:off x="400050" y="742950"/>
            <a:ext cx="113919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3600" b="1">
                <a:solidFill>
                  <a:srgbClr val="111111"/>
                </a:solidFill>
              </a:defRPr>
            </a:pPr>
            <a:r>
              <a:rPr sz="3600" b="1">
                <a:solidFill>
                  <a:srgbClr val="111111"/>
                </a:solidFill>
              </a:rPr>
              <a:t>L’orchestrateur déroule 17 phases</a:t>
            </a:r>
          </a:p>
        </p:txBody>
      </p:sp>
      <p:sp>
        <p:nvSpPr>
          <p:cNvPr id="3" name="">
            <a:extLst xmlns:a="http://schemas.openxmlformats.org/drawingml/2006/main">
              <a:ext uri="{FF2B5EF4-FFF2-40B4-BE49-F238E27FC236}">
                <a16:creationId xmlns:a16="http://schemas.microsoft.com/office/drawing/2014/main" id="{EEFD344E-36FC-468F-991D-9A0D9FC51FCC}"/>
              </a:ext>
            </a:extLst>
          </p:cNvPr>
          <p:cNvSpPr>
            <a:spLocks xmlns:a="http://schemas.openxmlformats.org/drawingml/2006/main" noGrp="1"/>
          </p:cNvSpPr>
          <p:nvPr/>
        </p:nvSpPr>
        <p:spPr>
          <a:xfrm xmlns:a="http://schemas.openxmlformats.org/drawingml/2006/main">
            <a:off x="400050" y="62293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4" name="SEMENCES R&amp;D · PROJET DE GROUPE">
            <a:extLst xmlns:a="http://schemas.openxmlformats.org/drawingml/2006/main">
              <a:ext uri="{FF2B5EF4-FFF2-40B4-BE49-F238E27FC236}">
                <a16:creationId xmlns:a16="http://schemas.microsoft.com/office/drawing/2014/main" id="{12DF2B9B-8B84-40DA-A10C-0DEC93E39000}"/>
              </a:ext>
            </a:extLst>
          </p:cNvPr>
          <p:cNvSpPr>
            <a:spLocks xmlns:a="http://schemas.openxmlformats.org/drawingml/2006/main" noGrp="1"/>
          </p:cNvSpPr>
          <p:nvPr/>
        </p:nvSpPr>
        <p:spPr>
          <a:xfrm xmlns:a="http://schemas.openxmlformats.org/drawingml/2006/main">
            <a:off x="400050" y="641032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0">
                <a:solidFill>
                  <a:srgbClr val="525860"/>
                </a:solidFill>
              </a:defRPr>
            </a:pPr>
            <a:r>
              <a:rPr sz="1650" b="0">
                <a:solidFill>
                  <a:srgbClr val="525860"/>
                </a:solidFill>
              </a:rPr>
              <a:t>SEMENCES R&amp;D · PROJET DE GROUPE</a:t>
            </a:r>
          </a:p>
        </p:txBody>
      </p:sp>
      <p:sp>
        <p:nvSpPr>
          <p:cNvPr id="5" name="08">
            <a:extLst xmlns:a="http://schemas.openxmlformats.org/drawingml/2006/main">
              <a:ext uri="{FF2B5EF4-FFF2-40B4-BE49-F238E27FC236}">
                <a16:creationId xmlns:a16="http://schemas.microsoft.com/office/drawing/2014/main" id="{B36D80B0-6C10-4CA2-99B7-96BF06B52D98}"/>
              </a:ext>
            </a:extLst>
          </p:cNvPr>
          <p:cNvSpPr>
            <a:spLocks xmlns:a="http://schemas.openxmlformats.org/drawingml/2006/main" noGrp="1"/>
          </p:cNvSpPr>
          <p:nvPr/>
        </p:nvSpPr>
        <p:spPr>
          <a:xfrm xmlns:a="http://schemas.openxmlformats.org/drawingml/2006/main">
            <a:off x="11239500" y="64103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0">
                <a:solidFill>
                  <a:srgbClr val="525860"/>
                </a:solidFill>
              </a:defRPr>
            </a:pPr>
            <a:r>
              <a:rPr sz="1650" b="0">
                <a:solidFill>
                  <a:srgbClr val="525860"/>
                </a:solidFill>
              </a:rPr>
              <a:t>11</a:t>
            </a:r>
          </a:p>
        </p:txBody>
      </p:sp>
      <p:sp>
        <p:nvSpPr>
          <p:cNvPr id="6" name="">
            <a:extLst xmlns:a="http://schemas.openxmlformats.org/drawingml/2006/main">
              <a:ext uri="{FF2B5EF4-FFF2-40B4-BE49-F238E27FC236}">
                <a16:creationId xmlns:a16="http://schemas.microsoft.com/office/drawing/2014/main" id="{7A925AE2-CC92-4CDE-9C31-DB30945F77B5}"/>
              </a:ext>
            </a:extLst>
          </p:cNvPr>
          <p:cNvSpPr>
            <a:spLocks xmlns:a="http://schemas.openxmlformats.org/drawingml/2006/main" noGrp="1"/>
          </p:cNvSpPr>
          <p:nvPr/>
        </p:nvSpPr>
        <p:spPr>
          <a:xfrm xmlns:a="http://schemas.openxmlformats.org/drawingml/2006/main">
            <a:off x="400050" y="33337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7" name="01–06">
            <a:extLst xmlns:a="http://schemas.openxmlformats.org/drawingml/2006/main">
              <a:ext uri="{FF2B5EF4-FFF2-40B4-BE49-F238E27FC236}">
                <a16:creationId xmlns:a16="http://schemas.microsoft.com/office/drawing/2014/main" id="{54958B72-91F3-4F61-B7E4-B20581136AD9}"/>
              </a:ext>
            </a:extLst>
          </p:cNvPr>
          <p:cNvSpPr>
            <a:spLocks xmlns:a="http://schemas.openxmlformats.org/drawingml/2006/main" noGrp="1"/>
          </p:cNvSpPr>
          <p:nvPr/>
        </p:nvSpPr>
        <p:spPr>
          <a:xfrm xmlns:a="http://schemas.openxmlformats.org/drawingml/2006/main">
            <a:off x="400050" y="2571750"/>
            <a:ext cx="3486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3000" b="1">
                <a:solidFill>
                  <a:srgbClr val="2475AC"/>
                </a:solidFill>
              </a:defRPr>
            </a:pPr>
            <a:r>
              <a:rPr sz="3000" b="1">
                <a:solidFill>
                  <a:srgbClr val="2475AC"/>
                </a:solidFill>
              </a:rPr>
              <a:t>01–06</a:t>
            </a:r>
          </a:p>
        </p:txBody>
      </p:sp>
      <p:sp>
        <p:nvSpPr>
          <p:cNvPr id="8" name="Construire">
            <a:extLst xmlns:a="http://schemas.openxmlformats.org/drawingml/2006/main">
              <a:ext uri="{FF2B5EF4-FFF2-40B4-BE49-F238E27FC236}">
                <a16:creationId xmlns:a16="http://schemas.microsoft.com/office/drawing/2014/main" id="{14A74EA7-5001-4E46-A95B-08F3E9EA0B13}"/>
              </a:ext>
            </a:extLst>
          </p:cNvPr>
          <p:cNvSpPr>
            <a:spLocks xmlns:a="http://schemas.openxmlformats.org/drawingml/2006/main" noGrp="1"/>
          </p:cNvSpPr>
          <p:nvPr/>
        </p:nvSpPr>
        <p:spPr>
          <a:xfrm xmlns:a="http://schemas.openxmlformats.org/drawingml/2006/main">
            <a:off x="400050" y="3743325"/>
            <a:ext cx="3486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2400" b="1">
                <a:solidFill>
                  <a:srgbClr val="111111"/>
                </a:solidFill>
              </a:defRPr>
            </a:pPr>
            <a:r>
              <a:rPr sz="2400" b="1">
                <a:solidFill>
                  <a:srgbClr val="111111"/>
                </a:solidFill>
              </a:rPr>
              <a:t>Construire</a:t>
            </a:r>
          </a:p>
        </p:txBody>
      </p:sp>
      <p:sp>
        <p:nvSpPr>
          <p:cNvPr id="9" name="Import, profilage, NiFi, ETL, stockage et événements.">
            <a:extLst xmlns:a="http://schemas.openxmlformats.org/drawingml/2006/main">
              <a:ext uri="{FF2B5EF4-FFF2-40B4-BE49-F238E27FC236}">
                <a16:creationId xmlns:a16="http://schemas.microsoft.com/office/drawing/2014/main" id="{FCE8AAFD-7C66-4E6C-85F6-370BBA980F4D}"/>
              </a:ext>
            </a:extLst>
          </p:cNvPr>
          <p:cNvSpPr>
            <a:spLocks xmlns:a="http://schemas.openxmlformats.org/drawingml/2006/main" noGrp="1"/>
          </p:cNvSpPr>
          <p:nvPr/>
        </p:nvSpPr>
        <p:spPr>
          <a:xfrm xmlns:a="http://schemas.openxmlformats.org/drawingml/2006/main">
            <a:off x="400050" y="4514850"/>
            <a:ext cx="348615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Import, profilage, NiFi, ETL, stockage et événements.</a:t>
            </a:r>
          </a:p>
        </p:txBody>
      </p:sp>
      <p:sp>
        <p:nvSpPr>
          <p:cNvPr id="10" name="07–12">
            <a:extLst xmlns:a="http://schemas.openxmlformats.org/drawingml/2006/main">
              <a:ext uri="{FF2B5EF4-FFF2-40B4-BE49-F238E27FC236}">
                <a16:creationId xmlns:a16="http://schemas.microsoft.com/office/drawing/2014/main" id="{BEB327C3-9DE7-471C-9E73-46D32A7DEFBA}"/>
              </a:ext>
            </a:extLst>
          </p:cNvPr>
          <p:cNvSpPr>
            <a:spLocks xmlns:a="http://schemas.openxmlformats.org/drawingml/2006/main" noGrp="1"/>
          </p:cNvSpPr>
          <p:nvPr/>
        </p:nvSpPr>
        <p:spPr>
          <a:xfrm xmlns:a="http://schemas.openxmlformats.org/drawingml/2006/main">
            <a:off x="4314825" y="2571750"/>
            <a:ext cx="3486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3000" b="1">
                <a:solidFill>
                  <a:srgbClr val="2475AC"/>
                </a:solidFill>
              </a:defRPr>
            </a:pPr>
            <a:r>
              <a:rPr sz="3000" b="1">
                <a:solidFill>
                  <a:srgbClr val="2475AC"/>
                </a:solidFill>
              </a:rPr>
              <a:t>07–12</a:t>
            </a:r>
          </a:p>
        </p:txBody>
      </p:sp>
      <p:sp>
        <p:nvSpPr>
          <p:cNvPr id="11" name="Exploiter">
            <a:extLst xmlns:a="http://schemas.openxmlformats.org/drawingml/2006/main">
              <a:ext uri="{FF2B5EF4-FFF2-40B4-BE49-F238E27FC236}">
                <a16:creationId xmlns:a16="http://schemas.microsoft.com/office/drawing/2014/main" id="{52B604A5-36BB-49ED-B34E-CA06924CE8A6}"/>
              </a:ext>
            </a:extLst>
          </p:cNvPr>
          <p:cNvSpPr>
            <a:spLocks xmlns:a="http://schemas.openxmlformats.org/drawingml/2006/main" noGrp="1"/>
          </p:cNvSpPr>
          <p:nvPr/>
        </p:nvSpPr>
        <p:spPr>
          <a:xfrm xmlns:a="http://schemas.openxmlformats.org/drawingml/2006/main">
            <a:off x="4314825" y="3743325"/>
            <a:ext cx="3486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2400" b="1">
                <a:solidFill>
                  <a:srgbClr val="111111"/>
                </a:solidFill>
              </a:defRPr>
            </a:pPr>
            <a:r>
              <a:rPr sz="2400" b="1">
                <a:solidFill>
                  <a:srgbClr val="111111"/>
                </a:solidFill>
              </a:rPr>
              <a:t>Exploiter</a:t>
            </a:r>
          </a:p>
        </p:txBody>
      </p:sp>
      <p:sp>
        <p:nvSpPr>
          <p:cNvPr id="12" name="SQL Hive/Drill, Spark, statistiques, visuels et ML.">
            <a:extLst xmlns:a="http://schemas.openxmlformats.org/drawingml/2006/main">
              <a:ext uri="{FF2B5EF4-FFF2-40B4-BE49-F238E27FC236}">
                <a16:creationId xmlns:a16="http://schemas.microsoft.com/office/drawing/2014/main" id="{6AC1B723-ED1F-4D74-8BD5-ACBA481C644E}"/>
              </a:ext>
            </a:extLst>
          </p:cNvPr>
          <p:cNvSpPr>
            <a:spLocks xmlns:a="http://schemas.openxmlformats.org/drawingml/2006/main" noGrp="1"/>
          </p:cNvSpPr>
          <p:nvPr/>
        </p:nvSpPr>
        <p:spPr>
          <a:xfrm xmlns:a="http://schemas.openxmlformats.org/drawingml/2006/main">
            <a:off x="4314825" y="4514850"/>
            <a:ext cx="348615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SQL Hive/Drill, Spark, statistiques, visuels et ML.</a:t>
            </a:r>
          </a:p>
        </p:txBody>
      </p:sp>
      <p:sp>
        <p:nvSpPr>
          <p:cNvPr id="13" name="13–17">
            <a:extLst xmlns:a="http://schemas.openxmlformats.org/drawingml/2006/main">
              <a:ext uri="{FF2B5EF4-FFF2-40B4-BE49-F238E27FC236}">
                <a16:creationId xmlns:a16="http://schemas.microsoft.com/office/drawing/2014/main" id="{18AA017E-DDA2-487E-93A8-B70B675CFAB7}"/>
              </a:ext>
            </a:extLst>
          </p:cNvPr>
          <p:cNvSpPr>
            <a:spLocks xmlns:a="http://schemas.openxmlformats.org/drawingml/2006/main" noGrp="1"/>
          </p:cNvSpPr>
          <p:nvPr/>
        </p:nvSpPr>
        <p:spPr>
          <a:xfrm xmlns:a="http://schemas.openxmlformats.org/drawingml/2006/main">
            <a:off x="8229600" y="2571750"/>
            <a:ext cx="3486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3000" b="1">
                <a:solidFill>
                  <a:srgbClr val="2475AC"/>
                </a:solidFill>
              </a:defRPr>
            </a:pPr>
            <a:r>
              <a:rPr sz="3000" b="1">
                <a:solidFill>
                  <a:srgbClr val="2475AC"/>
                </a:solidFill>
              </a:rPr>
              <a:t>13–17</a:t>
            </a:r>
          </a:p>
        </p:txBody>
      </p:sp>
      <p:sp>
        <p:nvSpPr>
          <p:cNvPr id="14" name="Restituer">
            <a:extLst xmlns:a="http://schemas.openxmlformats.org/drawingml/2006/main">
              <a:ext uri="{FF2B5EF4-FFF2-40B4-BE49-F238E27FC236}">
                <a16:creationId xmlns:a16="http://schemas.microsoft.com/office/drawing/2014/main" id="{D83085A5-239F-4446-909A-7D58BF733431}"/>
              </a:ext>
            </a:extLst>
          </p:cNvPr>
          <p:cNvSpPr>
            <a:spLocks xmlns:a="http://schemas.openxmlformats.org/drawingml/2006/main" noGrp="1"/>
          </p:cNvSpPr>
          <p:nvPr/>
        </p:nvSpPr>
        <p:spPr>
          <a:xfrm xmlns:a="http://schemas.openxmlformats.org/drawingml/2006/main">
            <a:off x="8229600" y="3743325"/>
            <a:ext cx="3486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2400" b="1">
                <a:solidFill>
                  <a:srgbClr val="111111"/>
                </a:solidFill>
              </a:defRPr>
            </a:pPr>
            <a:r>
              <a:rPr sz="2400" b="1">
                <a:solidFill>
                  <a:srgbClr val="111111"/>
                </a:solidFill>
              </a:rPr>
              <a:t>Restituer</a:t>
            </a:r>
          </a:p>
        </p:txBody>
      </p:sp>
      <p:sp>
        <p:nvSpPr>
          <p:cNvPr id="15" name="Catalogue, R, qualité, validation des livrables et dashboard.">
            <a:extLst xmlns:a="http://schemas.openxmlformats.org/drawingml/2006/main">
              <a:ext uri="{FF2B5EF4-FFF2-40B4-BE49-F238E27FC236}">
                <a16:creationId xmlns:a16="http://schemas.microsoft.com/office/drawing/2014/main" id="{D38FFA24-974B-4E40-BE3D-4E3AC094A70A}"/>
              </a:ext>
            </a:extLst>
          </p:cNvPr>
          <p:cNvSpPr>
            <a:spLocks xmlns:a="http://schemas.openxmlformats.org/drawingml/2006/main" noGrp="1"/>
          </p:cNvSpPr>
          <p:nvPr/>
        </p:nvSpPr>
        <p:spPr>
          <a:xfrm xmlns:a="http://schemas.openxmlformats.org/drawingml/2006/main">
            <a:off x="8229600" y="4514850"/>
            <a:ext cx="348615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Catalogue, R, qualité, validation des livrables et dashboard.</a:t>
            </a:r>
          </a:p>
        </p:txBody>
      </p:sp>
    </p:spTree>
    <p:extLst>
      <p:ext uri="{BB962C8B-B14F-4D97-AF65-F5344CB8AC3E}">
        <p14:creationId xmlns:p14="http://schemas.microsoft.com/office/powerpoint/2010/main" val="491648561"/>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04 · TRANSFORMATION">
            <a:extLst xmlns:a="http://schemas.openxmlformats.org/drawingml/2006/main">
              <a:ext uri="{FF2B5EF4-FFF2-40B4-BE49-F238E27FC236}">
                <a16:creationId xmlns:a16="http://schemas.microsoft.com/office/drawing/2014/main" id="{72A22EC8-68F7-4722-A594-48331E36C15F}"/>
              </a:ext>
            </a:extLst>
          </p:cNvPr>
          <p:cNvSpPr>
            <a:spLocks xmlns:a="http://schemas.openxmlformats.org/drawingml/2006/main" noGrp="1"/>
          </p:cNvSpPr>
          <p:nvPr/>
        </p:nvSpPr>
        <p:spPr>
          <a:xfrm xmlns:a="http://schemas.openxmlformats.org/drawingml/2006/main">
            <a:off x="400050" y="228600"/>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1">
                <a:solidFill>
                  <a:srgbClr val="525860"/>
                </a:solidFill>
              </a:defRPr>
            </a:pPr>
            <a:r>
              <a:rPr sz="1650" b="1">
                <a:solidFill>
                  <a:srgbClr val="525860"/>
                </a:solidFill>
              </a:rPr>
              <a:t>04 · TRANSFORMATION</a:t>
            </a:r>
          </a:p>
        </p:txBody>
      </p:sp>
      <p:sp>
        <p:nvSpPr>
          <p:cNvPr id="2" name="Les jointures conservent les mesures">
            <a:extLst xmlns:a="http://schemas.openxmlformats.org/drawingml/2006/main">
              <a:ext uri="{FF2B5EF4-FFF2-40B4-BE49-F238E27FC236}">
                <a16:creationId xmlns:a16="http://schemas.microsoft.com/office/drawing/2014/main" id="{F2A32C2D-CE64-4E1F-8962-20CDA7093CF7}"/>
              </a:ext>
            </a:extLst>
          </p:cNvPr>
          <p:cNvSpPr>
            <a:spLocks xmlns:a="http://schemas.openxmlformats.org/drawingml/2006/main" noGrp="1"/>
          </p:cNvSpPr>
          <p:nvPr/>
        </p:nvSpPr>
        <p:spPr>
          <a:xfrm xmlns:a="http://schemas.openxmlformats.org/drawingml/2006/main">
            <a:off x="400050" y="742950"/>
            <a:ext cx="113919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3600" b="1">
                <a:solidFill>
                  <a:srgbClr val="111111"/>
                </a:solidFill>
              </a:defRPr>
            </a:pPr>
            <a:r>
              <a:rPr sz="3600" b="1">
                <a:solidFill>
                  <a:srgbClr val="111111"/>
                </a:solidFill>
              </a:rPr>
              <a:t>Les jointures conservent les mesures</a:t>
            </a:r>
          </a:p>
        </p:txBody>
      </p:sp>
      <p:sp>
        <p:nvSpPr>
          <p:cNvPr id="3" name="">
            <a:extLst xmlns:a="http://schemas.openxmlformats.org/drawingml/2006/main">
              <a:ext uri="{FF2B5EF4-FFF2-40B4-BE49-F238E27FC236}">
                <a16:creationId xmlns:a16="http://schemas.microsoft.com/office/drawing/2014/main" id="{FFF13250-77A9-4379-9CA8-A7D9E5F82097}"/>
              </a:ext>
            </a:extLst>
          </p:cNvPr>
          <p:cNvSpPr>
            <a:spLocks xmlns:a="http://schemas.openxmlformats.org/drawingml/2006/main" noGrp="1"/>
          </p:cNvSpPr>
          <p:nvPr/>
        </p:nvSpPr>
        <p:spPr>
          <a:xfrm xmlns:a="http://schemas.openxmlformats.org/drawingml/2006/main">
            <a:off x="400050" y="62293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4" name="SEMENCES R&amp;D · PROJET DE GROUPE">
            <a:extLst xmlns:a="http://schemas.openxmlformats.org/drawingml/2006/main">
              <a:ext uri="{FF2B5EF4-FFF2-40B4-BE49-F238E27FC236}">
                <a16:creationId xmlns:a16="http://schemas.microsoft.com/office/drawing/2014/main" id="{C5F47E0E-ED98-4E63-A756-4FD7A2AE830F}"/>
              </a:ext>
            </a:extLst>
          </p:cNvPr>
          <p:cNvSpPr>
            <a:spLocks xmlns:a="http://schemas.openxmlformats.org/drawingml/2006/main" noGrp="1"/>
          </p:cNvSpPr>
          <p:nvPr/>
        </p:nvSpPr>
        <p:spPr>
          <a:xfrm xmlns:a="http://schemas.openxmlformats.org/drawingml/2006/main">
            <a:off x="400050" y="641032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0">
                <a:solidFill>
                  <a:srgbClr val="525860"/>
                </a:solidFill>
              </a:defRPr>
            </a:pPr>
            <a:r>
              <a:rPr sz="1650" b="0">
                <a:solidFill>
                  <a:srgbClr val="525860"/>
                </a:solidFill>
              </a:rPr>
              <a:t>SEMENCES R&amp;D · PROJET DE GROUPE</a:t>
            </a:r>
          </a:p>
        </p:txBody>
      </p:sp>
      <p:sp>
        <p:nvSpPr>
          <p:cNvPr id="5" name="09">
            <a:extLst xmlns:a="http://schemas.openxmlformats.org/drawingml/2006/main">
              <a:ext uri="{FF2B5EF4-FFF2-40B4-BE49-F238E27FC236}">
                <a16:creationId xmlns:a16="http://schemas.microsoft.com/office/drawing/2014/main" id="{93E64702-3C39-42C1-847B-288E113D0CCD}"/>
              </a:ext>
            </a:extLst>
          </p:cNvPr>
          <p:cNvSpPr>
            <a:spLocks xmlns:a="http://schemas.openxmlformats.org/drawingml/2006/main" noGrp="1"/>
          </p:cNvSpPr>
          <p:nvPr/>
        </p:nvSpPr>
        <p:spPr>
          <a:xfrm xmlns:a="http://schemas.openxmlformats.org/drawingml/2006/main">
            <a:off x="11239500" y="64103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0">
                <a:solidFill>
                  <a:srgbClr val="525860"/>
                </a:solidFill>
              </a:defRPr>
            </a:pPr>
            <a:r>
              <a:rPr sz="1650" b="0">
                <a:solidFill>
                  <a:srgbClr val="525860"/>
                </a:solidFill>
              </a:rPr>
              <a:t>12</a:t>
            </a:r>
          </a:p>
        </p:txBody>
      </p:sp>
      <p:sp>
        <p:nvSpPr>
          <p:cNvPr id="6" name="Nettoyer">
            <a:extLst xmlns:a="http://schemas.openxmlformats.org/drawingml/2006/main">
              <a:ext uri="{FF2B5EF4-FFF2-40B4-BE49-F238E27FC236}">
                <a16:creationId xmlns:a16="http://schemas.microsoft.com/office/drawing/2014/main" id="{3C08BB00-0DE8-4341-8D4F-7C85DF91A770}"/>
              </a:ext>
            </a:extLst>
          </p:cNvPr>
          <p:cNvSpPr>
            <a:spLocks xmlns:a="http://schemas.openxmlformats.org/drawingml/2006/main" noGrp="1"/>
          </p:cNvSpPr>
          <p:nvPr/>
        </p:nvSpPr>
        <p:spPr>
          <a:xfrm xmlns:a="http://schemas.openxmlformats.org/drawingml/2006/main">
            <a:off x="400050" y="2057400"/>
            <a:ext cx="54768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2400" b="1">
                <a:solidFill>
                  <a:srgbClr val="111111"/>
                </a:solidFill>
              </a:defRPr>
            </a:pPr>
            <a:r>
              <a:rPr sz="2400" b="1">
                <a:solidFill>
                  <a:srgbClr val="111111"/>
                </a:solidFill>
              </a:rPr>
              <a:t>Nettoyer</a:t>
            </a:r>
          </a:p>
        </p:txBody>
      </p:sp>
      <p:sp>
        <p:nvSpPr>
          <p:cNvPr id="7" name="Convertir les nombres à virgule dans RESULT_NUM.">
            <a:extLst xmlns:a="http://schemas.openxmlformats.org/drawingml/2006/main">
              <a:ext uri="{FF2B5EF4-FFF2-40B4-BE49-F238E27FC236}">
                <a16:creationId xmlns:a16="http://schemas.microsoft.com/office/drawing/2014/main" id="{DE89874D-AC25-4169-8903-B3E7A45A6F4E}"/>
              </a:ext>
            </a:extLst>
          </p:cNvPr>
          <p:cNvSpPr>
            <a:spLocks xmlns:a="http://schemas.openxmlformats.org/drawingml/2006/main" noGrp="1"/>
          </p:cNvSpPr>
          <p:nvPr/>
        </p:nvSpPr>
        <p:spPr>
          <a:xfrm xmlns:a="http://schemas.openxmlformats.org/drawingml/2006/main">
            <a:off x="400050" y="2800350"/>
            <a:ext cx="54768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Convertir les nombres à virgule dans RESULT_NUM.</a:t>
            </a:r>
          </a:p>
        </p:txBody>
      </p:sp>
      <p:sp>
        <p:nvSpPr>
          <p:cNvPr id="8" name="Normaliser identifiants, années et colonnes utilisées.">
            <a:extLst xmlns:a="http://schemas.openxmlformats.org/drawingml/2006/main">
              <a:ext uri="{FF2B5EF4-FFF2-40B4-BE49-F238E27FC236}">
                <a16:creationId xmlns:a16="http://schemas.microsoft.com/office/drawing/2014/main" id="{6327910E-B885-4276-BCDE-8BB671AE6916}"/>
              </a:ext>
            </a:extLst>
          </p:cNvPr>
          <p:cNvSpPr>
            <a:spLocks xmlns:a="http://schemas.openxmlformats.org/drawingml/2006/main" noGrp="1"/>
          </p:cNvSpPr>
          <p:nvPr/>
        </p:nvSpPr>
        <p:spPr>
          <a:xfrm xmlns:a="http://schemas.openxmlformats.org/drawingml/2006/main">
            <a:off x="400050" y="3743325"/>
            <a:ext cx="54768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Normaliser identifiants, années et colonnes utilisées.</a:t>
            </a:r>
          </a:p>
        </p:txBody>
      </p:sp>
      <p:sp>
        <p:nvSpPr>
          <p:cNvPr id="9" name="Écarter le couple de coordonnées nul (0, 0).">
            <a:extLst xmlns:a="http://schemas.openxmlformats.org/drawingml/2006/main">
              <a:ext uri="{FF2B5EF4-FFF2-40B4-BE49-F238E27FC236}">
                <a16:creationId xmlns:a16="http://schemas.microsoft.com/office/drawing/2014/main" id="{D7726D39-7EA7-45E8-9A40-4CCAB66135CE}"/>
              </a:ext>
            </a:extLst>
          </p:cNvPr>
          <p:cNvSpPr>
            <a:spLocks xmlns:a="http://schemas.openxmlformats.org/drawingml/2006/main" noGrp="1"/>
          </p:cNvSpPr>
          <p:nvPr/>
        </p:nvSpPr>
        <p:spPr>
          <a:xfrm xmlns:a="http://schemas.openxmlformats.org/drawingml/2006/main">
            <a:off x="400050" y="4686300"/>
            <a:ext cx="54768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Écarter le couple de coordonnées nul (0, 0).</a:t>
            </a:r>
          </a:p>
        </p:txBody>
      </p:sp>
      <p:sp>
        <p:nvSpPr>
          <p:cNvPr id="10" name="Enrichir">
            <a:extLst xmlns:a="http://schemas.openxmlformats.org/drawingml/2006/main">
              <a:ext uri="{FF2B5EF4-FFF2-40B4-BE49-F238E27FC236}">
                <a16:creationId xmlns:a16="http://schemas.microsoft.com/office/drawing/2014/main" id="{F9F940EE-8313-4D65-8489-1D2D5B9B2361}"/>
              </a:ext>
            </a:extLst>
          </p:cNvPr>
          <p:cNvSpPr>
            <a:spLocks xmlns:a="http://schemas.openxmlformats.org/drawingml/2006/main" noGrp="1"/>
          </p:cNvSpPr>
          <p:nvPr/>
        </p:nvSpPr>
        <p:spPr>
          <a:xfrm xmlns:a="http://schemas.openxmlformats.org/drawingml/2006/main">
            <a:off x="6257925" y="2057400"/>
            <a:ext cx="54768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2400" b="1">
                <a:solidFill>
                  <a:srgbClr val="111111"/>
                </a:solidFill>
              </a:defRPr>
            </a:pPr>
            <a:r>
              <a:rPr sz="2400" b="1">
                <a:solidFill>
                  <a:srgbClr val="111111"/>
                </a:solidFill>
              </a:rPr>
              <a:t>Enrichir</a:t>
            </a:r>
          </a:p>
        </p:txBody>
      </p:sp>
      <p:sp>
        <p:nvSpPr>
          <p:cNvPr id="11" name="Joindre les résultats aux essais par identifiant.">
            <a:extLst xmlns:a="http://schemas.openxmlformats.org/drawingml/2006/main">
              <a:ext uri="{FF2B5EF4-FFF2-40B4-BE49-F238E27FC236}">
                <a16:creationId xmlns:a16="http://schemas.microsoft.com/office/drawing/2014/main" id="{75A48BDC-3E47-4813-83D4-B59AFDB4B2A0}"/>
              </a:ext>
            </a:extLst>
          </p:cNvPr>
          <p:cNvSpPr>
            <a:spLocks xmlns:a="http://schemas.openxmlformats.org/drawingml/2006/main" noGrp="1"/>
          </p:cNvSpPr>
          <p:nvPr/>
        </p:nvSpPr>
        <p:spPr>
          <a:xfrm xmlns:a="http://schemas.openxmlformats.org/drawingml/2006/main">
            <a:off x="6257925" y="2800350"/>
            <a:ext cx="54768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Joindre les résultats aux essais par identifiant.</a:t>
            </a:r>
          </a:p>
        </p:txBody>
      </p:sp>
      <p:sp>
        <p:nvSpPr>
          <p:cNvPr id="12" name="Relier parcelle et matériel par entrée / réplication.">
            <a:extLst xmlns:a="http://schemas.openxmlformats.org/drawingml/2006/main">
              <a:ext uri="{FF2B5EF4-FFF2-40B4-BE49-F238E27FC236}">
                <a16:creationId xmlns:a16="http://schemas.microsoft.com/office/drawing/2014/main" id="{7C2D3659-42EA-4CEB-AFBE-4E513A4AC4A0}"/>
              </a:ext>
            </a:extLst>
          </p:cNvPr>
          <p:cNvSpPr>
            <a:spLocks xmlns:a="http://schemas.openxmlformats.org/drawingml/2006/main" noGrp="1"/>
          </p:cNvSpPr>
          <p:nvPr/>
        </p:nvSpPr>
        <p:spPr>
          <a:xfrm xmlns:a="http://schemas.openxmlformats.org/drawingml/2006/main">
            <a:off x="6257925" y="3743325"/>
            <a:ext cx="54768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Relier parcelle et matériel par entrée / réplication.</a:t>
            </a:r>
          </a:p>
        </p:txBody>
      </p:sp>
      <p:sp>
        <p:nvSpPr>
          <p:cNvPr id="13" name="Pivoter les qualifications puis joindre par essai et année.">
            <a:extLst xmlns:a="http://schemas.openxmlformats.org/drawingml/2006/main">
              <a:ext uri="{FF2B5EF4-FFF2-40B4-BE49-F238E27FC236}">
                <a16:creationId xmlns:a16="http://schemas.microsoft.com/office/drawing/2014/main" id="{8E20CAF9-4374-46B0-B8D5-9E7ACB2DE77D}"/>
              </a:ext>
            </a:extLst>
          </p:cNvPr>
          <p:cNvSpPr>
            <a:spLocks xmlns:a="http://schemas.openxmlformats.org/drawingml/2006/main" noGrp="1"/>
          </p:cNvSpPr>
          <p:nvPr/>
        </p:nvSpPr>
        <p:spPr>
          <a:xfrm xmlns:a="http://schemas.openxmlformats.org/drawingml/2006/main">
            <a:off x="6257925" y="4686300"/>
            <a:ext cx="54768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Pivoter les qualifications puis joindre par essai et année.</a:t>
            </a:r>
          </a:p>
        </p:txBody>
      </p:sp>
    </p:spTree>
    <p:extLst>
      <p:ext uri="{BB962C8B-B14F-4D97-AF65-F5344CB8AC3E}">
        <p14:creationId xmlns:p14="http://schemas.microsoft.com/office/powerpoint/2010/main" val="2014395033"/>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01 · BESOIN MÉTIER">
            <a:extLst xmlns:a="http://schemas.openxmlformats.org/drawingml/2006/main">
              <a:ext uri="{FF2B5EF4-FFF2-40B4-BE49-F238E27FC236}">
                <a16:creationId xmlns:a16="http://schemas.microsoft.com/office/drawing/2014/main" id="{4918FA1E-1CA2-4465-A3FD-8271B64D4ADB}"/>
              </a:ext>
            </a:extLst>
          </p:cNvPr>
          <p:cNvSpPr>
            <a:spLocks xmlns:a="http://schemas.openxmlformats.org/drawingml/2006/main" noGrp="1"/>
          </p:cNvSpPr>
          <p:nvPr/>
        </p:nvSpPr>
        <p:spPr>
          <a:xfrm xmlns:a="http://schemas.openxmlformats.org/drawingml/2006/main">
            <a:off x="400050" y="228600"/>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1">
                <a:solidFill>
                  <a:srgbClr val="525860"/>
                </a:solidFill>
              </a:defRPr>
            </a:pPr>
            <a:r>
              <a:rPr sz="1650" b="1">
                <a:solidFill>
                  <a:srgbClr val="525860"/>
                </a:solidFill>
              </a:rPr>
              <a:t>04 · TRAÇABILITÉ</a:t>
            </a:r>
          </a:p>
        </p:txBody>
      </p:sp>
      <p:sp>
        <p:nvSpPr>
          <p:cNvPr id="2" name="Une chaîne commune pour les essais">
            <a:extLst xmlns:a="http://schemas.openxmlformats.org/drawingml/2006/main">
              <a:ext uri="{FF2B5EF4-FFF2-40B4-BE49-F238E27FC236}">
                <a16:creationId xmlns:a16="http://schemas.microsoft.com/office/drawing/2014/main" id="{582004AA-442D-44BD-A084-3EF72F430642}"/>
              </a:ext>
            </a:extLst>
          </p:cNvPr>
          <p:cNvSpPr>
            <a:spLocks xmlns:a="http://schemas.openxmlformats.org/drawingml/2006/main" noGrp="1"/>
          </p:cNvSpPr>
          <p:nvPr/>
        </p:nvSpPr>
        <p:spPr>
          <a:xfrm xmlns:a="http://schemas.openxmlformats.org/drawingml/2006/main">
            <a:off x="400050" y="742950"/>
            <a:ext cx="113919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3600" b="1">
                <a:solidFill>
                  <a:srgbClr val="111111"/>
                </a:solidFill>
              </a:defRPr>
            </a:pPr>
            <a:r>
              <a:rPr sz="3600" b="1">
                <a:solidFill>
                  <a:srgbClr val="111111"/>
                </a:solidFill>
              </a:rPr>
              <a:t>Suivre un résultat jusqu’à son origine</a:t>
            </a:r>
          </a:p>
        </p:txBody>
      </p:sp>
      <p:sp>
        <p:nvSpPr>
          <p:cNvPr id="3" name="">
            <a:extLst xmlns:a="http://schemas.openxmlformats.org/drawingml/2006/main">
              <a:ext uri="{FF2B5EF4-FFF2-40B4-BE49-F238E27FC236}">
                <a16:creationId xmlns:a16="http://schemas.microsoft.com/office/drawing/2014/main" id="{90D8C472-0880-4E51-801C-ABC68E8D630A}"/>
              </a:ext>
            </a:extLst>
          </p:cNvPr>
          <p:cNvSpPr>
            <a:spLocks xmlns:a="http://schemas.openxmlformats.org/drawingml/2006/main" noGrp="1"/>
          </p:cNvSpPr>
          <p:nvPr/>
        </p:nvSpPr>
        <p:spPr>
          <a:xfrm xmlns:a="http://schemas.openxmlformats.org/drawingml/2006/main">
            <a:off x="400050" y="62293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4" name="SEMENCES R&amp;D · PROJET DE GROUPE">
            <a:extLst xmlns:a="http://schemas.openxmlformats.org/drawingml/2006/main">
              <a:ext uri="{FF2B5EF4-FFF2-40B4-BE49-F238E27FC236}">
                <a16:creationId xmlns:a16="http://schemas.microsoft.com/office/drawing/2014/main" id="{E367BF29-BD6B-4531-BBDA-2BF3824C149A}"/>
              </a:ext>
            </a:extLst>
          </p:cNvPr>
          <p:cNvSpPr>
            <a:spLocks xmlns:a="http://schemas.openxmlformats.org/drawingml/2006/main" noGrp="1"/>
          </p:cNvSpPr>
          <p:nvPr/>
        </p:nvSpPr>
        <p:spPr>
          <a:xfrm xmlns:a="http://schemas.openxmlformats.org/drawingml/2006/main">
            <a:off x="400050" y="641032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0">
                <a:solidFill>
                  <a:srgbClr val="525860"/>
                </a:solidFill>
              </a:defRPr>
            </a:pPr>
            <a:r>
              <a:rPr sz="1650" b="0">
                <a:solidFill>
                  <a:srgbClr val="525860"/>
                </a:solidFill>
              </a:rPr>
              <a:t>SEMENCES R&amp;D · PROJET DE GROUPE</a:t>
            </a:r>
          </a:p>
        </p:txBody>
      </p:sp>
      <p:sp>
        <p:nvSpPr>
          <p:cNvPr id="5" name="02">
            <a:extLst xmlns:a="http://schemas.openxmlformats.org/drawingml/2006/main">
              <a:ext uri="{FF2B5EF4-FFF2-40B4-BE49-F238E27FC236}">
                <a16:creationId xmlns:a16="http://schemas.microsoft.com/office/drawing/2014/main" id="{CE7F22FF-0554-4C2D-842A-A3EF89211E9A}"/>
              </a:ext>
            </a:extLst>
          </p:cNvPr>
          <p:cNvSpPr>
            <a:spLocks xmlns:a="http://schemas.openxmlformats.org/drawingml/2006/main" noGrp="1"/>
          </p:cNvSpPr>
          <p:nvPr/>
        </p:nvSpPr>
        <p:spPr>
          <a:xfrm xmlns:a="http://schemas.openxmlformats.org/drawingml/2006/main">
            <a:off x="11239500" y="64103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0">
                <a:solidFill>
                  <a:srgbClr val="525860"/>
                </a:solidFill>
              </a:defRPr>
            </a:pPr>
            <a:r>
              <a:rPr sz="1650" b="0">
                <a:solidFill>
                  <a:srgbClr val="525860"/>
                </a:solidFill>
              </a:rPr>
              <a:t>13</a:t>
            </a:r>
          </a:p>
        </p:txBody>
      </p:sp>
      <p:sp>
        <p:nvSpPr>
          <p:cNvPr id="6" name="Données dispersées">
            <a:extLst xmlns:a="http://schemas.openxmlformats.org/drawingml/2006/main">
              <a:ext uri="{FF2B5EF4-FFF2-40B4-BE49-F238E27FC236}">
                <a16:creationId xmlns:a16="http://schemas.microsoft.com/office/drawing/2014/main" id="{4EE8312A-2531-461C-8A53-64A72804157D}"/>
              </a:ext>
            </a:extLst>
          </p:cNvPr>
          <p:cNvSpPr>
            <a:spLocks xmlns:a="http://schemas.openxmlformats.org/drawingml/2006/main" noGrp="1"/>
          </p:cNvSpPr>
          <p:nvPr/>
        </p:nvSpPr>
        <p:spPr>
          <a:xfrm xmlns:a="http://schemas.openxmlformats.org/drawingml/2006/main">
            <a:off x="400050" y="2057400"/>
            <a:ext cx="54768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2400" b="1">
                <a:solidFill>
                  <a:srgbClr val="111111"/>
                </a:solidFill>
              </a:defRPr>
            </a:pPr>
            <a:r>
              <a:rPr sz="2400" b="1">
                <a:solidFill>
                  <a:srgbClr val="111111"/>
                </a:solidFill>
              </a:rPr>
              <a:t>Depuis les sources</a:t>
            </a:r>
          </a:p>
        </p:txBody>
      </p:sp>
      <p:sp>
        <p:nvSpPr>
          <p:cNvPr id="7" name="Les essais, résultats, parcelles et matériels sont répartis dans ">
            <a:extLst xmlns:a="http://schemas.openxmlformats.org/drawingml/2006/main">
              <a:ext uri="{FF2B5EF4-FFF2-40B4-BE49-F238E27FC236}">
                <a16:creationId xmlns:a16="http://schemas.microsoft.com/office/drawing/2014/main" id="{0175D916-23F1-4701-A1E0-3D28D8646127}"/>
              </a:ext>
            </a:extLst>
          </p:cNvPr>
          <p:cNvSpPr>
            <a:spLocks xmlns:a="http://schemas.openxmlformats.org/drawingml/2006/main" noGrp="1"/>
          </p:cNvSpPr>
          <p:nvPr/>
        </p:nvSpPr>
        <p:spPr>
          <a:xfrm xmlns:a="http://schemas.openxmlformats.org/drawingml/2006/main">
            <a:off x="400050" y="2800350"/>
            <a:ext cx="54768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Le CSV initial est conservé dans CSV/.</a:t>
            </a:r>
          </a:p>
        </p:txBody>
      </p:sp>
      <p:sp>
        <p:nvSpPr>
          <p:cNvPr id="8" name="Les clés, nombres et métadonnées nécessitent une normalisation.">
            <a:extLst xmlns:a="http://schemas.openxmlformats.org/drawingml/2006/main">
              <a:ext uri="{FF2B5EF4-FFF2-40B4-BE49-F238E27FC236}">
                <a16:creationId xmlns:a16="http://schemas.microsoft.com/office/drawing/2014/main" id="{DD478A21-5F58-4307-B15A-67F7A6D97331}"/>
              </a:ext>
            </a:extLst>
          </p:cNvPr>
          <p:cNvSpPr>
            <a:spLocks xmlns:a="http://schemas.openxmlformats.org/drawingml/2006/main" noGrp="1"/>
          </p:cNvSpPr>
          <p:nvPr/>
        </p:nvSpPr>
        <p:spPr>
          <a:xfrm xmlns:a="http://schemas.openxmlformats.org/drawingml/2006/main">
            <a:off x="400050" y="3743325"/>
            <a:ext cx="54768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L’import produit sa copie Parquet dans data/raw/.</a:t>
            </a:r>
          </a:p>
        </p:txBody>
      </p:sp>
      <p:sp>
        <p:nvSpPr>
          <p:cNvPr id="9" name="La localisation ne couvre qu’une partie des essais.">
            <a:extLst xmlns:a="http://schemas.openxmlformats.org/drawingml/2006/main">
              <a:ext uri="{FF2B5EF4-FFF2-40B4-BE49-F238E27FC236}">
                <a16:creationId xmlns:a16="http://schemas.microsoft.com/office/drawing/2014/main" id="{5DDA381D-EF5C-4100-89EF-DEE50D0906D4}"/>
              </a:ext>
            </a:extLst>
          </p:cNvPr>
          <p:cNvSpPr>
            <a:spLocks xmlns:a="http://schemas.openxmlformats.org/drawingml/2006/main" noGrp="1"/>
          </p:cNvSpPr>
          <p:nvPr/>
        </p:nvSpPr>
        <p:spPr>
          <a:xfrm xmlns:a="http://schemas.openxmlformats.org/drawingml/2006/main">
            <a:off x="400050" y="4686300"/>
            <a:ext cx="54768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L’ETL nettoie les colonnes et enrichit chaque mesure.</a:t>
            </a:r>
          </a:p>
        </p:txBody>
      </p:sp>
      <p:sp>
        <p:nvSpPr>
          <p:cNvPr id="10" name="Usages attendus">
            <a:extLst xmlns:a="http://schemas.openxmlformats.org/drawingml/2006/main">
              <a:ext uri="{FF2B5EF4-FFF2-40B4-BE49-F238E27FC236}">
                <a16:creationId xmlns:a16="http://schemas.microsoft.com/office/drawing/2014/main" id="{57D7E65A-4370-4678-953C-51F3B9C91EF2}"/>
              </a:ext>
            </a:extLst>
          </p:cNvPr>
          <p:cNvSpPr>
            <a:spLocks xmlns:a="http://schemas.openxmlformats.org/drawingml/2006/main" noGrp="1"/>
          </p:cNvSpPr>
          <p:nvPr/>
        </p:nvSpPr>
        <p:spPr>
          <a:xfrm xmlns:a="http://schemas.openxmlformats.org/drawingml/2006/main">
            <a:off x="6257925" y="2057400"/>
            <a:ext cx="54768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2400" b="1">
                <a:solidFill>
                  <a:srgbClr val="111111"/>
                </a:solidFill>
              </a:defRPr>
            </a:pPr>
            <a:r>
              <a:rPr sz="2400" b="1">
                <a:solidFill>
                  <a:srgbClr val="111111"/>
                </a:solidFill>
              </a:rPr>
              <a:t>Jusqu’à la restitution</a:t>
            </a:r>
          </a:p>
        </p:txBody>
      </p:sp>
      <p:sp>
        <p:nvSpPr>
          <p:cNvPr id="11" name="Comparer les catégories, campagnes, régions et matériels.">
            <a:extLst xmlns:a="http://schemas.openxmlformats.org/drawingml/2006/main">
              <a:ext uri="{FF2B5EF4-FFF2-40B4-BE49-F238E27FC236}">
                <a16:creationId xmlns:a16="http://schemas.microsoft.com/office/drawing/2014/main" id="{5885D678-AEF6-4E9C-9863-5D74F0FE259B}"/>
              </a:ext>
            </a:extLst>
          </p:cNvPr>
          <p:cNvSpPr>
            <a:spLocks xmlns:a="http://schemas.openxmlformats.org/drawingml/2006/main" noGrp="1"/>
          </p:cNvSpPr>
          <p:nvPr/>
        </p:nvSpPr>
        <p:spPr>
          <a:xfrm xmlns:a="http://schemas.openxmlformats.org/drawingml/2006/main">
            <a:off x="6257925" y="2800350"/>
            <a:ext cx="54768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La table de faits alimente les agrégats SQL et statistiques.</a:t>
            </a:r>
          </a:p>
        </p:txBody>
      </p:sp>
      <p:sp>
        <p:nvSpPr>
          <p:cNvPr id="12" name="Retrouver un matériel et comprendre la provenance des données.">
            <a:extLst xmlns:a="http://schemas.openxmlformats.org/drawingml/2006/main">
              <a:ext uri="{FF2B5EF4-FFF2-40B4-BE49-F238E27FC236}">
                <a16:creationId xmlns:a16="http://schemas.microsoft.com/office/drawing/2014/main" id="{6E22209C-5045-48BA-B874-3C6FAABDE6EA}"/>
              </a:ext>
            </a:extLst>
          </p:cNvPr>
          <p:cNvSpPr>
            <a:spLocks xmlns:a="http://schemas.openxmlformats.org/drawingml/2006/main" noGrp="1"/>
          </p:cNvSpPr>
          <p:nvPr/>
        </p:nvSpPr>
        <p:spPr>
          <a:xfrm xmlns:a="http://schemas.openxmlformats.org/drawingml/2006/main">
            <a:off x="6257925" y="3743325"/>
            <a:ext cx="54768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Le dashboard charge les CSV de résultats avec JavaScript.</a:t>
            </a:r>
          </a:p>
        </p:txBody>
      </p:sp>
      <p:sp>
        <p:nvSpPr>
          <p:cNvPr id="13" name="Explorer les résultats et évaluer une prédiction de rendement.">
            <a:extLst xmlns:a="http://schemas.openxmlformats.org/drawingml/2006/main">
              <a:ext uri="{FF2B5EF4-FFF2-40B4-BE49-F238E27FC236}">
                <a16:creationId xmlns:a16="http://schemas.microsoft.com/office/drawing/2014/main" id="{7AC94F89-E568-43C3-A5A3-947B2812E344}"/>
              </a:ext>
            </a:extLst>
          </p:cNvPr>
          <p:cNvSpPr>
            <a:spLocks xmlns:a="http://schemas.openxmlformats.org/drawingml/2006/main" noGrp="1"/>
          </p:cNvSpPr>
          <p:nvPr/>
        </p:nvSpPr>
        <p:spPr>
          <a:xfrm xmlns:a="http://schemas.openxmlformats.org/drawingml/2006/main">
            <a:off x="6257925" y="4686300"/>
            <a:ext cx="54768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Le catalogue décrit les fichiers ; les JSON prouvent les étapes exécutées.</a:t>
            </a:r>
          </a:p>
        </p:txBody>
      </p:sp>
    </p:spTree>
    <p:extLst>
      <p:ext uri="{BB962C8B-B14F-4D97-AF65-F5344CB8AC3E}">
        <p14:creationId xmlns:p14="http://schemas.microsoft.com/office/powerpoint/2010/main" val="1433487000"/>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05 · GOUVERNANCE">
            <a:extLst xmlns:a="http://schemas.openxmlformats.org/drawingml/2006/main">
              <a:ext uri="{FF2B5EF4-FFF2-40B4-BE49-F238E27FC236}">
                <a16:creationId xmlns:a16="http://schemas.microsoft.com/office/drawing/2014/main" id="{BA2B76F4-D12F-4D22-829A-FFAE2E89F76B}"/>
              </a:ext>
            </a:extLst>
          </p:cNvPr>
          <p:cNvSpPr>
            <a:spLocks xmlns:a="http://schemas.openxmlformats.org/drawingml/2006/main" noGrp="1"/>
          </p:cNvSpPr>
          <p:nvPr/>
        </p:nvSpPr>
        <p:spPr>
          <a:xfrm xmlns:a="http://schemas.openxmlformats.org/drawingml/2006/main">
            <a:off x="400050" y="228600"/>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1">
                <a:solidFill>
                  <a:srgbClr val="525860"/>
                </a:solidFill>
              </a:defRPr>
            </a:pPr>
            <a:r>
              <a:rPr sz="1650" b="1">
                <a:solidFill>
                  <a:srgbClr val="525860"/>
                </a:solidFill>
              </a:rPr>
              <a:t>05 · GOUVERNANCE</a:t>
            </a:r>
          </a:p>
        </p:txBody>
      </p:sp>
      <p:sp>
        <p:nvSpPr>
          <p:cNvPr id="2" name="La qualité expose les anomalies">
            <a:extLst xmlns:a="http://schemas.openxmlformats.org/drawingml/2006/main">
              <a:ext uri="{FF2B5EF4-FFF2-40B4-BE49-F238E27FC236}">
                <a16:creationId xmlns:a16="http://schemas.microsoft.com/office/drawing/2014/main" id="{88DD8AA3-8C98-4A4D-B677-7AD417E29058}"/>
              </a:ext>
            </a:extLst>
          </p:cNvPr>
          <p:cNvSpPr>
            <a:spLocks xmlns:a="http://schemas.openxmlformats.org/drawingml/2006/main" noGrp="1"/>
          </p:cNvSpPr>
          <p:nvPr/>
        </p:nvSpPr>
        <p:spPr>
          <a:xfrm xmlns:a="http://schemas.openxmlformats.org/drawingml/2006/main">
            <a:off x="400050" y="742950"/>
            <a:ext cx="113919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3600" b="1">
                <a:solidFill>
                  <a:srgbClr val="111111"/>
                </a:solidFill>
              </a:defRPr>
            </a:pPr>
            <a:r>
              <a:rPr sz="3600" b="1">
                <a:solidFill>
                  <a:srgbClr val="111111"/>
                </a:solidFill>
              </a:rPr>
              <a:t>La qualité expose les anomalies</a:t>
            </a:r>
          </a:p>
        </p:txBody>
      </p:sp>
      <p:sp>
        <p:nvSpPr>
          <p:cNvPr id="3" name="">
            <a:extLst xmlns:a="http://schemas.openxmlformats.org/drawingml/2006/main">
              <a:ext uri="{FF2B5EF4-FFF2-40B4-BE49-F238E27FC236}">
                <a16:creationId xmlns:a16="http://schemas.microsoft.com/office/drawing/2014/main" id="{D77441C1-CED2-4491-9E1B-3614700FF8EE}"/>
              </a:ext>
            </a:extLst>
          </p:cNvPr>
          <p:cNvSpPr>
            <a:spLocks xmlns:a="http://schemas.openxmlformats.org/drawingml/2006/main" noGrp="1"/>
          </p:cNvSpPr>
          <p:nvPr/>
        </p:nvSpPr>
        <p:spPr>
          <a:xfrm xmlns:a="http://schemas.openxmlformats.org/drawingml/2006/main">
            <a:off x="400050" y="62293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4" name="SEMENCES R&amp;D · PROJET DE GROUPE">
            <a:extLst xmlns:a="http://schemas.openxmlformats.org/drawingml/2006/main">
              <a:ext uri="{FF2B5EF4-FFF2-40B4-BE49-F238E27FC236}">
                <a16:creationId xmlns:a16="http://schemas.microsoft.com/office/drawing/2014/main" id="{248D1C1B-85D8-41DD-8670-ED12D1213E90}"/>
              </a:ext>
            </a:extLst>
          </p:cNvPr>
          <p:cNvSpPr>
            <a:spLocks xmlns:a="http://schemas.openxmlformats.org/drawingml/2006/main" noGrp="1"/>
          </p:cNvSpPr>
          <p:nvPr/>
        </p:nvSpPr>
        <p:spPr>
          <a:xfrm xmlns:a="http://schemas.openxmlformats.org/drawingml/2006/main">
            <a:off x="400050" y="641032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0">
                <a:solidFill>
                  <a:srgbClr val="525860"/>
                </a:solidFill>
              </a:defRPr>
            </a:pPr>
            <a:r>
              <a:rPr sz="1650" b="0">
                <a:solidFill>
                  <a:srgbClr val="525860"/>
                </a:solidFill>
              </a:rPr>
              <a:t>SEMENCES R&amp;D · PROJET DE GROUPE</a:t>
            </a:r>
          </a:p>
        </p:txBody>
      </p:sp>
      <p:sp>
        <p:nvSpPr>
          <p:cNvPr id="5" name="10">
            <a:extLst xmlns:a="http://schemas.openxmlformats.org/drawingml/2006/main">
              <a:ext uri="{FF2B5EF4-FFF2-40B4-BE49-F238E27FC236}">
                <a16:creationId xmlns:a16="http://schemas.microsoft.com/office/drawing/2014/main" id="{250D617A-6EC1-4B34-9710-1D32288E607C}"/>
              </a:ext>
            </a:extLst>
          </p:cNvPr>
          <p:cNvSpPr>
            <a:spLocks xmlns:a="http://schemas.openxmlformats.org/drawingml/2006/main" noGrp="1"/>
          </p:cNvSpPr>
          <p:nvPr/>
        </p:nvSpPr>
        <p:spPr>
          <a:xfrm xmlns:a="http://schemas.openxmlformats.org/drawingml/2006/main">
            <a:off x="11239500" y="64103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0">
                <a:solidFill>
                  <a:srgbClr val="525860"/>
                </a:solidFill>
              </a:defRPr>
            </a:pPr>
            <a:r>
              <a:rPr sz="1650" b="0">
                <a:solidFill>
                  <a:srgbClr val="525860"/>
                </a:solidFill>
              </a:rPr>
              <a:t>14</a:t>
            </a:r>
          </a:p>
        </p:txBody>
      </p:sp>
      <p:sp>
        <p:nvSpPr>
          <p:cNvPr id="6" name="Contrôle">
            <a:extLst xmlns:a="http://schemas.openxmlformats.org/drawingml/2006/main">
              <a:ext uri="{FF2B5EF4-FFF2-40B4-BE49-F238E27FC236}">
                <a16:creationId xmlns:a16="http://schemas.microsoft.com/office/drawing/2014/main" id="{12BBEFF3-8D83-4ED7-935D-786DE03D7438}"/>
              </a:ext>
            </a:extLst>
          </p:cNvPr>
          <p:cNvSpPr>
            <a:spLocks xmlns:a="http://schemas.openxmlformats.org/drawingml/2006/main" noGrp="1"/>
          </p:cNvSpPr>
          <p:nvPr/>
        </p:nvSpPr>
        <p:spPr>
          <a:xfrm xmlns:a="http://schemas.openxmlformats.org/drawingml/2006/main">
            <a:off x="400050" y="1838325"/>
            <a:ext cx="4019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1">
                <a:solidFill>
                  <a:srgbClr val="111111"/>
                </a:solidFill>
              </a:defRPr>
            </a:pPr>
            <a:r>
              <a:rPr sz="1950" b="1">
                <a:solidFill>
                  <a:srgbClr val="111111"/>
                </a:solidFill>
              </a:rPr>
              <a:t>Contrôle</a:t>
            </a:r>
          </a:p>
        </p:txBody>
      </p:sp>
      <p:sp>
        <p:nvSpPr>
          <p:cNvPr id="7" name="Comportement">
            <a:extLst xmlns:a="http://schemas.openxmlformats.org/drawingml/2006/main">
              <a:ext uri="{FF2B5EF4-FFF2-40B4-BE49-F238E27FC236}">
                <a16:creationId xmlns:a16="http://schemas.microsoft.com/office/drawing/2014/main" id="{A22C0B52-9FCF-452D-8257-6986D42E59BB}"/>
              </a:ext>
            </a:extLst>
          </p:cNvPr>
          <p:cNvSpPr>
            <a:spLocks xmlns:a="http://schemas.openxmlformats.org/drawingml/2006/main" noGrp="1"/>
          </p:cNvSpPr>
          <p:nvPr/>
        </p:nvSpPr>
        <p:spPr>
          <a:xfrm xmlns:a="http://schemas.openxmlformats.org/drawingml/2006/main">
            <a:off x="4591050" y="1838325"/>
            <a:ext cx="7029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1">
                <a:solidFill>
                  <a:srgbClr val="111111"/>
                </a:solidFill>
              </a:defRPr>
            </a:pPr>
            <a:r>
              <a:rPr sz="1950" b="1">
                <a:solidFill>
                  <a:srgbClr val="111111"/>
                </a:solidFill>
              </a:rPr>
              <a:t>Comportement</a:t>
            </a:r>
          </a:p>
        </p:txBody>
      </p:sp>
      <p:sp>
        <p:nvSpPr>
          <p:cNvPr id="8" name="">
            <a:extLst xmlns:a="http://schemas.openxmlformats.org/drawingml/2006/main">
              <a:ext uri="{FF2B5EF4-FFF2-40B4-BE49-F238E27FC236}">
                <a16:creationId xmlns:a16="http://schemas.microsoft.com/office/drawing/2014/main" id="{6A4A888A-0709-4C45-BD74-761487D4DE8A}"/>
              </a:ext>
            </a:extLst>
          </p:cNvPr>
          <p:cNvSpPr>
            <a:spLocks xmlns:a="http://schemas.openxmlformats.org/drawingml/2006/main" noGrp="1"/>
          </p:cNvSpPr>
          <p:nvPr/>
        </p:nvSpPr>
        <p:spPr>
          <a:xfrm xmlns:a="http://schemas.openxmlformats.org/drawingml/2006/main">
            <a:off x="400050" y="23050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9" name="Schéma">
            <a:extLst xmlns:a="http://schemas.openxmlformats.org/drawingml/2006/main">
              <a:ext uri="{FF2B5EF4-FFF2-40B4-BE49-F238E27FC236}">
                <a16:creationId xmlns:a16="http://schemas.microsoft.com/office/drawing/2014/main" id="{4C526CC1-D93D-4C76-8C25-8550EBA2BD0B}"/>
              </a:ext>
            </a:extLst>
          </p:cNvPr>
          <p:cNvSpPr>
            <a:spLocks xmlns:a="http://schemas.openxmlformats.org/drawingml/2006/main" noGrp="1"/>
          </p:cNvSpPr>
          <p:nvPr/>
        </p:nvSpPr>
        <p:spPr>
          <a:xfrm xmlns:a="http://schemas.openxmlformats.org/drawingml/2006/main">
            <a:off x="400050" y="2447925"/>
            <a:ext cx="4000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Schéma</a:t>
            </a:r>
          </a:p>
        </p:txBody>
      </p:sp>
      <p:sp>
        <p:nvSpPr>
          <p:cNvPr id="10" name="Présence des colonnes obligatoires">
            <a:extLst xmlns:a="http://schemas.openxmlformats.org/drawingml/2006/main">
              <a:ext uri="{FF2B5EF4-FFF2-40B4-BE49-F238E27FC236}">
                <a16:creationId xmlns:a16="http://schemas.microsoft.com/office/drawing/2014/main" id="{DD8F86DC-13E9-48E5-8990-425863F6A6C2}"/>
              </a:ext>
            </a:extLst>
          </p:cNvPr>
          <p:cNvSpPr>
            <a:spLocks xmlns:a="http://schemas.openxmlformats.org/drawingml/2006/main" noGrp="1"/>
          </p:cNvSpPr>
          <p:nvPr/>
        </p:nvSpPr>
        <p:spPr>
          <a:xfrm xmlns:a="http://schemas.openxmlformats.org/drawingml/2006/main">
            <a:off x="4591050" y="2447925"/>
            <a:ext cx="701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Présence des colonnes obligatoires</a:t>
            </a:r>
          </a:p>
        </p:txBody>
      </p:sp>
      <p:sp>
        <p:nvSpPr>
          <p:cNvPr id="11" name="">
            <a:extLst xmlns:a="http://schemas.openxmlformats.org/drawingml/2006/main">
              <a:ext uri="{FF2B5EF4-FFF2-40B4-BE49-F238E27FC236}">
                <a16:creationId xmlns:a16="http://schemas.microsoft.com/office/drawing/2014/main" id="{E0396EF7-814F-4FAD-97D7-47852AE77D75}"/>
              </a:ext>
            </a:extLst>
          </p:cNvPr>
          <p:cNvSpPr>
            <a:spLocks xmlns:a="http://schemas.openxmlformats.org/drawingml/2006/main" noGrp="1"/>
          </p:cNvSpPr>
          <p:nvPr/>
        </p:nvSpPr>
        <p:spPr>
          <a:xfrm xmlns:a="http://schemas.openxmlformats.org/drawingml/2006/main">
            <a:off x="400050" y="31051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12" name="Complétude et valeurs">
            <a:extLst xmlns:a="http://schemas.openxmlformats.org/drawingml/2006/main">
              <a:ext uri="{FF2B5EF4-FFF2-40B4-BE49-F238E27FC236}">
                <a16:creationId xmlns:a16="http://schemas.microsoft.com/office/drawing/2014/main" id="{5BB18D91-3BDB-4BC5-A367-9B28F1F82457}"/>
              </a:ext>
            </a:extLst>
          </p:cNvPr>
          <p:cNvSpPr>
            <a:spLocks xmlns:a="http://schemas.openxmlformats.org/drawingml/2006/main" noGrp="1"/>
          </p:cNvSpPr>
          <p:nvPr/>
        </p:nvSpPr>
        <p:spPr>
          <a:xfrm xmlns:a="http://schemas.openxmlformats.org/drawingml/2006/main">
            <a:off x="400050" y="3171825"/>
            <a:ext cx="4000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Complétude et valeurs</a:t>
            </a:r>
          </a:p>
        </p:txBody>
      </p:sp>
      <p:sp>
        <p:nvSpPr>
          <p:cNvPr id="13" name="Nullité, bornes de rendement et années">
            <a:extLst xmlns:a="http://schemas.openxmlformats.org/drawingml/2006/main">
              <a:ext uri="{FF2B5EF4-FFF2-40B4-BE49-F238E27FC236}">
                <a16:creationId xmlns:a16="http://schemas.microsoft.com/office/drawing/2014/main" id="{488EF1E6-6939-4DB7-AF68-5006ACA83DF4}"/>
              </a:ext>
            </a:extLst>
          </p:cNvPr>
          <p:cNvSpPr>
            <a:spLocks xmlns:a="http://schemas.openxmlformats.org/drawingml/2006/main" noGrp="1"/>
          </p:cNvSpPr>
          <p:nvPr/>
        </p:nvSpPr>
        <p:spPr>
          <a:xfrm xmlns:a="http://schemas.openxmlformats.org/drawingml/2006/main">
            <a:off x="4591050" y="3171825"/>
            <a:ext cx="701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Nullité, bornes de rendement et années</a:t>
            </a:r>
          </a:p>
        </p:txBody>
      </p:sp>
      <p:sp>
        <p:nvSpPr>
          <p:cNvPr id="14" name="">
            <a:extLst xmlns:a="http://schemas.openxmlformats.org/drawingml/2006/main">
              <a:ext uri="{FF2B5EF4-FFF2-40B4-BE49-F238E27FC236}">
                <a16:creationId xmlns:a16="http://schemas.microsoft.com/office/drawing/2014/main" id="{9565B91F-A970-4A36-8B54-A42553F46C57}"/>
              </a:ext>
            </a:extLst>
          </p:cNvPr>
          <p:cNvSpPr>
            <a:spLocks xmlns:a="http://schemas.openxmlformats.org/drawingml/2006/main" noGrp="1"/>
          </p:cNvSpPr>
          <p:nvPr/>
        </p:nvSpPr>
        <p:spPr>
          <a:xfrm xmlns:a="http://schemas.openxmlformats.org/drawingml/2006/main">
            <a:off x="400050" y="38290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15" name="Clés dupliquées">
            <a:extLst xmlns:a="http://schemas.openxmlformats.org/drawingml/2006/main">
              <a:ext uri="{FF2B5EF4-FFF2-40B4-BE49-F238E27FC236}">
                <a16:creationId xmlns:a16="http://schemas.microsoft.com/office/drawing/2014/main" id="{B3230046-4507-4B4E-8992-567DFAACD3BC}"/>
              </a:ext>
            </a:extLst>
          </p:cNvPr>
          <p:cNvSpPr>
            <a:spLocks xmlns:a="http://schemas.openxmlformats.org/drawingml/2006/main" noGrp="1"/>
          </p:cNvSpPr>
          <p:nvPr/>
        </p:nvSpPr>
        <p:spPr>
          <a:xfrm xmlns:a="http://schemas.openxmlformats.org/drawingml/2006/main">
            <a:off x="400050" y="3895725"/>
            <a:ext cx="4000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Clés dupliquées</a:t>
            </a:r>
          </a:p>
        </p:txBody>
      </p:sp>
      <p:sp>
        <p:nvSpPr>
          <p:cNvPr id="16" name="34 lignes concernées sur le lot fourni">
            <a:extLst xmlns:a="http://schemas.openxmlformats.org/drawingml/2006/main">
              <a:ext uri="{FF2B5EF4-FFF2-40B4-BE49-F238E27FC236}">
                <a16:creationId xmlns:a16="http://schemas.microsoft.com/office/drawing/2014/main" id="{9B13FB3A-7C93-406C-8B27-FB5641D3E248}"/>
              </a:ext>
            </a:extLst>
          </p:cNvPr>
          <p:cNvSpPr>
            <a:spLocks xmlns:a="http://schemas.openxmlformats.org/drawingml/2006/main" noGrp="1"/>
          </p:cNvSpPr>
          <p:nvPr/>
        </p:nvSpPr>
        <p:spPr>
          <a:xfrm xmlns:a="http://schemas.openxmlformats.org/drawingml/2006/main">
            <a:off x="4591050" y="3895725"/>
            <a:ext cx="701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34 lignes concernées sur le lot fourni</a:t>
            </a:r>
          </a:p>
        </p:txBody>
      </p:sp>
      <p:sp>
        <p:nvSpPr>
          <p:cNvPr id="17" name="">
            <a:extLst xmlns:a="http://schemas.openxmlformats.org/drawingml/2006/main">
              <a:ext uri="{FF2B5EF4-FFF2-40B4-BE49-F238E27FC236}">
                <a16:creationId xmlns:a16="http://schemas.microsoft.com/office/drawing/2014/main" id="{90A3DC67-6B03-4055-A964-CB00DE5175EF}"/>
              </a:ext>
            </a:extLst>
          </p:cNvPr>
          <p:cNvSpPr>
            <a:spLocks xmlns:a="http://schemas.openxmlformats.org/drawingml/2006/main" noGrp="1"/>
          </p:cNvSpPr>
          <p:nvPr/>
        </p:nvSpPr>
        <p:spPr>
          <a:xfrm xmlns:a="http://schemas.openxmlformats.org/drawingml/2006/main">
            <a:off x="400050" y="45529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18" name="Quarantaine">
            <a:extLst xmlns:a="http://schemas.openxmlformats.org/drawingml/2006/main">
              <a:ext uri="{FF2B5EF4-FFF2-40B4-BE49-F238E27FC236}">
                <a16:creationId xmlns:a16="http://schemas.microsoft.com/office/drawing/2014/main" id="{F569B73E-53AD-4B70-9E49-12E6AA05FD39}"/>
              </a:ext>
            </a:extLst>
          </p:cNvPr>
          <p:cNvSpPr>
            <a:spLocks xmlns:a="http://schemas.openxmlformats.org/drawingml/2006/main" noGrp="1"/>
          </p:cNvSpPr>
          <p:nvPr/>
        </p:nvSpPr>
        <p:spPr>
          <a:xfrm xmlns:a="http://schemas.openxmlformats.org/drawingml/2006/main">
            <a:off x="400050" y="4619625"/>
            <a:ext cx="4000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Quarantaine</a:t>
            </a:r>
          </a:p>
        </p:txBody>
      </p:sp>
      <p:sp>
        <p:nvSpPr>
          <p:cNvPr id="19" name="32 lignes copiées avec motif">
            <a:extLst xmlns:a="http://schemas.openxmlformats.org/drawingml/2006/main">
              <a:ext uri="{FF2B5EF4-FFF2-40B4-BE49-F238E27FC236}">
                <a16:creationId xmlns:a16="http://schemas.microsoft.com/office/drawing/2014/main" id="{F260AFDB-BB36-427B-B692-AD67D6DA36C0}"/>
              </a:ext>
            </a:extLst>
          </p:cNvPr>
          <p:cNvSpPr>
            <a:spLocks xmlns:a="http://schemas.openxmlformats.org/drawingml/2006/main" noGrp="1"/>
          </p:cNvSpPr>
          <p:nvPr/>
        </p:nvSpPr>
        <p:spPr>
          <a:xfrm xmlns:a="http://schemas.openxmlformats.org/drawingml/2006/main">
            <a:off x="4591050" y="4619625"/>
            <a:ext cx="701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32 lignes copiées avec motif</a:t>
            </a:r>
          </a:p>
        </p:txBody>
      </p:sp>
      <p:sp>
        <p:nvSpPr>
          <p:cNvPr id="20" name="">
            <a:extLst xmlns:a="http://schemas.openxmlformats.org/drawingml/2006/main">
              <a:ext uri="{FF2B5EF4-FFF2-40B4-BE49-F238E27FC236}">
                <a16:creationId xmlns:a16="http://schemas.microsoft.com/office/drawing/2014/main" id="{49D344C5-07E2-48A3-BFB9-F9D334549A41}"/>
              </a:ext>
            </a:extLst>
          </p:cNvPr>
          <p:cNvSpPr>
            <a:spLocks xmlns:a="http://schemas.openxmlformats.org/drawingml/2006/main" noGrp="1"/>
          </p:cNvSpPr>
          <p:nvPr/>
        </p:nvSpPr>
        <p:spPr>
          <a:xfrm xmlns:a="http://schemas.openxmlformats.org/drawingml/2006/main">
            <a:off x="400050" y="52768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21" name="Portée du statut OK">
            <a:extLst xmlns:a="http://schemas.openxmlformats.org/drawingml/2006/main">
              <a:ext uri="{FF2B5EF4-FFF2-40B4-BE49-F238E27FC236}">
                <a16:creationId xmlns:a16="http://schemas.microsoft.com/office/drawing/2014/main" id="{7F27ED0D-E629-4DD2-BF65-E597E08605FE}"/>
              </a:ext>
            </a:extLst>
          </p:cNvPr>
          <p:cNvSpPr>
            <a:spLocks xmlns:a="http://schemas.openxmlformats.org/drawingml/2006/main" noGrp="1"/>
          </p:cNvSpPr>
          <p:nvPr/>
        </p:nvSpPr>
        <p:spPr>
          <a:xfrm xmlns:a="http://schemas.openxmlformats.org/drawingml/2006/main">
            <a:off x="400050" y="5343525"/>
            <a:ext cx="4000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Portée du statut OK</a:t>
            </a:r>
          </a:p>
        </p:txBody>
      </p:sp>
      <p:sp>
        <p:nvSpPr>
          <p:cNvPr id="22" name="Contrôles exécutés, pas absence d’anomalies">
            <a:extLst xmlns:a="http://schemas.openxmlformats.org/drawingml/2006/main">
              <a:ext uri="{FF2B5EF4-FFF2-40B4-BE49-F238E27FC236}">
                <a16:creationId xmlns:a16="http://schemas.microsoft.com/office/drawing/2014/main" id="{3D1A84CD-6E07-4A08-8557-97A9A9A3AC5B}"/>
              </a:ext>
            </a:extLst>
          </p:cNvPr>
          <p:cNvSpPr>
            <a:spLocks xmlns:a="http://schemas.openxmlformats.org/drawingml/2006/main" noGrp="1"/>
          </p:cNvSpPr>
          <p:nvPr/>
        </p:nvSpPr>
        <p:spPr>
          <a:xfrm xmlns:a="http://schemas.openxmlformats.org/drawingml/2006/main">
            <a:off x="4591050" y="5343525"/>
            <a:ext cx="701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Contrôles exécutés, pas absence d’anomalies</a:t>
            </a:r>
          </a:p>
        </p:txBody>
      </p:sp>
    </p:spTree>
    <p:extLst>
      <p:ext uri="{BB962C8B-B14F-4D97-AF65-F5344CB8AC3E}">
        <p14:creationId xmlns:p14="http://schemas.microsoft.com/office/powerpoint/2010/main" val="408948474"/>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05 · GOUVERNANCE">
            <a:extLst xmlns:a="http://schemas.openxmlformats.org/drawingml/2006/main">
              <a:ext uri="{FF2B5EF4-FFF2-40B4-BE49-F238E27FC236}">
                <a16:creationId xmlns:a16="http://schemas.microsoft.com/office/drawing/2014/main" id="{A3EB4498-8468-4913-A08D-224A02C17901}"/>
              </a:ext>
            </a:extLst>
          </p:cNvPr>
          <p:cNvSpPr>
            <a:spLocks xmlns:a="http://schemas.openxmlformats.org/drawingml/2006/main" noGrp="1"/>
          </p:cNvSpPr>
          <p:nvPr/>
        </p:nvSpPr>
        <p:spPr>
          <a:xfrm xmlns:a="http://schemas.openxmlformats.org/drawingml/2006/main">
            <a:off x="400050" y="228600"/>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1">
                <a:solidFill>
                  <a:srgbClr val="525860"/>
                </a:solidFill>
              </a:defRPr>
            </a:pPr>
            <a:r>
              <a:rPr sz="1650" b="1">
                <a:solidFill>
                  <a:srgbClr val="525860"/>
                </a:solidFill>
              </a:rPr>
              <a:t>05 · GOUVERNANCE</a:t>
            </a:r>
          </a:p>
        </p:txBody>
      </p:sp>
      <p:sp>
        <p:nvSpPr>
          <p:cNvPr id="2" name="Le catalogue rend les données trouvables">
            <a:extLst xmlns:a="http://schemas.openxmlformats.org/drawingml/2006/main">
              <a:ext uri="{FF2B5EF4-FFF2-40B4-BE49-F238E27FC236}">
                <a16:creationId xmlns:a16="http://schemas.microsoft.com/office/drawing/2014/main" id="{762763A2-98B7-4B10-9716-83DA8E946FED}"/>
              </a:ext>
            </a:extLst>
          </p:cNvPr>
          <p:cNvSpPr>
            <a:spLocks xmlns:a="http://schemas.openxmlformats.org/drawingml/2006/main" noGrp="1"/>
          </p:cNvSpPr>
          <p:nvPr/>
        </p:nvSpPr>
        <p:spPr>
          <a:xfrm xmlns:a="http://schemas.openxmlformats.org/drawingml/2006/main">
            <a:off x="400050" y="742950"/>
            <a:ext cx="113919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3600" b="1">
                <a:solidFill>
                  <a:srgbClr val="111111"/>
                </a:solidFill>
              </a:defRPr>
            </a:pPr>
            <a:r>
              <a:rPr sz="3600" b="1">
                <a:solidFill>
                  <a:srgbClr val="111111"/>
                </a:solidFill>
              </a:rPr>
              <a:t>Le catalogue rend les données trouvables</a:t>
            </a:r>
          </a:p>
        </p:txBody>
      </p:sp>
      <p:sp>
        <p:nvSpPr>
          <p:cNvPr id="3" name="">
            <a:extLst xmlns:a="http://schemas.openxmlformats.org/drawingml/2006/main">
              <a:ext uri="{FF2B5EF4-FFF2-40B4-BE49-F238E27FC236}">
                <a16:creationId xmlns:a16="http://schemas.microsoft.com/office/drawing/2014/main" id="{492AEC08-8F99-4BCF-A6A0-60F65072A860}"/>
              </a:ext>
            </a:extLst>
          </p:cNvPr>
          <p:cNvSpPr>
            <a:spLocks xmlns:a="http://schemas.openxmlformats.org/drawingml/2006/main" noGrp="1"/>
          </p:cNvSpPr>
          <p:nvPr/>
        </p:nvSpPr>
        <p:spPr>
          <a:xfrm xmlns:a="http://schemas.openxmlformats.org/drawingml/2006/main">
            <a:off x="400050" y="62293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4" name="SEMENCES R&amp;D · PROJET DE GROUPE">
            <a:extLst xmlns:a="http://schemas.openxmlformats.org/drawingml/2006/main">
              <a:ext uri="{FF2B5EF4-FFF2-40B4-BE49-F238E27FC236}">
                <a16:creationId xmlns:a16="http://schemas.microsoft.com/office/drawing/2014/main" id="{CD373DE2-FA85-402A-B4C8-43DDA3FF571A}"/>
              </a:ext>
            </a:extLst>
          </p:cNvPr>
          <p:cNvSpPr>
            <a:spLocks xmlns:a="http://schemas.openxmlformats.org/drawingml/2006/main" noGrp="1"/>
          </p:cNvSpPr>
          <p:nvPr/>
        </p:nvSpPr>
        <p:spPr>
          <a:xfrm xmlns:a="http://schemas.openxmlformats.org/drawingml/2006/main">
            <a:off x="400050" y="641032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0">
                <a:solidFill>
                  <a:srgbClr val="525860"/>
                </a:solidFill>
              </a:defRPr>
            </a:pPr>
            <a:r>
              <a:rPr sz="1650" b="0">
                <a:solidFill>
                  <a:srgbClr val="525860"/>
                </a:solidFill>
              </a:rPr>
              <a:t>SEMENCES R&amp;D · PROJET DE GROUPE</a:t>
            </a:r>
          </a:p>
        </p:txBody>
      </p:sp>
      <p:sp>
        <p:nvSpPr>
          <p:cNvPr id="5" name="11">
            <a:extLst xmlns:a="http://schemas.openxmlformats.org/drawingml/2006/main">
              <a:ext uri="{FF2B5EF4-FFF2-40B4-BE49-F238E27FC236}">
                <a16:creationId xmlns:a16="http://schemas.microsoft.com/office/drawing/2014/main" id="{438E5235-3C0B-4DD5-B321-7D79CCBCAE77}"/>
              </a:ext>
            </a:extLst>
          </p:cNvPr>
          <p:cNvSpPr>
            <a:spLocks xmlns:a="http://schemas.openxmlformats.org/drawingml/2006/main" noGrp="1"/>
          </p:cNvSpPr>
          <p:nvPr/>
        </p:nvSpPr>
        <p:spPr>
          <a:xfrm xmlns:a="http://schemas.openxmlformats.org/drawingml/2006/main">
            <a:off x="11239500" y="64103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0">
                <a:solidFill>
                  <a:srgbClr val="525860"/>
                </a:solidFill>
              </a:defRPr>
            </a:pPr>
            <a:r>
              <a:rPr sz="1650" b="0">
                <a:solidFill>
                  <a:srgbClr val="525860"/>
                </a:solidFill>
              </a:rPr>
              <a:t>15</a:t>
            </a:r>
          </a:p>
        </p:txBody>
      </p:sp>
      <p:sp>
        <p:nvSpPr>
          <p:cNvPr id="6" name="Métadonnées">
            <a:extLst xmlns:a="http://schemas.openxmlformats.org/drawingml/2006/main">
              <a:ext uri="{FF2B5EF4-FFF2-40B4-BE49-F238E27FC236}">
                <a16:creationId xmlns:a16="http://schemas.microsoft.com/office/drawing/2014/main" id="{C2679F43-4522-427F-9C87-5B298AA728D7}"/>
              </a:ext>
            </a:extLst>
          </p:cNvPr>
          <p:cNvSpPr>
            <a:spLocks xmlns:a="http://schemas.openxmlformats.org/drawingml/2006/main" noGrp="1"/>
          </p:cNvSpPr>
          <p:nvPr/>
        </p:nvSpPr>
        <p:spPr>
          <a:xfrm xmlns:a="http://schemas.openxmlformats.org/drawingml/2006/main">
            <a:off x="400050" y="2057400"/>
            <a:ext cx="54768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2400" b="1">
                <a:solidFill>
                  <a:srgbClr val="111111"/>
                </a:solidFill>
              </a:defRPr>
            </a:pPr>
            <a:r>
              <a:rPr sz="2400" b="1">
                <a:solidFill>
                  <a:srgbClr val="111111"/>
                </a:solidFill>
              </a:rPr>
              <a:t>Métadonnées</a:t>
            </a:r>
          </a:p>
        </p:txBody>
      </p:sp>
      <p:sp>
        <p:nvSpPr>
          <p:cNvPr id="7" name="datasets : chemin, zone, format et volumes.">
            <a:extLst xmlns:a="http://schemas.openxmlformats.org/drawingml/2006/main">
              <a:ext uri="{FF2B5EF4-FFF2-40B4-BE49-F238E27FC236}">
                <a16:creationId xmlns:a16="http://schemas.microsoft.com/office/drawing/2014/main" id="{9A7FF4CD-22DC-4F7C-A0AD-B08BE57AAB3A}"/>
              </a:ext>
            </a:extLst>
          </p:cNvPr>
          <p:cNvSpPr>
            <a:spLocks xmlns:a="http://schemas.openxmlformats.org/drawingml/2006/main" noGrp="1"/>
          </p:cNvSpPr>
          <p:nvPr/>
        </p:nvSpPr>
        <p:spPr>
          <a:xfrm xmlns:a="http://schemas.openxmlformats.org/drawingml/2006/main">
            <a:off x="400050" y="2800350"/>
            <a:ext cx="54768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datasets : chemin, zone, format et volumes.</a:t>
            </a:r>
          </a:p>
        </p:txBody>
      </p:sp>
      <p:sp>
        <p:nvSpPr>
          <p:cNvPr id="8" name="columns_catalog : types, nullité et cardinalité.">
            <a:extLst xmlns:a="http://schemas.openxmlformats.org/drawingml/2006/main">
              <a:ext uri="{FF2B5EF4-FFF2-40B4-BE49-F238E27FC236}">
                <a16:creationId xmlns:a16="http://schemas.microsoft.com/office/drawing/2014/main" id="{149CE976-B858-4DD7-8919-C5384DEB5389}"/>
              </a:ext>
            </a:extLst>
          </p:cNvPr>
          <p:cNvSpPr>
            <a:spLocks xmlns:a="http://schemas.openxmlformats.org/drawingml/2006/main" noGrp="1"/>
          </p:cNvSpPr>
          <p:nvPr/>
        </p:nvSpPr>
        <p:spPr>
          <a:xfrm xmlns:a="http://schemas.openxmlformats.org/drawingml/2006/main">
            <a:off x="400050" y="3743325"/>
            <a:ext cx="54768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columns_catalog : types, nullité et cardinalité.</a:t>
            </a:r>
          </a:p>
        </p:txBody>
      </p:sp>
      <p:sp>
        <p:nvSpPr>
          <p:cNvPr id="9" name="lineage : relations déclarées entre étapes.">
            <a:extLst xmlns:a="http://schemas.openxmlformats.org/drawingml/2006/main">
              <a:ext uri="{FF2B5EF4-FFF2-40B4-BE49-F238E27FC236}">
                <a16:creationId xmlns:a16="http://schemas.microsoft.com/office/drawing/2014/main" id="{DD48414A-5178-4C22-8C57-53A96632D6DF}"/>
              </a:ext>
            </a:extLst>
          </p:cNvPr>
          <p:cNvSpPr>
            <a:spLocks xmlns:a="http://schemas.openxmlformats.org/drawingml/2006/main" noGrp="1"/>
          </p:cNvSpPr>
          <p:nvPr/>
        </p:nvSpPr>
        <p:spPr>
          <a:xfrm xmlns:a="http://schemas.openxmlformats.org/drawingml/2006/main">
            <a:off x="400050" y="4686300"/>
            <a:ext cx="54768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lineage : relations déclarées entre étapes.</a:t>
            </a:r>
          </a:p>
        </p:txBody>
      </p:sp>
      <p:sp>
        <p:nvSpPr>
          <p:cNvPr id="10" name="Recherche">
            <a:extLst xmlns:a="http://schemas.openxmlformats.org/drawingml/2006/main">
              <a:ext uri="{FF2B5EF4-FFF2-40B4-BE49-F238E27FC236}">
                <a16:creationId xmlns:a16="http://schemas.microsoft.com/office/drawing/2014/main" id="{DA9EF3A7-4108-4977-8FFD-39537E1E2D40}"/>
              </a:ext>
            </a:extLst>
          </p:cNvPr>
          <p:cNvSpPr>
            <a:spLocks xmlns:a="http://schemas.openxmlformats.org/drawingml/2006/main" noGrp="1"/>
          </p:cNvSpPr>
          <p:nvPr/>
        </p:nvSpPr>
        <p:spPr>
          <a:xfrm xmlns:a="http://schemas.openxmlformats.org/drawingml/2006/main">
            <a:off x="6257925" y="2057400"/>
            <a:ext cx="54768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2400" b="1">
                <a:solidFill>
                  <a:srgbClr val="111111"/>
                </a:solidFill>
              </a:defRPr>
            </a:pPr>
            <a:r>
              <a:rPr sz="2400" b="1">
                <a:solidFill>
                  <a:srgbClr val="111111"/>
                </a:solidFill>
              </a:rPr>
              <a:t>Recherche</a:t>
            </a:r>
          </a:p>
        </p:txBody>
      </p:sp>
      <p:sp>
        <p:nvSpPr>
          <p:cNvPr id="11" name="FTS5 indexe les datasets et les matériels.">
            <a:extLst xmlns:a="http://schemas.openxmlformats.org/drawingml/2006/main">
              <a:ext uri="{FF2B5EF4-FFF2-40B4-BE49-F238E27FC236}">
                <a16:creationId xmlns:a16="http://schemas.microsoft.com/office/drawing/2014/main" id="{94D121A1-F481-4B83-B6B2-63B8DFE922EA}"/>
              </a:ext>
            </a:extLst>
          </p:cNvPr>
          <p:cNvSpPr>
            <a:spLocks xmlns:a="http://schemas.openxmlformats.org/drawingml/2006/main" noGrp="1"/>
          </p:cNvSpPr>
          <p:nvPr/>
        </p:nvSpPr>
        <p:spPr>
          <a:xfrm xmlns:a="http://schemas.openxmlformats.org/drawingml/2006/main">
            <a:off x="6257925" y="2800350"/>
            <a:ext cx="54768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FTS5 indexe les datasets et les matériels.</a:t>
            </a:r>
          </a:p>
        </p:txBody>
      </p:sp>
      <p:sp>
        <p:nvSpPr>
          <p:cNvPr id="12" name="Une recherche renvoie au plus 25 résultats via l’API.">
            <a:extLst xmlns:a="http://schemas.openxmlformats.org/drawingml/2006/main">
              <a:ext uri="{FF2B5EF4-FFF2-40B4-BE49-F238E27FC236}">
                <a16:creationId xmlns:a16="http://schemas.microsoft.com/office/drawing/2014/main" id="{6A1EC618-B3D8-411F-9736-0B174C97BD9C}"/>
              </a:ext>
            </a:extLst>
          </p:cNvPr>
          <p:cNvSpPr>
            <a:spLocks xmlns:a="http://schemas.openxmlformats.org/drawingml/2006/main" noGrp="1"/>
          </p:cNvSpPr>
          <p:nvPr/>
        </p:nvSpPr>
        <p:spPr>
          <a:xfrm xmlns:a="http://schemas.openxmlformats.org/drawingml/2006/main">
            <a:off x="6257925" y="3743325"/>
            <a:ext cx="54768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Une recherche renvoie au plus 25 résultats via l’API.</a:t>
            </a:r>
          </a:p>
        </p:txBody>
      </p:sp>
      <p:sp>
        <p:nvSpPr>
          <p:cNvPr id="13" name="Le catalogue est reconstruit à partir des fichiers locaux.">
            <a:extLst xmlns:a="http://schemas.openxmlformats.org/drawingml/2006/main">
              <a:ext uri="{FF2B5EF4-FFF2-40B4-BE49-F238E27FC236}">
                <a16:creationId xmlns:a16="http://schemas.microsoft.com/office/drawing/2014/main" id="{04EBA1D9-BA6E-4A0D-A077-FCAF66B1D523}"/>
              </a:ext>
            </a:extLst>
          </p:cNvPr>
          <p:cNvSpPr>
            <a:spLocks xmlns:a="http://schemas.openxmlformats.org/drawingml/2006/main" noGrp="1"/>
          </p:cNvSpPr>
          <p:nvPr/>
        </p:nvSpPr>
        <p:spPr>
          <a:xfrm xmlns:a="http://schemas.openxmlformats.org/drawingml/2006/main">
            <a:off x="6257925" y="4686300"/>
            <a:ext cx="54768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Le catalogue est reconstruit à partir des fichiers locaux.</a:t>
            </a:r>
          </a:p>
        </p:txBody>
      </p:sp>
    </p:spTree>
    <p:extLst>
      <p:ext uri="{BB962C8B-B14F-4D97-AF65-F5344CB8AC3E}">
        <p14:creationId xmlns:p14="http://schemas.microsoft.com/office/powerpoint/2010/main" val="1148244295"/>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06 · STOCKAGE">
            <a:extLst xmlns:a="http://schemas.openxmlformats.org/drawingml/2006/main">
              <a:ext uri="{FF2B5EF4-FFF2-40B4-BE49-F238E27FC236}">
                <a16:creationId xmlns:a16="http://schemas.microsoft.com/office/drawing/2014/main" id="{78BCB16F-51BB-470B-879A-8E2877465612}"/>
              </a:ext>
            </a:extLst>
          </p:cNvPr>
          <p:cNvSpPr>
            <a:spLocks xmlns:a="http://schemas.openxmlformats.org/drawingml/2006/main" noGrp="1"/>
          </p:cNvSpPr>
          <p:nvPr/>
        </p:nvSpPr>
        <p:spPr>
          <a:xfrm xmlns:a="http://schemas.openxmlformats.org/drawingml/2006/main">
            <a:off x="400050" y="228600"/>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1">
                <a:solidFill>
                  <a:srgbClr val="525860"/>
                </a:solidFill>
              </a:defRPr>
            </a:pPr>
            <a:r>
              <a:rPr sz="1650" b="1">
                <a:solidFill>
                  <a:srgbClr val="525860"/>
                </a:solidFill>
              </a:rPr>
              <a:t>06 · STOCKAGE</a:t>
            </a:r>
          </a:p>
        </p:txBody>
      </p:sp>
      <p:sp>
        <p:nvSpPr>
          <p:cNvPr id="2" name="Deux usages de stockage complémentaires">
            <a:extLst xmlns:a="http://schemas.openxmlformats.org/drawingml/2006/main">
              <a:ext uri="{FF2B5EF4-FFF2-40B4-BE49-F238E27FC236}">
                <a16:creationId xmlns:a16="http://schemas.microsoft.com/office/drawing/2014/main" id="{F6AA60AD-6CB0-428F-A501-9CA1566BE74C}"/>
              </a:ext>
            </a:extLst>
          </p:cNvPr>
          <p:cNvSpPr>
            <a:spLocks xmlns:a="http://schemas.openxmlformats.org/drawingml/2006/main" noGrp="1"/>
          </p:cNvSpPr>
          <p:nvPr/>
        </p:nvSpPr>
        <p:spPr>
          <a:xfrm xmlns:a="http://schemas.openxmlformats.org/drawingml/2006/main">
            <a:off x="400050" y="742950"/>
            <a:ext cx="113919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3600" b="1">
                <a:solidFill>
                  <a:srgbClr val="111111"/>
                </a:solidFill>
              </a:defRPr>
            </a:pPr>
            <a:r>
              <a:rPr sz="3600" b="1">
                <a:solidFill>
                  <a:srgbClr val="111111"/>
                </a:solidFill>
              </a:rPr>
              <a:t>Deux usages de stockage complémentaires</a:t>
            </a:r>
          </a:p>
        </p:txBody>
      </p:sp>
      <p:sp>
        <p:nvSpPr>
          <p:cNvPr id="3" name="">
            <a:extLst xmlns:a="http://schemas.openxmlformats.org/drawingml/2006/main">
              <a:ext uri="{FF2B5EF4-FFF2-40B4-BE49-F238E27FC236}">
                <a16:creationId xmlns:a16="http://schemas.microsoft.com/office/drawing/2014/main" id="{BBE00937-E883-47F1-B452-4D66B56E4BB6}"/>
              </a:ext>
            </a:extLst>
          </p:cNvPr>
          <p:cNvSpPr>
            <a:spLocks xmlns:a="http://schemas.openxmlformats.org/drawingml/2006/main" noGrp="1"/>
          </p:cNvSpPr>
          <p:nvPr/>
        </p:nvSpPr>
        <p:spPr>
          <a:xfrm xmlns:a="http://schemas.openxmlformats.org/drawingml/2006/main">
            <a:off x="400050" y="62293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4" name="SEMENCES R&amp;D · PROJET DE GROUPE">
            <a:extLst xmlns:a="http://schemas.openxmlformats.org/drawingml/2006/main">
              <a:ext uri="{FF2B5EF4-FFF2-40B4-BE49-F238E27FC236}">
                <a16:creationId xmlns:a16="http://schemas.microsoft.com/office/drawing/2014/main" id="{AEA32BBE-D8B1-4DF0-AA0F-CD692C302324}"/>
              </a:ext>
            </a:extLst>
          </p:cNvPr>
          <p:cNvSpPr>
            <a:spLocks xmlns:a="http://schemas.openxmlformats.org/drawingml/2006/main" noGrp="1"/>
          </p:cNvSpPr>
          <p:nvPr/>
        </p:nvSpPr>
        <p:spPr>
          <a:xfrm xmlns:a="http://schemas.openxmlformats.org/drawingml/2006/main">
            <a:off x="400050" y="641032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0">
                <a:solidFill>
                  <a:srgbClr val="525860"/>
                </a:solidFill>
              </a:defRPr>
            </a:pPr>
            <a:r>
              <a:rPr sz="1650" b="0">
                <a:solidFill>
                  <a:srgbClr val="525860"/>
                </a:solidFill>
              </a:rPr>
              <a:t>SEMENCES R&amp;D · PROJET DE GROUPE</a:t>
            </a:r>
          </a:p>
        </p:txBody>
      </p:sp>
      <p:sp>
        <p:nvSpPr>
          <p:cNvPr id="5" name="12">
            <a:extLst xmlns:a="http://schemas.openxmlformats.org/drawingml/2006/main">
              <a:ext uri="{FF2B5EF4-FFF2-40B4-BE49-F238E27FC236}">
                <a16:creationId xmlns:a16="http://schemas.microsoft.com/office/drawing/2014/main" id="{3996FA7E-F478-48AA-B8FD-C0F0D6582C00}"/>
              </a:ext>
            </a:extLst>
          </p:cNvPr>
          <p:cNvSpPr>
            <a:spLocks xmlns:a="http://schemas.openxmlformats.org/drawingml/2006/main" noGrp="1"/>
          </p:cNvSpPr>
          <p:nvPr/>
        </p:nvSpPr>
        <p:spPr>
          <a:xfrm xmlns:a="http://schemas.openxmlformats.org/drawingml/2006/main">
            <a:off x="11239500" y="64103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0">
                <a:solidFill>
                  <a:srgbClr val="525860"/>
                </a:solidFill>
              </a:defRPr>
            </a:pPr>
            <a:r>
              <a:rPr sz="1650" b="0">
                <a:solidFill>
                  <a:srgbClr val="525860"/>
                </a:solidFill>
              </a:rPr>
              <a:t>16</a:t>
            </a:r>
          </a:p>
        </p:txBody>
      </p:sp>
      <p:sp>
        <p:nvSpPr>
          <p:cNvPr id="6" name="Accès par clé">
            <a:extLst xmlns:a="http://schemas.openxmlformats.org/drawingml/2006/main">
              <a:ext uri="{FF2B5EF4-FFF2-40B4-BE49-F238E27FC236}">
                <a16:creationId xmlns:a16="http://schemas.microsoft.com/office/drawing/2014/main" id="{8D26EC27-8D19-4913-A25E-3756BD4680E1}"/>
              </a:ext>
            </a:extLst>
          </p:cNvPr>
          <p:cNvSpPr>
            <a:spLocks xmlns:a="http://schemas.openxmlformats.org/drawingml/2006/main" noGrp="1"/>
          </p:cNvSpPr>
          <p:nvPr/>
        </p:nvSpPr>
        <p:spPr>
          <a:xfrm xmlns:a="http://schemas.openxmlformats.org/drawingml/2006/main">
            <a:off x="400050" y="2057400"/>
            <a:ext cx="54768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2400" b="1">
                <a:solidFill>
                  <a:srgbClr val="111111"/>
                </a:solidFill>
              </a:defRPr>
            </a:pPr>
            <a:r>
              <a:rPr sz="2400" b="1">
                <a:solidFill>
                  <a:srgbClr val="111111"/>
                </a:solidFill>
              </a:rPr>
              <a:t>Accès par clé</a:t>
            </a:r>
          </a:p>
        </p:txBody>
      </p:sp>
      <p:sp>
        <p:nvSpPr>
          <p:cNvPr id="7" name="SQLite représente les familles logiques HBase.">
            <a:extLst xmlns:a="http://schemas.openxmlformats.org/drawingml/2006/main">
              <a:ext uri="{FF2B5EF4-FFF2-40B4-BE49-F238E27FC236}">
                <a16:creationId xmlns:a16="http://schemas.microsoft.com/office/drawing/2014/main" id="{05CF2388-F977-4799-A04A-3F82B362180B}"/>
              </a:ext>
            </a:extLst>
          </p:cNvPr>
          <p:cNvSpPr>
            <a:spLocks xmlns:a="http://schemas.openxmlformats.org/drawingml/2006/main" noGrp="1"/>
          </p:cNvSpPr>
          <p:nvPr/>
        </p:nvSpPr>
        <p:spPr>
          <a:xfrm xmlns:a="http://schemas.openxmlformats.org/drawingml/2006/main">
            <a:off x="400050" y="2800350"/>
            <a:ext cx="54768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SQLite représente les familles logiques HBase.</a:t>
            </a:r>
          </a:p>
        </p:txBody>
      </p:sp>
      <p:sp>
        <p:nvSpPr>
          <p:cNvPr id="8" name="Les clés des mesures et les collisions sont contrôlées.">
            <a:extLst xmlns:a="http://schemas.openxmlformats.org/drawingml/2006/main">
              <a:ext uri="{FF2B5EF4-FFF2-40B4-BE49-F238E27FC236}">
                <a16:creationId xmlns:a16="http://schemas.microsoft.com/office/drawing/2014/main" id="{BA748774-4C39-495C-8C40-485F7859707E}"/>
              </a:ext>
            </a:extLst>
          </p:cNvPr>
          <p:cNvSpPr>
            <a:spLocks xmlns:a="http://schemas.openxmlformats.org/drawingml/2006/main" noGrp="1"/>
          </p:cNvSpPr>
          <p:nvPr/>
        </p:nvSpPr>
        <p:spPr>
          <a:xfrm xmlns:a="http://schemas.openxmlformats.org/drawingml/2006/main">
            <a:off x="400050" y="3743325"/>
            <a:ext cx="54768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Les clés des mesures et les collisions sont contrôlées.</a:t>
            </a:r>
          </a:p>
        </p:txBody>
      </p:sp>
      <p:sp>
        <p:nvSpPr>
          <p:cNvPr id="9" name="Les volumes reçus, insérés et rejetés sont consignés.">
            <a:extLst xmlns:a="http://schemas.openxmlformats.org/drawingml/2006/main">
              <a:ext uri="{FF2B5EF4-FFF2-40B4-BE49-F238E27FC236}">
                <a16:creationId xmlns:a16="http://schemas.microsoft.com/office/drawing/2014/main" id="{260D15AA-0308-430C-A57E-71DB1F498184}"/>
              </a:ext>
            </a:extLst>
          </p:cNvPr>
          <p:cNvSpPr>
            <a:spLocks xmlns:a="http://schemas.openxmlformats.org/drawingml/2006/main" noGrp="1"/>
          </p:cNvSpPr>
          <p:nvPr/>
        </p:nvSpPr>
        <p:spPr>
          <a:xfrm xmlns:a="http://schemas.openxmlformats.org/drawingml/2006/main">
            <a:off x="400050" y="4686300"/>
            <a:ext cx="54768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Les volumes reçus, insérés et rejetés sont consignés.</a:t>
            </a:r>
          </a:p>
        </p:txBody>
      </p:sp>
      <p:sp>
        <p:nvSpPr>
          <p:cNvPr id="10" name="Événements">
            <a:extLst xmlns:a="http://schemas.openxmlformats.org/drawingml/2006/main">
              <a:ext uri="{FF2B5EF4-FFF2-40B4-BE49-F238E27FC236}">
                <a16:creationId xmlns:a16="http://schemas.microsoft.com/office/drawing/2014/main" id="{373C40E4-2F7D-438F-B5E4-945509CBE346}"/>
              </a:ext>
            </a:extLst>
          </p:cNvPr>
          <p:cNvSpPr>
            <a:spLocks xmlns:a="http://schemas.openxmlformats.org/drawingml/2006/main" noGrp="1"/>
          </p:cNvSpPr>
          <p:nvPr/>
        </p:nvSpPr>
        <p:spPr>
          <a:xfrm xmlns:a="http://schemas.openxmlformats.org/drawingml/2006/main">
            <a:off x="6257925" y="2057400"/>
            <a:ext cx="54768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2400" b="1">
                <a:solidFill>
                  <a:srgbClr val="111111"/>
                </a:solidFill>
              </a:defRPr>
            </a:pPr>
            <a:r>
              <a:rPr sz="2400" b="1">
                <a:solidFill>
                  <a:srgbClr val="111111"/>
                </a:solidFill>
              </a:rPr>
              <a:t>Événements</a:t>
            </a:r>
          </a:p>
        </p:txBody>
      </p:sp>
      <p:sp>
        <p:nvSpPr>
          <p:cNvPr id="11" name="Quatre topics illustrent le découplage des producteurs.">
            <a:extLst xmlns:a="http://schemas.openxmlformats.org/drawingml/2006/main">
              <a:ext uri="{FF2B5EF4-FFF2-40B4-BE49-F238E27FC236}">
                <a16:creationId xmlns:a16="http://schemas.microsoft.com/office/drawing/2014/main" id="{9F12B2F1-1068-4DE9-B1C0-827045538B9F}"/>
              </a:ext>
            </a:extLst>
          </p:cNvPr>
          <p:cNvSpPr>
            <a:spLocks xmlns:a="http://schemas.openxmlformats.org/drawingml/2006/main" noGrp="1"/>
          </p:cNvSpPr>
          <p:nvPr/>
        </p:nvSpPr>
        <p:spPr>
          <a:xfrm xmlns:a="http://schemas.openxmlformats.org/drawingml/2006/main">
            <a:off x="6257925" y="2800350"/>
            <a:ext cx="54768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Quatre topics illustrent le découplage des producteurs.</a:t>
            </a:r>
          </a:p>
        </p:txBody>
      </p:sp>
      <p:sp>
        <p:nvSpPr>
          <p:cNvPr id="12" name="Résultats, alertes et géographie alimentent des fichiers.">
            <a:extLst xmlns:a="http://schemas.openxmlformats.org/drawingml/2006/main">
              <a:ext uri="{FF2B5EF4-FFF2-40B4-BE49-F238E27FC236}">
                <a16:creationId xmlns:a16="http://schemas.microsoft.com/office/drawing/2014/main" id="{94658043-948F-4986-A3F4-F9EE8E311EDD}"/>
              </a:ext>
            </a:extLst>
          </p:cNvPr>
          <p:cNvSpPr>
            <a:spLocks xmlns:a="http://schemas.openxmlformats.org/drawingml/2006/main" noGrp="1"/>
          </p:cNvSpPr>
          <p:nvPr/>
        </p:nvSpPr>
        <p:spPr>
          <a:xfrm xmlns:a="http://schemas.openxmlformats.org/drawingml/2006/main">
            <a:off x="6257925" y="3743325"/>
            <a:ext cx="54768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Résultats, alertes et géographie alimentent des fichiers.</a:t>
            </a:r>
          </a:p>
        </p:txBody>
      </p:sp>
      <p:sp>
        <p:nvSpPr>
          <p:cNvPr id="13" name="Le topic material-updates est déclaré mais non alimenté.">
            <a:extLst xmlns:a="http://schemas.openxmlformats.org/drawingml/2006/main">
              <a:ext uri="{FF2B5EF4-FFF2-40B4-BE49-F238E27FC236}">
                <a16:creationId xmlns:a16="http://schemas.microsoft.com/office/drawing/2014/main" id="{1445D0D7-7C7A-498A-9188-AEA5B85EE8AA}"/>
              </a:ext>
            </a:extLst>
          </p:cNvPr>
          <p:cNvSpPr>
            <a:spLocks xmlns:a="http://schemas.openxmlformats.org/drawingml/2006/main" noGrp="1"/>
          </p:cNvSpPr>
          <p:nvPr/>
        </p:nvSpPr>
        <p:spPr>
          <a:xfrm xmlns:a="http://schemas.openxmlformats.org/drawingml/2006/main">
            <a:off x="6257925" y="4686300"/>
            <a:ext cx="54768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Le topic material-updates est déclaré mais non alimenté.</a:t>
            </a:r>
          </a:p>
        </p:txBody>
      </p:sp>
    </p:spTree>
    <p:extLst>
      <p:ext uri="{BB962C8B-B14F-4D97-AF65-F5344CB8AC3E}">
        <p14:creationId xmlns:p14="http://schemas.microsoft.com/office/powerpoint/2010/main" val="77751473"/>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07 · ANALYTIQUE">
            <a:extLst xmlns:a="http://schemas.openxmlformats.org/drawingml/2006/main">
              <a:ext uri="{FF2B5EF4-FFF2-40B4-BE49-F238E27FC236}">
                <a16:creationId xmlns:a16="http://schemas.microsoft.com/office/drawing/2014/main" id="{4AE2A1A0-9DC7-4FE9-95B4-FA68696469FF}"/>
              </a:ext>
            </a:extLst>
          </p:cNvPr>
          <p:cNvSpPr>
            <a:spLocks xmlns:a="http://schemas.openxmlformats.org/drawingml/2006/main" noGrp="1"/>
          </p:cNvSpPr>
          <p:nvPr/>
        </p:nvSpPr>
        <p:spPr>
          <a:xfrm xmlns:a="http://schemas.openxmlformats.org/drawingml/2006/main">
            <a:off x="400050" y="228600"/>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1">
                <a:solidFill>
                  <a:srgbClr val="525860"/>
                </a:solidFill>
              </a:defRPr>
            </a:pPr>
            <a:r>
              <a:rPr sz="1650" b="1">
                <a:solidFill>
                  <a:srgbClr val="525860"/>
                </a:solidFill>
              </a:rPr>
              <a:t>07 · ANALYTIQUE</a:t>
            </a:r>
          </a:p>
        </p:txBody>
      </p:sp>
      <p:sp>
        <p:nvSpPr>
          <p:cNvPr id="2" name="Trois voies d’analyse des fichiers">
            <a:extLst xmlns:a="http://schemas.openxmlformats.org/drawingml/2006/main">
              <a:ext uri="{FF2B5EF4-FFF2-40B4-BE49-F238E27FC236}">
                <a16:creationId xmlns:a16="http://schemas.microsoft.com/office/drawing/2014/main" id="{14D98942-1625-4651-A4A7-3FB2087A1CB2}"/>
              </a:ext>
            </a:extLst>
          </p:cNvPr>
          <p:cNvSpPr>
            <a:spLocks xmlns:a="http://schemas.openxmlformats.org/drawingml/2006/main" noGrp="1"/>
          </p:cNvSpPr>
          <p:nvPr/>
        </p:nvSpPr>
        <p:spPr>
          <a:xfrm xmlns:a="http://schemas.openxmlformats.org/drawingml/2006/main">
            <a:off x="400050" y="742950"/>
            <a:ext cx="113919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3600" b="1">
                <a:solidFill>
                  <a:srgbClr val="111111"/>
                </a:solidFill>
              </a:defRPr>
            </a:pPr>
            <a:r>
              <a:rPr sz="3600" b="1">
                <a:solidFill>
                  <a:srgbClr val="111111"/>
                </a:solidFill>
              </a:rPr>
              <a:t>Trois voies d’analyse des fichiers</a:t>
            </a:r>
          </a:p>
        </p:txBody>
      </p:sp>
      <p:sp>
        <p:nvSpPr>
          <p:cNvPr id="3" name="">
            <a:extLst xmlns:a="http://schemas.openxmlformats.org/drawingml/2006/main">
              <a:ext uri="{FF2B5EF4-FFF2-40B4-BE49-F238E27FC236}">
                <a16:creationId xmlns:a16="http://schemas.microsoft.com/office/drawing/2014/main" id="{728611DB-975A-49AB-BE26-1DAEFDA16128}"/>
              </a:ext>
            </a:extLst>
          </p:cNvPr>
          <p:cNvSpPr>
            <a:spLocks xmlns:a="http://schemas.openxmlformats.org/drawingml/2006/main" noGrp="1"/>
          </p:cNvSpPr>
          <p:nvPr/>
        </p:nvSpPr>
        <p:spPr>
          <a:xfrm xmlns:a="http://schemas.openxmlformats.org/drawingml/2006/main">
            <a:off x="400050" y="62293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4" name="SEMENCES R&amp;D · PROJET DE GROUPE">
            <a:extLst xmlns:a="http://schemas.openxmlformats.org/drawingml/2006/main">
              <a:ext uri="{FF2B5EF4-FFF2-40B4-BE49-F238E27FC236}">
                <a16:creationId xmlns:a16="http://schemas.microsoft.com/office/drawing/2014/main" id="{3F879110-525F-47ED-8D8A-17649D6A72CA}"/>
              </a:ext>
            </a:extLst>
          </p:cNvPr>
          <p:cNvSpPr>
            <a:spLocks xmlns:a="http://schemas.openxmlformats.org/drawingml/2006/main" noGrp="1"/>
          </p:cNvSpPr>
          <p:nvPr/>
        </p:nvSpPr>
        <p:spPr>
          <a:xfrm xmlns:a="http://schemas.openxmlformats.org/drawingml/2006/main">
            <a:off x="400050" y="641032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0">
                <a:solidFill>
                  <a:srgbClr val="525860"/>
                </a:solidFill>
              </a:defRPr>
            </a:pPr>
            <a:r>
              <a:rPr sz="1650" b="0">
                <a:solidFill>
                  <a:srgbClr val="525860"/>
                </a:solidFill>
              </a:rPr>
              <a:t>SEMENCES R&amp;D · PROJET DE GROUPE</a:t>
            </a:r>
          </a:p>
        </p:txBody>
      </p:sp>
      <p:sp>
        <p:nvSpPr>
          <p:cNvPr id="5" name="13">
            <a:extLst xmlns:a="http://schemas.openxmlformats.org/drawingml/2006/main">
              <a:ext uri="{FF2B5EF4-FFF2-40B4-BE49-F238E27FC236}">
                <a16:creationId xmlns:a16="http://schemas.microsoft.com/office/drawing/2014/main" id="{9A8440B0-B92D-498A-B4B4-167B7B0691BE}"/>
              </a:ext>
            </a:extLst>
          </p:cNvPr>
          <p:cNvSpPr>
            <a:spLocks xmlns:a="http://schemas.openxmlformats.org/drawingml/2006/main" noGrp="1"/>
          </p:cNvSpPr>
          <p:nvPr/>
        </p:nvSpPr>
        <p:spPr>
          <a:xfrm xmlns:a="http://schemas.openxmlformats.org/drawingml/2006/main">
            <a:off x="11239500" y="64103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0">
                <a:solidFill>
                  <a:srgbClr val="525860"/>
                </a:solidFill>
              </a:defRPr>
            </a:pPr>
            <a:r>
              <a:rPr sz="1650" b="0">
                <a:solidFill>
                  <a:srgbClr val="525860"/>
                </a:solidFill>
              </a:rPr>
              <a:t>17</a:t>
            </a:r>
          </a:p>
        </p:txBody>
      </p:sp>
      <p:sp>
        <p:nvSpPr>
          <p:cNvPr id="6" name="Voie">
            <a:extLst xmlns:a="http://schemas.openxmlformats.org/drawingml/2006/main">
              <a:ext uri="{FF2B5EF4-FFF2-40B4-BE49-F238E27FC236}">
                <a16:creationId xmlns:a16="http://schemas.microsoft.com/office/drawing/2014/main" id="{5A6E703C-0C26-4616-B81B-2774A5ACE920}"/>
              </a:ext>
            </a:extLst>
          </p:cNvPr>
          <p:cNvSpPr>
            <a:spLocks xmlns:a="http://schemas.openxmlformats.org/drawingml/2006/main" noGrp="1"/>
          </p:cNvSpPr>
          <p:nvPr/>
        </p:nvSpPr>
        <p:spPr>
          <a:xfrm xmlns:a="http://schemas.openxmlformats.org/drawingml/2006/main">
            <a:off x="400050" y="1838325"/>
            <a:ext cx="25431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1">
                <a:solidFill>
                  <a:srgbClr val="111111"/>
                </a:solidFill>
              </a:defRPr>
            </a:pPr>
            <a:r>
              <a:rPr sz="1950" b="1">
                <a:solidFill>
                  <a:srgbClr val="111111"/>
                </a:solidFill>
              </a:rPr>
              <a:t>Voie</a:t>
            </a:r>
          </a:p>
        </p:txBody>
      </p:sp>
      <p:sp>
        <p:nvSpPr>
          <p:cNvPr id="7" name="Sortie">
            <a:extLst xmlns:a="http://schemas.openxmlformats.org/drawingml/2006/main">
              <a:ext uri="{FF2B5EF4-FFF2-40B4-BE49-F238E27FC236}">
                <a16:creationId xmlns:a16="http://schemas.microsoft.com/office/drawing/2014/main" id="{12D70113-C7E2-4C7E-8F2F-CC3EA7209FB6}"/>
              </a:ext>
            </a:extLst>
          </p:cNvPr>
          <p:cNvSpPr>
            <a:spLocks xmlns:a="http://schemas.openxmlformats.org/drawingml/2006/main" noGrp="1"/>
          </p:cNvSpPr>
          <p:nvPr/>
        </p:nvSpPr>
        <p:spPr>
          <a:xfrm xmlns:a="http://schemas.openxmlformats.org/drawingml/2006/main">
            <a:off x="3114675" y="1838325"/>
            <a:ext cx="39243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1">
                <a:solidFill>
                  <a:srgbClr val="111111"/>
                </a:solidFill>
              </a:defRPr>
            </a:pPr>
            <a:r>
              <a:rPr sz="1950" b="1">
                <a:solidFill>
                  <a:srgbClr val="111111"/>
                </a:solidFill>
              </a:rPr>
              <a:t>Sortie</a:t>
            </a:r>
          </a:p>
        </p:txBody>
      </p:sp>
      <p:sp>
        <p:nvSpPr>
          <p:cNvPr id="8" name="Usage">
            <a:extLst xmlns:a="http://schemas.openxmlformats.org/drawingml/2006/main">
              <a:ext uri="{FF2B5EF4-FFF2-40B4-BE49-F238E27FC236}">
                <a16:creationId xmlns:a16="http://schemas.microsoft.com/office/drawing/2014/main" id="{82570C70-58ED-45B2-A0B6-75D12C8AAB20}"/>
              </a:ext>
            </a:extLst>
          </p:cNvPr>
          <p:cNvSpPr>
            <a:spLocks xmlns:a="http://schemas.openxmlformats.org/drawingml/2006/main" noGrp="1"/>
          </p:cNvSpPr>
          <p:nvPr/>
        </p:nvSpPr>
        <p:spPr>
          <a:xfrm xmlns:a="http://schemas.openxmlformats.org/drawingml/2006/main">
            <a:off x="7210425" y="1838325"/>
            <a:ext cx="44100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1">
                <a:solidFill>
                  <a:srgbClr val="111111"/>
                </a:solidFill>
              </a:defRPr>
            </a:pPr>
            <a:r>
              <a:rPr sz="1950" b="1">
                <a:solidFill>
                  <a:srgbClr val="111111"/>
                </a:solidFill>
              </a:rPr>
              <a:t>Usage</a:t>
            </a:r>
          </a:p>
        </p:txBody>
      </p:sp>
      <p:sp>
        <p:nvSpPr>
          <p:cNvPr id="9" name="">
            <a:extLst xmlns:a="http://schemas.openxmlformats.org/drawingml/2006/main">
              <a:ext uri="{FF2B5EF4-FFF2-40B4-BE49-F238E27FC236}">
                <a16:creationId xmlns:a16="http://schemas.microsoft.com/office/drawing/2014/main" id="{D4C10CBC-0012-4B0C-A1ED-90FACE602E7A}"/>
              </a:ext>
            </a:extLst>
          </p:cNvPr>
          <p:cNvSpPr>
            <a:spLocks xmlns:a="http://schemas.openxmlformats.org/drawingml/2006/main" noGrp="1"/>
          </p:cNvSpPr>
          <p:nvPr/>
        </p:nvSpPr>
        <p:spPr>
          <a:xfrm xmlns:a="http://schemas.openxmlformats.org/drawingml/2006/main">
            <a:off x="400050" y="23050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10" name="Hive adapté">
            <a:extLst xmlns:a="http://schemas.openxmlformats.org/drawingml/2006/main">
              <a:ext uri="{FF2B5EF4-FFF2-40B4-BE49-F238E27FC236}">
                <a16:creationId xmlns:a16="http://schemas.microsoft.com/office/drawing/2014/main" id="{8FF8FE4F-A045-4C35-BA57-18D157916E74}"/>
              </a:ext>
            </a:extLst>
          </p:cNvPr>
          <p:cNvSpPr>
            <a:spLocks xmlns:a="http://schemas.openxmlformats.org/drawingml/2006/main" noGrp="1"/>
          </p:cNvSpPr>
          <p:nvPr/>
        </p:nvSpPr>
        <p:spPr>
          <a:xfrm xmlns:a="http://schemas.openxmlformats.org/drawingml/2006/main">
            <a:off x="400050" y="2447925"/>
            <a:ext cx="25241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Hive adapté</a:t>
            </a:r>
          </a:p>
        </p:txBody>
      </p:sp>
      <p:sp>
        <p:nvSpPr>
          <p:cNvPr id="11" name="Cinq exports CSV">
            <a:extLst xmlns:a="http://schemas.openxmlformats.org/drawingml/2006/main">
              <a:ext uri="{FF2B5EF4-FFF2-40B4-BE49-F238E27FC236}">
                <a16:creationId xmlns:a16="http://schemas.microsoft.com/office/drawing/2014/main" id="{0BAE0012-B218-442D-87D3-C755D9561659}"/>
              </a:ext>
            </a:extLst>
          </p:cNvPr>
          <p:cNvSpPr>
            <a:spLocks xmlns:a="http://schemas.openxmlformats.org/drawingml/2006/main" noGrp="1"/>
          </p:cNvSpPr>
          <p:nvPr/>
        </p:nvSpPr>
        <p:spPr>
          <a:xfrm xmlns:a="http://schemas.openxmlformats.org/drawingml/2006/main">
            <a:off x="3114675" y="2447925"/>
            <a:ext cx="3905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Cinq exports CSV</a:t>
            </a:r>
          </a:p>
        </p:txBody>
      </p:sp>
      <p:sp>
        <p:nvSpPr>
          <p:cNvPr id="12" name="Moyennes, classements, régions">
            <a:extLst xmlns:a="http://schemas.openxmlformats.org/drawingml/2006/main">
              <a:ext uri="{FF2B5EF4-FFF2-40B4-BE49-F238E27FC236}">
                <a16:creationId xmlns:a16="http://schemas.microsoft.com/office/drawing/2014/main" id="{478C3064-8A2F-49D0-B98E-13142E5D2FF1}"/>
              </a:ext>
            </a:extLst>
          </p:cNvPr>
          <p:cNvSpPr>
            <a:spLocks xmlns:a="http://schemas.openxmlformats.org/drawingml/2006/main" noGrp="1"/>
          </p:cNvSpPr>
          <p:nvPr/>
        </p:nvSpPr>
        <p:spPr>
          <a:xfrm xmlns:a="http://schemas.openxmlformats.org/drawingml/2006/main">
            <a:off x="7210425" y="2447925"/>
            <a:ext cx="43910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Moyennes, classements, régions</a:t>
            </a:r>
          </a:p>
        </p:txBody>
      </p:sp>
      <p:sp>
        <p:nvSpPr>
          <p:cNvPr id="13" name="">
            <a:extLst xmlns:a="http://schemas.openxmlformats.org/drawingml/2006/main">
              <a:ext uri="{FF2B5EF4-FFF2-40B4-BE49-F238E27FC236}">
                <a16:creationId xmlns:a16="http://schemas.microsoft.com/office/drawing/2014/main" id="{723D8517-BA17-4A52-9804-358C26A91C0F}"/>
              </a:ext>
            </a:extLst>
          </p:cNvPr>
          <p:cNvSpPr>
            <a:spLocks xmlns:a="http://schemas.openxmlformats.org/drawingml/2006/main" noGrp="1"/>
          </p:cNvSpPr>
          <p:nvPr/>
        </p:nvSpPr>
        <p:spPr>
          <a:xfrm xmlns:a="http://schemas.openxmlformats.org/drawingml/2006/main">
            <a:off x="400050" y="31051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14" name="Drill adapté">
            <a:extLst xmlns:a="http://schemas.openxmlformats.org/drawingml/2006/main">
              <a:ext uri="{FF2B5EF4-FFF2-40B4-BE49-F238E27FC236}">
                <a16:creationId xmlns:a16="http://schemas.microsoft.com/office/drawing/2014/main" id="{0B05C636-87C7-4B2E-A55A-ED49026D0B80}"/>
              </a:ext>
            </a:extLst>
          </p:cNvPr>
          <p:cNvSpPr>
            <a:spLocks xmlns:a="http://schemas.openxmlformats.org/drawingml/2006/main" noGrp="1"/>
          </p:cNvSpPr>
          <p:nvPr/>
        </p:nvSpPr>
        <p:spPr>
          <a:xfrm xmlns:a="http://schemas.openxmlformats.org/drawingml/2006/main">
            <a:off x="400050" y="3171825"/>
            <a:ext cx="25241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Drill adapté</a:t>
            </a:r>
          </a:p>
        </p:txBody>
      </p:sp>
      <p:sp>
        <p:nvSpPr>
          <p:cNvPr id="15" name="Six exports CSV">
            <a:extLst xmlns:a="http://schemas.openxmlformats.org/drawingml/2006/main">
              <a:ext uri="{FF2B5EF4-FFF2-40B4-BE49-F238E27FC236}">
                <a16:creationId xmlns:a16="http://schemas.microsoft.com/office/drawing/2014/main" id="{B60F976F-A278-4A99-9347-35AECAEC433E}"/>
              </a:ext>
            </a:extLst>
          </p:cNvPr>
          <p:cNvSpPr>
            <a:spLocks xmlns:a="http://schemas.openxmlformats.org/drawingml/2006/main" noGrp="1"/>
          </p:cNvSpPr>
          <p:nvPr/>
        </p:nvSpPr>
        <p:spPr>
          <a:xfrm xmlns:a="http://schemas.openxmlformats.org/drawingml/2006/main">
            <a:off x="3114675" y="3171825"/>
            <a:ext cx="3905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Six exports CSV</a:t>
            </a:r>
          </a:p>
        </p:txBody>
      </p:sp>
      <p:sp>
        <p:nvSpPr>
          <p:cNvPr id="16" name="Exploration et contrôles ad hoc">
            <a:extLst xmlns:a="http://schemas.openxmlformats.org/drawingml/2006/main">
              <a:ext uri="{FF2B5EF4-FFF2-40B4-BE49-F238E27FC236}">
                <a16:creationId xmlns:a16="http://schemas.microsoft.com/office/drawing/2014/main" id="{483C6BEB-00E8-4675-ABD8-5C4BA74F489B}"/>
              </a:ext>
            </a:extLst>
          </p:cNvPr>
          <p:cNvSpPr>
            <a:spLocks xmlns:a="http://schemas.openxmlformats.org/drawingml/2006/main" noGrp="1"/>
          </p:cNvSpPr>
          <p:nvPr/>
        </p:nvSpPr>
        <p:spPr>
          <a:xfrm xmlns:a="http://schemas.openxmlformats.org/drawingml/2006/main">
            <a:off x="7210425" y="3171825"/>
            <a:ext cx="43910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Exploration et contrôles ad hoc</a:t>
            </a:r>
          </a:p>
        </p:txBody>
      </p:sp>
      <p:sp>
        <p:nvSpPr>
          <p:cNvPr id="17" name="">
            <a:extLst xmlns:a="http://schemas.openxmlformats.org/drawingml/2006/main">
              <a:ext uri="{FF2B5EF4-FFF2-40B4-BE49-F238E27FC236}">
                <a16:creationId xmlns:a16="http://schemas.microsoft.com/office/drawing/2014/main" id="{7B4C4A31-4B71-4D89-AAE7-6578EA96A8D3}"/>
              </a:ext>
            </a:extLst>
          </p:cNvPr>
          <p:cNvSpPr>
            <a:spLocks xmlns:a="http://schemas.openxmlformats.org/drawingml/2006/main" noGrp="1"/>
          </p:cNvSpPr>
          <p:nvPr/>
        </p:nvSpPr>
        <p:spPr>
          <a:xfrm xmlns:a="http://schemas.openxmlformats.org/drawingml/2006/main">
            <a:off x="400050" y="38290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18" name="Spark local">
            <a:extLst xmlns:a="http://schemas.openxmlformats.org/drawingml/2006/main">
              <a:ext uri="{FF2B5EF4-FFF2-40B4-BE49-F238E27FC236}">
                <a16:creationId xmlns:a16="http://schemas.microsoft.com/office/drawing/2014/main" id="{F6DBAEE6-F9B6-4298-86DE-2FF3A829A9D4}"/>
              </a:ext>
            </a:extLst>
          </p:cNvPr>
          <p:cNvSpPr>
            <a:spLocks xmlns:a="http://schemas.openxmlformats.org/drawingml/2006/main" noGrp="1"/>
          </p:cNvSpPr>
          <p:nvPr/>
        </p:nvSpPr>
        <p:spPr>
          <a:xfrm xmlns:a="http://schemas.openxmlformats.org/drawingml/2006/main">
            <a:off x="400050" y="3895725"/>
            <a:ext cx="25241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Spark local</a:t>
            </a:r>
          </a:p>
        </p:txBody>
      </p:sp>
      <p:sp>
        <p:nvSpPr>
          <p:cNvPr id="19" name="Agrégats Parquet">
            <a:extLst xmlns:a="http://schemas.openxmlformats.org/drawingml/2006/main">
              <a:ext uri="{FF2B5EF4-FFF2-40B4-BE49-F238E27FC236}">
                <a16:creationId xmlns:a16="http://schemas.microsoft.com/office/drawing/2014/main" id="{7A2089BA-9470-4515-8279-6E053F84B07B}"/>
              </a:ext>
            </a:extLst>
          </p:cNvPr>
          <p:cNvSpPr>
            <a:spLocks xmlns:a="http://schemas.openxmlformats.org/drawingml/2006/main" noGrp="1"/>
          </p:cNvSpPr>
          <p:nvPr/>
        </p:nvSpPr>
        <p:spPr>
          <a:xfrm xmlns:a="http://schemas.openxmlformats.org/drawingml/2006/main">
            <a:off x="3114675" y="3895725"/>
            <a:ext cx="3905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Agrégats Parquet</a:t>
            </a:r>
          </a:p>
        </p:txBody>
      </p:sp>
      <p:sp>
        <p:nvSpPr>
          <p:cNvPr id="20" name="Espèce × trait et matériels">
            <a:extLst xmlns:a="http://schemas.openxmlformats.org/drawingml/2006/main">
              <a:ext uri="{FF2B5EF4-FFF2-40B4-BE49-F238E27FC236}">
                <a16:creationId xmlns:a16="http://schemas.microsoft.com/office/drawing/2014/main" id="{0809E2C5-3EEA-4F93-A092-A5AA795B4CCF}"/>
              </a:ext>
            </a:extLst>
          </p:cNvPr>
          <p:cNvSpPr>
            <a:spLocks xmlns:a="http://schemas.openxmlformats.org/drawingml/2006/main" noGrp="1"/>
          </p:cNvSpPr>
          <p:nvPr/>
        </p:nvSpPr>
        <p:spPr>
          <a:xfrm xmlns:a="http://schemas.openxmlformats.org/drawingml/2006/main">
            <a:off x="7210425" y="3895725"/>
            <a:ext cx="43910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Espèce × trait et matériels</a:t>
            </a:r>
          </a:p>
        </p:txBody>
      </p:sp>
      <p:sp>
        <p:nvSpPr>
          <p:cNvPr id="21" name="">
            <a:extLst xmlns:a="http://schemas.openxmlformats.org/drawingml/2006/main">
              <a:ext uri="{FF2B5EF4-FFF2-40B4-BE49-F238E27FC236}">
                <a16:creationId xmlns:a16="http://schemas.microsoft.com/office/drawing/2014/main" id="{AF5A8F8D-9918-4BB3-BA3F-C237788412A7}"/>
              </a:ext>
            </a:extLst>
          </p:cNvPr>
          <p:cNvSpPr>
            <a:spLocks xmlns:a="http://schemas.openxmlformats.org/drawingml/2006/main" noGrp="1"/>
          </p:cNvSpPr>
          <p:nvPr/>
        </p:nvSpPr>
        <p:spPr>
          <a:xfrm xmlns:a="http://schemas.openxmlformats.org/drawingml/2006/main">
            <a:off x="400050" y="45529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22" name="Python / R">
            <a:extLst xmlns:a="http://schemas.openxmlformats.org/drawingml/2006/main">
              <a:ext uri="{FF2B5EF4-FFF2-40B4-BE49-F238E27FC236}">
                <a16:creationId xmlns:a16="http://schemas.microsoft.com/office/drawing/2014/main" id="{E02D4135-1804-417A-BBC8-8553E9497BCA}"/>
              </a:ext>
            </a:extLst>
          </p:cNvPr>
          <p:cNvSpPr>
            <a:spLocks xmlns:a="http://schemas.openxmlformats.org/drawingml/2006/main" noGrp="1"/>
          </p:cNvSpPr>
          <p:nvPr/>
        </p:nvSpPr>
        <p:spPr>
          <a:xfrm xmlns:a="http://schemas.openxmlformats.org/drawingml/2006/main">
            <a:off x="400050" y="4619625"/>
            <a:ext cx="25241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Python / R</a:t>
            </a:r>
          </a:p>
        </p:txBody>
      </p:sp>
      <p:sp>
        <p:nvSpPr>
          <p:cNvPr id="23" name="CSV, JSON et images">
            <a:extLst xmlns:a="http://schemas.openxmlformats.org/drawingml/2006/main">
              <a:ext uri="{FF2B5EF4-FFF2-40B4-BE49-F238E27FC236}">
                <a16:creationId xmlns:a16="http://schemas.microsoft.com/office/drawing/2014/main" id="{EDB19EB7-2544-4E19-BD94-30B864A26231}"/>
              </a:ext>
            </a:extLst>
          </p:cNvPr>
          <p:cNvSpPr>
            <a:spLocks xmlns:a="http://schemas.openxmlformats.org/drawingml/2006/main" noGrp="1"/>
          </p:cNvSpPr>
          <p:nvPr/>
        </p:nvSpPr>
        <p:spPr>
          <a:xfrm xmlns:a="http://schemas.openxmlformats.org/drawingml/2006/main">
            <a:off x="3114675" y="4619625"/>
            <a:ext cx="3905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CSV, JSON et images</a:t>
            </a:r>
          </a:p>
        </p:txBody>
      </p:sp>
      <p:sp>
        <p:nvSpPr>
          <p:cNvPr id="24" name="Statistiques, corrélations, ANOVA">
            <a:extLst xmlns:a="http://schemas.openxmlformats.org/drawingml/2006/main">
              <a:ext uri="{FF2B5EF4-FFF2-40B4-BE49-F238E27FC236}">
                <a16:creationId xmlns:a16="http://schemas.microsoft.com/office/drawing/2014/main" id="{9878974A-D042-46DF-8A11-7BC98E22E1DD}"/>
              </a:ext>
            </a:extLst>
          </p:cNvPr>
          <p:cNvSpPr>
            <a:spLocks xmlns:a="http://schemas.openxmlformats.org/drawingml/2006/main" noGrp="1"/>
          </p:cNvSpPr>
          <p:nvPr/>
        </p:nvSpPr>
        <p:spPr>
          <a:xfrm xmlns:a="http://schemas.openxmlformats.org/drawingml/2006/main">
            <a:off x="7210425" y="4619625"/>
            <a:ext cx="43910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Statistiques, corrélations, ANOVA</a:t>
            </a:r>
          </a:p>
        </p:txBody>
      </p:sp>
    </p:spTree>
    <p:extLst>
      <p:ext uri="{BB962C8B-B14F-4D97-AF65-F5344CB8AC3E}">
        <p14:creationId xmlns:p14="http://schemas.microsoft.com/office/powerpoint/2010/main" val="1706106185"/>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08 · RESTITUTION">
            <a:extLst xmlns:a="http://schemas.openxmlformats.org/drawingml/2006/main">
              <a:ext uri="{FF2B5EF4-FFF2-40B4-BE49-F238E27FC236}">
                <a16:creationId xmlns:a16="http://schemas.microsoft.com/office/drawing/2014/main" id="{70C7CF19-D8AB-4B5C-A448-04C782622099}"/>
              </a:ext>
            </a:extLst>
          </p:cNvPr>
          <p:cNvSpPr>
            <a:spLocks xmlns:a="http://schemas.openxmlformats.org/drawingml/2006/main" noGrp="1"/>
          </p:cNvSpPr>
          <p:nvPr/>
        </p:nvSpPr>
        <p:spPr>
          <a:xfrm xmlns:a="http://schemas.openxmlformats.org/drawingml/2006/main">
            <a:off x="400050" y="228600"/>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1">
                <a:solidFill>
                  <a:srgbClr val="525860"/>
                </a:solidFill>
              </a:defRPr>
            </a:pPr>
            <a:r>
              <a:rPr sz="1650" b="1">
                <a:solidFill>
                  <a:srgbClr val="525860"/>
                </a:solidFill>
              </a:rPr>
              <a:t>08 · RESTITUTION</a:t>
            </a:r>
          </a:p>
        </p:txBody>
      </p:sp>
      <p:sp>
        <p:nvSpPr>
          <p:cNvPr id="2" name="Le dashboard conserve le contexte">
            <a:extLst xmlns:a="http://schemas.openxmlformats.org/drawingml/2006/main">
              <a:ext uri="{FF2B5EF4-FFF2-40B4-BE49-F238E27FC236}">
                <a16:creationId xmlns:a16="http://schemas.microsoft.com/office/drawing/2014/main" id="{0659AFCA-EA54-4F2C-8CE1-BF909FD2F4CE}"/>
              </a:ext>
            </a:extLst>
          </p:cNvPr>
          <p:cNvSpPr>
            <a:spLocks xmlns:a="http://schemas.openxmlformats.org/drawingml/2006/main" noGrp="1"/>
          </p:cNvSpPr>
          <p:nvPr/>
        </p:nvSpPr>
        <p:spPr>
          <a:xfrm xmlns:a="http://schemas.openxmlformats.org/drawingml/2006/main">
            <a:off x="400050" y="742950"/>
            <a:ext cx="113919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3600" b="1">
                <a:solidFill>
                  <a:srgbClr val="111111"/>
                </a:solidFill>
              </a:defRPr>
            </a:pPr>
            <a:r>
              <a:rPr sz="3600" b="1">
                <a:solidFill>
                  <a:srgbClr val="111111"/>
                </a:solidFill>
              </a:rPr>
              <a:t>Le dashboard conserve le contexte</a:t>
            </a:r>
          </a:p>
        </p:txBody>
      </p:sp>
      <p:sp>
        <p:nvSpPr>
          <p:cNvPr id="3" name="">
            <a:extLst xmlns:a="http://schemas.openxmlformats.org/drawingml/2006/main">
              <a:ext uri="{FF2B5EF4-FFF2-40B4-BE49-F238E27FC236}">
                <a16:creationId xmlns:a16="http://schemas.microsoft.com/office/drawing/2014/main" id="{16517D4A-CA2E-457A-B6A7-4D67CAD1E715}"/>
              </a:ext>
            </a:extLst>
          </p:cNvPr>
          <p:cNvSpPr>
            <a:spLocks xmlns:a="http://schemas.openxmlformats.org/drawingml/2006/main" noGrp="1"/>
          </p:cNvSpPr>
          <p:nvPr/>
        </p:nvSpPr>
        <p:spPr>
          <a:xfrm xmlns:a="http://schemas.openxmlformats.org/drawingml/2006/main">
            <a:off x="400050" y="62293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4" name="SEMENCES R&amp;D · PROJET DE GROUPE">
            <a:extLst xmlns:a="http://schemas.openxmlformats.org/drawingml/2006/main">
              <a:ext uri="{FF2B5EF4-FFF2-40B4-BE49-F238E27FC236}">
                <a16:creationId xmlns:a16="http://schemas.microsoft.com/office/drawing/2014/main" id="{DB6B97BB-25C7-4598-A46A-973689E64CCE}"/>
              </a:ext>
            </a:extLst>
          </p:cNvPr>
          <p:cNvSpPr>
            <a:spLocks xmlns:a="http://schemas.openxmlformats.org/drawingml/2006/main" noGrp="1"/>
          </p:cNvSpPr>
          <p:nvPr/>
        </p:nvSpPr>
        <p:spPr>
          <a:xfrm xmlns:a="http://schemas.openxmlformats.org/drawingml/2006/main">
            <a:off x="400050" y="641032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0">
                <a:solidFill>
                  <a:srgbClr val="525860"/>
                </a:solidFill>
              </a:defRPr>
            </a:pPr>
            <a:r>
              <a:rPr sz="1650" b="0">
                <a:solidFill>
                  <a:srgbClr val="525860"/>
                </a:solidFill>
              </a:rPr>
              <a:t>SEMENCES R&amp;D · PROJET DE GROUPE</a:t>
            </a:r>
          </a:p>
        </p:txBody>
      </p:sp>
      <p:sp>
        <p:nvSpPr>
          <p:cNvPr id="5" name="14">
            <a:extLst xmlns:a="http://schemas.openxmlformats.org/drawingml/2006/main">
              <a:ext uri="{FF2B5EF4-FFF2-40B4-BE49-F238E27FC236}">
                <a16:creationId xmlns:a16="http://schemas.microsoft.com/office/drawing/2014/main" id="{0BE72379-BEB4-4921-9819-A8F4221C3D00}"/>
              </a:ext>
            </a:extLst>
          </p:cNvPr>
          <p:cNvSpPr>
            <a:spLocks xmlns:a="http://schemas.openxmlformats.org/drawingml/2006/main" noGrp="1"/>
          </p:cNvSpPr>
          <p:nvPr/>
        </p:nvSpPr>
        <p:spPr>
          <a:xfrm xmlns:a="http://schemas.openxmlformats.org/drawingml/2006/main">
            <a:off x="11239500" y="64103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0">
                <a:solidFill>
                  <a:srgbClr val="525860"/>
                </a:solidFill>
              </a:defRPr>
            </a:pPr>
            <a:r>
              <a:rPr sz="1650" b="0">
                <a:solidFill>
                  <a:srgbClr val="525860"/>
                </a:solidFill>
              </a:rPr>
              <a:t>18</a:t>
            </a:r>
          </a:p>
        </p:txBody>
      </p:sp>
      <p:sp>
        <p:nvSpPr>
          <p:cNvPr id="6" name="Parcours métier">
            <a:extLst xmlns:a="http://schemas.openxmlformats.org/drawingml/2006/main">
              <a:ext uri="{FF2B5EF4-FFF2-40B4-BE49-F238E27FC236}">
                <a16:creationId xmlns:a16="http://schemas.microsoft.com/office/drawing/2014/main" id="{CEC643CA-6149-4B7D-AFAE-0FF81E145A2F}"/>
              </a:ext>
            </a:extLst>
          </p:cNvPr>
          <p:cNvSpPr>
            <a:spLocks xmlns:a="http://schemas.openxmlformats.org/drawingml/2006/main" noGrp="1"/>
          </p:cNvSpPr>
          <p:nvPr/>
        </p:nvSpPr>
        <p:spPr>
          <a:xfrm xmlns:a="http://schemas.openxmlformats.org/drawingml/2006/main">
            <a:off x="400050" y="2057400"/>
            <a:ext cx="54768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2400" b="1">
                <a:solidFill>
                  <a:srgbClr val="111111"/>
                </a:solidFill>
              </a:defRPr>
            </a:pPr>
            <a:r>
              <a:rPr sz="2400" b="1">
                <a:solidFill>
                  <a:srgbClr val="111111"/>
                </a:solidFill>
              </a:rPr>
              <a:t>Parcours métier</a:t>
            </a:r>
          </a:p>
        </p:txBody>
      </p:sp>
      <p:sp>
        <p:nvSpPr>
          <p:cNvPr id="7" name="Lire les KPI et leurs définitions.">
            <a:extLst xmlns:a="http://schemas.openxmlformats.org/drawingml/2006/main">
              <a:ext uri="{FF2B5EF4-FFF2-40B4-BE49-F238E27FC236}">
                <a16:creationId xmlns:a16="http://schemas.microsoft.com/office/drawing/2014/main" id="{018E3145-BF87-4B97-9316-0A04970D3053}"/>
              </a:ext>
            </a:extLst>
          </p:cNvPr>
          <p:cNvSpPr>
            <a:spLocks xmlns:a="http://schemas.openxmlformats.org/drawingml/2006/main" noGrp="1"/>
          </p:cNvSpPr>
          <p:nvPr/>
        </p:nvSpPr>
        <p:spPr>
          <a:xfrm xmlns:a="http://schemas.openxmlformats.org/drawingml/2006/main">
            <a:off x="400050" y="2800350"/>
            <a:ext cx="54768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Lire les KPI et leurs définitions.</a:t>
            </a:r>
          </a:p>
        </p:txBody>
      </p:sp>
      <p:sp>
        <p:nvSpPr>
          <p:cNvPr id="8" name="Filtrer les tableaux, trier, paginer et exporter.">
            <a:extLst xmlns:a="http://schemas.openxmlformats.org/drawingml/2006/main">
              <a:ext uri="{FF2B5EF4-FFF2-40B4-BE49-F238E27FC236}">
                <a16:creationId xmlns:a16="http://schemas.microsoft.com/office/drawing/2014/main" id="{70874C23-1EA0-4624-A47D-10E88C02A1D8}"/>
              </a:ext>
            </a:extLst>
          </p:cNvPr>
          <p:cNvSpPr>
            <a:spLocks xmlns:a="http://schemas.openxmlformats.org/drawingml/2006/main" noGrp="1"/>
          </p:cNvSpPr>
          <p:nvPr/>
        </p:nvSpPr>
        <p:spPr>
          <a:xfrm xmlns:a="http://schemas.openxmlformats.org/drawingml/2006/main">
            <a:off x="400050" y="3743325"/>
            <a:ext cx="54768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Filtrer les tableaux, trier, paginer et exporter.</a:t>
            </a:r>
          </a:p>
        </p:txBody>
      </p:sp>
      <p:sp>
        <p:nvSpPr>
          <p:cNvPr id="9" name="Comparer les distributions sans mélanger les unités.">
            <a:extLst xmlns:a="http://schemas.openxmlformats.org/drawingml/2006/main">
              <a:ext uri="{FF2B5EF4-FFF2-40B4-BE49-F238E27FC236}">
                <a16:creationId xmlns:a16="http://schemas.microsoft.com/office/drawing/2014/main" id="{D566C623-633F-44DB-853B-A1BC6A4E782A}"/>
              </a:ext>
            </a:extLst>
          </p:cNvPr>
          <p:cNvSpPr>
            <a:spLocks xmlns:a="http://schemas.openxmlformats.org/drawingml/2006/main" noGrp="1"/>
          </p:cNvSpPr>
          <p:nvPr/>
        </p:nvSpPr>
        <p:spPr>
          <a:xfrm xmlns:a="http://schemas.openxmlformats.org/drawingml/2006/main">
            <a:off x="400050" y="4686300"/>
            <a:ext cx="54768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Comparer les distributions sans mélanger les unités.</a:t>
            </a:r>
          </a:p>
        </p:txBody>
      </p:sp>
      <p:sp>
        <p:nvSpPr>
          <p:cNvPr id="10" name="Conditions d’utilisation">
            <a:extLst xmlns:a="http://schemas.openxmlformats.org/drawingml/2006/main">
              <a:ext uri="{FF2B5EF4-FFF2-40B4-BE49-F238E27FC236}">
                <a16:creationId xmlns:a16="http://schemas.microsoft.com/office/drawing/2014/main" id="{17F8F882-EF18-4180-9420-EF0EF1063C61}"/>
              </a:ext>
            </a:extLst>
          </p:cNvPr>
          <p:cNvSpPr>
            <a:spLocks xmlns:a="http://schemas.openxmlformats.org/drawingml/2006/main" noGrp="1"/>
          </p:cNvSpPr>
          <p:nvPr/>
        </p:nvSpPr>
        <p:spPr>
          <a:xfrm xmlns:a="http://schemas.openxmlformats.org/drawingml/2006/main">
            <a:off x="6257925" y="2057400"/>
            <a:ext cx="54768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2400" b="1">
                <a:solidFill>
                  <a:srgbClr val="111111"/>
                </a:solidFill>
              </a:defRPr>
            </a:pPr>
            <a:r>
              <a:rPr sz="2400" b="1">
                <a:solidFill>
                  <a:srgbClr val="111111"/>
                </a:solidFill>
              </a:rPr>
              <a:t>Conditions d’utilisation</a:t>
            </a:r>
          </a:p>
        </p:txBody>
      </p:sp>
      <p:sp>
        <p:nvSpPr>
          <p:cNvPr id="11" name="Servir les pages avec python -m http.server 8000.">
            <a:extLst xmlns:a="http://schemas.openxmlformats.org/drawingml/2006/main">
              <a:ext uri="{FF2B5EF4-FFF2-40B4-BE49-F238E27FC236}">
                <a16:creationId xmlns:a16="http://schemas.microsoft.com/office/drawing/2014/main" id="{B89273BE-5831-47B1-A686-D5ED9E31B33E}"/>
              </a:ext>
            </a:extLst>
          </p:cNvPr>
          <p:cNvSpPr>
            <a:spLocks xmlns:a="http://schemas.openxmlformats.org/drawingml/2006/main" noGrp="1"/>
          </p:cNvSpPr>
          <p:nvPr/>
        </p:nvSpPr>
        <p:spPr>
          <a:xfrm xmlns:a="http://schemas.openxmlformats.org/drawingml/2006/main">
            <a:off x="6257925" y="2800350"/>
            <a:ext cx="54768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Servir les pages avec python -m http.server 8000.</a:t>
            </a:r>
          </a:p>
        </p:txBody>
      </p:sp>
      <p:sp>
        <p:nvSpPr>
          <p:cNvPr id="12" name="Les tableaux chargent les CSV locaux avec fetch.">
            <a:extLst xmlns:a="http://schemas.openxmlformats.org/drawingml/2006/main">
              <a:ext uri="{FF2B5EF4-FFF2-40B4-BE49-F238E27FC236}">
                <a16:creationId xmlns:a16="http://schemas.microsoft.com/office/drawing/2014/main" id="{4C5275BE-FBA0-404F-82F0-3F3586D5790C}"/>
              </a:ext>
            </a:extLst>
          </p:cNvPr>
          <p:cNvSpPr>
            <a:spLocks xmlns:a="http://schemas.openxmlformats.org/drawingml/2006/main" noGrp="1"/>
          </p:cNvSpPr>
          <p:nvPr/>
        </p:nvSpPr>
        <p:spPr>
          <a:xfrm xmlns:a="http://schemas.openxmlformats.org/drawingml/2006/main">
            <a:off x="6257925" y="3743325"/>
            <a:ext cx="54768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Les tableaux chargent les CSV locaux avec fetch.</a:t>
            </a:r>
          </a:p>
        </p:txBody>
      </p:sp>
      <p:sp>
        <p:nvSpPr>
          <p:cNvPr id="13" name="Les textes éditoriaux doivent être revus pour un nouveau lot.">
            <a:extLst xmlns:a="http://schemas.openxmlformats.org/drawingml/2006/main">
              <a:ext uri="{FF2B5EF4-FFF2-40B4-BE49-F238E27FC236}">
                <a16:creationId xmlns:a16="http://schemas.microsoft.com/office/drawing/2014/main" id="{2593D25C-4A19-4131-8086-E5C2B379B106}"/>
              </a:ext>
            </a:extLst>
          </p:cNvPr>
          <p:cNvSpPr>
            <a:spLocks xmlns:a="http://schemas.openxmlformats.org/drawingml/2006/main" noGrp="1"/>
          </p:cNvSpPr>
          <p:nvPr/>
        </p:nvSpPr>
        <p:spPr>
          <a:xfrm xmlns:a="http://schemas.openxmlformats.org/drawingml/2006/main">
            <a:off x="6257925" y="4686300"/>
            <a:ext cx="54768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Les textes éditoriaux doivent être revus pour un nouveau lot.</a:t>
            </a:r>
          </a:p>
        </p:txBody>
      </p:sp>
    </p:spTree>
    <p:extLst>
      <p:ext uri="{BB962C8B-B14F-4D97-AF65-F5344CB8AC3E}">
        <p14:creationId xmlns:p14="http://schemas.microsoft.com/office/powerpoint/2010/main" val="227495385"/>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08 · RESTITUTION">
            <a:extLst xmlns:a="http://schemas.openxmlformats.org/drawingml/2006/main">
              <a:ext uri="{FF2B5EF4-FFF2-40B4-BE49-F238E27FC236}">
                <a16:creationId xmlns:a16="http://schemas.microsoft.com/office/drawing/2014/main" id="{4330D42B-9158-4580-8E40-026E4079C28E}"/>
              </a:ext>
            </a:extLst>
          </p:cNvPr>
          <p:cNvSpPr>
            <a:spLocks xmlns:a="http://schemas.openxmlformats.org/drawingml/2006/main" noGrp="1"/>
          </p:cNvSpPr>
          <p:nvPr/>
        </p:nvSpPr>
        <p:spPr>
          <a:xfrm xmlns:a="http://schemas.openxmlformats.org/drawingml/2006/main">
            <a:off x="400050" y="228600"/>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1">
                <a:solidFill>
                  <a:srgbClr val="525860"/>
                </a:solidFill>
              </a:defRPr>
            </a:pPr>
            <a:r>
              <a:rPr sz="1650" b="1">
                <a:solidFill>
                  <a:srgbClr val="525860"/>
                </a:solidFill>
              </a:rPr>
              <a:t>08 · RESTITUTION</a:t>
            </a:r>
          </a:p>
        </p:txBody>
      </p:sp>
      <p:sp>
        <p:nvSpPr>
          <p:cNvPr id="2" name="La carte couvre les essais localisés">
            <a:extLst xmlns:a="http://schemas.openxmlformats.org/drawingml/2006/main">
              <a:ext uri="{FF2B5EF4-FFF2-40B4-BE49-F238E27FC236}">
                <a16:creationId xmlns:a16="http://schemas.microsoft.com/office/drawing/2014/main" id="{40114B9D-9495-4C99-A543-4B707362A000}"/>
              </a:ext>
            </a:extLst>
          </p:cNvPr>
          <p:cNvSpPr>
            <a:spLocks xmlns:a="http://schemas.openxmlformats.org/drawingml/2006/main" noGrp="1"/>
          </p:cNvSpPr>
          <p:nvPr/>
        </p:nvSpPr>
        <p:spPr>
          <a:xfrm xmlns:a="http://schemas.openxmlformats.org/drawingml/2006/main">
            <a:off x="400050" y="742950"/>
            <a:ext cx="113919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3600" b="1">
                <a:solidFill>
                  <a:srgbClr val="111111"/>
                </a:solidFill>
              </a:defRPr>
            </a:pPr>
            <a:r>
              <a:rPr sz="3600" b="1">
                <a:solidFill>
                  <a:srgbClr val="111111"/>
                </a:solidFill>
              </a:rPr>
              <a:t>La carte couvre les essais localisés</a:t>
            </a:r>
          </a:p>
        </p:txBody>
      </p:sp>
      <p:sp>
        <p:nvSpPr>
          <p:cNvPr id="3" name="">
            <a:extLst xmlns:a="http://schemas.openxmlformats.org/drawingml/2006/main">
              <a:ext uri="{FF2B5EF4-FFF2-40B4-BE49-F238E27FC236}">
                <a16:creationId xmlns:a16="http://schemas.microsoft.com/office/drawing/2014/main" id="{96153156-A6DF-47B8-97CF-33C71040CF25}"/>
              </a:ext>
            </a:extLst>
          </p:cNvPr>
          <p:cNvSpPr>
            <a:spLocks xmlns:a="http://schemas.openxmlformats.org/drawingml/2006/main" noGrp="1"/>
          </p:cNvSpPr>
          <p:nvPr/>
        </p:nvSpPr>
        <p:spPr>
          <a:xfrm xmlns:a="http://schemas.openxmlformats.org/drawingml/2006/main">
            <a:off x="400050" y="62293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4" name="SEMENCES R&amp;D · PROJET DE GROUPE">
            <a:extLst xmlns:a="http://schemas.openxmlformats.org/drawingml/2006/main">
              <a:ext uri="{FF2B5EF4-FFF2-40B4-BE49-F238E27FC236}">
                <a16:creationId xmlns:a16="http://schemas.microsoft.com/office/drawing/2014/main" id="{ACEF1C63-43F3-4B61-8830-17D8F913EBF5}"/>
              </a:ext>
            </a:extLst>
          </p:cNvPr>
          <p:cNvSpPr>
            <a:spLocks xmlns:a="http://schemas.openxmlformats.org/drawingml/2006/main" noGrp="1"/>
          </p:cNvSpPr>
          <p:nvPr/>
        </p:nvSpPr>
        <p:spPr>
          <a:xfrm xmlns:a="http://schemas.openxmlformats.org/drawingml/2006/main">
            <a:off x="400050" y="641032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0">
                <a:solidFill>
                  <a:srgbClr val="525860"/>
                </a:solidFill>
              </a:defRPr>
            </a:pPr>
            <a:r>
              <a:rPr sz="1650" b="0">
                <a:solidFill>
                  <a:srgbClr val="525860"/>
                </a:solidFill>
              </a:rPr>
              <a:t>SEMENCES R&amp;D · PROJET DE GROUPE</a:t>
            </a:r>
          </a:p>
        </p:txBody>
      </p:sp>
      <p:sp>
        <p:nvSpPr>
          <p:cNvPr id="5" name="15">
            <a:extLst xmlns:a="http://schemas.openxmlformats.org/drawingml/2006/main">
              <a:ext uri="{FF2B5EF4-FFF2-40B4-BE49-F238E27FC236}">
                <a16:creationId xmlns:a16="http://schemas.microsoft.com/office/drawing/2014/main" id="{1E04459F-5A05-4984-8229-D55E4AFE8073}"/>
              </a:ext>
            </a:extLst>
          </p:cNvPr>
          <p:cNvSpPr>
            <a:spLocks xmlns:a="http://schemas.openxmlformats.org/drawingml/2006/main" noGrp="1"/>
          </p:cNvSpPr>
          <p:nvPr/>
        </p:nvSpPr>
        <p:spPr>
          <a:xfrm xmlns:a="http://schemas.openxmlformats.org/drawingml/2006/main">
            <a:off x="11239500" y="64103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0">
                <a:solidFill>
                  <a:srgbClr val="525860"/>
                </a:solidFill>
              </a:defRPr>
            </a:pPr>
            <a:r>
              <a:rPr sz="1650" b="0">
                <a:solidFill>
                  <a:srgbClr val="525860"/>
                </a:solidFill>
              </a:rPr>
              <a:t>19</a:t>
            </a:r>
          </a:p>
        </p:txBody>
      </p:sp>
      <p:sp>
        <p:nvSpPr>
          <p:cNvPr id="6" name="424 essais affichables">
            <a:extLst xmlns:a="http://schemas.openxmlformats.org/drawingml/2006/main">
              <a:ext uri="{FF2B5EF4-FFF2-40B4-BE49-F238E27FC236}">
                <a16:creationId xmlns:a16="http://schemas.microsoft.com/office/drawing/2014/main" id="{E5BE8AAC-7905-4E85-AE45-B33F83D6DF09}"/>
              </a:ext>
            </a:extLst>
          </p:cNvPr>
          <p:cNvSpPr>
            <a:spLocks xmlns:a="http://schemas.openxmlformats.org/drawingml/2006/main" noGrp="1"/>
          </p:cNvSpPr>
          <p:nvPr/>
        </p:nvSpPr>
        <p:spPr>
          <a:xfrm xmlns:a="http://schemas.openxmlformats.org/drawingml/2006/main">
            <a:off x="400050" y="2057400"/>
            <a:ext cx="54768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2400" b="1">
                <a:solidFill>
                  <a:srgbClr val="111111"/>
                </a:solidFill>
              </a:defRPr>
            </a:pPr>
            <a:r>
              <a:rPr sz="2400" b="1">
                <a:solidFill>
                  <a:srgbClr val="111111"/>
                </a:solidFill>
              </a:rPr>
              <a:t>424 essais affichables</a:t>
            </a:r>
          </a:p>
        </p:txBody>
      </p:sp>
      <p:sp>
        <p:nvSpPr>
          <p:cNvPr id="7" name="Un sous-ensemble des 2 116 essais consolidés.">
            <a:extLst xmlns:a="http://schemas.openxmlformats.org/drawingml/2006/main">
              <a:ext uri="{FF2B5EF4-FFF2-40B4-BE49-F238E27FC236}">
                <a16:creationId xmlns:a16="http://schemas.microsoft.com/office/drawing/2014/main" id="{6B4B582B-F263-4EAC-A6B5-0A3B04DBC451}"/>
              </a:ext>
            </a:extLst>
          </p:cNvPr>
          <p:cNvSpPr>
            <a:spLocks xmlns:a="http://schemas.openxmlformats.org/drawingml/2006/main" noGrp="1"/>
          </p:cNvSpPr>
          <p:nvPr/>
        </p:nvSpPr>
        <p:spPr>
          <a:xfrm xmlns:a="http://schemas.openxmlformats.org/drawingml/2006/main">
            <a:off x="400050" y="2800350"/>
            <a:ext cx="54768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Un sous-ensemble des 2 116 essais consolidés.</a:t>
            </a:r>
          </a:p>
        </p:txBody>
      </p:sp>
      <p:sp>
        <p:nvSpPr>
          <p:cNvPr id="8" name="Filtres de catégorie et restriction géographique.">
            <a:extLst xmlns:a="http://schemas.openxmlformats.org/drawingml/2006/main">
              <a:ext uri="{FF2B5EF4-FFF2-40B4-BE49-F238E27FC236}">
                <a16:creationId xmlns:a16="http://schemas.microsoft.com/office/drawing/2014/main" id="{D40E1C2A-F58B-47BD-9058-81521EC9CF71}"/>
              </a:ext>
            </a:extLst>
          </p:cNvPr>
          <p:cNvSpPr>
            <a:spLocks xmlns:a="http://schemas.openxmlformats.org/drawingml/2006/main" noGrp="1"/>
          </p:cNvSpPr>
          <p:nvPr/>
        </p:nvSpPr>
        <p:spPr>
          <a:xfrm xmlns:a="http://schemas.openxmlformats.org/drawingml/2006/main">
            <a:off x="400050" y="3743325"/>
            <a:ext cx="54768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Filtres de catégorie et restriction géographique.</a:t>
            </a:r>
          </a:p>
        </p:txBody>
      </p:sp>
      <p:sp>
        <p:nvSpPr>
          <p:cNvPr id="9" name="Les données hors France restent explicitement visibles.">
            <a:extLst xmlns:a="http://schemas.openxmlformats.org/drawingml/2006/main">
              <a:ext uri="{FF2B5EF4-FFF2-40B4-BE49-F238E27FC236}">
                <a16:creationId xmlns:a16="http://schemas.microsoft.com/office/drawing/2014/main" id="{76A71D66-5B3F-4FD5-B810-83FCDA0AE60A}"/>
              </a:ext>
            </a:extLst>
          </p:cNvPr>
          <p:cNvSpPr>
            <a:spLocks xmlns:a="http://schemas.openxmlformats.org/drawingml/2006/main" noGrp="1"/>
          </p:cNvSpPr>
          <p:nvPr/>
        </p:nvSpPr>
        <p:spPr>
          <a:xfrm xmlns:a="http://schemas.openxmlformats.org/drawingml/2006/main">
            <a:off x="400050" y="4686300"/>
            <a:ext cx="54768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Les données hors France restent explicitement visibles.</a:t>
            </a:r>
          </a:p>
        </p:txBody>
      </p:sp>
      <p:sp>
        <p:nvSpPr>
          <p:cNvPr id="10" name="Lecture correcte">
            <a:extLst xmlns:a="http://schemas.openxmlformats.org/drawingml/2006/main">
              <a:ext uri="{FF2B5EF4-FFF2-40B4-BE49-F238E27FC236}">
                <a16:creationId xmlns:a16="http://schemas.microsoft.com/office/drawing/2014/main" id="{D8B4A3AB-0A9A-4FAA-8FAE-9D5AC336F314}"/>
              </a:ext>
            </a:extLst>
          </p:cNvPr>
          <p:cNvSpPr>
            <a:spLocks xmlns:a="http://schemas.openxmlformats.org/drawingml/2006/main" noGrp="1"/>
          </p:cNvSpPr>
          <p:nvPr/>
        </p:nvSpPr>
        <p:spPr>
          <a:xfrm xmlns:a="http://schemas.openxmlformats.org/drawingml/2006/main">
            <a:off x="6257925" y="2057400"/>
            <a:ext cx="54768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2400" b="1">
                <a:solidFill>
                  <a:srgbClr val="111111"/>
                </a:solidFill>
              </a:defRPr>
            </a:pPr>
            <a:r>
              <a:rPr sz="2400" b="1">
                <a:solidFill>
                  <a:srgbClr val="111111"/>
                </a:solidFill>
              </a:rPr>
              <a:t>Lecture correcte</a:t>
            </a:r>
          </a:p>
        </p:txBody>
      </p:sp>
      <p:sp>
        <p:nvSpPr>
          <p:cNvPr id="11" name="Une absence de point ne signifie pas absence de mesure.">
            <a:extLst xmlns:a="http://schemas.openxmlformats.org/drawingml/2006/main">
              <a:ext uri="{FF2B5EF4-FFF2-40B4-BE49-F238E27FC236}">
                <a16:creationId xmlns:a16="http://schemas.microsoft.com/office/drawing/2014/main" id="{F70B7395-A6D9-437D-9F2A-21EAB404D5CB}"/>
              </a:ext>
            </a:extLst>
          </p:cNvPr>
          <p:cNvSpPr>
            <a:spLocks xmlns:a="http://schemas.openxmlformats.org/drawingml/2006/main" noGrp="1"/>
          </p:cNvSpPr>
          <p:nvPr/>
        </p:nvSpPr>
        <p:spPr>
          <a:xfrm xmlns:a="http://schemas.openxmlformats.org/drawingml/2006/main">
            <a:off x="6257925" y="2800350"/>
            <a:ext cx="54768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Une absence de point ne signifie pas absence de mesure.</a:t>
            </a:r>
          </a:p>
        </p:txBody>
      </p:sp>
      <p:sp>
        <p:nvSpPr>
          <p:cNvPr id="12" name="Le fond et les bibliothèques cartographiques exigent Internet.">
            <a:extLst xmlns:a="http://schemas.openxmlformats.org/drawingml/2006/main">
              <a:ext uri="{FF2B5EF4-FFF2-40B4-BE49-F238E27FC236}">
                <a16:creationId xmlns:a16="http://schemas.microsoft.com/office/drawing/2014/main" id="{957EBA6B-E395-47FC-949A-0107873433E7}"/>
              </a:ext>
            </a:extLst>
          </p:cNvPr>
          <p:cNvSpPr>
            <a:spLocks xmlns:a="http://schemas.openxmlformats.org/drawingml/2006/main" noGrp="1"/>
          </p:cNvSpPr>
          <p:nvPr/>
        </p:nvSpPr>
        <p:spPr>
          <a:xfrm xmlns:a="http://schemas.openxmlformats.org/drawingml/2006/main">
            <a:off x="6257925" y="3743325"/>
            <a:ext cx="54768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Le fond et les bibliothèques cartographiques exigent Internet.</a:t>
            </a:r>
          </a:p>
        </p:txBody>
      </p:sp>
      <p:sp>
        <p:nvSpPr>
          <p:cNvPr id="13" name="Les données géographiques viennent des métadonnées d’essais.">
            <a:extLst xmlns:a="http://schemas.openxmlformats.org/drawingml/2006/main">
              <a:ext uri="{FF2B5EF4-FFF2-40B4-BE49-F238E27FC236}">
                <a16:creationId xmlns:a16="http://schemas.microsoft.com/office/drawing/2014/main" id="{A43CE71A-14D1-4758-B58A-ED7D17BA61A1}"/>
              </a:ext>
            </a:extLst>
          </p:cNvPr>
          <p:cNvSpPr>
            <a:spLocks xmlns:a="http://schemas.openxmlformats.org/drawingml/2006/main" noGrp="1"/>
          </p:cNvSpPr>
          <p:nvPr/>
        </p:nvSpPr>
        <p:spPr>
          <a:xfrm xmlns:a="http://schemas.openxmlformats.org/drawingml/2006/main">
            <a:off x="6257925" y="4686300"/>
            <a:ext cx="54768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Les données géographiques viennent des métadonnées d’essais.</a:t>
            </a:r>
          </a:p>
        </p:txBody>
      </p:sp>
    </p:spTree>
    <p:extLst>
      <p:ext uri="{BB962C8B-B14F-4D97-AF65-F5344CB8AC3E}">
        <p14:creationId xmlns:p14="http://schemas.microsoft.com/office/powerpoint/2010/main" val="862167734"/>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09 · MACHINE LEARNING">
            <a:extLst xmlns:a="http://schemas.openxmlformats.org/drawingml/2006/main">
              <a:ext uri="{FF2B5EF4-FFF2-40B4-BE49-F238E27FC236}">
                <a16:creationId xmlns:a16="http://schemas.microsoft.com/office/drawing/2014/main" id="{81C843B4-2CE6-4804-A4AC-A43941550B2C}"/>
              </a:ext>
            </a:extLst>
          </p:cNvPr>
          <p:cNvSpPr>
            <a:spLocks xmlns:a="http://schemas.openxmlformats.org/drawingml/2006/main" noGrp="1"/>
          </p:cNvSpPr>
          <p:nvPr/>
        </p:nvSpPr>
        <p:spPr>
          <a:xfrm xmlns:a="http://schemas.openxmlformats.org/drawingml/2006/main">
            <a:off x="400050" y="228600"/>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1">
                <a:solidFill>
                  <a:srgbClr val="525860"/>
                </a:solidFill>
              </a:defRPr>
            </a:pPr>
            <a:r>
              <a:rPr sz="1650" b="1">
                <a:solidFill>
                  <a:srgbClr val="525860"/>
                </a:solidFill>
              </a:rPr>
              <a:t>09 · MACHINE LEARNING</a:t>
            </a:r>
          </a:p>
        </p:txBody>
      </p:sp>
      <p:sp>
        <p:nvSpPr>
          <p:cNvPr id="2" name="Prédire YD15QH avant sa mesure">
            <a:extLst xmlns:a="http://schemas.openxmlformats.org/drawingml/2006/main">
              <a:ext uri="{FF2B5EF4-FFF2-40B4-BE49-F238E27FC236}">
                <a16:creationId xmlns:a16="http://schemas.microsoft.com/office/drawing/2014/main" id="{7288C231-2067-4491-AAE5-663EAE543E0E}"/>
              </a:ext>
            </a:extLst>
          </p:cNvPr>
          <p:cNvSpPr>
            <a:spLocks xmlns:a="http://schemas.openxmlformats.org/drawingml/2006/main" noGrp="1"/>
          </p:cNvSpPr>
          <p:nvPr/>
        </p:nvSpPr>
        <p:spPr>
          <a:xfrm xmlns:a="http://schemas.openxmlformats.org/drawingml/2006/main">
            <a:off x="400050" y="742950"/>
            <a:ext cx="113919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3600" b="1">
                <a:solidFill>
                  <a:srgbClr val="111111"/>
                </a:solidFill>
              </a:defRPr>
            </a:pPr>
            <a:r>
              <a:rPr sz="3600" b="1">
                <a:solidFill>
                  <a:srgbClr val="111111"/>
                </a:solidFill>
              </a:rPr>
              <a:t>Prédire YD15QH avant sa mesure</a:t>
            </a:r>
          </a:p>
        </p:txBody>
      </p:sp>
      <p:sp>
        <p:nvSpPr>
          <p:cNvPr id="3" name="">
            <a:extLst xmlns:a="http://schemas.openxmlformats.org/drawingml/2006/main">
              <a:ext uri="{FF2B5EF4-FFF2-40B4-BE49-F238E27FC236}">
                <a16:creationId xmlns:a16="http://schemas.microsoft.com/office/drawing/2014/main" id="{2C9D16DC-B9FA-4135-9B30-E6998EBB39CA}"/>
              </a:ext>
            </a:extLst>
          </p:cNvPr>
          <p:cNvSpPr>
            <a:spLocks xmlns:a="http://schemas.openxmlformats.org/drawingml/2006/main" noGrp="1"/>
          </p:cNvSpPr>
          <p:nvPr/>
        </p:nvSpPr>
        <p:spPr>
          <a:xfrm xmlns:a="http://schemas.openxmlformats.org/drawingml/2006/main">
            <a:off x="400050" y="62293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4" name="SEMENCES R&amp;D · PROJET DE GROUPE">
            <a:extLst xmlns:a="http://schemas.openxmlformats.org/drawingml/2006/main">
              <a:ext uri="{FF2B5EF4-FFF2-40B4-BE49-F238E27FC236}">
                <a16:creationId xmlns:a16="http://schemas.microsoft.com/office/drawing/2014/main" id="{911ACC69-1A5C-4DB2-A507-582DF37E529D}"/>
              </a:ext>
            </a:extLst>
          </p:cNvPr>
          <p:cNvSpPr>
            <a:spLocks xmlns:a="http://schemas.openxmlformats.org/drawingml/2006/main" noGrp="1"/>
          </p:cNvSpPr>
          <p:nvPr/>
        </p:nvSpPr>
        <p:spPr>
          <a:xfrm xmlns:a="http://schemas.openxmlformats.org/drawingml/2006/main">
            <a:off x="400050" y="641032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0">
                <a:solidFill>
                  <a:srgbClr val="525860"/>
                </a:solidFill>
              </a:defRPr>
            </a:pPr>
            <a:r>
              <a:rPr sz="1650" b="0">
                <a:solidFill>
                  <a:srgbClr val="525860"/>
                </a:solidFill>
              </a:rPr>
              <a:t>SEMENCES R&amp;D · PROJET DE GROUPE</a:t>
            </a:r>
          </a:p>
        </p:txBody>
      </p:sp>
      <p:sp>
        <p:nvSpPr>
          <p:cNvPr id="5" name="16">
            <a:extLst xmlns:a="http://schemas.openxmlformats.org/drawingml/2006/main">
              <a:ext uri="{FF2B5EF4-FFF2-40B4-BE49-F238E27FC236}">
                <a16:creationId xmlns:a16="http://schemas.microsoft.com/office/drawing/2014/main" id="{F95A5B00-6AFF-4387-AB61-8CB2173C22C9}"/>
              </a:ext>
            </a:extLst>
          </p:cNvPr>
          <p:cNvSpPr>
            <a:spLocks xmlns:a="http://schemas.openxmlformats.org/drawingml/2006/main" noGrp="1"/>
          </p:cNvSpPr>
          <p:nvPr/>
        </p:nvSpPr>
        <p:spPr>
          <a:xfrm xmlns:a="http://schemas.openxmlformats.org/drawingml/2006/main">
            <a:off x="11239500" y="64103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0">
                <a:solidFill>
                  <a:srgbClr val="525860"/>
                </a:solidFill>
              </a:defRPr>
            </a:pPr>
            <a:r>
              <a:rPr sz="1650" b="0">
                <a:solidFill>
                  <a:srgbClr val="525860"/>
                </a:solidFill>
              </a:rPr>
              <a:t>20</a:t>
            </a:r>
          </a:p>
        </p:txBody>
      </p:sp>
      <p:sp>
        <p:nvSpPr>
          <p:cNvPr id="6" name="Deux sorties">
            <a:extLst xmlns:a="http://schemas.openxmlformats.org/drawingml/2006/main">
              <a:ext uri="{FF2B5EF4-FFF2-40B4-BE49-F238E27FC236}">
                <a16:creationId xmlns:a16="http://schemas.microsoft.com/office/drawing/2014/main" id="{4FB1D6E0-379F-4725-AE92-AC1A237E5E79}"/>
              </a:ext>
            </a:extLst>
          </p:cNvPr>
          <p:cNvSpPr>
            <a:spLocks xmlns:a="http://schemas.openxmlformats.org/drawingml/2006/main" noGrp="1"/>
          </p:cNvSpPr>
          <p:nvPr/>
        </p:nvSpPr>
        <p:spPr>
          <a:xfrm xmlns:a="http://schemas.openxmlformats.org/drawingml/2006/main">
            <a:off x="400050" y="2057400"/>
            <a:ext cx="54768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2400" b="1">
                <a:solidFill>
                  <a:srgbClr val="111111"/>
                </a:solidFill>
              </a:defRPr>
            </a:pPr>
            <a:r>
              <a:rPr sz="2400" b="1">
                <a:solidFill>
                  <a:srgbClr val="111111"/>
                </a:solidFill>
              </a:rPr>
              <a:t>Deux sorties</a:t>
            </a:r>
          </a:p>
        </p:txBody>
      </p:sp>
      <p:sp>
        <p:nvSpPr>
          <p:cNvPr id="7" name="Régression du rendement avec HistGradientBoosting.">
            <a:extLst xmlns:a="http://schemas.openxmlformats.org/drawingml/2006/main">
              <a:ext uri="{FF2B5EF4-FFF2-40B4-BE49-F238E27FC236}">
                <a16:creationId xmlns:a16="http://schemas.microsoft.com/office/drawing/2014/main" id="{C3BDBDC6-176F-48BE-B8A7-02D4B048D7AB}"/>
              </a:ext>
            </a:extLst>
          </p:cNvPr>
          <p:cNvSpPr>
            <a:spLocks xmlns:a="http://schemas.openxmlformats.org/drawingml/2006/main" noGrp="1"/>
          </p:cNvSpPr>
          <p:nvPr/>
        </p:nvSpPr>
        <p:spPr>
          <a:xfrm xmlns:a="http://schemas.openxmlformats.org/drawingml/2006/main">
            <a:off x="400050" y="2800350"/>
            <a:ext cx="54768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Régression du rendement avec HistGradientBoosting.</a:t>
            </a:r>
          </a:p>
        </p:txBody>
      </p:sp>
      <p:sp>
        <p:nvSpPr>
          <p:cNvPr id="8" name="Classification : rendement supérieur ou égal à 80 q/ha.">
            <a:extLst xmlns:a="http://schemas.openxmlformats.org/drawingml/2006/main">
              <a:ext uri="{FF2B5EF4-FFF2-40B4-BE49-F238E27FC236}">
                <a16:creationId xmlns:a16="http://schemas.microsoft.com/office/drawing/2014/main" id="{5C9B0EBF-C575-41C5-968D-30B19340BC40}"/>
              </a:ext>
            </a:extLst>
          </p:cNvPr>
          <p:cNvSpPr>
            <a:spLocks xmlns:a="http://schemas.openxmlformats.org/drawingml/2006/main" noGrp="1"/>
          </p:cNvSpPr>
          <p:nvPr/>
        </p:nvSpPr>
        <p:spPr>
          <a:xfrm xmlns:a="http://schemas.openxmlformats.org/drawingml/2006/main">
            <a:off x="400050" y="3743325"/>
            <a:ext cx="54768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Classification : rendement supérieur ou égal à 80 q/ha.</a:t>
            </a:r>
          </a:p>
        </p:txBody>
      </p:sp>
      <p:sp>
        <p:nvSpPr>
          <p:cNvPr id="9" name="Imputation et encodage intégrés aux pipelines scikit-learn.">
            <a:extLst xmlns:a="http://schemas.openxmlformats.org/drawingml/2006/main">
              <a:ext uri="{FF2B5EF4-FFF2-40B4-BE49-F238E27FC236}">
                <a16:creationId xmlns:a16="http://schemas.microsoft.com/office/drawing/2014/main" id="{A911FBED-B622-4952-A51A-64D0D451C969}"/>
              </a:ext>
            </a:extLst>
          </p:cNvPr>
          <p:cNvSpPr>
            <a:spLocks xmlns:a="http://schemas.openxmlformats.org/drawingml/2006/main" noGrp="1"/>
          </p:cNvSpPr>
          <p:nvPr/>
        </p:nvSpPr>
        <p:spPr>
          <a:xfrm xmlns:a="http://schemas.openxmlformats.org/drawingml/2006/main">
            <a:off x="400050" y="4686300"/>
            <a:ext cx="54768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Imputation et encodage intégrés aux pipelines scikit-learn.</a:t>
            </a:r>
          </a:p>
        </p:txBody>
      </p:sp>
      <p:sp>
        <p:nvSpPr>
          <p:cNvPr id="10" name="Six variables">
            <a:extLst xmlns:a="http://schemas.openxmlformats.org/drawingml/2006/main">
              <a:ext uri="{FF2B5EF4-FFF2-40B4-BE49-F238E27FC236}">
                <a16:creationId xmlns:a16="http://schemas.microsoft.com/office/drawing/2014/main" id="{17DD1294-46DA-4DAF-93B5-93666D3D4876}"/>
              </a:ext>
            </a:extLst>
          </p:cNvPr>
          <p:cNvSpPr>
            <a:spLocks xmlns:a="http://schemas.openxmlformats.org/drawingml/2006/main" noGrp="1"/>
          </p:cNvSpPr>
          <p:nvPr/>
        </p:nvSpPr>
        <p:spPr>
          <a:xfrm xmlns:a="http://schemas.openxmlformats.org/drawingml/2006/main">
            <a:off x="6257925" y="2057400"/>
            <a:ext cx="54768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2400" b="1">
                <a:solidFill>
                  <a:srgbClr val="111111"/>
                </a:solidFill>
              </a:defRPr>
            </a:pPr>
            <a:r>
              <a:rPr sz="2400" b="1">
                <a:solidFill>
                  <a:srgbClr val="111111"/>
                </a:solidFill>
              </a:rPr>
              <a:t>Six variables</a:t>
            </a:r>
          </a:p>
        </p:txBody>
      </p:sp>
      <p:sp>
        <p:nvSpPr>
          <p:cNvPr id="11" name="Année, réplication et numéro d’entrée.">
            <a:extLst xmlns:a="http://schemas.openxmlformats.org/drawingml/2006/main">
              <a:ext uri="{FF2B5EF4-FFF2-40B4-BE49-F238E27FC236}">
                <a16:creationId xmlns:a16="http://schemas.microsoft.com/office/drawing/2014/main" id="{D0B5563B-57D8-40C4-9E71-BE08BFB039D6}"/>
              </a:ext>
            </a:extLst>
          </p:cNvPr>
          <p:cNvSpPr>
            <a:spLocks xmlns:a="http://schemas.openxmlformats.org/drawingml/2006/main" noGrp="1"/>
          </p:cNvSpPr>
          <p:nvPr/>
        </p:nvSpPr>
        <p:spPr>
          <a:xfrm xmlns:a="http://schemas.openxmlformats.org/drawingml/2006/main">
            <a:off x="6257925" y="2800350"/>
            <a:ext cx="54768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Année, réplication et numéro d’entrée.</a:t>
            </a:r>
          </a:p>
        </p:txBody>
      </p:sp>
      <p:sp>
        <p:nvSpPr>
          <p:cNvPr id="12" name="Espèce, spécificité et région.">
            <a:extLst xmlns:a="http://schemas.openxmlformats.org/drawingml/2006/main">
              <a:ext uri="{FF2B5EF4-FFF2-40B4-BE49-F238E27FC236}">
                <a16:creationId xmlns:a16="http://schemas.microsoft.com/office/drawing/2014/main" id="{CB87E58E-3FAC-4852-9C3C-FCD2427823C6}"/>
              </a:ext>
            </a:extLst>
          </p:cNvPr>
          <p:cNvSpPr>
            <a:spLocks xmlns:a="http://schemas.openxmlformats.org/drawingml/2006/main" noGrp="1"/>
          </p:cNvSpPr>
          <p:nvPr/>
        </p:nvSpPr>
        <p:spPr>
          <a:xfrm xmlns:a="http://schemas.openxmlformats.org/drawingml/2006/main">
            <a:off x="6257925" y="3743325"/>
            <a:ext cx="54768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Espèce, spécificité et région.</a:t>
            </a:r>
          </a:p>
        </p:txBody>
      </p:sp>
      <p:sp>
        <p:nvSpPr>
          <p:cNvPr id="13" name="Ni rendement voisin, ni humidité finale, ni identifiant d’essai.">
            <a:extLst xmlns:a="http://schemas.openxmlformats.org/drawingml/2006/main">
              <a:ext uri="{FF2B5EF4-FFF2-40B4-BE49-F238E27FC236}">
                <a16:creationId xmlns:a16="http://schemas.microsoft.com/office/drawing/2014/main" id="{541C1FC9-06DC-4CE2-8916-26E4E47485A2}"/>
              </a:ext>
            </a:extLst>
          </p:cNvPr>
          <p:cNvSpPr>
            <a:spLocks xmlns:a="http://schemas.openxmlformats.org/drawingml/2006/main" noGrp="1"/>
          </p:cNvSpPr>
          <p:nvPr/>
        </p:nvSpPr>
        <p:spPr>
          <a:xfrm xmlns:a="http://schemas.openxmlformats.org/drawingml/2006/main">
            <a:off x="6257925" y="4686300"/>
            <a:ext cx="54768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Ni rendement voisin, ni humidité finale, ni identifiant d’essai.</a:t>
            </a:r>
          </a:p>
        </p:txBody>
      </p:sp>
    </p:spTree>
    <p:extLst>
      <p:ext uri="{BB962C8B-B14F-4D97-AF65-F5344CB8AC3E}">
        <p14:creationId xmlns:p14="http://schemas.microsoft.com/office/powerpoint/2010/main" val="1081767290"/>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09 · VALIDATION ML">
            <a:extLst xmlns:a="http://schemas.openxmlformats.org/drawingml/2006/main">
              <a:ext uri="{FF2B5EF4-FFF2-40B4-BE49-F238E27FC236}">
                <a16:creationId xmlns:a16="http://schemas.microsoft.com/office/drawing/2014/main" id="{2CC79509-F153-4814-A37D-3B987B9D2199}"/>
              </a:ext>
            </a:extLst>
          </p:cNvPr>
          <p:cNvSpPr>
            <a:spLocks xmlns:a="http://schemas.openxmlformats.org/drawingml/2006/main" noGrp="1"/>
          </p:cNvSpPr>
          <p:nvPr/>
        </p:nvSpPr>
        <p:spPr>
          <a:xfrm xmlns:a="http://schemas.openxmlformats.org/drawingml/2006/main">
            <a:off x="400050" y="228600"/>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1">
                <a:solidFill>
                  <a:srgbClr val="525860"/>
                </a:solidFill>
              </a:defRPr>
            </a:pPr>
            <a:r>
              <a:rPr sz="1650" b="1">
                <a:solidFill>
                  <a:srgbClr val="525860"/>
                </a:solidFill>
              </a:rPr>
              <a:t>09 · VALIDATION ML</a:t>
            </a:r>
          </a:p>
        </p:txBody>
      </p:sp>
      <p:sp>
        <p:nvSpPr>
          <p:cNvPr id="2" name="Le test temporel reste séparé">
            <a:extLst xmlns:a="http://schemas.openxmlformats.org/drawingml/2006/main">
              <a:ext uri="{FF2B5EF4-FFF2-40B4-BE49-F238E27FC236}">
                <a16:creationId xmlns:a16="http://schemas.microsoft.com/office/drawing/2014/main" id="{48E0ECE5-07F5-4454-8C84-23A7EBFC510D}"/>
              </a:ext>
            </a:extLst>
          </p:cNvPr>
          <p:cNvSpPr>
            <a:spLocks xmlns:a="http://schemas.openxmlformats.org/drawingml/2006/main" noGrp="1"/>
          </p:cNvSpPr>
          <p:nvPr/>
        </p:nvSpPr>
        <p:spPr>
          <a:xfrm xmlns:a="http://schemas.openxmlformats.org/drawingml/2006/main">
            <a:off x="400050" y="742950"/>
            <a:ext cx="113919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3600" b="1">
                <a:solidFill>
                  <a:srgbClr val="111111"/>
                </a:solidFill>
              </a:defRPr>
            </a:pPr>
            <a:r>
              <a:rPr sz="3600" b="1">
                <a:solidFill>
                  <a:srgbClr val="111111"/>
                </a:solidFill>
              </a:rPr>
              <a:t>Le test temporel reste séparé</a:t>
            </a:r>
          </a:p>
        </p:txBody>
      </p:sp>
      <p:sp>
        <p:nvSpPr>
          <p:cNvPr id="3" name="">
            <a:extLst xmlns:a="http://schemas.openxmlformats.org/drawingml/2006/main">
              <a:ext uri="{FF2B5EF4-FFF2-40B4-BE49-F238E27FC236}">
                <a16:creationId xmlns:a16="http://schemas.microsoft.com/office/drawing/2014/main" id="{FBD5302F-757A-4049-B38B-8E7A22810DF6}"/>
              </a:ext>
            </a:extLst>
          </p:cNvPr>
          <p:cNvSpPr>
            <a:spLocks xmlns:a="http://schemas.openxmlformats.org/drawingml/2006/main" noGrp="1"/>
          </p:cNvSpPr>
          <p:nvPr/>
        </p:nvSpPr>
        <p:spPr>
          <a:xfrm xmlns:a="http://schemas.openxmlformats.org/drawingml/2006/main">
            <a:off x="400050" y="62293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4" name="SEMENCES R&amp;D · PROJET DE GROUPE">
            <a:extLst xmlns:a="http://schemas.openxmlformats.org/drawingml/2006/main">
              <a:ext uri="{FF2B5EF4-FFF2-40B4-BE49-F238E27FC236}">
                <a16:creationId xmlns:a16="http://schemas.microsoft.com/office/drawing/2014/main" id="{AD6984FB-7A63-4422-965D-514DAE161A15}"/>
              </a:ext>
            </a:extLst>
          </p:cNvPr>
          <p:cNvSpPr>
            <a:spLocks xmlns:a="http://schemas.openxmlformats.org/drawingml/2006/main" noGrp="1"/>
          </p:cNvSpPr>
          <p:nvPr/>
        </p:nvSpPr>
        <p:spPr>
          <a:xfrm xmlns:a="http://schemas.openxmlformats.org/drawingml/2006/main">
            <a:off x="400050" y="641032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0">
                <a:solidFill>
                  <a:srgbClr val="525860"/>
                </a:solidFill>
              </a:defRPr>
            </a:pPr>
            <a:r>
              <a:rPr sz="1650" b="0">
                <a:solidFill>
                  <a:srgbClr val="525860"/>
                </a:solidFill>
              </a:rPr>
              <a:t>SEMENCES R&amp;D · PROJET DE GROUPE</a:t>
            </a:r>
          </a:p>
        </p:txBody>
      </p:sp>
      <p:sp>
        <p:nvSpPr>
          <p:cNvPr id="5" name="17">
            <a:extLst xmlns:a="http://schemas.openxmlformats.org/drawingml/2006/main">
              <a:ext uri="{FF2B5EF4-FFF2-40B4-BE49-F238E27FC236}">
                <a16:creationId xmlns:a16="http://schemas.microsoft.com/office/drawing/2014/main" id="{378A44FE-83EE-4529-ABFF-355329ED801B}"/>
              </a:ext>
            </a:extLst>
          </p:cNvPr>
          <p:cNvSpPr>
            <a:spLocks xmlns:a="http://schemas.openxmlformats.org/drawingml/2006/main" noGrp="1"/>
          </p:cNvSpPr>
          <p:nvPr/>
        </p:nvSpPr>
        <p:spPr>
          <a:xfrm xmlns:a="http://schemas.openxmlformats.org/drawingml/2006/main">
            <a:off x="11239500" y="64103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0">
                <a:solidFill>
                  <a:srgbClr val="525860"/>
                </a:solidFill>
              </a:defRPr>
            </a:pPr>
            <a:r>
              <a:rPr sz="1650" b="0">
                <a:solidFill>
                  <a:srgbClr val="525860"/>
                </a:solidFill>
              </a:rPr>
              <a:t>21</a:t>
            </a:r>
          </a:p>
        </p:txBody>
      </p:sp>
      <p:sp>
        <p:nvSpPr>
          <p:cNvPr id="6" name="">
            <a:extLst xmlns:a="http://schemas.openxmlformats.org/drawingml/2006/main">
              <a:ext uri="{FF2B5EF4-FFF2-40B4-BE49-F238E27FC236}">
                <a16:creationId xmlns:a16="http://schemas.microsoft.com/office/drawing/2014/main" id="{71336FD0-B3E2-4B4E-BB78-8DE2A26747A9}"/>
              </a:ext>
            </a:extLst>
          </p:cNvPr>
          <p:cNvSpPr>
            <a:spLocks xmlns:a="http://schemas.openxmlformats.org/drawingml/2006/main" noGrp="1"/>
          </p:cNvSpPr>
          <p:nvPr/>
        </p:nvSpPr>
        <p:spPr>
          <a:xfrm xmlns:a="http://schemas.openxmlformats.org/drawingml/2006/main">
            <a:off x="400050" y="33337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7" name="2015–2017">
            <a:extLst xmlns:a="http://schemas.openxmlformats.org/drawingml/2006/main">
              <a:ext uri="{FF2B5EF4-FFF2-40B4-BE49-F238E27FC236}">
                <a16:creationId xmlns:a16="http://schemas.microsoft.com/office/drawing/2014/main" id="{4763D809-5408-4CD2-B9A7-A2068DE207EC}"/>
              </a:ext>
            </a:extLst>
          </p:cNvPr>
          <p:cNvSpPr>
            <a:spLocks xmlns:a="http://schemas.openxmlformats.org/drawingml/2006/main" noGrp="1"/>
          </p:cNvSpPr>
          <p:nvPr/>
        </p:nvSpPr>
        <p:spPr>
          <a:xfrm xmlns:a="http://schemas.openxmlformats.org/drawingml/2006/main">
            <a:off x="400050" y="2571750"/>
            <a:ext cx="3486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3000" b="1">
                <a:solidFill>
                  <a:srgbClr val="2475AC"/>
                </a:solidFill>
              </a:defRPr>
            </a:pPr>
            <a:r>
              <a:rPr sz="3000" b="1">
                <a:solidFill>
                  <a:srgbClr val="2475AC"/>
                </a:solidFill>
              </a:rPr>
              <a:t>2015–2017</a:t>
            </a:r>
          </a:p>
        </p:txBody>
      </p:sp>
      <p:sp>
        <p:nvSpPr>
          <p:cNvPr id="8" name="Apprentissage">
            <a:extLst xmlns:a="http://schemas.openxmlformats.org/drawingml/2006/main">
              <a:ext uri="{FF2B5EF4-FFF2-40B4-BE49-F238E27FC236}">
                <a16:creationId xmlns:a16="http://schemas.microsoft.com/office/drawing/2014/main" id="{DC188BEB-62C2-4B19-8548-0F44F1F1BA3A}"/>
              </a:ext>
            </a:extLst>
          </p:cNvPr>
          <p:cNvSpPr>
            <a:spLocks xmlns:a="http://schemas.openxmlformats.org/drawingml/2006/main" noGrp="1"/>
          </p:cNvSpPr>
          <p:nvPr/>
        </p:nvSpPr>
        <p:spPr>
          <a:xfrm xmlns:a="http://schemas.openxmlformats.org/drawingml/2006/main">
            <a:off x="400050" y="3743325"/>
            <a:ext cx="3486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2400" b="1">
                <a:solidFill>
                  <a:srgbClr val="111111"/>
                </a:solidFill>
              </a:defRPr>
            </a:pPr>
            <a:r>
              <a:rPr sz="2400" b="1">
                <a:solidFill>
                  <a:srgbClr val="111111"/>
                </a:solidFill>
              </a:rPr>
              <a:t>Apprentissage</a:t>
            </a:r>
          </a:p>
        </p:txBody>
      </p:sp>
      <p:sp>
        <p:nvSpPr>
          <p:cNvPr id="9" name="42 940 lignes ; prétraitement ajusté sur l’apprentissage.">
            <a:extLst xmlns:a="http://schemas.openxmlformats.org/drawingml/2006/main">
              <a:ext uri="{FF2B5EF4-FFF2-40B4-BE49-F238E27FC236}">
                <a16:creationId xmlns:a16="http://schemas.microsoft.com/office/drawing/2014/main" id="{26307FED-17AF-40B4-A413-3B54703B5C38}"/>
              </a:ext>
            </a:extLst>
          </p:cNvPr>
          <p:cNvSpPr>
            <a:spLocks xmlns:a="http://schemas.openxmlformats.org/drawingml/2006/main" noGrp="1"/>
          </p:cNvSpPr>
          <p:nvPr/>
        </p:nvSpPr>
        <p:spPr>
          <a:xfrm xmlns:a="http://schemas.openxmlformats.org/drawingml/2006/main">
            <a:off x="400050" y="4514850"/>
            <a:ext cx="348615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42 940 lignes ; prétraitement ajusté sur l’apprentissage.</a:t>
            </a:r>
          </a:p>
        </p:txBody>
      </p:sp>
      <p:sp>
        <p:nvSpPr>
          <p:cNvPr id="10" name="3 plis">
            <a:extLst xmlns:a="http://schemas.openxmlformats.org/drawingml/2006/main">
              <a:ext uri="{FF2B5EF4-FFF2-40B4-BE49-F238E27FC236}">
                <a16:creationId xmlns:a16="http://schemas.microsoft.com/office/drawing/2014/main" id="{D9D0BF9E-378D-42AE-8F1B-E5B3336F1BD6}"/>
              </a:ext>
            </a:extLst>
          </p:cNvPr>
          <p:cNvSpPr>
            <a:spLocks xmlns:a="http://schemas.openxmlformats.org/drawingml/2006/main" noGrp="1"/>
          </p:cNvSpPr>
          <p:nvPr/>
        </p:nvSpPr>
        <p:spPr>
          <a:xfrm xmlns:a="http://schemas.openxmlformats.org/drawingml/2006/main">
            <a:off x="4314825" y="2571750"/>
            <a:ext cx="3486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3000" b="1">
                <a:solidFill>
                  <a:srgbClr val="2475AC"/>
                </a:solidFill>
              </a:defRPr>
            </a:pPr>
            <a:r>
              <a:rPr sz="3000" b="1">
                <a:solidFill>
                  <a:srgbClr val="2475AC"/>
                </a:solidFill>
              </a:rPr>
              <a:t>3 plis</a:t>
            </a:r>
          </a:p>
        </p:txBody>
      </p:sp>
      <p:sp>
        <p:nvSpPr>
          <p:cNvPr id="11" name="Sélection">
            <a:extLst xmlns:a="http://schemas.openxmlformats.org/drawingml/2006/main">
              <a:ext uri="{FF2B5EF4-FFF2-40B4-BE49-F238E27FC236}">
                <a16:creationId xmlns:a16="http://schemas.microsoft.com/office/drawing/2014/main" id="{C0BBFC50-5FB3-4216-9BA3-61E9187F7FBA}"/>
              </a:ext>
            </a:extLst>
          </p:cNvPr>
          <p:cNvSpPr>
            <a:spLocks xmlns:a="http://schemas.openxmlformats.org/drawingml/2006/main" noGrp="1"/>
          </p:cNvSpPr>
          <p:nvPr/>
        </p:nvSpPr>
        <p:spPr>
          <a:xfrm xmlns:a="http://schemas.openxmlformats.org/drawingml/2006/main">
            <a:off x="4314825" y="3743325"/>
            <a:ext cx="3486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2400" b="1">
                <a:solidFill>
                  <a:srgbClr val="111111"/>
                </a:solidFill>
              </a:defRPr>
            </a:pPr>
            <a:r>
              <a:rPr sz="2400" b="1">
                <a:solidFill>
                  <a:srgbClr val="111111"/>
                </a:solidFill>
              </a:rPr>
              <a:t>Sélection</a:t>
            </a:r>
          </a:p>
        </p:txBody>
      </p:sp>
      <p:sp>
        <p:nvSpPr>
          <p:cNvPr id="12" name="GroupKFold par essai pour les paramètres et le seuil du classifie">
            <a:extLst xmlns:a="http://schemas.openxmlformats.org/drawingml/2006/main">
              <a:ext uri="{FF2B5EF4-FFF2-40B4-BE49-F238E27FC236}">
                <a16:creationId xmlns:a16="http://schemas.microsoft.com/office/drawing/2014/main" id="{C4F1E18D-03DE-4467-A381-FEBCCE20352C}"/>
              </a:ext>
            </a:extLst>
          </p:cNvPr>
          <p:cNvSpPr>
            <a:spLocks xmlns:a="http://schemas.openxmlformats.org/drawingml/2006/main" noGrp="1"/>
          </p:cNvSpPr>
          <p:nvPr/>
        </p:nvSpPr>
        <p:spPr>
          <a:xfrm xmlns:a="http://schemas.openxmlformats.org/drawingml/2006/main">
            <a:off x="4314825" y="4514850"/>
            <a:ext cx="348615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GroupKFold par essai pour les paramètres et le seuil du classifieur.</a:t>
            </a:r>
          </a:p>
        </p:txBody>
      </p:sp>
      <p:sp>
        <p:nvSpPr>
          <p:cNvPr id="13" name="2018">
            <a:extLst xmlns:a="http://schemas.openxmlformats.org/drawingml/2006/main">
              <a:ext uri="{FF2B5EF4-FFF2-40B4-BE49-F238E27FC236}">
                <a16:creationId xmlns:a16="http://schemas.microsoft.com/office/drawing/2014/main" id="{1975092F-47DC-43F4-AA81-3AC710E523F5}"/>
              </a:ext>
            </a:extLst>
          </p:cNvPr>
          <p:cNvSpPr>
            <a:spLocks xmlns:a="http://schemas.openxmlformats.org/drawingml/2006/main" noGrp="1"/>
          </p:cNvSpPr>
          <p:nvPr/>
        </p:nvSpPr>
        <p:spPr>
          <a:xfrm xmlns:a="http://schemas.openxmlformats.org/drawingml/2006/main">
            <a:off x="8229600" y="2571750"/>
            <a:ext cx="3486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3000" b="1">
                <a:solidFill>
                  <a:srgbClr val="2475AC"/>
                </a:solidFill>
              </a:defRPr>
            </a:pPr>
            <a:r>
              <a:rPr sz="3000" b="1">
                <a:solidFill>
                  <a:srgbClr val="2475AC"/>
                </a:solidFill>
              </a:rPr>
              <a:t>2018</a:t>
            </a:r>
          </a:p>
        </p:txBody>
      </p:sp>
      <p:sp>
        <p:nvSpPr>
          <p:cNvPr id="14" name="Test final">
            <a:extLst xmlns:a="http://schemas.openxmlformats.org/drawingml/2006/main">
              <a:ext uri="{FF2B5EF4-FFF2-40B4-BE49-F238E27FC236}">
                <a16:creationId xmlns:a16="http://schemas.microsoft.com/office/drawing/2014/main" id="{5616D558-ADCC-4BEF-A815-A01970146BE2}"/>
              </a:ext>
            </a:extLst>
          </p:cNvPr>
          <p:cNvSpPr>
            <a:spLocks xmlns:a="http://schemas.openxmlformats.org/drawingml/2006/main" noGrp="1"/>
          </p:cNvSpPr>
          <p:nvPr/>
        </p:nvSpPr>
        <p:spPr>
          <a:xfrm xmlns:a="http://schemas.openxmlformats.org/drawingml/2006/main">
            <a:off x="8229600" y="3743325"/>
            <a:ext cx="3486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2400" b="1">
                <a:solidFill>
                  <a:srgbClr val="111111"/>
                </a:solidFill>
              </a:defRPr>
            </a:pPr>
            <a:r>
              <a:rPr sz="2400" b="1">
                <a:solidFill>
                  <a:srgbClr val="111111"/>
                </a:solidFill>
              </a:rPr>
              <a:t>Test final</a:t>
            </a:r>
          </a:p>
        </p:txBody>
      </p:sp>
      <p:sp>
        <p:nvSpPr>
          <p:cNvPr id="15" name="12 306 lignes ; aucun essai partagé avec l’apprentissage.">
            <a:extLst xmlns:a="http://schemas.openxmlformats.org/drawingml/2006/main">
              <a:ext uri="{FF2B5EF4-FFF2-40B4-BE49-F238E27FC236}">
                <a16:creationId xmlns:a16="http://schemas.microsoft.com/office/drawing/2014/main" id="{C9E3EC4F-87E1-4A1C-98E1-9FF3672C9A40}"/>
              </a:ext>
            </a:extLst>
          </p:cNvPr>
          <p:cNvSpPr>
            <a:spLocks xmlns:a="http://schemas.openxmlformats.org/drawingml/2006/main" noGrp="1"/>
          </p:cNvSpPr>
          <p:nvPr/>
        </p:nvSpPr>
        <p:spPr>
          <a:xfrm xmlns:a="http://schemas.openxmlformats.org/drawingml/2006/main">
            <a:off x="8229600" y="4514850"/>
            <a:ext cx="348615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12 306 lignes ; aucun essai partagé avec l’apprentissage.</a:t>
            </a:r>
          </a:p>
        </p:txBody>
      </p:sp>
    </p:spTree>
    <p:extLst>
      <p:ext uri="{BB962C8B-B14F-4D97-AF65-F5344CB8AC3E}">
        <p14:creationId xmlns:p14="http://schemas.microsoft.com/office/powerpoint/2010/main" val="435001557"/>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03 · ARCHITECTURE">
            <a:extLst xmlns:a="http://schemas.openxmlformats.org/drawingml/2006/main">
              <a:ext uri="{FF2B5EF4-FFF2-40B4-BE49-F238E27FC236}">
                <a16:creationId xmlns:a16="http://schemas.microsoft.com/office/drawing/2014/main" id="{3882CAA6-2987-45D0-B66B-9ED07BDA6918}"/>
              </a:ext>
            </a:extLst>
          </p:cNvPr>
          <p:cNvSpPr>
            <a:spLocks xmlns:a="http://schemas.openxmlformats.org/drawingml/2006/main" noGrp="1"/>
          </p:cNvSpPr>
          <p:nvPr/>
        </p:nvSpPr>
        <p:spPr>
          <a:xfrm xmlns:a="http://schemas.openxmlformats.org/drawingml/2006/main">
            <a:off x="400050" y="228600"/>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1">
                <a:solidFill>
                  <a:srgbClr val="525860"/>
                </a:solidFill>
              </a:defRPr>
            </a:pPr>
            <a:r>
              <a:rPr sz="1650" b="1">
                <a:solidFill>
                  <a:srgbClr val="525860"/>
                </a:solidFill>
              </a:rPr>
              <a:t>09 · CHAÎNE ML</a:t>
            </a:r>
          </a:p>
        </p:txBody>
      </p:sp>
      <p:sp>
        <p:nvSpPr>
          <p:cNvPr id="2" name="Un flux local, des couches séparées">
            <a:extLst xmlns:a="http://schemas.openxmlformats.org/drawingml/2006/main">
              <a:ext uri="{FF2B5EF4-FFF2-40B4-BE49-F238E27FC236}">
                <a16:creationId xmlns:a16="http://schemas.microsoft.com/office/drawing/2014/main" id="{1B3D5DEC-75D4-4EB4-9EFA-D4C3D5B69321}"/>
              </a:ext>
            </a:extLst>
          </p:cNvPr>
          <p:cNvSpPr>
            <a:spLocks xmlns:a="http://schemas.openxmlformats.org/drawingml/2006/main" noGrp="1"/>
          </p:cNvSpPr>
          <p:nvPr/>
        </p:nvSpPr>
        <p:spPr>
          <a:xfrm xmlns:a="http://schemas.openxmlformats.org/drawingml/2006/main">
            <a:off x="400050" y="742950"/>
            <a:ext cx="113919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3600" b="1">
                <a:solidFill>
                  <a:srgbClr val="111111"/>
                </a:solidFill>
              </a:defRPr>
            </a:pPr>
            <a:r>
              <a:rPr sz="3600" b="1">
                <a:solidFill>
                  <a:srgbClr val="111111"/>
                </a:solidFill>
              </a:rPr>
              <a:t>La prédiction réutilise le prétraitement</a:t>
            </a:r>
          </a:p>
        </p:txBody>
      </p:sp>
      <p:sp>
        <p:nvSpPr>
          <p:cNvPr id="3" name="">
            <a:extLst xmlns:a="http://schemas.openxmlformats.org/drawingml/2006/main">
              <a:ext uri="{FF2B5EF4-FFF2-40B4-BE49-F238E27FC236}">
                <a16:creationId xmlns:a16="http://schemas.microsoft.com/office/drawing/2014/main" id="{4DE0B18E-15E8-4AFB-9A6E-0F6E0ECF161E}"/>
              </a:ext>
            </a:extLst>
          </p:cNvPr>
          <p:cNvSpPr>
            <a:spLocks xmlns:a="http://schemas.openxmlformats.org/drawingml/2006/main" noGrp="1"/>
          </p:cNvSpPr>
          <p:nvPr/>
        </p:nvSpPr>
        <p:spPr>
          <a:xfrm xmlns:a="http://schemas.openxmlformats.org/drawingml/2006/main">
            <a:off x="400050" y="62293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4" name="SEMENCES R&amp;D · PROJET DE GROUPE">
            <a:extLst xmlns:a="http://schemas.openxmlformats.org/drawingml/2006/main">
              <a:ext uri="{FF2B5EF4-FFF2-40B4-BE49-F238E27FC236}">
                <a16:creationId xmlns:a16="http://schemas.microsoft.com/office/drawing/2014/main" id="{985C0FC3-981B-499A-B72E-7E0422EDA579}"/>
              </a:ext>
            </a:extLst>
          </p:cNvPr>
          <p:cNvSpPr>
            <a:spLocks xmlns:a="http://schemas.openxmlformats.org/drawingml/2006/main" noGrp="1"/>
          </p:cNvSpPr>
          <p:nvPr/>
        </p:nvSpPr>
        <p:spPr>
          <a:xfrm xmlns:a="http://schemas.openxmlformats.org/drawingml/2006/main">
            <a:off x="400050" y="641032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0">
                <a:solidFill>
                  <a:srgbClr val="525860"/>
                </a:solidFill>
              </a:defRPr>
            </a:pPr>
            <a:r>
              <a:rPr sz="1650" b="0">
                <a:solidFill>
                  <a:srgbClr val="525860"/>
                </a:solidFill>
              </a:rPr>
              <a:t>SEMENCES R&amp;D · PROJET DE GROUPE</a:t>
            </a:r>
          </a:p>
        </p:txBody>
      </p:sp>
      <p:sp>
        <p:nvSpPr>
          <p:cNvPr id="5" name="05">
            <a:extLst xmlns:a="http://schemas.openxmlformats.org/drawingml/2006/main">
              <a:ext uri="{FF2B5EF4-FFF2-40B4-BE49-F238E27FC236}">
                <a16:creationId xmlns:a16="http://schemas.microsoft.com/office/drawing/2014/main" id="{8BB65DB7-69DE-403C-A96A-4C8C68596E41}"/>
              </a:ext>
            </a:extLst>
          </p:cNvPr>
          <p:cNvSpPr>
            <a:spLocks xmlns:a="http://schemas.openxmlformats.org/drawingml/2006/main" noGrp="1"/>
          </p:cNvSpPr>
          <p:nvPr/>
        </p:nvSpPr>
        <p:spPr>
          <a:xfrm xmlns:a="http://schemas.openxmlformats.org/drawingml/2006/main">
            <a:off x="11239500" y="64103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0">
                <a:solidFill>
                  <a:srgbClr val="525860"/>
                </a:solidFill>
              </a:defRPr>
            </a:pPr>
            <a:r>
              <a:rPr sz="1650" b="0">
                <a:solidFill>
                  <a:srgbClr val="525860"/>
                </a:solidFill>
              </a:rPr>
              <a:t>22</a:t>
            </a:r>
          </a:p>
        </p:txBody>
      </p:sp>
      <p:sp>
        <p:nvSpPr>
          <p:cNvPr id="6" name="→">
            <a:extLst xmlns:a="http://schemas.openxmlformats.org/drawingml/2006/main">
              <a:ext uri="{FF2B5EF4-FFF2-40B4-BE49-F238E27FC236}">
                <a16:creationId xmlns:a16="http://schemas.microsoft.com/office/drawing/2014/main" id="{460C0685-3CA9-48A3-9987-2CB6A6CDC0AE}"/>
              </a:ext>
            </a:extLst>
          </p:cNvPr>
          <p:cNvSpPr>
            <a:spLocks xmlns:a="http://schemas.openxmlformats.org/drawingml/2006/main" noGrp="1"/>
          </p:cNvSpPr>
          <p:nvPr/>
        </p:nvSpPr>
        <p:spPr>
          <a:xfrm xmlns:a="http://schemas.openxmlformats.org/drawingml/2006/main">
            <a:off x="2914650" y="2752725"/>
            <a:ext cx="4191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3000" b="0">
                <a:solidFill>
                  <a:srgbClr val="525860"/>
                </a:solidFill>
              </a:defRPr>
            </a:pPr>
            <a:r>
              <a:rPr sz="3000" b="0">
                <a:solidFill>
                  <a:srgbClr val="525860"/>
                </a:solidFill>
              </a:rPr>
              <a:t>→</a:t>
            </a:r>
          </a:p>
        </p:txBody>
      </p:sp>
      <p:sp>
        <p:nvSpPr>
          <p:cNvPr id="7" name="→">
            <a:extLst xmlns:a="http://schemas.openxmlformats.org/drawingml/2006/main">
              <a:ext uri="{FF2B5EF4-FFF2-40B4-BE49-F238E27FC236}">
                <a16:creationId xmlns:a16="http://schemas.microsoft.com/office/drawing/2014/main" id="{E4605EF0-A27A-4B55-AAF6-2B4427A91DEF}"/>
              </a:ext>
            </a:extLst>
          </p:cNvPr>
          <p:cNvSpPr>
            <a:spLocks xmlns:a="http://schemas.openxmlformats.org/drawingml/2006/main" noGrp="1"/>
          </p:cNvSpPr>
          <p:nvPr/>
        </p:nvSpPr>
        <p:spPr>
          <a:xfrm xmlns:a="http://schemas.openxmlformats.org/drawingml/2006/main">
            <a:off x="5848350" y="2752725"/>
            <a:ext cx="4191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3000" b="0">
                <a:solidFill>
                  <a:srgbClr val="525860"/>
                </a:solidFill>
              </a:defRPr>
            </a:pPr>
            <a:r>
              <a:rPr sz="3000" b="0">
                <a:solidFill>
                  <a:srgbClr val="525860"/>
                </a:solidFill>
              </a:rPr>
              <a:t>→</a:t>
            </a:r>
          </a:p>
        </p:txBody>
      </p:sp>
      <p:sp>
        <p:nvSpPr>
          <p:cNvPr id="8" name="→">
            <a:extLst xmlns:a="http://schemas.openxmlformats.org/drawingml/2006/main">
              <a:ext uri="{FF2B5EF4-FFF2-40B4-BE49-F238E27FC236}">
                <a16:creationId xmlns:a16="http://schemas.microsoft.com/office/drawing/2014/main" id="{18C387F8-AC97-48F0-A5AD-91FECFF2D7A3}"/>
              </a:ext>
            </a:extLst>
          </p:cNvPr>
          <p:cNvSpPr>
            <a:spLocks xmlns:a="http://schemas.openxmlformats.org/drawingml/2006/main" noGrp="1"/>
          </p:cNvSpPr>
          <p:nvPr/>
        </p:nvSpPr>
        <p:spPr>
          <a:xfrm xmlns:a="http://schemas.openxmlformats.org/drawingml/2006/main">
            <a:off x="8782050" y="2752725"/>
            <a:ext cx="4191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3000" b="0">
                <a:solidFill>
                  <a:srgbClr val="525860"/>
                </a:solidFill>
              </a:defRPr>
            </a:pPr>
            <a:r>
              <a:rPr sz="3000" b="0">
                <a:solidFill>
                  <a:srgbClr val="525860"/>
                </a:solidFill>
              </a:rPr>
              <a:t>→</a:t>
            </a:r>
          </a:p>
        </p:txBody>
      </p:sp>
      <p:sp>
        <p:nvSpPr>
          <p:cNvPr id="9" name="">
            <a:extLst xmlns:a="http://schemas.openxmlformats.org/drawingml/2006/main">
              <a:ext uri="{FF2B5EF4-FFF2-40B4-BE49-F238E27FC236}">
                <a16:creationId xmlns:a16="http://schemas.microsoft.com/office/drawing/2014/main" id="{9166CCC3-CCE3-4D6F-B48C-1092B5E37B5C}"/>
              </a:ext>
            </a:extLst>
          </p:cNvPr>
          <p:cNvSpPr>
            <a:spLocks xmlns:a="http://schemas.openxmlformats.org/drawingml/2006/main" noGrp="1"/>
          </p:cNvSpPr>
          <p:nvPr/>
        </p:nvSpPr>
        <p:spPr>
          <a:xfrm xmlns:a="http://schemas.openxmlformats.org/drawingml/2006/main">
            <a:off x="400050" y="2257425"/>
            <a:ext cx="2495550" cy="1581150"/>
          </a:xfrm>
          <a:prstGeom xmlns:a="http://schemas.openxmlformats.org/drawingml/2006/main" prst="rect">
            <a:avLst/>
          </a:prstGeom>
          <a:solidFill xmlns:a="http://schemas.openxmlformats.org/drawingml/2006/main">
            <a:srgbClr val="EDEDED"/>
          </a:solidFill>
          <a:ln xmlns:a="http://schemas.openxmlformats.org/drawingml/2006/main" w="0">
            <a:noFill/>
          </a:ln>
        </p:spPr>
      </p:sp>
      <p:sp>
        <p:nvSpPr>
          <p:cNvPr id="10" name="Sources">
            <a:extLst xmlns:a="http://schemas.openxmlformats.org/drawingml/2006/main">
              <a:ext uri="{FF2B5EF4-FFF2-40B4-BE49-F238E27FC236}">
                <a16:creationId xmlns:a16="http://schemas.microsoft.com/office/drawing/2014/main" id="{66AFEBBF-29BF-406A-BD97-399DF0968C72}"/>
              </a:ext>
            </a:extLst>
          </p:cNvPr>
          <p:cNvSpPr>
            <a:spLocks xmlns:a="http://schemas.openxmlformats.org/drawingml/2006/main" noGrp="1"/>
          </p:cNvSpPr>
          <p:nvPr/>
        </p:nvSpPr>
        <p:spPr>
          <a:xfrm xmlns:a="http://schemas.openxmlformats.org/drawingml/2006/main">
            <a:off x="590550" y="2543175"/>
            <a:ext cx="21145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2400" b="1">
                <a:solidFill>
                  <a:srgbClr val="111111"/>
                </a:solidFill>
              </a:defRPr>
            </a:pPr>
            <a:r>
              <a:rPr sz="2400" b="1">
                <a:solidFill>
                  <a:srgbClr val="111111"/>
                </a:solidFill>
              </a:rPr>
              <a:t>Entrée</a:t>
            </a:r>
          </a:p>
        </p:txBody>
      </p:sp>
      <p:sp>
        <p:nvSpPr>
          <p:cNvPr id="11" name="6 CSV">
            <a:extLst xmlns:a="http://schemas.openxmlformats.org/drawingml/2006/main">
              <a:ext uri="{FF2B5EF4-FFF2-40B4-BE49-F238E27FC236}">
                <a16:creationId xmlns:a16="http://schemas.microsoft.com/office/drawing/2014/main" id="{0E01E158-3E6D-444E-98EF-DE1F552A7A27}"/>
              </a:ext>
            </a:extLst>
          </p:cNvPr>
          <p:cNvSpPr>
            <a:spLocks xmlns:a="http://schemas.openxmlformats.org/drawingml/2006/main" noGrp="1"/>
          </p:cNvSpPr>
          <p:nvPr/>
        </p:nvSpPr>
        <p:spPr>
          <a:xfrm xmlns:a="http://schemas.openxmlformats.org/drawingml/2006/main">
            <a:off x="590550" y="3209925"/>
            <a:ext cx="2114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6 variables</a:t>
            </a:r>
          </a:p>
        </p:txBody>
      </p:sp>
      <p:sp>
        <p:nvSpPr>
          <p:cNvPr id="12" name="">
            <a:extLst xmlns:a="http://schemas.openxmlformats.org/drawingml/2006/main">
              <a:ext uri="{FF2B5EF4-FFF2-40B4-BE49-F238E27FC236}">
                <a16:creationId xmlns:a16="http://schemas.microsoft.com/office/drawing/2014/main" id="{14E2192D-C508-4B29-9BC6-8C853D515127}"/>
              </a:ext>
            </a:extLst>
          </p:cNvPr>
          <p:cNvSpPr>
            <a:spLocks xmlns:a="http://schemas.openxmlformats.org/drawingml/2006/main" noGrp="1"/>
          </p:cNvSpPr>
          <p:nvPr/>
        </p:nvSpPr>
        <p:spPr>
          <a:xfrm xmlns:a="http://schemas.openxmlformats.org/drawingml/2006/main">
            <a:off x="3333750" y="2257425"/>
            <a:ext cx="2495550" cy="1581150"/>
          </a:xfrm>
          <a:prstGeom xmlns:a="http://schemas.openxmlformats.org/drawingml/2006/main" prst="rect">
            <a:avLst/>
          </a:prstGeom>
          <a:solidFill xmlns:a="http://schemas.openxmlformats.org/drawingml/2006/main">
            <a:srgbClr val="EDEDED"/>
          </a:solidFill>
          <a:ln xmlns:a="http://schemas.openxmlformats.org/drawingml/2006/main" w="0">
            <a:noFill/>
          </a:ln>
        </p:spPr>
      </p:sp>
      <p:sp>
        <p:nvSpPr>
          <p:cNvPr id="13" name="Raw">
            <a:extLst xmlns:a="http://schemas.openxmlformats.org/drawingml/2006/main">
              <a:ext uri="{FF2B5EF4-FFF2-40B4-BE49-F238E27FC236}">
                <a16:creationId xmlns:a16="http://schemas.microsoft.com/office/drawing/2014/main" id="{9F754535-4F42-4517-B44D-BDAEE5060DD6}"/>
              </a:ext>
            </a:extLst>
          </p:cNvPr>
          <p:cNvSpPr>
            <a:spLocks xmlns:a="http://schemas.openxmlformats.org/drawingml/2006/main" noGrp="1"/>
          </p:cNvSpPr>
          <p:nvPr/>
        </p:nvSpPr>
        <p:spPr>
          <a:xfrm xmlns:a="http://schemas.openxmlformats.org/drawingml/2006/main">
            <a:off x="3524250" y="2543175"/>
            <a:ext cx="21145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2400" b="1">
                <a:solidFill>
                  <a:srgbClr val="111111"/>
                </a:solidFill>
              </a:defRPr>
            </a:pPr>
            <a:r>
              <a:rPr sz="2400" b="1">
                <a:solidFill>
                  <a:srgbClr val="111111"/>
                </a:solidFill>
              </a:rPr>
              <a:t>Préparer</a:t>
            </a:r>
          </a:p>
        </p:txBody>
      </p:sp>
      <p:sp>
        <p:nvSpPr>
          <p:cNvPr id="14" name="Parquet">
            <a:extLst xmlns:a="http://schemas.openxmlformats.org/drawingml/2006/main">
              <a:ext uri="{FF2B5EF4-FFF2-40B4-BE49-F238E27FC236}">
                <a16:creationId xmlns:a16="http://schemas.microsoft.com/office/drawing/2014/main" id="{BD32B1B2-C265-4F77-B218-79201F5577B0}"/>
              </a:ext>
            </a:extLst>
          </p:cNvPr>
          <p:cNvSpPr>
            <a:spLocks xmlns:a="http://schemas.openxmlformats.org/drawingml/2006/main" noGrp="1"/>
          </p:cNvSpPr>
          <p:nvPr/>
        </p:nvSpPr>
        <p:spPr>
          <a:xfrm xmlns:a="http://schemas.openxmlformats.org/drawingml/2006/main">
            <a:off x="3524250" y="3209925"/>
            <a:ext cx="2114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Imputer / coder</a:t>
            </a:r>
          </a:p>
        </p:txBody>
      </p:sp>
      <p:sp>
        <p:nvSpPr>
          <p:cNvPr id="15" name="">
            <a:extLst xmlns:a="http://schemas.openxmlformats.org/drawingml/2006/main">
              <a:ext uri="{FF2B5EF4-FFF2-40B4-BE49-F238E27FC236}">
                <a16:creationId xmlns:a16="http://schemas.microsoft.com/office/drawing/2014/main" id="{ACC6FDD1-6EE0-4D0D-8786-2E876E7812E1}"/>
              </a:ext>
            </a:extLst>
          </p:cNvPr>
          <p:cNvSpPr>
            <a:spLocks xmlns:a="http://schemas.openxmlformats.org/drawingml/2006/main" noGrp="1"/>
          </p:cNvSpPr>
          <p:nvPr/>
        </p:nvSpPr>
        <p:spPr>
          <a:xfrm xmlns:a="http://schemas.openxmlformats.org/drawingml/2006/main">
            <a:off x="6267450" y="2257425"/>
            <a:ext cx="2495550" cy="1581150"/>
          </a:xfrm>
          <a:prstGeom xmlns:a="http://schemas.openxmlformats.org/drawingml/2006/main" prst="rect">
            <a:avLst/>
          </a:prstGeom>
          <a:solidFill xmlns:a="http://schemas.openxmlformats.org/drawingml/2006/main">
            <a:srgbClr val="EDEDED"/>
          </a:solidFill>
          <a:ln xmlns:a="http://schemas.openxmlformats.org/drawingml/2006/main" w="0">
            <a:noFill/>
          </a:ln>
        </p:spPr>
      </p:sp>
      <p:sp>
        <p:nvSpPr>
          <p:cNvPr id="16" name="ETL">
            <a:extLst xmlns:a="http://schemas.openxmlformats.org/drawingml/2006/main">
              <a:ext uri="{FF2B5EF4-FFF2-40B4-BE49-F238E27FC236}">
                <a16:creationId xmlns:a16="http://schemas.microsoft.com/office/drawing/2014/main" id="{B2CF2E58-6E7A-4F18-B621-3D23A91DC983}"/>
              </a:ext>
            </a:extLst>
          </p:cNvPr>
          <p:cNvSpPr>
            <a:spLocks xmlns:a="http://schemas.openxmlformats.org/drawingml/2006/main" noGrp="1"/>
          </p:cNvSpPr>
          <p:nvPr/>
        </p:nvSpPr>
        <p:spPr>
          <a:xfrm xmlns:a="http://schemas.openxmlformats.org/drawingml/2006/main">
            <a:off x="6457950" y="2543175"/>
            <a:ext cx="21145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2400" b="1">
                <a:solidFill>
                  <a:srgbClr val="111111"/>
                </a:solidFill>
              </a:defRPr>
            </a:pPr>
            <a:r>
              <a:rPr sz="2400" b="1">
                <a:solidFill>
                  <a:srgbClr val="111111"/>
                </a:solidFill>
              </a:rPr>
              <a:t>Modèles</a:t>
            </a:r>
          </a:p>
        </p:txBody>
      </p:sp>
      <p:sp>
        <p:nvSpPr>
          <p:cNvPr id="17" name="pandas">
            <a:extLst xmlns:a="http://schemas.openxmlformats.org/drawingml/2006/main">
              <a:ext uri="{FF2B5EF4-FFF2-40B4-BE49-F238E27FC236}">
                <a16:creationId xmlns:a16="http://schemas.microsoft.com/office/drawing/2014/main" id="{337632E1-7503-4812-ADDB-24576DFBC210}"/>
              </a:ext>
            </a:extLst>
          </p:cNvPr>
          <p:cNvSpPr>
            <a:spLocks xmlns:a="http://schemas.openxmlformats.org/drawingml/2006/main" noGrp="1"/>
          </p:cNvSpPr>
          <p:nvPr/>
        </p:nvSpPr>
        <p:spPr>
          <a:xfrm xmlns:a="http://schemas.openxmlformats.org/drawingml/2006/main">
            <a:off x="6457950" y="3209925"/>
            <a:ext cx="2114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Régression / classe</a:t>
            </a:r>
          </a:p>
        </p:txBody>
      </p:sp>
      <p:sp>
        <p:nvSpPr>
          <p:cNvPr id="18" name="">
            <a:extLst xmlns:a="http://schemas.openxmlformats.org/drawingml/2006/main">
              <a:ext uri="{FF2B5EF4-FFF2-40B4-BE49-F238E27FC236}">
                <a16:creationId xmlns:a16="http://schemas.microsoft.com/office/drawing/2014/main" id="{C838D779-E36E-475B-BEDE-FD4E3FD7E5EB}"/>
              </a:ext>
            </a:extLst>
          </p:cNvPr>
          <p:cNvSpPr>
            <a:spLocks xmlns:a="http://schemas.openxmlformats.org/drawingml/2006/main" noGrp="1"/>
          </p:cNvSpPr>
          <p:nvPr/>
        </p:nvSpPr>
        <p:spPr>
          <a:xfrm xmlns:a="http://schemas.openxmlformats.org/drawingml/2006/main">
            <a:off x="9201150" y="2257425"/>
            <a:ext cx="2495550" cy="1581150"/>
          </a:xfrm>
          <a:prstGeom xmlns:a="http://schemas.openxmlformats.org/drawingml/2006/main" prst="rect">
            <a:avLst/>
          </a:prstGeom>
          <a:solidFill xmlns:a="http://schemas.openxmlformats.org/drawingml/2006/main">
            <a:srgbClr val="EDEDED"/>
          </a:solidFill>
          <a:ln xmlns:a="http://schemas.openxmlformats.org/drawingml/2006/main" w="0">
            <a:noFill/>
          </a:ln>
        </p:spPr>
      </p:sp>
      <p:sp>
        <p:nvSpPr>
          <p:cNvPr id="19" name="Faits">
            <a:extLst xmlns:a="http://schemas.openxmlformats.org/drawingml/2006/main">
              <a:ext uri="{FF2B5EF4-FFF2-40B4-BE49-F238E27FC236}">
                <a16:creationId xmlns:a16="http://schemas.microsoft.com/office/drawing/2014/main" id="{FE8A96E6-268A-4864-8794-23377038DBB9}"/>
              </a:ext>
            </a:extLst>
          </p:cNvPr>
          <p:cNvSpPr>
            <a:spLocks xmlns:a="http://schemas.openxmlformats.org/drawingml/2006/main" noGrp="1"/>
          </p:cNvSpPr>
          <p:nvPr/>
        </p:nvSpPr>
        <p:spPr>
          <a:xfrm xmlns:a="http://schemas.openxmlformats.org/drawingml/2006/main">
            <a:off x="9391650" y="2543175"/>
            <a:ext cx="21145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2400" b="1">
                <a:solidFill>
                  <a:srgbClr val="111111"/>
                </a:solidFill>
              </a:defRPr>
            </a:pPr>
            <a:r>
              <a:rPr sz="2400" b="1">
                <a:solidFill>
                  <a:srgbClr val="111111"/>
                </a:solidFill>
              </a:rPr>
              <a:t>Réponse</a:t>
            </a:r>
          </a:p>
        </p:txBody>
      </p:sp>
      <p:sp>
        <p:nvSpPr>
          <p:cNvPr id="20" name="Parquet / CSV">
            <a:extLst xmlns:a="http://schemas.openxmlformats.org/drawingml/2006/main">
              <a:ext uri="{FF2B5EF4-FFF2-40B4-BE49-F238E27FC236}">
                <a16:creationId xmlns:a16="http://schemas.microsoft.com/office/drawing/2014/main" id="{2B8EE2A0-C861-422A-999E-D6E33B1B0C2B}"/>
              </a:ext>
            </a:extLst>
          </p:cNvPr>
          <p:cNvSpPr>
            <a:spLocks xmlns:a="http://schemas.openxmlformats.org/drawingml/2006/main" noGrp="1"/>
          </p:cNvSpPr>
          <p:nvPr/>
        </p:nvSpPr>
        <p:spPr>
          <a:xfrm xmlns:a="http://schemas.openxmlformats.org/drawingml/2006/main">
            <a:off x="9391650" y="3209925"/>
            <a:ext cx="2114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Valeur / probabilité</a:t>
            </a:r>
          </a:p>
        </p:txBody>
      </p:sp>
      <p:sp>
        <p:nvSpPr>
          <p:cNvPr id="21" name="Consommateurs">
            <a:extLst xmlns:a="http://schemas.openxmlformats.org/drawingml/2006/main">
              <a:ext uri="{FF2B5EF4-FFF2-40B4-BE49-F238E27FC236}">
                <a16:creationId xmlns:a16="http://schemas.microsoft.com/office/drawing/2014/main" id="{DFA0974B-E6CB-494C-8687-8FBCB81B2EF0}"/>
              </a:ext>
            </a:extLst>
          </p:cNvPr>
          <p:cNvSpPr>
            <a:spLocks xmlns:a="http://schemas.openxmlformats.org/drawingml/2006/main" noGrp="1"/>
          </p:cNvSpPr>
          <p:nvPr/>
        </p:nvSpPr>
        <p:spPr>
          <a:xfrm xmlns:a="http://schemas.openxmlformats.org/drawingml/2006/main">
            <a:off x="400050" y="4476750"/>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2400" b="1">
                <a:solidFill>
                  <a:srgbClr val="111111"/>
                </a:solidFill>
              </a:defRPr>
            </a:pPr>
            <a:r>
              <a:rPr sz="2400" b="1">
                <a:solidFill>
                  <a:srgbClr val="111111"/>
                </a:solidFill>
              </a:rPr>
              <a:t>Apprentissage</a:t>
            </a:r>
          </a:p>
        </p:txBody>
      </p:sp>
      <p:sp>
        <p:nvSpPr>
          <p:cNvPr id="22" name="SQL · statistiques R/Python · modèles ML · stockage SQLite">
            <a:extLst xmlns:a="http://schemas.openxmlformats.org/drawingml/2006/main">
              <a:ext uri="{FF2B5EF4-FFF2-40B4-BE49-F238E27FC236}">
                <a16:creationId xmlns:a16="http://schemas.microsoft.com/office/drawing/2014/main" id="{CEF7144F-A8A4-4246-A266-874B2A588603}"/>
              </a:ext>
            </a:extLst>
          </p:cNvPr>
          <p:cNvSpPr>
            <a:spLocks xmlns:a="http://schemas.openxmlformats.org/drawingml/2006/main" noGrp="1"/>
          </p:cNvSpPr>
          <p:nvPr/>
        </p:nvSpPr>
        <p:spPr>
          <a:xfrm xmlns:a="http://schemas.openxmlformats.org/drawingml/2006/main">
            <a:off x="3619500" y="4476750"/>
            <a:ext cx="81724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2100" b="0">
                <a:solidFill>
                  <a:srgbClr val="111111"/>
                </a:solidFill>
              </a:defRPr>
            </a:pPr>
            <a:r>
              <a:rPr sz="2100" b="0">
                <a:solidFill>
                  <a:srgbClr val="111111"/>
                </a:solidFill>
              </a:rPr>
              <a:t>Ajuster le prétraitement et les modèles sur les années 2015–2017.</a:t>
            </a:r>
          </a:p>
        </p:txBody>
      </p:sp>
      <p:sp>
        <p:nvSpPr>
          <p:cNvPr id="23" name="Exposition">
            <a:extLst xmlns:a="http://schemas.openxmlformats.org/drawingml/2006/main">
              <a:ext uri="{FF2B5EF4-FFF2-40B4-BE49-F238E27FC236}">
                <a16:creationId xmlns:a16="http://schemas.microsoft.com/office/drawing/2014/main" id="{EAEE514A-4F5D-498D-B052-30D840C4D0F4}"/>
              </a:ext>
            </a:extLst>
          </p:cNvPr>
          <p:cNvSpPr>
            <a:spLocks xmlns:a="http://schemas.openxmlformats.org/drawingml/2006/main" noGrp="1"/>
          </p:cNvSpPr>
          <p:nvPr/>
        </p:nvSpPr>
        <p:spPr>
          <a:xfrm xmlns:a="http://schemas.openxmlformats.org/drawingml/2006/main">
            <a:off x="400050" y="5476875"/>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2400" b="1">
                <a:solidFill>
                  <a:srgbClr val="111111"/>
                </a:solidFill>
              </a:defRPr>
            </a:pPr>
            <a:r>
              <a:rPr sz="2400" b="1">
                <a:solidFill>
                  <a:srgbClr val="111111"/>
                </a:solidFill>
              </a:rPr>
              <a:t>Prédiction</a:t>
            </a:r>
          </a:p>
        </p:txBody>
      </p:sp>
      <p:sp>
        <p:nvSpPr>
          <p:cNvPr id="24" name="Dashboard · carte · recherche · API de prédiction">
            <a:extLst xmlns:a="http://schemas.openxmlformats.org/drawingml/2006/main">
              <a:ext uri="{FF2B5EF4-FFF2-40B4-BE49-F238E27FC236}">
                <a16:creationId xmlns:a16="http://schemas.microsoft.com/office/drawing/2014/main" id="{04F08B8A-D408-4EB2-BA7A-2D6C8B1D3090}"/>
              </a:ext>
            </a:extLst>
          </p:cNvPr>
          <p:cNvSpPr>
            <a:spLocks xmlns:a="http://schemas.openxmlformats.org/drawingml/2006/main" noGrp="1"/>
          </p:cNvSpPr>
          <p:nvPr/>
        </p:nvSpPr>
        <p:spPr>
          <a:xfrm xmlns:a="http://schemas.openxmlformats.org/drawingml/2006/main">
            <a:off x="3619500" y="5476875"/>
            <a:ext cx="81724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2100" b="0">
                <a:solidFill>
                  <a:srgbClr val="111111"/>
                </a:solidFill>
              </a:defRPr>
            </a:pPr>
            <a:r>
              <a:rPr sz="2100" b="0">
                <a:solidFill>
                  <a:srgbClr val="111111"/>
                </a:solidFill>
              </a:rPr>
              <a:t>Charger les pipelines .joblib et transformer la requête sans réapprentissage.</a:t>
            </a:r>
          </a:p>
        </p:txBody>
      </p:sp>
    </p:spTree>
    <p:extLst>
      <p:ext uri="{BB962C8B-B14F-4D97-AF65-F5344CB8AC3E}">
        <p14:creationId xmlns:p14="http://schemas.microsoft.com/office/powerpoint/2010/main" val="1581000210"/>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09 · RÉSULTATS ML">
            <a:extLst xmlns:a="http://schemas.openxmlformats.org/drawingml/2006/main">
              <a:ext uri="{FF2B5EF4-FFF2-40B4-BE49-F238E27FC236}">
                <a16:creationId xmlns:a16="http://schemas.microsoft.com/office/drawing/2014/main" id="{485431FE-3198-4D74-9A87-A17DE6D26682}"/>
              </a:ext>
            </a:extLst>
          </p:cNvPr>
          <p:cNvSpPr>
            <a:spLocks xmlns:a="http://schemas.openxmlformats.org/drawingml/2006/main" noGrp="1"/>
          </p:cNvSpPr>
          <p:nvPr/>
        </p:nvSpPr>
        <p:spPr>
          <a:xfrm xmlns:a="http://schemas.openxmlformats.org/drawingml/2006/main">
            <a:off x="400050" y="228600"/>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1">
                <a:solidFill>
                  <a:srgbClr val="525860"/>
                </a:solidFill>
              </a:defRPr>
            </a:pPr>
            <a:r>
              <a:rPr sz="1650" b="1">
                <a:solidFill>
                  <a:srgbClr val="525860"/>
                </a:solidFill>
              </a:rPr>
              <a:t>09 · RÉSULTATS ML</a:t>
            </a:r>
          </a:p>
        </p:txBody>
      </p:sp>
      <p:sp>
        <p:nvSpPr>
          <p:cNvPr id="2" name="La régression améliore la référence">
            <a:extLst xmlns:a="http://schemas.openxmlformats.org/drawingml/2006/main">
              <a:ext uri="{FF2B5EF4-FFF2-40B4-BE49-F238E27FC236}">
                <a16:creationId xmlns:a16="http://schemas.microsoft.com/office/drawing/2014/main" id="{57B02888-9201-4917-BEC2-25251F8FA45F}"/>
              </a:ext>
            </a:extLst>
          </p:cNvPr>
          <p:cNvSpPr>
            <a:spLocks xmlns:a="http://schemas.openxmlformats.org/drawingml/2006/main" noGrp="1"/>
          </p:cNvSpPr>
          <p:nvPr/>
        </p:nvSpPr>
        <p:spPr>
          <a:xfrm xmlns:a="http://schemas.openxmlformats.org/drawingml/2006/main">
            <a:off x="400050" y="742950"/>
            <a:ext cx="113919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3600" b="1">
                <a:solidFill>
                  <a:srgbClr val="111111"/>
                </a:solidFill>
              </a:defRPr>
            </a:pPr>
            <a:r>
              <a:rPr sz="3600" b="1">
                <a:solidFill>
                  <a:srgbClr val="111111"/>
                </a:solidFill>
              </a:rPr>
              <a:t>La régression améliore la référence</a:t>
            </a:r>
          </a:p>
        </p:txBody>
      </p:sp>
      <p:sp>
        <p:nvSpPr>
          <p:cNvPr id="3" name="">
            <a:extLst xmlns:a="http://schemas.openxmlformats.org/drawingml/2006/main">
              <a:ext uri="{FF2B5EF4-FFF2-40B4-BE49-F238E27FC236}">
                <a16:creationId xmlns:a16="http://schemas.microsoft.com/office/drawing/2014/main" id="{3451B490-F78C-43E7-A06F-B924BB0D697D}"/>
              </a:ext>
            </a:extLst>
          </p:cNvPr>
          <p:cNvSpPr>
            <a:spLocks xmlns:a="http://schemas.openxmlformats.org/drawingml/2006/main" noGrp="1"/>
          </p:cNvSpPr>
          <p:nvPr/>
        </p:nvSpPr>
        <p:spPr>
          <a:xfrm xmlns:a="http://schemas.openxmlformats.org/drawingml/2006/main">
            <a:off x="400050" y="62293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4" name="SEMENCES R&amp;D · PROJET DE GROUPE">
            <a:extLst xmlns:a="http://schemas.openxmlformats.org/drawingml/2006/main">
              <a:ext uri="{FF2B5EF4-FFF2-40B4-BE49-F238E27FC236}">
                <a16:creationId xmlns:a16="http://schemas.microsoft.com/office/drawing/2014/main" id="{C2D5E8C6-F9E1-4287-BB5A-389AFC65C4E5}"/>
              </a:ext>
            </a:extLst>
          </p:cNvPr>
          <p:cNvSpPr>
            <a:spLocks xmlns:a="http://schemas.openxmlformats.org/drawingml/2006/main" noGrp="1"/>
          </p:cNvSpPr>
          <p:nvPr/>
        </p:nvSpPr>
        <p:spPr>
          <a:xfrm xmlns:a="http://schemas.openxmlformats.org/drawingml/2006/main">
            <a:off x="400050" y="641032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0">
                <a:solidFill>
                  <a:srgbClr val="525860"/>
                </a:solidFill>
              </a:defRPr>
            </a:pPr>
            <a:r>
              <a:rPr sz="1650" b="0">
                <a:solidFill>
                  <a:srgbClr val="525860"/>
                </a:solidFill>
              </a:rPr>
              <a:t>SEMENCES R&amp;D · PROJET DE GROUPE</a:t>
            </a:r>
          </a:p>
        </p:txBody>
      </p:sp>
      <p:sp>
        <p:nvSpPr>
          <p:cNvPr id="5" name="18">
            <a:extLst xmlns:a="http://schemas.openxmlformats.org/drawingml/2006/main">
              <a:ext uri="{FF2B5EF4-FFF2-40B4-BE49-F238E27FC236}">
                <a16:creationId xmlns:a16="http://schemas.microsoft.com/office/drawing/2014/main" id="{09253BD4-D834-4C7B-8BBC-DEDC4618A153}"/>
              </a:ext>
            </a:extLst>
          </p:cNvPr>
          <p:cNvSpPr>
            <a:spLocks xmlns:a="http://schemas.openxmlformats.org/drawingml/2006/main" noGrp="1"/>
          </p:cNvSpPr>
          <p:nvPr/>
        </p:nvSpPr>
        <p:spPr>
          <a:xfrm xmlns:a="http://schemas.openxmlformats.org/drawingml/2006/main">
            <a:off x="11239500" y="64103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0">
                <a:solidFill>
                  <a:srgbClr val="525860"/>
                </a:solidFill>
              </a:defRPr>
            </a:pPr>
            <a:r>
              <a:rPr sz="1650" b="0">
                <a:solidFill>
                  <a:srgbClr val="525860"/>
                </a:solidFill>
              </a:rPr>
              <a:t>23</a:t>
            </a:r>
          </a:p>
        </p:txBody>
      </p:sp>
      <p:sp>
        <p:nvSpPr>
          <p:cNvPr id="6" name="Indicateur">
            <a:extLst xmlns:a="http://schemas.openxmlformats.org/drawingml/2006/main">
              <a:ext uri="{FF2B5EF4-FFF2-40B4-BE49-F238E27FC236}">
                <a16:creationId xmlns:a16="http://schemas.microsoft.com/office/drawing/2014/main" id="{795E264C-057E-4B25-86ED-3AB63E130A56}"/>
              </a:ext>
            </a:extLst>
          </p:cNvPr>
          <p:cNvSpPr>
            <a:spLocks xmlns:a="http://schemas.openxmlformats.org/drawingml/2006/main" noGrp="1"/>
          </p:cNvSpPr>
          <p:nvPr/>
        </p:nvSpPr>
        <p:spPr>
          <a:xfrm xmlns:a="http://schemas.openxmlformats.org/drawingml/2006/main">
            <a:off x="400050" y="1838325"/>
            <a:ext cx="4019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1">
                <a:solidFill>
                  <a:srgbClr val="111111"/>
                </a:solidFill>
              </a:defRPr>
            </a:pPr>
            <a:r>
              <a:rPr sz="1950" b="1">
                <a:solidFill>
                  <a:srgbClr val="111111"/>
                </a:solidFill>
              </a:rPr>
              <a:t>Indicateur</a:t>
            </a:r>
          </a:p>
        </p:txBody>
      </p:sp>
      <p:sp>
        <p:nvSpPr>
          <p:cNvPr id="7" name="Valeur sur 2018">
            <a:extLst xmlns:a="http://schemas.openxmlformats.org/drawingml/2006/main">
              <a:ext uri="{FF2B5EF4-FFF2-40B4-BE49-F238E27FC236}">
                <a16:creationId xmlns:a16="http://schemas.microsoft.com/office/drawing/2014/main" id="{02ABA5F0-89D3-4952-A868-E8307CCF915F}"/>
              </a:ext>
            </a:extLst>
          </p:cNvPr>
          <p:cNvSpPr>
            <a:spLocks xmlns:a="http://schemas.openxmlformats.org/drawingml/2006/main" noGrp="1"/>
          </p:cNvSpPr>
          <p:nvPr/>
        </p:nvSpPr>
        <p:spPr>
          <a:xfrm xmlns:a="http://schemas.openxmlformats.org/drawingml/2006/main">
            <a:off x="4591050" y="1838325"/>
            <a:ext cx="7029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1">
                <a:solidFill>
                  <a:srgbClr val="111111"/>
                </a:solidFill>
              </a:defRPr>
            </a:pPr>
            <a:r>
              <a:rPr sz="1950" b="1">
                <a:solidFill>
                  <a:srgbClr val="111111"/>
                </a:solidFill>
              </a:rPr>
              <a:t>Valeur sur 2018</a:t>
            </a:r>
          </a:p>
        </p:txBody>
      </p:sp>
      <p:sp>
        <p:nvSpPr>
          <p:cNvPr id="8" name="">
            <a:extLst xmlns:a="http://schemas.openxmlformats.org/drawingml/2006/main">
              <a:ext uri="{FF2B5EF4-FFF2-40B4-BE49-F238E27FC236}">
                <a16:creationId xmlns:a16="http://schemas.microsoft.com/office/drawing/2014/main" id="{9111A80E-79E6-40BE-8BED-28287290D8F5}"/>
              </a:ext>
            </a:extLst>
          </p:cNvPr>
          <p:cNvSpPr>
            <a:spLocks xmlns:a="http://schemas.openxmlformats.org/drawingml/2006/main" noGrp="1"/>
          </p:cNvSpPr>
          <p:nvPr/>
        </p:nvSpPr>
        <p:spPr>
          <a:xfrm xmlns:a="http://schemas.openxmlformats.org/drawingml/2006/main">
            <a:off x="400050" y="23050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9" name="MAE">
            <a:extLst xmlns:a="http://schemas.openxmlformats.org/drawingml/2006/main">
              <a:ext uri="{FF2B5EF4-FFF2-40B4-BE49-F238E27FC236}">
                <a16:creationId xmlns:a16="http://schemas.microsoft.com/office/drawing/2014/main" id="{839D1FF8-4D2C-4918-810D-414B374B4483}"/>
              </a:ext>
            </a:extLst>
          </p:cNvPr>
          <p:cNvSpPr>
            <a:spLocks xmlns:a="http://schemas.openxmlformats.org/drawingml/2006/main" noGrp="1"/>
          </p:cNvSpPr>
          <p:nvPr/>
        </p:nvSpPr>
        <p:spPr>
          <a:xfrm xmlns:a="http://schemas.openxmlformats.org/drawingml/2006/main">
            <a:off x="400050" y="2447925"/>
            <a:ext cx="4000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MAE</a:t>
            </a:r>
          </a:p>
        </p:txBody>
      </p:sp>
      <p:sp>
        <p:nvSpPr>
          <p:cNvPr id="10" name="13.2904 q/ha">
            <a:extLst xmlns:a="http://schemas.openxmlformats.org/drawingml/2006/main">
              <a:ext uri="{FF2B5EF4-FFF2-40B4-BE49-F238E27FC236}">
                <a16:creationId xmlns:a16="http://schemas.microsoft.com/office/drawing/2014/main" id="{0438DAA2-B15E-49C7-B590-57926F1A7663}"/>
              </a:ext>
            </a:extLst>
          </p:cNvPr>
          <p:cNvSpPr>
            <a:spLocks xmlns:a="http://schemas.openxmlformats.org/drawingml/2006/main" noGrp="1"/>
          </p:cNvSpPr>
          <p:nvPr/>
        </p:nvSpPr>
        <p:spPr>
          <a:xfrm xmlns:a="http://schemas.openxmlformats.org/drawingml/2006/main">
            <a:off x="4591050" y="2447925"/>
            <a:ext cx="701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13.2904 q/ha</a:t>
            </a:r>
          </a:p>
        </p:txBody>
      </p:sp>
      <p:sp>
        <p:nvSpPr>
          <p:cNvPr id="11" name="">
            <a:extLst xmlns:a="http://schemas.openxmlformats.org/drawingml/2006/main">
              <a:ext uri="{FF2B5EF4-FFF2-40B4-BE49-F238E27FC236}">
                <a16:creationId xmlns:a16="http://schemas.microsoft.com/office/drawing/2014/main" id="{604AFDD4-C9BA-4016-AB74-06A20E49A2A1}"/>
              </a:ext>
            </a:extLst>
          </p:cNvPr>
          <p:cNvSpPr>
            <a:spLocks xmlns:a="http://schemas.openxmlformats.org/drawingml/2006/main" noGrp="1"/>
          </p:cNvSpPr>
          <p:nvPr/>
        </p:nvSpPr>
        <p:spPr>
          <a:xfrm xmlns:a="http://schemas.openxmlformats.org/drawingml/2006/main">
            <a:off x="400050" y="31051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12" name="RMSE">
            <a:extLst xmlns:a="http://schemas.openxmlformats.org/drawingml/2006/main">
              <a:ext uri="{FF2B5EF4-FFF2-40B4-BE49-F238E27FC236}">
                <a16:creationId xmlns:a16="http://schemas.microsoft.com/office/drawing/2014/main" id="{6B9946BD-8039-414B-BD5C-7B0CC3716E6C}"/>
              </a:ext>
            </a:extLst>
          </p:cNvPr>
          <p:cNvSpPr>
            <a:spLocks xmlns:a="http://schemas.openxmlformats.org/drawingml/2006/main" noGrp="1"/>
          </p:cNvSpPr>
          <p:nvPr/>
        </p:nvSpPr>
        <p:spPr>
          <a:xfrm xmlns:a="http://schemas.openxmlformats.org/drawingml/2006/main">
            <a:off x="400050" y="3171825"/>
            <a:ext cx="4000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RMSE</a:t>
            </a:r>
          </a:p>
        </p:txBody>
      </p:sp>
      <p:sp>
        <p:nvSpPr>
          <p:cNvPr id="13" name="16.9167 q/ha">
            <a:extLst xmlns:a="http://schemas.openxmlformats.org/drawingml/2006/main">
              <a:ext uri="{FF2B5EF4-FFF2-40B4-BE49-F238E27FC236}">
                <a16:creationId xmlns:a16="http://schemas.microsoft.com/office/drawing/2014/main" id="{910A5851-38DE-42F8-A387-410CB376344D}"/>
              </a:ext>
            </a:extLst>
          </p:cNvPr>
          <p:cNvSpPr>
            <a:spLocks xmlns:a="http://schemas.openxmlformats.org/drawingml/2006/main" noGrp="1"/>
          </p:cNvSpPr>
          <p:nvPr/>
        </p:nvSpPr>
        <p:spPr>
          <a:xfrm xmlns:a="http://schemas.openxmlformats.org/drawingml/2006/main">
            <a:off x="4591050" y="3171825"/>
            <a:ext cx="701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16.9167 q/ha</a:t>
            </a:r>
          </a:p>
        </p:txBody>
      </p:sp>
      <p:sp>
        <p:nvSpPr>
          <p:cNvPr id="14" name="">
            <a:extLst xmlns:a="http://schemas.openxmlformats.org/drawingml/2006/main">
              <a:ext uri="{FF2B5EF4-FFF2-40B4-BE49-F238E27FC236}">
                <a16:creationId xmlns:a16="http://schemas.microsoft.com/office/drawing/2014/main" id="{64E1E1CD-6B33-436E-BB05-7B19368A644F}"/>
              </a:ext>
            </a:extLst>
          </p:cNvPr>
          <p:cNvSpPr>
            <a:spLocks xmlns:a="http://schemas.openxmlformats.org/drawingml/2006/main" noGrp="1"/>
          </p:cNvSpPr>
          <p:nvPr/>
        </p:nvSpPr>
        <p:spPr>
          <a:xfrm xmlns:a="http://schemas.openxmlformats.org/drawingml/2006/main">
            <a:off x="400050" y="38290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15" name="R²">
            <a:extLst xmlns:a="http://schemas.openxmlformats.org/drawingml/2006/main">
              <a:ext uri="{FF2B5EF4-FFF2-40B4-BE49-F238E27FC236}">
                <a16:creationId xmlns:a16="http://schemas.microsoft.com/office/drawing/2014/main" id="{9E36F8A5-2DE2-4D37-BBC8-0264EF79B267}"/>
              </a:ext>
            </a:extLst>
          </p:cNvPr>
          <p:cNvSpPr>
            <a:spLocks xmlns:a="http://schemas.openxmlformats.org/drawingml/2006/main" noGrp="1"/>
          </p:cNvSpPr>
          <p:nvPr/>
        </p:nvSpPr>
        <p:spPr>
          <a:xfrm xmlns:a="http://schemas.openxmlformats.org/drawingml/2006/main">
            <a:off x="400050" y="3895725"/>
            <a:ext cx="4000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R²</a:t>
            </a:r>
          </a:p>
        </p:txBody>
      </p:sp>
      <p:sp>
        <p:nvSpPr>
          <p:cNvPr id="16" name="0.4548">
            <a:extLst xmlns:a="http://schemas.openxmlformats.org/drawingml/2006/main">
              <a:ext uri="{FF2B5EF4-FFF2-40B4-BE49-F238E27FC236}">
                <a16:creationId xmlns:a16="http://schemas.microsoft.com/office/drawing/2014/main" id="{D6641111-C9EB-4477-B576-54B0C4896487}"/>
              </a:ext>
            </a:extLst>
          </p:cNvPr>
          <p:cNvSpPr>
            <a:spLocks xmlns:a="http://schemas.openxmlformats.org/drawingml/2006/main" noGrp="1"/>
          </p:cNvSpPr>
          <p:nvPr/>
        </p:nvSpPr>
        <p:spPr>
          <a:xfrm xmlns:a="http://schemas.openxmlformats.org/drawingml/2006/main">
            <a:off x="4591050" y="3895725"/>
            <a:ext cx="701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0.4548</a:t>
            </a:r>
          </a:p>
        </p:txBody>
      </p:sp>
      <p:sp>
        <p:nvSpPr>
          <p:cNvPr id="17" name="">
            <a:extLst xmlns:a="http://schemas.openxmlformats.org/drawingml/2006/main">
              <a:ext uri="{FF2B5EF4-FFF2-40B4-BE49-F238E27FC236}">
                <a16:creationId xmlns:a16="http://schemas.microsoft.com/office/drawing/2014/main" id="{94C509C4-0C64-44E3-A086-1A6943E94836}"/>
              </a:ext>
            </a:extLst>
          </p:cNvPr>
          <p:cNvSpPr>
            <a:spLocks xmlns:a="http://schemas.openxmlformats.org/drawingml/2006/main" noGrp="1"/>
          </p:cNvSpPr>
          <p:nvPr/>
        </p:nvSpPr>
        <p:spPr>
          <a:xfrm xmlns:a="http://schemas.openxmlformats.org/drawingml/2006/main">
            <a:off x="400050" y="45529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18" name="MAE de référence">
            <a:extLst xmlns:a="http://schemas.openxmlformats.org/drawingml/2006/main">
              <a:ext uri="{FF2B5EF4-FFF2-40B4-BE49-F238E27FC236}">
                <a16:creationId xmlns:a16="http://schemas.microsoft.com/office/drawing/2014/main" id="{13726B8C-4518-4A85-998B-CE5EF777992C}"/>
              </a:ext>
            </a:extLst>
          </p:cNvPr>
          <p:cNvSpPr>
            <a:spLocks xmlns:a="http://schemas.openxmlformats.org/drawingml/2006/main" noGrp="1"/>
          </p:cNvSpPr>
          <p:nvPr/>
        </p:nvSpPr>
        <p:spPr>
          <a:xfrm xmlns:a="http://schemas.openxmlformats.org/drawingml/2006/main">
            <a:off x="400050" y="4619625"/>
            <a:ext cx="4000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MAE de référence</a:t>
            </a:r>
          </a:p>
        </p:txBody>
      </p:sp>
      <p:sp>
        <p:nvSpPr>
          <p:cNvPr id="19" name="18.6639 q/ha">
            <a:extLst xmlns:a="http://schemas.openxmlformats.org/drawingml/2006/main">
              <a:ext uri="{FF2B5EF4-FFF2-40B4-BE49-F238E27FC236}">
                <a16:creationId xmlns:a16="http://schemas.microsoft.com/office/drawing/2014/main" id="{B004E993-7E5C-4D77-BC7F-160D85AD93E4}"/>
              </a:ext>
            </a:extLst>
          </p:cNvPr>
          <p:cNvSpPr>
            <a:spLocks xmlns:a="http://schemas.openxmlformats.org/drawingml/2006/main" noGrp="1"/>
          </p:cNvSpPr>
          <p:nvPr/>
        </p:nvSpPr>
        <p:spPr>
          <a:xfrm xmlns:a="http://schemas.openxmlformats.org/drawingml/2006/main">
            <a:off x="4591050" y="4619625"/>
            <a:ext cx="701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18.6639 q/ha</a:t>
            </a:r>
          </a:p>
        </p:txBody>
      </p:sp>
      <p:sp>
        <p:nvSpPr>
          <p:cNvPr id="20" name="">
            <a:extLst xmlns:a="http://schemas.openxmlformats.org/drawingml/2006/main">
              <a:ext uri="{FF2B5EF4-FFF2-40B4-BE49-F238E27FC236}">
                <a16:creationId xmlns:a16="http://schemas.microsoft.com/office/drawing/2014/main" id="{AAF34D14-0562-49E9-8F21-418F14DB9ADD}"/>
              </a:ext>
            </a:extLst>
          </p:cNvPr>
          <p:cNvSpPr>
            <a:spLocks xmlns:a="http://schemas.openxmlformats.org/drawingml/2006/main" noGrp="1"/>
          </p:cNvSpPr>
          <p:nvPr/>
        </p:nvSpPr>
        <p:spPr>
          <a:xfrm xmlns:a="http://schemas.openxmlformats.org/drawingml/2006/main">
            <a:off x="400050" y="52768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21" name="Lecture">
            <a:extLst xmlns:a="http://schemas.openxmlformats.org/drawingml/2006/main">
              <a:ext uri="{FF2B5EF4-FFF2-40B4-BE49-F238E27FC236}">
                <a16:creationId xmlns:a16="http://schemas.microsoft.com/office/drawing/2014/main" id="{429285C2-82C2-426D-8635-874510C7B82B}"/>
              </a:ext>
            </a:extLst>
          </p:cNvPr>
          <p:cNvSpPr>
            <a:spLocks xmlns:a="http://schemas.openxmlformats.org/drawingml/2006/main" noGrp="1"/>
          </p:cNvSpPr>
          <p:nvPr/>
        </p:nvSpPr>
        <p:spPr>
          <a:xfrm xmlns:a="http://schemas.openxmlformats.org/drawingml/2006/main">
            <a:off x="400050" y="5343525"/>
            <a:ext cx="4000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Lecture</a:t>
            </a:r>
          </a:p>
        </p:txBody>
      </p:sp>
      <p:sp>
        <p:nvSpPr>
          <p:cNvPr id="22" name="Gain mesuré, mais erreur encore importante">
            <a:extLst xmlns:a="http://schemas.openxmlformats.org/drawingml/2006/main">
              <a:ext uri="{FF2B5EF4-FFF2-40B4-BE49-F238E27FC236}">
                <a16:creationId xmlns:a16="http://schemas.microsoft.com/office/drawing/2014/main" id="{FF28C006-43D7-4637-B469-8105ED97F1EA}"/>
              </a:ext>
            </a:extLst>
          </p:cNvPr>
          <p:cNvSpPr>
            <a:spLocks xmlns:a="http://schemas.openxmlformats.org/drawingml/2006/main" noGrp="1"/>
          </p:cNvSpPr>
          <p:nvPr/>
        </p:nvSpPr>
        <p:spPr>
          <a:xfrm xmlns:a="http://schemas.openxmlformats.org/drawingml/2006/main">
            <a:off x="4591050" y="5343525"/>
            <a:ext cx="701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Gain mesuré, mais erreur encore importante</a:t>
            </a:r>
          </a:p>
        </p:txBody>
      </p:sp>
    </p:spTree>
    <p:extLst>
      <p:ext uri="{BB962C8B-B14F-4D97-AF65-F5344CB8AC3E}">
        <p14:creationId xmlns:p14="http://schemas.microsoft.com/office/powerpoint/2010/main" val="1520262661"/>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09 · RÉSULTATS ML">
            <a:extLst xmlns:a="http://schemas.openxmlformats.org/drawingml/2006/main">
              <a:ext uri="{FF2B5EF4-FFF2-40B4-BE49-F238E27FC236}">
                <a16:creationId xmlns:a16="http://schemas.microsoft.com/office/drawing/2014/main" id="{B56CC857-97D3-4C1A-9E0A-A8EB0EF38988}"/>
              </a:ext>
            </a:extLst>
          </p:cNvPr>
          <p:cNvSpPr>
            <a:spLocks xmlns:a="http://schemas.openxmlformats.org/drawingml/2006/main" noGrp="1"/>
          </p:cNvSpPr>
          <p:nvPr/>
        </p:nvSpPr>
        <p:spPr>
          <a:xfrm xmlns:a="http://schemas.openxmlformats.org/drawingml/2006/main">
            <a:off x="400050" y="228600"/>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1">
                <a:solidFill>
                  <a:srgbClr val="525860"/>
                </a:solidFill>
              </a:defRPr>
            </a:pPr>
            <a:r>
              <a:rPr sz="1650" b="1">
                <a:solidFill>
                  <a:srgbClr val="525860"/>
                </a:solidFill>
              </a:rPr>
              <a:t>09 · RÉSULTATS ML</a:t>
            </a:r>
          </a:p>
        </p:txBody>
      </p:sp>
      <p:sp>
        <p:nvSpPr>
          <p:cNvPr id="2" name="Le rappel entraîne des faux positifs">
            <a:extLst xmlns:a="http://schemas.openxmlformats.org/drawingml/2006/main">
              <a:ext uri="{FF2B5EF4-FFF2-40B4-BE49-F238E27FC236}">
                <a16:creationId xmlns:a16="http://schemas.microsoft.com/office/drawing/2014/main" id="{D23BA411-004A-422F-B464-D5364A7064C5}"/>
              </a:ext>
            </a:extLst>
          </p:cNvPr>
          <p:cNvSpPr>
            <a:spLocks xmlns:a="http://schemas.openxmlformats.org/drawingml/2006/main" noGrp="1"/>
          </p:cNvSpPr>
          <p:nvPr/>
        </p:nvSpPr>
        <p:spPr>
          <a:xfrm xmlns:a="http://schemas.openxmlformats.org/drawingml/2006/main">
            <a:off x="400050" y="742950"/>
            <a:ext cx="113919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3600" b="1">
                <a:solidFill>
                  <a:srgbClr val="111111"/>
                </a:solidFill>
              </a:defRPr>
            </a:pPr>
            <a:r>
              <a:rPr sz="3600" b="1">
                <a:solidFill>
                  <a:srgbClr val="111111"/>
                </a:solidFill>
              </a:rPr>
              <a:t>Le rappel entraîne des faux positifs</a:t>
            </a:r>
          </a:p>
        </p:txBody>
      </p:sp>
      <p:sp>
        <p:nvSpPr>
          <p:cNvPr id="3" name="">
            <a:extLst xmlns:a="http://schemas.openxmlformats.org/drawingml/2006/main">
              <a:ext uri="{FF2B5EF4-FFF2-40B4-BE49-F238E27FC236}">
                <a16:creationId xmlns:a16="http://schemas.microsoft.com/office/drawing/2014/main" id="{FC334E33-21F7-4397-BFCB-DFBC387FA741}"/>
              </a:ext>
            </a:extLst>
          </p:cNvPr>
          <p:cNvSpPr>
            <a:spLocks xmlns:a="http://schemas.openxmlformats.org/drawingml/2006/main" noGrp="1"/>
          </p:cNvSpPr>
          <p:nvPr/>
        </p:nvSpPr>
        <p:spPr>
          <a:xfrm xmlns:a="http://schemas.openxmlformats.org/drawingml/2006/main">
            <a:off x="400050" y="62293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4" name="SEMENCES R&amp;D · PROJET DE GROUPE">
            <a:extLst xmlns:a="http://schemas.openxmlformats.org/drawingml/2006/main">
              <a:ext uri="{FF2B5EF4-FFF2-40B4-BE49-F238E27FC236}">
                <a16:creationId xmlns:a16="http://schemas.microsoft.com/office/drawing/2014/main" id="{2CE7D752-F0D5-49DE-B914-323D84BCDE63}"/>
              </a:ext>
            </a:extLst>
          </p:cNvPr>
          <p:cNvSpPr>
            <a:spLocks xmlns:a="http://schemas.openxmlformats.org/drawingml/2006/main" noGrp="1"/>
          </p:cNvSpPr>
          <p:nvPr/>
        </p:nvSpPr>
        <p:spPr>
          <a:xfrm xmlns:a="http://schemas.openxmlformats.org/drawingml/2006/main">
            <a:off x="400050" y="641032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0">
                <a:solidFill>
                  <a:srgbClr val="525860"/>
                </a:solidFill>
              </a:defRPr>
            </a:pPr>
            <a:r>
              <a:rPr sz="1650" b="0">
                <a:solidFill>
                  <a:srgbClr val="525860"/>
                </a:solidFill>
              </a:rPr>
              <a:t>SEMENCES R&amp;D · PROJET DE GROUPE</a:t>
            </a:r>
          </a:p>
        </p:txBody>
      </p:sp>
      <p:sp>
        <p:nvSpPr>
          <p:cNvPr id="5" name="19">
            <a:extLst xmlns:a="http://schemas.openxmlformats.org/drawingml/2006/main">
              <a:ext uri="{FF2B5EF4-FFF2-40B4-BE49-F238E27FC236}">
                <a16:creationId xmlns:a16="http://schemas.microsoft.com/office/drawing/2014/main" id="{235DA0EB-9184-4338-9E9F-B7C8338797A3}"/>
              </a:ext>
            </a:extLst>
          </p:cNvPr>
          <p:cNvSpPr>
            <a:spLocks xmlns:a="http://schemas.openxmlformats.org/drawingml/2006/main" noGrp="1"/>
          </p:cNvSpPr>
          <p:nvPr/>
        </p:nvSpPr>
        <p:spPr>
          <a:xfrm xmlns:a="http://schemas.openxmlformats.org/drawingml/2006/main">
            <a:off x="11239500" y="64103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0">
                <a:solidFill>
                  <a:srgbClr val="525860"/>
                </a:solidFill>
              </a:defRPr>
            </a:pPr>
            <a:r>
              <a:rPr sz="1650" b="0">
                <a:solidFill>
                  <a:srgbClr val="525860"/>
                </a:solidFill>
              </a:rPr>
              <a:t>24</a:t>
            </a:r>
          </a:p>
        </p:txBody>
      </p:sp>
      <p:sp>
        <p:nvSpPr>
          <p:cNvPr id="6" name="Indicateur">
            <a:extLst xmlns:a="http://schemas.openxmlformats.org/drawingml/2006/main">
              <a:ext uri="{FF2B5EF4-FFF2-40B4-BE49-F238E27FC236}">
                <a16:creationId xmlns:a16="http://schemas.microsoft.com/office/drawing/2014/main" id="{097B11D4-B6A9-4BF1-9BB8-3BEB65DEED13}"/>
              </a:ext>
            </a:extLst>
          </p:cNvPr>
          <p:cNvSpPr>
            <a:spLocks xmlns:a="http://schemas.openxmlformats.org/drawingml/2006/main" noGrp="1"/>
          </p:cNvSpPr>
          <p:nvPr/>
        </p:nvSpPr>
        <p:spPr>
          <a:xfrm xmlns:a="http://schemas.openxmlformats.org/drawingml/2006/main">
            <a:off x="400050" y="1838325"/>
            <a:ext cx="4019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1">
                <a:solidFill>
                  <a:srgbClr val="111111"/>
                </a:solidFill>
              </a:defRPr>
            </a:pPr>
            <a:r>
              <a:rPr sz="1950" b="1">
                <a:solidFill>
                  <a:srgbClr val="111111"/>
                </a:solidFill>
              </a:rPr>
              <a:t>Indicateur</a:t>
            </a:r>
          </a:p>
        </p:txBody>
      </p:sp>
      <p:sp>
        <p:nvSpPr>
          <p:cNvPr id="7" name="Valeur sur 2018">
            <a:extLst xmlns:a="http://schemas.openxmlformats.org/drawingml/2006/main">
              <a:ext uri="{FF2B5EF4-FFF2-40B4-BE49-F238E27FC236}">
                <a16:creationId xmlns:a16="http://schemas.microsoft.com/office/drawing/2014/main" id="{F073C060-543E-4BBF-8A8E-E456854F9656}"/>
              </a:ext>
            </a:extLst>
          </p:cNvPr>
          <p:cNvSpPr>
            <a:spLocks xmlns:a="http://schemas.openxmlformats.org/drawingml/2006/main" noGrp="1"/>
          </p:cNvSpPr>
          <p:nvPr/>
        </p:nvSpPr>
        <p:spPr>
          <a:xfrm xmlns:a="http://schemas.openxmlformats.org/drawingml/2006/main">
            <a:off x="4591050" y="1838325"/>
            <a:ext cx="7029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1">
                <a:solidFill>
                  <a:srgbClr val="111111"/>
                </a:solidFill>
              </a:defRPr>
            </a:pPr>
            <a:r>
              <a:rPr sz="1950" b="1">
                <a:solidFill>
                  <a:srgbClr val="111111"/>
                </a:solidFill>
              </a:rPr>
              <a:t>Valeur sur 2018</a:t>
            </a:r>
          </a:p>
        </p:txBody>
      </p:sp>
      <p:sp>
        <p:nvSpPr>
          <p:cNvPr id="8" name="">
            <a:extLst xmlns:a="http://schemas.openxmlformats.org/drawingml/2006/main">
              <a:ext uri="{FF2B5EF4-FFF2-40B4-BE49-F238E27FC236}">
                <a16:creationId xmlns:a16="http://schemas.microsoft.com/office/drawing/2014/main" id="{D0603350-8598-4D44-9F35-41D206320898}"/>
              </a:ext>
            </a:extLst>
          </p:cNvPr>
          <p:cNvSpPr>
            <a:spLocks xmlns:a="http://schemas.openxmlformats.org/drawingml/2006/main" noGrp="1"/>
          </p:cNvSpPr>
          <p:nvPr/>
        </p:nvSpPr>
        <p:spPr>
          <a:xfrm xmlns:a="http://schemas.openxmlformats.org/drawingml/2006/main">
            <a:off x="400050" y="23050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9" name="Accuracy">
            <a:extLst xmlns:a="http://schemas.openxmlformats.org/drawingml/2006/main">
              <a:ext uri="{FF2B5EF4-FFF2-40B4-BE49-F238E27FC236}">
                <a16:creationId xmlns:a16="http://schemas.microsoft.com/office/drawing/2014/main" id="{35BE5CCA-EB44-4D84-8AF6-8160038C1B67}"/>
              </a:ext>
            </a:extLst>
          </p:cNvPr>
          <p:cNvSpPr>
            <a:spLocks xmlns:a="http://schemas.openxmlformats.org/drawingml/2006/main" noGrp="1"/>
          </p:cNvSpPr>
          <p:nvPr/>
        </p:nvSpPr>
        <p:spPr>
          <a:xfrm xmlns:a="http://schemas.openxmlformats.org/drawingml/2006/main">
            <a:off x="400050" y="2447925"/>
            <a:ext cx="4000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Accuracy</a:t>
            </a:r>
          </a:p>
        </p:txBody>
      </p:sp>
      <p:sp>
        <p:nvSpPr>
          <p:cNvPr id="10" name="0.7551">
            <a:extLst xmlns:a="http://schemas.openxmlformats.org/drawingml/2006/main">
              <a:ext uri="{FF2B5EF4-FFF2-40B4-BE49-F238E27FC236}">
                <a16:creationId xmlns:a16="http://schemas.microsoft.com/office/drawing/2014/main" id="{60DF34FD-B772-47FA-9736-9F1797850722}"/>
              </a:ext>
            </a:extLst>
          </p:cNvPr>
          <p:cNvSpPr>
            <a:spLocks xmlns:a="http://schemas.openxmlformats.org/drawingml/2006/main" noGrp="1"/>
          </p:cNvSpPr>
          <p:nvPr/>
        </p:nvSpPr>
        <p:spPr>
          <a:xfrm xmlns:a="http://schemas.openxmlformats.org/drawingml/2006/main">
            <a:off x="4591050" y="2447925"/>
            <a:ext cx="701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0.7551</a:t>
            </a:r>
          </a:p>
        </p:txBody>
      </p:sp>
      <p:sp>
        <p:nvSpPr>
          <p:cNvPr id="11" name="">
            <a:extLst xmlns:a="http://schemas.openxmlformats.org/drawingml/2006/main">
              <a:ext uri="{FF2B5EF4-FFF2-40B4-BE49-F238E27FC236}">
                <a16:creationId xmlns:a16="http://schemas.microsoft.com/office/drawing/2014/main" id="{5DD74424-FAE1-4E64-8FF4-1AAA6CBA3377}"/>
              </a:ext>
            </a:extLst>
          </p:cNvPr>
          <p:cNvSpPr>
            <a:spLocks xmlns:a="http://schemas.openxmlformats.org/drawingml/2006/main" noGrp="1"/>
          </p:cNvSpPr>
          <p:nvPr/>
        </p:nvSpPr>
        <p:spPr>
          <a:xfrm xmlns:a="http://schemas.openxmlformats.org/drawingml/2006/main">
            <a:off x="400050" y="31051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12" name="Précision">
            <a:extLst xmlns:a="http://schemas.openxmlformats.org/drawingml/2006/main">
              <a:ext uri="{FF2B5EF4-FFF2-40B4-BE49-F238E27FC236}">
                <a16:creationId xmlns:a16="http://schemas.microsoft.com/office/drawing/2014/main" id="{9AF2D7E1-B034-47AD-85B4-745A5A7D9880}"/>
              </a:ext>
            </a:extLst>
          </p:cNvPr>
          <p:cNvSpPr>
            <a:spLocks xmlns:a="http://schemas.openxmlformats.org/drawingml/2006/main" noGrp="1"/>
          </p:cNvSpPr>
          <p:nvPr/>
        </p:nvSpPr>
        <p:spPr>
          <a:xfrm xmlns:a="http://schemas.openxmlformats.org/drawingml/2006/main">
            <a:off x="400050" y="3171825"/>
            <a:ext cx="4000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Précision</a:t>
            </a:r>
          </a:p>
        </p:txBody>
      </p:sp>
      <p:sp>
        <p:nvSpPr>
          <p:cNvPr id="13" name="0.6587">
            <a:extLst xmlns:a="http://schemas.openxmlformats.org/drawingml/2006/main">
              <a:ext uri="{FF2B5EF4-FFF2-40B4-BE49-F238E27FC236}">
                <a16:creationId xmlns:a16="http://schemas.microsoft.com/office/drawing/2014/main" id="{4217A1AE-C3B1-4ACF-86FB-E2093270A0B5}"/>
              </a:ext>
            </a:extLst>
          </p:cNvPr>
          <p:cNvSpPr>
            <a:spLocks xmlns:a="http://schemas.openxmlformats.org/drawingml/2006/main" noGrp="1"/>
          </p:cNvSpPr>
          <p:nvPr/>
        </p:nvSpPr>
        <p:spPr>
          <a:xfrm xmlns:a="http://schemas.openxmlformats.org/drawingml/2006/main">
            <a:off x="4591050" y="3171825"/>
            <a:ext cx="701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0.6587</a:t>
            </a:r>
          </a:p>
        </p:txBody>
      </p:sp>
      <p:sp>
        <p:nvSpPr>
          <p:cNvPr id="14" name="">
            <a:extLst xmlns:a="http://schemas.openxmlformats.org/drawingml/2006/main">
              <a:ext uri="{FF2B5EF4-FFF2-40B4-BE49-F238E27FC236}">
                <a16:creationId xmlns:a16="http://schemas.microsoft.com/office/drawing/2014/main" id="{28D8982F-4F8E-4FF2-A20D-C316B3ED468E}"/>
              </a:ext>
            </a:extLst>
          </p:cNvPr>
          <p:cNvSpPr>
            <a:spLocks xmlns:a="http://schemas.openxmlformats.org/drawingml/2006/main" noGrp="1"/>
          </p:cNvSpPr>
          <p:nvPr/>
        </p:nvSpPr>
        <p:spPr>
          <a:xfrm xmlns:a="http://schemas.openxmlformats.org/drawingml/2006/main">
            <a:off x="400050" y="38290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15" name="Rappel">
            <a:extLst xmlns:a="http://schemas.openxmlformats.org/drawingml/2006/main">
              <a:ext uri="{FF2B5EF4-FFF2-40B4-BE49-F238E27FC236}">
                <a16:creationId xmlns:a16="http://schemas.microsoft.com/office/drawing/2014/main" id="{F07BA000-0FA9-4CF0-ACB6-97EB85EC6117}"/>
              </a:ext>
            </a:extLst>
          </p:cNvPr>
          <p:cNvSpPr>
            <a:spLocks xmlns:a="http://schemas.openxmlformats.org/drawingml/2006/main" noGrp="1"/>
          </p:cNvSpPr>
          <p:nvPr/>
        </p:nvSpPr>
        <p:spPr>
          <a:xfrm xmlns:a="http://schemas.openxmlformats.org/drawingml/2006/main">
            <a:off x="400050" y="3895725"/>
            <a:ext cx="4000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Rappel</a:t>
            </a:r>
          </a:p>
        </p:txBody>
      </p:sp>
      <p:sp>
        <p:nvSpPr>
          <p:cNvPr id="16" name="0.9106">
            <a:extLst xmlns:a="http://schemas.openxmlformats.org/drawingml/2006/main">
              <a:ext uri="{FF2B5EF4-FFF2-40B4-BE49-F238E27FC236}">
                <a16:creationId xmlns:a16="http://schemas.microsoft.com/office/drawing/2014/main" id="{BAE9B2DE-534E-499A-AC1C-88E9F9FFD17C}"/>
              </a:ext>
            </a:extLst>
          </p:cNvPr>
          <p:cNvSpPr>
            <a:spLocks xmlns:a="http://schemas.openxmlformats.org/drawingml/2006/main" noGrp="1"/>
          </p:cNvSpPr>
          <p:nvPr/>
        </p:nvSpPr>
        <p:spPr>
          <a:xfrm xmlns:a="http://schemas.openxmlformats.org/drawingml/2006/main">
            <a:off x="4591050" y="3895725"/>
            <a:ext cx="701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0.9106</a:t>
            </a:r>
          </a:p>
        </p:txBody>
      </p:sp>
      <p:sp>
        <p:nvSpPr>
          <p:cNvPr id="17" name="">
            <a:extLst xmlns:a="http://schemas.openxmlformats.org/drawingml/2006/main">
              <a:ext uri="{FF2B5EF4-FFF2-40B4-BE49-F238E27FC236}">
                <a16:creationId xmlns:a16="http://schemas.microsoft.com/office/drawing/2014/main" id="{3855FBB0-A547-4F15-8138-DD20740898CC}"/>
              </a:ext>
            </a:extLst>
          </p:cNvPr>
          <p:cNvSpPr>
            <a:spLocks xmlns:a="http://schemas.openxmlformats.org/drawingml/2006/main" noGrp="1"/>
          </p:cNvSpPr>
          <p:nvPr/>
        </p:nvSpPr>
        <p:spPr>
          <a:xfrm xmlns:a="http://schemas.openxmlformats.org/drawingml/2006/main">
            <a:off x="400050" y="45529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18" name="F1">
            <a:extLst xmlns:a="http://schemas.openxmlformats.org/drawingml/2006/main">
              <a:ext uri="{FF2B5EF4-FFF2-40B4-BE49-F238E27FC236}">
                <a16:creationId xmlns:a16="http://schemas.microsoft.com/office/drawing/2014/main" id="{3BF9094E-BB14-4E89-8D91-50FCC0B54B5B}"/>
              </a:ext>
            </a:extLst>
          </p:cNvPr>
          <p:cNvSpPr>
            <a:spLocks xmlns:a="http://schemas.openxmlformats.org/drawingml/2006/main" noGrp="1"/>
          </p:cNvSpPr>
          <p:nvPr/>
        </p:nvSpPr>
        <p:spPr>
          <a:xfrm xmlns:a="http://schemas.openxmlformats.org/drawingml/2006/main">
            <a:off x="400050" y="4619625"/>
            <a:ext cx="4000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F1</a:t>
            </a:r>
          </a:p>
        </p:txBody>
      </p:sp>
      <p:sp>
        <p:nvSpPr>
          <p:cNvPr id="19" name="0.7645">
            <a:extLst xmlns:a="http://schemas.openxmlformats.org/drawingml/2006/main">
              <a:ext uri="{FF2B5EF4-FFF2-40B4-BE49-F238E27FC236}">
                <a16:creationId xmlns:a16="http://schemas.microsoft.com/office/drawing/2014/main" id="{515597F3-88E4-46B4-BB99-6CAA2B9EDAC0}"/>
              </a:ext>
            </a:extLst>
          </p:cNvPr>
          <p:cNvSpPr>
            <a:spLocks xmlns:a="http://schemas.openxmlformats.org/drawingml/2006/main" noGrp="1"/>
          </p:cNvSpPr>
          <p:nvPr/>
        </p:nvSpPr>
        <p:spPr>
          <a:xfrm xmlns:a="http://schemas.openxmlformats.org/drawingml/2006/main">
            <a:off x="4591050" y="4619625"/>
            <a:ext cx="701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0.7645</a:t>
            </a:r>
          </a:p>
        </p:txBody>
      </p:sp>
      <p:sp>
        <p:nvSpPr>
          <p:cNvPr id="20" name="">
            <a:extLst xmlns:a="http://schemas.openxmlformats.org/drawingml/2006/main">
              <a:ext uri="{FF2B5EF4-FFF2-40B4-BE49-F238E27FC236}">
                <a16:creationId xmlns:a16="http://schemas.microsoft.com/office/drawing/2014/main" id="{ADA04948-2CC0-4458-A971-093F27F2B019}"/>
              </a:ext>
            </a:extLst>
          </p:cNvPr>
          <p:cNvSpPr>
            <a:spLocks xmlns:a="http://schemas.openxmlformats.org/drawingml/2006/main" noGrp="1"/>
          </p:cNvSpPr>
          <p:nvPr/>
        </p:nvSpPr>
        <p:spPr>
          <a:xfrm xmlns:a="http://schemas.openxmlformats.org/drawingml/2006/main">
            <a:off x="400050" y="52768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21" name="Seuil de probabilité">
            <a:extLst xmlns:a="http://schemas.openxmlformats.org/drawingml/2006/main">
              <a:ext uri="{FF2B5EF4-FFF2-40B4-BE49-F238E27FC236}">
                <a16:creationId xmlns:a16="http://schemas.microsoft.com/office/drawing/2014/main" id="{73883115-C240-4BCD-9631-9FBC404DC85C}"/>
              </a:ext>
            </a:extLst>
          </p:cNvPr>
          <p:cNvSpPr>
            <a:spLocks xmlns:a="http://schemas.openxmlformats.org/drawingml/2006/main" noGrp="1"/>
          </p:cNvSpPr>
          <p:nvPr/>
        </p:nvSpPr>
        <p:spPr>
          <a:xfrm xmlns:a="http://schemas.openxmlformats.org/drawingml/2006/main">
            <a:off x="400050" y="5343525"/>
            <a:ext cx="4000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Seuil de probabilité</a:t>
            </a:r>
          </a:p>
        </p:txBody>
      </p:sp>
      <p:sp>
        <p:nvSpPr>
          <p:cNvPr id="22" name="0.41">
            <a:extLst xmlns:a="http://schemas.openxmlformats.org/drawingml/2006/main">
              <a:ext uri="{FF2B5EF4-FFF2-40B4-BE49-F238E27FC236}">
                <a16:creationId xmlns:a16="http://schemas.microsoft.com/office/drawing/2014/main" id="{4B4008BE-F2E5-4BEA-BD9B-63751CA59FCD}"/>
              </a:ext>
            </a:extLst>
          </p:cNvPr>
          <p:cNvSpPr>
            <a:spLocks xmlns:a="http://schemas.openxmlformats.org/drawingml/2006/main" noGrp="1"/>
          </p:cNvSpPr>
          <p:nvPr/>
        </p:nvSpPr>
        <p:spPr>
          <a:xfrm xmlns:a="http://schemas.openxmlformats.org/drawingml/2006/main">
            <a:off x="4591050" y="5343525"/>
            <a:ext cx="701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0.41</a:t>
            </a:r>
          </a:p>
        </p:txBody>
      </p:sp>
    </p:spTree>
    <p:extLst>
      <p:ext uri="{BB962C8B-B14F-4D97-AF65-F5344CB8AC3E}">
        <p14:creationId xmlns:p14="http://schemas.microsoft.com/office/powerpoint/2010/main" val="1109127426"/>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10 · ACCÈS">
            <a:extLst xmlns:a="http://schemas.openxmlformats.org/drawingml/2006/main">
              <a:ext uri="{FF2B5EF4-FFF2-40B4-BE49-F238E27FC236}">
                <a16:creationId xmlns:a16="http://schemas.microsoft.com/office/drawing/2014/main" id="{7DF6B53B-5880-41FE-89E7-A538446D3186}"/>
              </a:ext>
            </a:extLst>
          </p:cNvPr>
          <p:cNvSpPr>
            <a:spLocks xmlns:a="http://schemas.openxmlformats.org/drawingml/2006/main" noGrp="1"/>
          </p:cNvSpPr>
          <p:nvPr/>
        </p:nvSpPr>
        <p:spPr>
          <a:xfrm xmlns:a="http://schemas.openxmlformats.org/drawingml/2006/main">
            <a:off x="400050" y="228600"/>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1">
                <a:solidFill>
                  <a:srgbClr val="525860"/>
                </a:solidFill>
              </a:defRPr>
            </a:pPr>
            <a:r>
              <a:rPr sz="1650" b="1">
                <a:solidFill>
                  <a:srgbClr val="525860"/>
                </a:solidFill>
              </a:rPr>
              <a:t>10 · ACCÈS</a:t>
            </a:r>
          </a:p>
        </p:txBody>
      </p:sp>
      <p:sp>
        <p:nvSpPr>
          <p:cNvPr id="2" name="L’API sépare consultation et prédiction">
            <a:extLst xmlns:a="http://schemas.openxmlformats.org/drawingml/2006/main">
              <a:ext uri="{FF2B5EF4-FFF2-40B4-BE49-F238E27FC236}">
                <a16:creationId xmlns:a16="http://schemas.microsoft.com/office/drawing/2014/main" id="{1FCE9C0C-381A-49DA-A707-E17F4F50B94D}"/>
              </a:ext>
            </a:extLst>
          </p:cNvPr>
          <p:cNvSpPr>
            <a:spLocks xmlns:a="http://schemas.openxmlformats.org/drawingml/2006/main" noGrp="1"/>
          </p:cNvSpPr>
          <p:nvPr/>
        </p:nvSpPr>
        <p:spPr>
          <a:xfrm xmlns:a="http://schemas.openxmlformats.org/drawingml/2006/main">
            <a:off x="400050" y="742950"/>
            <a:ext cx="113919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3600" b="1">
                <a:solidFill>
                  <a:srgbClr val="111111"/>
                </a:solidFill>
              </a:defRPr>
            </a:pPr>
            <a:r>
              <a:rPr sz="3600" b="1">
                <a:solidFill>
                  <a:srgbClr val="111111"/>
                </a:solidFill>
              </a:rPr>
              <a:t>L’API sépare consultation et prédiction</a:t>
            </a:r>
          </a:p>
        </p:txBody>
      </p:sp>
      <p:sp>
        <p:nvSpPr>
          <p:cNvPr id="3" name="">
            <a:extLst xmlns:a="http://schemas.openxmlformats.org/drawingml/2006/main">
              <a:ext uri="{FF2B5EF4-FFF2-40B4-BE49-F238E27FC236}">
                <a16:creationId xmlns:a16="http://schemas.microsoft.com/office/drawing/2014/main" id="{F697850A-10C9-4F59-9DB4-A699FB16565D}"/>
              </a:ext>
            </a:extLst>
          </p:cNvPr>
          <p:cNvSpPr>
            <a:spLocks xmlns:a="http://schemas.openxmlformats.org/drawingml/2006/main" noGrp="1"/>
          </p:cNvSpPr>
          <p:nvPr/>
        </p:nvSpPr>
        <p:spPr>
          <a:xfrm xmlns:a="http://schemas.openxmlformats.org/drawingml/2006/main">
            <a:off x="400050" y="62293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4" name="SEMENCES R&amp;D · PROJET DE GROUPE">
            <a:extLst xmlns:a="http://schemas.openxmlformats.org/drawingml/2006/main">
              <a:ext uri="{FF2B5EF4-FFF2-40B4-BE49-F238E27FC236}">
                <a16:creationId xmlns:a16="http://schemas.microsoft.com/office/drawing/2014/main" id="{FCB0645B-7C72-4387-8A72-249A11C522A7}"/>
              </a:ext>
            </a:extLst>
          </p:cNvPr>
          <p:cNvSpPr>
            <a:spLocks xmlns:a="http://schemas.openxmlformats.org/drawingml/2006/main" noGrp="1"/>
          </p:cNvSpPr>
          <p:nvPr/>
        </p:nvSpPr>
        <p:spPr>
          <a:xfrm xmlns:a="http://schemas.openxmlformats.org/drawingml/2006/main">
            <a:off x="400050" y="641032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0">
                <a:solidFill>
                  <a:srgbClr val="525860"/>
                </a:solidFill>
              </a:defRPr>
            </a:pPr>
            <a:r>
              <a:rPr sz="1650" b="0">
                <a:solidFill>
                  <a:srgbClr val="525860"/>
                </a:solidFill>
              </a:rPr>
              <a:t>SEMENCES R&amp;D · PROJET DE GROUPE</a:t>
            </a:r>
          </a:p>
        </p:txBody>
      </p:sp>
      <p:sp>
        <p:nvSpPr>
          <p:cNvPr id="5" name="20">
            <a:extLst xmlns:a="http://schemas.openxmlformats.org/drawingml/2006/main">
              <a:ext uri="{FF2B5EF4-FFF2-40B4-BE49-F238E27FC236}">
                <a16:creationId xmlns:a16="http://schemas.microsoft.com/office/drawing/2014/main" id="{3057C162-3900-4444-8150-6955826C5EF8}"/>
              </a:ext>
            </a:extLst>
          </p:cNvPr>
          <p:cNvSpPr>
            <a:spLocks xmlns:a="http://schemas.openxmlformats.org/drawingml/2006/main" noGrp="1"/>
          </p:cNvSpPr>
          <p:nvPr/>
        </p:nvSpPr>
        <p:spPr>
          <a:xfrm xmlns:a="http://schemas.openxmlformats.org/drawingml/2006/main">
            <a:off x="11239500" y="64103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0">
                <a:solidFill>
                  <a:srgbClr val="525860"/>
                </a:solidFill>
              </a:defRPr>
            </a:pPr>
            <a:r>
              <a:rPr sz="1650" b="0">
                <a:solidFill>
                  <a:srgbClr val="525860"/>
                </a:solidFill>
              </a:rPr>
              <a:t>25</a:t>
            </a:r>
          </a:p>
        </p:txBody>
      </p:sp>
      <p:sp>
        <p:nvSpPr>
          <p:cNvPr id="6" name="Route">
            <a:extLst xmlns:a="http://schemas.openxmlformats.org/drawingml/2006/main">
              <a:ext uri="{FF2B5EF4-FFF2-40B4-BE49-F238E27FC236}">
                <a16:creationId xmlns:a16="http://schemas.microsoft.com/office/drawing/2014/main" id="{BF8624F9-728D-4343-85A0-A34AF8D7E3AE}"/>
              </a:ext>
            </a:extLst>
          </p:cNvPr>
          <p:cNvSpPr>
            <a:spLocks xmlns:a="http://schemas.openxmlformats.org/drawingml/2006/main" noGrp="1"/>
          </p:cNvSpPr>
          <p:nvPr/>
        </p:nvSpPr>
        <p:spPr>
          <a:xfrm xmlns:a="http://schemas.openxmlformats.org/drawingml/2006/main">
            <a:off x="400050" y="1838325"/>
            <a:ext cx="25431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1">
                <a:solidFill>
                  <a:srgbClr val="111111"/>
                </a:solidFill>
              </a:defRPr>
            </a:pPr>
            <a:r>
              <a:rPr sz="1950" b="1">
                <a:solidFill>
                  <a:srgbClr val="111111"/>
                </a:solidFill>
              </a:rPr>
              <a:t>Route</a:t>
            </a:r>
          </a:p>
        </p:txBody>
      </p:sp>
      <p:sp>
        <p:nvSpPr>
          <p:cNvPr id="7" name="Accès">
            <a:extLst xmlns:a="http://schemas.openxmlformats.org/drawingml/2006/main">
              <a:ext uri="{FF2B5EF4-FFF2-40B4-BE49-F238E27FC236}">
                <a16:creationId xmlns:a16="http://schemas.microsoft.com/office/drawing/2014/main" id="{578F3B49-96B0-4F1E-B404-FE2405A647E7}"/>
              </a:ext>
            </a:extLst>
          </p:cNvPr>
          <p:cNvSpPr>
            <a:spLocks xmlns:a="http://schemas.openxmlformats.org/drawingml/2006/main" noGrp="1"/>
          </p:cNvSpPr>
          <p:nvPr/>
        </p:nvSpPr>
        <p:spPr>
          <a:xfrm xmlns:a="http://schemas.openxmlformats.org/drawingml/2006/main">
            <a:off x="3114675" y="1838325"/>
            <a:ext cx="39243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1">
                <a:solidFill>
                  <a:srgbClr val="111111"/>
                </a:solidFill>
              </a:defRPr>
            </a:pPr>
            <a:r>
              <a:rPr sz="1950" b="1">
                <a:solidFill>
                  <a:srgbClr val="111111"/>
                </a:solidFill>
              </a:rPr>
              <a:t>Accès</a:t>
            </a:r>
          </a:p>
        </p:txBody>
      </p:sp>
      <p:sp>
        <p:nvSpPr>
          <p:cNvPr id="8" name="Fonction">
            <a:extLst xmlns:a="http://schemas.openxmlformats.org/drawingml/2006/main">
              <a:ext uri="{FF2B5EF4-FFF2-40B4-BE49-F238E27FC236}">
                <a16:creationId xmlns:a16="http://schemas.microsoft.com/office/drawing/2014/main" id="{BBADA0BF-9A46-410A-ACEC-7EBC7C6101E9}"/>
              </a:ext>
            </a:extLst>
          </p:cNvPr>
          <p:cNvSpPr>
            <a:spLocks xmlns:a="http://schemas.openxmlformats.org/drawingml/2006/main" noGrp="1"/>
          </p:cNvSpPr>
          <p:nvPr/>
        </p:nvSpPr>
        <p:spPr>
          <a:xfrm xmlns:a="http://schemas.openxmlformats.org/drawingml/2006/main">
            <a:off x="7210425" y="1838325"/>
            <a:ext cx="44100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1">
                <a:solidFill>
                  <a:srgbClr val="111111"/>
                </a:solidFill>
              </a:defRPr>
            </a:pPr>
            <a:r>
              <a:rPr sz="1950" b="1">
                <a:solidFill>
                  <a:srgbClr val="111111"/>
                </a:solidFill>
              </a:rPr>
              <a:t>Fonction</a:t>
            </a:r>
          </a:p>
        </p:txBody>
      </p:sp>
      <p:sp>
        <p:nvSpPr>
          <p:cNvPr id="9" name="">
            <a:extLst xmlns:a="http://schemas.openxmlformats.org/drawingml/2006/main">
              <a:ext uri="{FF2B5EF4-FFF2-40B4-BE49-F238E27FC236}">
                <a16:creationId xmlns:a16="http://schemas.microsoft.com/office/drawing/2014/main" id="{704CC1F8-3650-4402-B77A-01296F38FAA6}"/>
              </a:ext>
            </a:extLst>
          </p:cNvPr>
          <p:cNvSpPr>
            <a:spLocks xmlns:a="http://schemas.openxmlformats.org/drawingml/2006/main" noGrp="1"/>
          </p:cNvSpPr>
          <p:nvPr/>
        </p:nvSpPr>
        <p:spPr>
          <a:xfrm xmlns:a="http://schemas.openxmlformats.org/drawingml/2006/main">
            <a:off x="400050" y="23050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10" name="/api/health">
            <a:extLst xmlns:a="http://schemas.openxmlformats.org/drawingml/2006/main">
              <a:ext uri="{FF2B5EF4-FFF2-40B4-BE49-F238E27FC236}">
                <a16:creationId xmlns:a16="http://schemas.microsoft.com/office/drawing/2014/main" id="{B0DFB1AB-C18A-4C63-9DA1-3D5F663D2046}"/>
              </a:ext>
            </a:extLst>
          </p:cNvPr>
          <p:cNvSpPr>
            <a:spLocks xmlns:a="http://schemas.openxmlformats.org/drawingml/2006/main" noGrp="1"/>
          </p:cNvSpPr>
          <p:nvPr/>
        </p:nvSpPr>
        <p:spPr>
          <a:xfrm xmlns:a="http://schemas.openxmlformats.org/drawingml/2006/main">
            <a:off x="400050" y="2447925"/>
            <a:ext cx="25241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/api/health</a:t>
            </a:r>
          </a:p>
        </p:txBody>
      </p:sp>
      <p:sp>
        <p:nvSpPr>
          <p:cNvPr id="11" name="Public">
            <a:extLst xmlns:a="http://schemas.openxmlformats.org/drawingml/2006/main">
              <a:ext uri="{FF2B5EF4-FFF2-40B4-BE49-F238E27FC236}">
                <a16:creationId xmlns:a16="http://schemas.microsoft.com/office/drawing/2014/main" id="{68E4E129-98C6-4352-940A-DF0D890066AE}"/>
              </a:ext>
            </a:extLst>
          </p:cNvPr>
          <p:cNvSpPr>
            <a:spLocks xmlns:a="http://schemas.openxmlformats.org/drawingml/2006/main" noGrp="1"/>
          </p:cNvSpPr>
          <p:nvPr/>
        </p:nvSpPr>
        <p:spPr>
          <a:xfrm xmlns:a="http://schemas.openxmlformats.org/drawingml/2006/main">
            <a:off x="3114675" y="2447925"/>
            <a:ext cx="3905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Public</a:t>
            </a:r>
          </a:p>
        </p:txBody>
      </p:sp>
      <p:sp>
        <p:nvSpPr>
          <p:cNvPr id="12" name="État API et présence des artefacts">
            <a:extLst xmlns:a="http://schemas.openxmlformats.org/drawingml/2006/main">
              <a:ext uri="{FF2B5EF4-FFF2-40B4-BE49-F238E27FC236}">
                <a16:creationId xmlns:a16="http://schemas.microsoft.com/office/drawing/2014/main" id="{546D850A-E4E3-4B0A-AC72-8F71222EE7A8}"/>
              </a:ext>
            </a:extLst>
          </p:cNvPr>
          <p:cNvSpPr>
            <a:spLocks xmlns:a="http://schemas.openxmlformats.org/drawingml/2006/main" noGrp="1"/>
          </p:cNvSpPr>
          <p:nvPr/>
        </p:nvSpPr>
        <p:spPr>
          <a:xfrm xmlns:a="http://schemas.openxmlformats.org/drawingml/2006/main">
            <a:off x="7210425" y="2447925"/>
            <a:ext cx="43910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État API et présence des artefacts</a:t>
            </a:r>
          </a:p>
        </p:txBody>
      </p:sp>
      <p:sp>
        <p:nvSpPr>
          <p:cNvPr id="13" name="">
            <a:extLst xmlns:a="http://schemas.openxmlformats.org/drawingml/2006/main">
              <a:ext uri="{FF2B5EF4-FFF2-40B4-BE49-F238E27FC236}">
                <a16:creationId xmlns:a16="http://schemas.microsoft.com/office/drawing/2014/main" id="{6F4830CF-FD4A-422C-B02E-F5FEC4AF15DA}"/>
              </a:ext>
            </a:extLst>
          </p:cNvPr>
          <p:cNvSpPr>
            <a:spLocks xmlns:a="http://schemas.openxmlformats.org/drawingml/2006/main" noGrp="1"/>
          </p:cNvSpPr>
          <p:nvPr/>
        </p:nvSpPr>
        <p:spPr>
          <a:xfrm xmlns:a="http://schemas.openxmlformats.org/drawingml/2006/main">
            <a:off x="400050" y="31051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14" name="/api/catalog">
            <a:extLst xmlns:a="http://schemas.openxmlformats.org/drawingml/2006/main">
              <a:ext uri="{FF2B5EF4-FFF2-40B4-BE49-F238E27FC236}">
                <a16:creationId xmlns:a16="http://schemas.microsoft.com/office/drawing/2014/main" id="{51AB5544-996E-4152-9B53-F20D5FBC1BC1}"/>
              </a:ext>
            </a:extLst>
          </p:cNvPr>
          <p:cNvSpPr>
            <a:spLocks xmlns:a="http://schemas.openxmlformats.org/drawingml/2006/main" noGrp="1"/>
          </p:cNvSpPr>
          <p:nvPr/>
        </p:nvSpPr>
        <p:spPr>
          <a:xfrm xmlns:a="http://schemas.openxmlformats.org/drawingml/2006/main">
            <a:off x="400050" y="3171825"/>
            <a:ext cx="25241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/api/catalog</a:t>
            </a:r>
          </a:p>
        </p:txBody>
      </p:sp>
      <p:sp>
        <p:nvSpPr>
          <p:cNvPr id="15" name="Trois rôles">
            <a:extLst xmlns:a="http://schemas.openxmlformats.org/drawingml/2006/main">
              <a:ext uri="{FF2B5EF4-FFF2-40B4-BE49-F238E27FC236}">
                <a16:creationId xmlns:a16="http://schemas.microsoft.com/office/drawing/2014/main" id="{9D54C484-2F45-4B53-BBF3-6C9B4C6A65D7}"/>
              </a:ext>
            </a:extLst>
          </p:cNvPr>
          <p:cNvSpPr>
            <a:spLocks xmlns:a="http://schemas.openxmlformats.org/drawingml/2006/main" noGrp="1"/>
          </p:cNvSpPr>
          <p:nvPr/>
        </p:nvSpPr>
        <p:spPr>
          <a:xfrm xmlns:a="http://schemas.openxmlformats.org/drawingml/2006/main">
            <a:off x="3114675" y="3171825"/>
            <a:ext cx="3905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Trois rôles</a:t>
            </a:r>
          </a:p>
        </p:txBody>
      </p:sp>
      <p:sp>
        <p:nvSpPr>
          <p:cNvPr id="16" name="Métadonnées">
            <a:extLst xmlns:a="http://schemas.openxmlformats.org/drawingml/2006/main">
              <a:ext uri="{FF2B5EF4-FFF2-40B4-BE49-F238E27FC236}">
                <a16:creationId xmlns:a16="http://schemas.microsoft.com/office/drawing/2014/main" id="{9EC3BAFB-EB3E-46F7-BA5F-1BD2212710E4}"/>
              </a:ext>
            </a:extLst>
          </p:cNvPr>
          <p:cNvSpPr>
            <a:spLocks xmlns:a="http://schemas.openxmlformats.org/drawingml/2006/main" noGrp="1"/>
          </p:cNvSpPr>
          <p:nvPr/>
        </p:nvSpPr>
        <p:spPr>
          <a:xfrm xmlns:a="http://schemas.openxmlformats.org/drawingml/2006/main">
            <a:off x="7210425" y="3171825"/>
            <a:ext cx="43910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Métadonnées</a:t>
            </a:r>
          </a:p>
        </p:txBody>
      </p:sp>
      <p:sp>
        <p:nvSpPr>
          <p:cNvPr id="17" name="">
            <a:extLst xmlns:a="http://schemas.openxmlformats.org/drawingml/2006/main">
              <a:ext uri="{FF2B5EF4-FFF2-40B4-BE49-F238E27FC236}">
                <a16:creationId xmlns:a16="http://schemas.microsoft.com/office/drawing/2014/main" id="{CA3C2A64-75FC-4D7B-A0B0-FBAEA9818DBA}"/>
              </a:ext>
            </a:extLst>
          </p:cNvPr>
          <p:cNvSpPr>
            <a:spLocks xmlns:a="http://schemas.openxmlformats.org/drawingml/2006/main" noGrp="1"/>
          </p:cNvSpPr>
          <p:nvPr/>
        </p:nvSpPr>
        <p:spPr>
          <a:xfrm xmlns:a="http://schemas.openxmlformats.org/drawingml/2006/main">
            <a:off x="400050" y="38290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18" name="/api/search">
            <a:extLst xmlns:a="http://schemas.openxmlformats.org/drawingml/2006/main">
              <a:ext uri="{FF2B5EF4-FFF2-40B4-BE49-F238E27FC236}">
                <a16:creationId xmlns:a16="http://schemas.microsoft.com/office/drawing/2014/main" id="{18B3DE02-3F6C-48C5-9EB4-9B11F3F52126}"/>
              </a:ext>
            </a:extLst>
          </p:cNvPr>
          <p:cNvSpPr>
            <a:spLocks xmlns:a="http://schemas.openxmlformats.org/drawingml/2006/main" noGrp="1"/>
          </p:cNvSpPr>
          <p:nvPr/>
        </p:nvSpPr>
        <p:spPr>
          <a:xfrm xmlns:a="http://schemas.openxmlformats.org/drawingml/2006/main">
            <a:off x="400050" y="3895725"/>
            <a:ext cx="25241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/api/search</a:t>
            </a:r>
          </a:p>
        </p:txBody>
      </p:sp>
      <p:sp>
        <p:nvSpPr>
          <p:cNvPr id="19" name="Trois rôles">
            <a:extLst xmlns:a="http://schemas.openxmlformats.org/drawingml/2006/main">
              <a:ext uri="{FF2B5EF4-FFF2-40B4-BE49-F238E27FC236}">
                <a16:creationId xmlns:a16="http://schemas.microsoft.com/office/drawing/2014/main" id="{F7851903-D4BC-4A37-AE9A-B743B5C6A0BD}"/>
              </a:ext>
            </a:extLst>
          </p:cNvPr>
          <p:cNvSpPr>
            <a:spLocks xmlns:a="http://schemas.openxmlformats.org/drawingml/2006/main" noGrp="1"/>
          </p:cNvSpPr>
          <p:nvPr/>
        </p:nvSpPr>
        <p:spPr>
          <a:xfrm xmlns:a="http://schemas.openxmlformats.org/drawingml/2006/main">
            <a:off x="3114675" y="3895725"/>
            <a:ext cx="3905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Trois rôles</a:t>
            </a:r>
          </a:p>
        </p:txBody>
      </p:sp>
      <p:sp>
        <p:nvSpPr>
          <p:cNvPr id="20" name="Recherche plein texte">
            <a:extLst xmlns:a="http://schemas.openxmlformats.org/drawingml/2006/main">
              <a:ext uri="{FF2B5EF4-FFF2-40B4-BE49-F238E27FC236}">
                <a16:creationId xmlns:a16="http://schemas.microsoft.com/office/drawing/2014/main" id="{2A700150-7D79-4E81-968B-F685D71FCBEA}"/>
              </a:ext>
            </a:extLst>
          </p:cNvPr>
          <p:cNvSpPr>
            <a:spLocks xmlns:a="http://schemas.openxmlformats.org/drawingml/2006/main" noGrp="1"/>
          </p:cNvSpPr>
          <p:nvPr/>
        </p:nvSpPr>
        <p:spPr>
          <a:xfrm xmlns:a="http://schemas.openxmlformats.org/drawingml/2006/main">
            <a:off x="7210425" y="3895725"/>
            <a:ext cx="43910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Recherche plein texte</a:t>
            </a:r>
          </a:p>
        </p:txBody>
      </p:sp>
      <p:sp>
        <p:nvSpPr>
          <p:cNvPr id="21" name="">
            <a:extLst xmlns:a="http://schemas.openxmlformats.org/drawingml/2006/main">
              <a:ext uri="{FF2B5EF4-FFF2-40B4-BE49-F238E27FC236}">
                <a16:creationId xmlns:a16="http://schemas.microsoft.com/office/drawing/2014/main" id="{D8FED579-D018-414D-8733-9DEF617E685F}"/>
              </a:ext>
            </a:extLst>
          </p:cNvPr>
          <p:cNvSpPr>
            <a:spLocks xmlns:a="http://schemas.openxmlformats.org/drawingml/2006/main" noGrp="1"/>
          </p:cNvSpPr>
          <p:nvPr/>
        </p:nvSpPr>
        <p:spPr>
          <a:xfrm xmlns:a="http://schemas.openxmlformats.org/drawingml/2006/main">
            <a:off x="400050" y="45529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22" name="/api/predict">
            <a:extLst xmlns:a="http://schemas.openxmlformats.org/drawingml/2006/main">
              <a:ext uri="{FF2B5EF4-FFF2-40B4-BE49-F238E27FC236}">
                <a16:creationId xmlns:a16="http://schemas.microsoft.com/office/drawing/2014/main" id="{9E9F7938-1F11-48AD-9826-B44B233398B8}"/>
              </a:ext>
            </a:extLst>
          </p:cNvPr>
          <p:cNvSpPr>
            <a:spLocks xmlns:a="http://schemas.openxmlformats.org/drawingml/2006/main" noGrp="1"/>
          </p:cNvSpPr>
          <p:nvPr/>
        </p:nvSpPr>
        <p:spPr>
          <a:xfrm xmlns:a="http://schemas.openxmlformats.org/drawingml/2006/main">
            <a:off x="400050" y="4619625"/>
            <a:ext cx="25241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/api/predict</a:t>
            </a:r>
          </a:p>
        </p:txBody>
      </p:sp>
      <p:sp>
        <p:nvSpPr>
          <p:cNvPr id="23" name="Chercheur / sélectionneur">
            <a:extLst xmlns:a="http://schemas.openxmlformats.org/drawingml/2006/main">
              <a:ext uri="{FF2B5EF4-FFF2-40B4-BE49-F238E27FC236}">
                <a16:creationId xmlns:a16="http://schemas.microsoft.com/office/drawing/2014/main" id="{C721DA9F-B349-4E46-9778-BCEDE255A053}"/>
              </a:ext>
            </a:extLst>
          </p:cNvPr>
          <p:cNvSpPr>
            <a:spLocks xmlns:a="http://schemas.openxmlformats.org/drawingml/2006/main" noGrp="1"/>
          </p:cNvSpPr>
          <p:nvPr/>
        </p:nvSpPr>
        <p:spPr>
          <a:xfrm xmlns:a="http://schemas.openxmlformats.org/drawingml/2006/main">
            <a:off x="3114675" y="4619625"/>
            <a:ext cx="3905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Chercheur / sélectionneur</a:t>
            </a:r>
          </a:p>
        </p:txBody>
      </p:sp>
      <p:sp>
        <p:nvSpPr>
          <p:cNvPr id="24" name="POST JSON avec six variables">
            <a:extLst xmlns:a="http://schemas.openxmlformats.org/drawingml/2006/main">
              <a:ext uri="{FF2B5EF4-FFF2-40B4-BE49-F238E27FC236}">
                <a16:creationId xmlns:a16="http://schemas.microsoft.com/office/drawing/2014/main" id="{68CEA513-33C1-4EB4-BE1B-1F4CD2A94172}"/>
              </a:ext>
            </a:extLst>
          </p:cNvPr>
          <p:cNvSpPr>
            <a:spLocks xmlns:a="http://schemas.openxmlformats.org/drawingml/2006/main" noGrp="1"/>
          </p:cNvSpPr>
          <p:nvPr/>
        </p:nvSpPr>
        <p:spPr>
          <a:xfrm xmlns:a="http://schemas.openxmlformats.org/drawingml/2006/main">
            <a:off x="7210425" y="4619625"/>
            <a:ext cx="43910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POST JSON avec six variables</a:t>
            </a:r>
          </a:p>
        </p:txBody>
      </p:sp>
      <p:sp>
        <p:nvSpPr>
          <p:cNvPr id="25" name="">
            <a:extLst xmlns:a="http://schemas.openxmlformats.org/drawingml/2006/main">
              <a:ext uri="{FF2B5EF4-FFF2-40B4-BE49-F238E27FC236}">
                <a16:creationId xmlns:a16="http://schemas.microsoft.com/office/drawing/2014/main" id="{A2358A6E-7BAB-41DE-8BCF-75D119FBA8C6}"/>
              </a:ext>
            </a:extLst>
          </p:cNvPr>
          <p:cNvSpPr>
            <a:spLocks xmlns:a="http://schemas.openxmlformats.org/drawingml/2006/main" noGrp="1"/>
          </p:cNvSpPr>
          <p:nvPr/>
        </p:nvSpPr>
        <p:spPr>
          <a:xfrm xmlns:a="http://schemas.openxmlformats.org/drawingml/2006/main">
            <a:off x="400050" y="52768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26" name="Audit JSONL">
            <a:extLst xmlns:a="http://schemas.openxmlformats.org/drawingml/2006/main">
              <a:ext uri="{FF2B5EF4-FFF2-40B4-BE49-F238E27FC236}">
                <a16:creationId xmlns:a16="http://schemas.microsoft.com/office/drawing/2014/main" id="{AA09F20F-E515-49D2-BB70-E844B811E8ED}"/>
              </a:ext>
            </a:extLst>
          </p:cNvPr>
          <p:cNvSpPr>
            <a:spLocks xmlns:a="http://schemas.openxmlformats.org/drawingml/2006/main" noGrp="1"/>
          </p:cNvSpPr>
          <p:nvPr/>
        </p:nvSpPr>
        <p:spPr>
          <a:xfrm xmlns:a="http://schemas.openxmlformats.org/drawingml/2006/main">
            <a:off x="400050" y="5343525"/>
            <a:ext cx="25241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Audit JSONL</a:t>
            </a:r>
          </a:p>
        </p:txBody>
      </p:sp>
      <p:sp>
        <p:nvSpPr>
          <p:cNvPr id="27" name="Écriture locale">
            <a:extLst xmlns:a="http://schemas.openxmlformats.org/drawingml/2006/main">
              <a:ext uri="{FF2B5EF4-FFF2-40B4-BE49-F238E27FC236}">
                <a16:creationId xmlns:a16="http://schemas.microsoft.com/office/drawing/2014/main" id="{B77D7D6E-F062-4BD5-A02D-B53D0980AF47}"/>
              </a:ext>
            </a:extLst>
          </p:cNvPr>
          <p:cNvSpPr>
            <a:spLocks xmlns:a="http://schemas.openxmlformats.org/drawingml/2006/main" noGrp="1"/>
          </p:cNvSpPr>
          <p:nvPr/>
        </p:nvSpPr>
        <p:spPr>
          <a:xfrm xmlns:a="http://schemas.openxmlformats.org/drawingml/2006/main">
            <a:off x="3114675" y="5343525"/>
            <a:ext cx="3905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Écriture locale</a:t>
            </a:r>
          </a:p>
        </p:txBody>
      </p:sp>
      <p:sp>
        <p:nvSpPr>
          <p:cNvPr id="28" name="Rôle, action, statut et client">
            <a:extLst xmlns:a="http://schemas.openxmlformats.org/drawingml/2006/main">
              <a:ext uri="{FF2B5EF4-FFF2-40B4-BE49-F238E27FC236}">
                <a16:creationId xmlns:a16="http://schemas.microsoft.com/office/drawing/2014/main" id="{6047D27D-C143-44CE-BFFF-35E71A0DAA04}"/>
              </a:ext>
            </a:extLst>
          </p:cNvPr>
          <p:cNvSpPr>
            <a:spLocks xmlns:a="http://schemas.openxmlformats.org/drawingml/2006/main" noGrp="1"/>
          </p:cNvSpPr>
          <p:nvPr/>
        </p:nvSpPr>
        <p:spPr>
          <a:xfrm xmlns:a="http://schemas.openxmlformats.org/drawingml/2006/main">
            <a:off x="7210425" y="5343525"/>
            <a:ext cx="43910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Rôle, action, statut et client</a:t>
            </a:r>
          </a:p>
        </p:txBody>
      </p:sp>
    </p:spTree>
    <p:extLst>
      <p:ext uri="{BB962C8B-B14F-4D97-AF65-F5344CB8AC3E}">
        <p14:creationId xmlns:p14="http://schemas.microsoft.com/office/powerpoint/2010/main" val="1275756968"/>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01 · BESOIN MÉTIER">
            <a:extLst xmlns:a="http://schemas.openxmlformats.org/drawingml/2006/main">
              <a:ext uri="{FF2B5EF4-FFF2-40B4-BE49-F238E27FC236}">
                <a16:creationId xmlns:a16="http://schemas.microsoft.com/office/drawing/2014/main" id="{4918FA1E-1CA2-4465-A3FD-8271B64D4ADB}"/>
              </a:ext>
            </a:extLst>
          </p:cNvPr>
          <p:cNvSpPr>
            <a:spLocks xmlns:a="http://schemas.openxmlformats.org/drawingml/2006/main" noGrp="1"/>
          </p:cNvSpPr>
          <p:nvPr/>
        </p:nvSpPr>
        <p:spPr>
          <a:xfrm xmlns:a="http://schemas.openxmlformats.org/drawingml/2006/main">
            <a:off x="400050" y="228600"/>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1">
                <a:solidFill>
                  <a:srgbClr val="525860"/>
                </a:solidFill>
              </a:defRPr>
            </a:pPr>
            <a:r>
              <a:rPr sz="1650" b="1">
                <a:solidFill>
                  <a:srgbClr val="525860"/>
                </a:solidFill>
              </a:rPr>
              <a:t>10 · EXEMPLE DE REQUÊTE</a:t>
            </a:r>
          </a:p>
        </p:txBody>
      </p:sp>
      <p:sp>
        <p:nvSpPr>
          <p:cNvPr id="2" name="Une chaîne commune pour les essais">
            <a:extLst xmlns:a="http://schemas.openxmlformats.org/drawingml/2006/main">
              <a:ext uri="{FF2B5EF4-FFF2-40B4-BE49-F238E27FC236}">
                <a16:creationId xmlns:a16="http://schemas.microsoft.com/office/drawing/2014/main" id="{582004AA-442D-44BD-A084-3EF72F430642}"/>
              </a:ext>
            </a:extLst>
          </p:cNvPr>
          <p:cNvSpPr>
            <a:spLocks xmlns:a="http://schemas.openxmlformats.org/drawingml/2006/main" noGrp="1"/>
          </p:cNvSpPr>
          <p:nvPr/>
        </p:nvSpPr>
        <p:spPr>
          <a:xfrm xmlns:a="http://schemas.openxmlformats.org/drawingml/2006/main">
            <a:off x="400050" y="742950"/>
            <a:ext cx="113919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3600" b="1">
                <a:solidFill>
                  <a:srgbClr val="111111"/>
                </a:solidFill>
              </a:defRPr>
            </a:pPr>
            <a:r>
              <a:rPr sz="3600" b="1">
                <a:solidFill>
                  <a:srgbClr val="111111"/>
                </a:solidFill>
              </a:rPr>
              <a:t>Envoyer les six champs de la prédiction</a:t>
            </a:r>
          </a:p>
        </p:txBody>
      </p:sp>
      <p:sp>
        <p:nvSpPr>
          <p:cNvPr id="3" name="">
            <a:extLst xmlns:a="http://schemas.openxmlformats.org/drawingml/2006/main">
              <a:ext uri="{FF2B5EF4-FFF2-40B4-BE49-F238E27FC236}">
                <a16:creationId xmlns:a16="http://schemas.microsoft.com/office/drawing/2014/main" id="{90D8C472-0880-4E51-801C-ABC68E8D630A}"/>
              </a:ext>
            </a:extLst>
          </p:cNvPr>
          <p:cNvSpPr>
            <a:spLocks xmlns:a="http://schemas.openxmlformats.org/drawingml/2006/main" noGrp="1"/>
          </p:cNvSpPr>
          <p:nvPr/>
        </p:nvSpPr>
        <p:spPr>
          <a:xfrm xmlns:a="http://schemas.openxmlformats.org/drawingml/2006/main">
            <a:off x="400050" y="62293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4" name="SEMENCES R&amp;D · PROJET DE GROUPE">
            <a:extLst xmlns:a="http://schemas.openxmlformats.org/drawingml/2006/main">
              <a:ext uri="{FF2B5EF4-FFF2-40B4-BE49-F238E27FC236}">
                <a16:creationId xmlns:a16="http://schemas.microsoft.com/office/drawing/2014/main" id="{E367BF29-BD6B-4531-BBDA-2BF3824C149A}"/>
              </a:ext>
            </a:extLst>
          </p:cNvPr>
          <p:cNvSpPr>
            <a:spLocks xmlns:a="http://schemas.openxmlformats.org/drawingml/2006/main" noGrp="1"/>
          </p:cNvSpPr>
          <p:nvPr/>
        </p:nvSpPr>
        <p:spPr>
          <a:xfrm xmlns:a="http://schemas.openxmlformats.org/drawingml/2006/main">
            <a:off x="400050" y="641032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0">
                <a:solidFill>
                  <a:srgbClr val="525860"/>
                </a:solidFill>
              </a:defRPr>
            </a:pPr>
            <a:r>
              <a:rPr sz="1650" b="0">
                <a:solidFill>
                  <a:srgbClr val="525860"/>
                </a:solidFill>
              </a:rPr>
              <a:t>SEMENCES R&amp;D · PROJET DE GROUPE</a:t>
            </a:r>
          </a:p>
        </p:txBody>
      </p:sp>
      <p:sp>
        <p:nvSpPr>
          <p:cNvPr id="5" name="02">
            <a:extLst xmlns:a="http://schemas.openxmlformats.org/drawingml/2006/main">
              <a:ext uri="{FF2B5EF4-FFF2-40B4-BE49-F238E27FC236}">
                <a16:creationId xmlns:a16="http://schemas.microsoft.com/office/drawing/2014/main" id="{CE7F22FF-0554-4C2D-842A-A3EF89211E9A}"/>
              </a:ext>
            </a:extLst>
          </p:cNvPr>
          <p:cNvSpPr>
            <a:spLocks xmlns:a="http://schemas.openxmlformats.org/drawingml/2006/main" noGrp="1"/>
          </p:cNvSpPr>
          <p:nvPr/>
        </p:nvSpPr>
        <p:spPr>
          <a:xfrm xmlns:a="http://schemas.openxmlformats.org/drawingml/2006/main">
            <a:off x="11239500" y="64103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0">
                <a:solidFill>
                  <a:srgbClr val="525860"/>
                </a:solidFill>
              </a:defRPr>
            </a:pPr>
            <a:r>
              <a:rPr sz="1650" b="0">
                <a:solidFill>
                  <a:srgbClr val="525860"/>
                </a:solidFill>
              </a:rPr>
              <a:t>26</a:t>
            </a:r>
          </a:p>
        </p:txBody>
      </p:sp>
      <p:sp>
        <p:nvSpPr>
          <p:cNvPr id="6" name="Données dispersées">
            <a:extLst xmlns:a="http://schemas.openxmlformats.org/drawingml/2006/main">
              <a:ext uri="{FF2B5EF4-FFF2-40B4-BE49-F238E27FC236}">
                <a16:creationId xmlns:a16="http://schemas.microsoft.com/office/drawing/2014/main" id="{4EE8312A-2531-461C-8A53-64A72804157D}"/>
              </a:ext>
            </a:extLst>
          </p:cNvPr>
          <p:cNvSpPr>
            <a:spLocks xmlns:a="http://schemas.openxmlformats.org/drawingml/2006/main" noGrp="1"/>
          </p:cNvSpPr>
          <p:nvPr/>
        </p:nvSpPr>
        <p:spPr>
          <a:xfrm xmlns:a="http://schemas.openxmlformats.org/drawingml/2006/main">
            <a:off x="400050" y="2057400"/>
            <a:ext cx="54768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2400" b="1">
                <a:solidFill>
                  <a:srgbClr val="111111"/>
                </a:solidFill>
              </a:defRPr>
            </a:pPr>
            <a:r>
              <a:rPr sz="2400" b="1">
                <a:solidFill>
                  <a:srgbClr val="111111"/>
                </a:solidFill>
              </a:rPr>
              <a:t>Corps JSON : nombres</a:t>
            </a:r>
          </a:p>
        </p:txBody>
      </p:sp>
      <p:sp>
        <p:nvSpPr>
          <p:cNvPr id="7" name="Les essais, résultats, parcelles et matériels sont répartis dans ">
            <a:extLst xmlns:a="http://schemas.openxmlformats.org/drawingml/2006/main">
              <a:ext uri="{FF2B5EF4-FFF2-40B4-BE49-F238E27FC236}">
                <a16:creationId xmlns:a16="http://schemas.microsoft.com/office/drawing/2014/main" id="{0175D916-23F1-4701-A1E0-3D28D8646127}"/>
              </a:ext>
            </a:extLst>
          </p:cNvPr>
          <p:cNvSpPr>
            <a:spLocks xmlns:a="http://schemas.openxmlformats.org/drawingml/2006/main" noGrp="1"/>
          </p:cNvSpPr>
          <p:nvPr/>
        </p:nvSpPr>
        <p:spPr>
          <a:xfrm xmlns:a="http://schemas.openxmlformats.org/drawingml/2006/main">
            <a:off x="400050" y="2800350"/>
            <a:ext cx="54768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YEAR : 2018</a:t>
            </a:r>
          </a:p>
        </p:txBody>
      </p:sp>
      <p:sp>
        <p:nvSpPr>
          <p:cNvPr id="8" name="Les clés, nombres et métadonnées nécessitent une normalisation.">
            <a:extLst xmlns:a="http://schemas.openxmlformats.org/drawingml/2006/main">
              <a:ext uri="{FF2B5EF4-FFF2-40B4-BE49-F238E27FC236}">
                <a16:creationId xmlns:a16="http://schemas.microsoft.com/office/drawing/2014/main" id="{DD478A21-5F58-4307-B15A-67F7A6D97331}"/>
              </a:ext>
            </a:extLst>
          </p:cNvPr>
          <p:cNvSpPr>
            <a:spLocks xmlns:a="http://schemas.openxmlformats.org/drawingml/2006/main" noGrp="1"/>
          </p:cNvSpPr>
          <p:nvPr/>
        </p:nvSpPr>
        <p:spPr>
          <a:xfrm xmlns:a="http://schemas.openxmlformats.org/drawingml/2006/main">
            <a:off x="400050" y="3743325"/>
            <a:ext cx="54768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REPLICATION_NUM : 1</a:t>
            </a:r>
          </a:p>
        </p:txBody>
      </p:sp>
      <p:sp>
        <p:nvSpPr>
          <p:cNvPr id="9" name="La localisation ne couvre qu’une partie des essais.">
            <a:extLst xmlns:a="http://schemas.openxmlformats.org/drawingml/2006/main">
              <a:ext uri="{FF2B5EF4-FFF2-40B4-BE49-F238E27FC236}">
                <a16:creationId xmlns:a16="http://schemas.microsoft.com/office/drawing/2014/main" id="{5DDA381D-EF5C-4100-89EF-DEE50D0906D4}"/>
              </a:ext>
            </a:extLst>
          </p:cNvPr>
          <p:cNvSpPr>
            <a:spLocks xmlns:a="http://schemas.openxmlformats.org/drawingml/2006/main" noGrp="1"/>
          </p:cNvSpPr>
          <p:nvPr/>
        </p:nvSpPr>
        <p:spPr>
          <a:xfrm xmlns:a="http://schemas.openxmlformats.org/drawingml/2006/main">
            <a:off x="400050" y="4686300"/>
            <a:ext cx="54768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ENTRY_NUM : 10</a:t>
            </a:r>
          </a:p>
        </p:txBody>
      </p:sp>
      <p:sp>
        <p:nvSpPr>
          <p:cNvPr id="10" name="Usages attendus">
            <a:extLst xmlns:a="http://schemas.openxmlformats.org/drawingml/2006/main">
              <a:ext uri="{FF2B5EF4-FFF2-40B4-BE49-F238E27FC236}">
                <a16:creationId xmlns:a16="http://schemas.microsoft.com/office/drawing/2014/main" id="{57D7E65A-4370-4678-953C-51F3B9C91EF2}"/>
              </a:ext>
            </a:extLst>
          </p:cNvPr>
          <p:cNvSpPr>
            <a:spLocks xmlns:a="http://schemas.openxmlformats.org/drawingml/2006/main" noGrp="1"/>
          </p:cNvSpPr>
          <p:nvPr/>
        </p:nvSpPr>
        <p:spPr>
          <a:xfrm xmlns:a="http://schemas.openxmlformats.org/drawingml/2006/main">
            <a:off x="6257925" y="2057400"/>
            <a:ext cx="54768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2400" b="1">
                <a:solidFill>
                  <a:srgbClr val="111111"/>
                </a:solidFill>
              </a:defRPr>
            </a:pPr>
            <a:r>
              <a:rPr sz="2400" b="1">
                <a:solidFill>
                  <a:srgbClr val="111111"/>
                </a:solidFill>
              </a:rPr>
              <a:t>Corps JSON : catégories</a:t>
            </a:r>
          </a:p>
        </p:txBody>
      </p:sp>
      <p:sp>
        <p:nvSpPr>
          <p:cNvPr id="11" name="Comparer les catégories, campagnes, régions et matériels.">
            <a:extLst xmlns:a="http://schemas.openxmlformats.org/drawingml/2006/main">
              <a:ext uri="{FF2B5EF4-FFF2-40B4-BE49-F238E27FC236}">
                <a16:creationId xmlns:a16="http://schemas.microsoft.com/office/drawing/2014/main" id="{5885D678-AEF6-4E9C-9863-5D74F0FE259B}"/>
              </a:ext>
            </a:extLst>
          </p:cNvPr>
          <p:cNvSpPr>
            <a:spLocks xmlns:a="http://schemas.openxmlformats.org/drawingml/2006/main" noGrp="1"/>
          </p:cNvSpPr>
          <p:nvPr/>
        </p:nvSpPr>
        <p:spPr>
          <a:xfrm xmlns:a="http://schemas.openxmlformats.org/drawingml/2006/main">
            <a:off x="6257925" y="2800350"/>
            <a:ext cx="54768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SPECIES : "W"</a:t>
            </a:r>
          </a:p>
        </p:txBody>
      </p:sp>
      <p:sp>
        <p:nvSpPr>
          <p:cNvPr id="12" name="Retrouver un matériel et comprendre la provenance des données.">
            <a:extLst xmlns:a="http://schemas.openxmlformats.org/drawingml/2006/main">
              <a:ext uri="{FF2B5EF4-FFF2-40B4-BE49-F238E27FC236}">
                <a16:creationId xmlns:a16="http://schemas.microsoft.com/office/drawing/2014/main" id="{6E22209C-5045-48BA-B874-3C6FAABDE6EA}"/>
              </a:ext>
            </a:extLst>
          </p:cNvPr>
          <p:cNvSpPr>
            <a:spLocks xmlns:a="http://schemas.openxmlformats.org/drawingml/2006/main" noGrp="1"/>
          </p:cNvSpPr>
          <p:nvPr/>
        </p:nvSpPr>
        <p:spPr>
          <a:xfrm xmlns:a="http://schemas.openxmlformats.org/drawingml/2006/main">
            <a:off x="6257925" y="3743325"/>
            <a:ext cx="54768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SPECIES_SPECIFICITY : ""</a:t>
            </a:r>
          </a:p>
        </p:txBody>
      </p:sp>
      <p:sp>
        <p:nvSpPr>
          <p:cNvPr id="13" name="Explorer les résultats et évaluer une prédiction de rendement.">
            <a:extLst xmlns:a="http://schemas.openxmlformats.org/drawingml/2006/main">
              <a:ext uri="{FF2B5EF4-FFF2-40B4-BE49-F238E27FC236}">
                <a16:creationId xmlns:a16="http://schemas.microsoft.com/office/drawing/2014/main" id="{7AC94F89-E568-43C3-A5A3-947B2812E344}"/>
              </a:ext>
            </a:extLst>
          </p:cNvPr>
          <p:cNvSpPr>
            <a:spLocks xmlns:a="http://schemas.openxmlformats.org/drawingml/2006/main" noGrp="1"/>
          </p:cNvSpPr>
          <p:nvPr/>
        </p:nvSpPr>
        <p:spPr>
          <a:xfrm xmlns:a="http://schemas.openxmlformats.org/drawingml/2006/main">
            <a:off x="6257925" y="4686300"/>
            <a:ext cx="54768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REGION : "CENTRE"</a:t>
            </a:r>
          </a:p>
        </p:txBody>
      </p:sp>
    </p:spTree>
    <p:extLst>
      <p:ext uri="{BB962C8B-B14F-4D97-AF65-F5344CB8AC3E}">
        <p14:creationId xmlns:p14="http://schemas.microsoft.com/office/powerpoint/2010/main" val="1433487000"/>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05 · GOUVERNANCE">
            <a:extLst xmlns:a="http://schemas.openxmlformats.org/drawingml/2006/main">
              <a:ext uri="{FF2B5EF4-FFF2-40B4-BE49-F238E27FC236}">
                <a16:creationId xmlns:a16="http://schemas.microsoft.com/office/drawing/2014/main" id="{BA2B76F4-D12F-4D22-829A-FFAE2E89F76B}"/>
              </a:ext>
            </a:extLst>
          </p:cNvPr>
          <p:cNvSpPr>
            <a:spLocks xmlns:a="http://schemas.openxmlformats.org/drawingml/2006/main" noGrp="1"/>
          </p:cNvSpPr>
          <p:nvPr/>
        </p:nvSpPr>
        <p:spPr>
          <a:xfrm xmlns:a="http://schemas.openxmlformats.org/drawingml/2006/main">
            <a:off x="400050" y="228600"/>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1">
                <a:solidFill>
                  <a:srgbClr val="525860"/>
                </a:solidFill>
              </a:defRPr>
            </a:pPr>
            <a:r>
              <a:rPr sz="1650" b="1">
                <a:solidFill>
                  <a:srgbClr val="525860"/>
                </a:solidFill>
              </a:rPr>
              <a:t>10 · RÉPONSE DE L’API</a:t>
            </a:r>
          </a:p>
        </p:txBody>
      </p:sp>
      <p:sp>
        <p:nvSpPr>
          <p:cNvPr id="2" name="La qualité expose les anomalies">
            <a:extLst xmlns:a="http://schemas.openxmlformats.org/drawingml/2006/main">
              <a:ext uri="{FF2B5EF4-FFF2-40B4-BE49-F238E27FC236}">
                <a16:creationId xmlns:a16="http://schemas.microsoft.com/office/drawing/2014/main" id="{88DD8AA3-8C98-4A4D-B677-7AD417E29058}"/>
              </a:ext>
            </a:extLst>
          </p:cNvPr>
          <p:cNvSpPr>
            <a:spLocks xmlns:a="http://schemas.openxmlformats.org/drawingml/2006/main" noGrp="1"/>
          </p:cNvSpPr>
          <p:nvPr/>
        </p:nvSpPr>
        <p:spPr>
          <a:xfrm xmlns:a="http://schemas.openxmlformats.org/drawingml/2006/main">
            <a:off x="400050" y="742950"/>
            <a:ext cx="113919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3600" b="1">
                <a:solidFill>
                  <a:srgbClr val="111111"/>
                </a:solidFill>
              </a:defRPr>
            </a:pPr>
            <a:r>
              <a:rPr sz="3600" b="1">
                <a:solidFill>
                  <a:srgbClr val="111111"/>
                </a:solidFill>
              </a:rPr>
              <a:t>Lire la réponse sans confondre les seuils</a:t>
            </a:r>
          </a:p>
        </p:txBody>
      </p:sp>
      <p:sp>
        <p:nvSpPr>
          <p:cNvPr id="3" name="">
            <a:extLst xmlns:a="http://schemas.openxmlformats.org/drawingml/2006/main">
              <a:ext uri="{FF2B5EF4-FFF2-40B4-BE49-F238E27FC236}">
                <a16:creationId xmlns:a16="http://schemas.microsoft.com/office/drawing/2014/main" id="{D77441C1-CED2-4491-9E1B-3614700FF8EE}"/>
              </a:ext>
            </a:extLst>
          </p:cNvPr>
          <p:cNvSpPr>
            <a:spLocks xmlns:a="http://schemas.openxmlformats.org/drawingml/2006/main" noGrp="1"/>
          </p:cNvSpPr>
          <p:nvPr/>
        </p:nvSpPr>
        <p:spPr>
          <a:xfrm xmlns:a="http://schemas.openxmlformats.org/drawingml/2006/main">
            <a:off x="400050" y="62293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4" name="SEMENCES R&amp;D · PROJET DE GROUPE">
            <a:extLst xmlns:a="http://schemas.openxmlformats.org/drawingml/2006/main">
              <a:ext uri="{FF2B5EF4-FFF2-40B4-BE49-F238E27FC236}">
                <a16:creationId xmlns:a16="http://schemas.microsoft.com/office/drawing/2014/main" id="{248D1C1B-85D8-41DD-8670-ED12D1213E90}"/>
              </a:ext>
            </a:extLst>
          </p:cNvPr>
          <p:cNvSpPr>
            <a:spLocks xmlns:a="http://schemas.openxmlformats.org/drawingml/2006/main" noGrp="1"/>
          </p:cNvSpPr>
          <p:nvPr/>
        </p:nvSpPr>
        <p:spPr>
          <a:xfrm xmlns:a="http://schemas.openxmlformats.org/drawingml/2006/main">
            <a:off x="400050" y="641032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0">
                <a:solidFill>
                  <a:srgbClr val="525860"/>
                </a:solidFill>
              </a:defRPr>
            </a:pPr>
            <a:r>
              <a:rPr sz="1650" b="0">
                <a:solidFill>
                  <a:srgbClr val="525860"/>
                </a:solidFill>
              </a:rPr>
              <a:t>SEMENCES R&amp;D · PROJET DE GROUPE</a:t>
            </a:r>
          </a:p>
        </p:txBody>
      </p:sp>
      <p:sp>
        <p:nvSpPr>
          <p:cNvPr id="5" name="10">
            <a:extLst xmlns:a="http://schemas.openxmlformats.org/drawingml/2006/main">
              <a:ext uri="{FF2B5EF4-FFF2-40B4-BE49-F238E27FC236}">
                <a16:creationId xmlns:a16="http://schemas.microsoft.com/office/drawing/2014/main" id="{250D617A-6EC1-4B34-9710-1D32288E607C}"/>
              </a:ext>
            </a:extLst>
          </p:cNvPr>
          <p:cNvSpPr>
            <a:spLocks xmlns:a="http://schemas.openxmlformats.org/drawingml/2006/main" noGrp="1"/>
          </p:cNvSpPr>
          <p:nvPr/>
        </p:nvSpPr>
        <p:spPr>
          <a:xfrm xmlns:a="http://schemas.openxmlformats.org/drawingml/2006/main">
            <a:off x="11239500" y="64103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0">
                <a:solidFill>
                  <a:srgbClr val="525860"/>
                </a:solidFill>
              </a:defRPr>
            </a:pPr>
            <a:r>
              <a:rPr sz="1650" b="0">
                <a:solidFill>
                  <a:srgbClr val="525860"/>
                </a:solidFill>
              </a:rPr>
              <a:t>27</a:t>
            </a:r>
          </a:p>
        </p:txBody>
      </p:sp>
      <p:sp>
        <p:nvSpPr>
          <p:cNvPr id="6" name="Contrôle">
            <a:extLst xmlns:a="http://schemas.openxmlformats.org/drawingml/2006/main">
              <a:ext uri="{FF2B5EF4-FFF2-40B4-BE49-F238E27FC236}">
                <a16:creationId xmlns:a16="http://schemas.microsoft.com/office/drawing/2014/main" id="{12BBEFF3-8D83-4ED7-935D-786DE03D7438}"/>
              </a:ext>
            </a:extLst>
          </p:cNvPr>
          <p:cNvSpPr>
            <a:spLocks xmlns:a="http://schemas.openxmlformats.org/drawingml/2006/main" noGrp="1"/>
          </p:cNvSpPr>
          <p:nvPr/>
        </p:nvSpPr>
        <p:spPr>
          <a:xfrm xmlns:a="http://schemas.openxmlformats.org/drawingml/2006/main">
            <a:off x="400050" y="1838325"/>
            <a:ext cx="4019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1">
                <a:solidFill>
                  <a:srgbClr val="111111"/>
                </a:solidFill>
              </a:defRPr>
            </a:pPr>
            <a:r>
              <a:rPr sz="1950" b="1">
                <a:solidFill>
                  <a:srgbClr val="111111"/>
                </a:solidFill>
              </a:rPr>
              <a:t>Champ JSON</a:t>
            </a:r>
          </a:p>
        </p:txBody>
      </p:sp>
      <p:sp>
        <p:nvSpPr>
          <p:cNvPr id="7" name="Comportement">
            <a:extLst xmlns:a="http://schemas.openxmlformats.org/drawingml/2006/main">
              <a:ext uri="{FF2B5EF4-FFF2-40B4-BE49-F238E27FC236}">
                <a16:creationId xmlns:a16="http://schemas.microsoft.com/office/drawing/2014/main" id="{A22C0B52-9FCF-452D-8257-6986D42E59BB}"/>
              </a:ext>
            </a:extLst>
          </p:cNvPr>
          <p:cNvSpPr>
            <a:spLocks xmlns:a="http://schemas.openxmlformats.org/drawingml/2006/main" noGrp="1"/>
          </p:cNvSpPr>
          <p:nvPr/>
        </p:nvSpPr>
        <p:spPr>
          <a:xfrm xmlns:a="http://schemas.openxmlformats.org/drawingml/2006/main">
            <a:off x="4591050" y="1838325"/>
            <a:ext cx="7029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1">
                <a:solidFill>
                  <a:srgbClr val="111111"/>
                </a:solidFill>
              </a:defRPr>
            </a:pPr>
            <a:r>
              <a:rPr sz="1950" b="1">
                <a:solidFill>
                  <a:srgbClr val="111111"/>
                </a:solidFill>
              </a:rPr>
              <a:t>Interprétation</a:t>
            </a:r>
          </a:p>
        </p:txBody>
      </p:sp>
      <p:sp>
        <p:nvSpPr>
          <p:cNvPr id="8" name="">
            <a:extLst xmlns:a="http://schemas.openxmlformats.org/drawingml/2006/main">
              <a:ext uri="{FF2B5EF4-FFF2-40B4-BE49-F238E27FC236}">
                <a16:creationId xmlns:a16="http://schemas.microsoft.com/office/drawing/2014/main" id="{6A4A888A-0709-4C45-BD74-761487D4DE8A}"/>
              </a:ext>
            </a:extLst>
          </p:cNvPr>
          <p:cNvSpPr>
            <a:spLocks xmlns:a="http://schemas.openxmlformats.org/drawingml/2006/main" noGrp="1"/>
          </p:cNvSpPr>
          <p:nvPr/>
        </p:nvSpPr>
        <p:spPr>
          <a:xfrm xmlns:a="http://schemas.openxmlformats.org/drawingml/2006/main">
            <a:off x="400050" y="23050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9" name="Schéma">
            <a:extLst xmlns:a="http://schemas.openxmlformats.org/drawingml/2006/main">
              <a:ext uri="{FF2B5EF4-FFF2-40B4-BE49-F238E27FC236}">
                <a16:creationId xmlns:a16="http://schemas.microsoft.com/office/drawing/2014/main" id="{4C526CC1-D93D-4C76-8C25-8550EBA2BD0B}"/>
              </a:ext>
            </a:extLst>
          </p:cNvPr>
          <p:cNvSpPr>
            <a:spLocks xmlns:a="http://schemas.openxmlformats.org/drawingml/2006/main" noGrp="1"/>
          </p:cNvSpPr>
          <p:nvPr/>
        </p:nvSpPr>
        <p:spPr>
          <a:xfrm xmlns:a="http://schemas.openxmlformats.org/drawingml/2006/main">
            <a:off x="400050" y="2447925"/>
            <a:ext cx="4000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prediction</a:t>
            </a:r>
          </a:p>
        </p:txBody>
      </p:sp>
      <p:sp>
        <p:nvSpPr>
          <p:cNvPr id="10" name="Présence des colonnes obligatoires">
            <a:extLst xmlns:a="http://schemas.openxmlformats.org/drawingml/2006/main">
              <a:ext uri="{FF2B5EF4-FFF2-40B4-BE49-F238E27FC236}">
                <a16:creationId xmlns:a16="http://schemas.microsoft.com/office/drawing/2014/main" id="{DD8F86DC-13E9-48E5-8990-425863F6A6C2}"/>
              </a:ext>
            </a:extLst>
          </p:cNvPr>
          <p:cNvSpPr>
            <a:spLocks xmlns:a="http://schemas.openxmlformats.org/drawingml/2006/main" noGrp="1"/>
          </p:cNvSpPr>
          <p:nvPr/>
        </p:nvSpPr>
        <p:spPr>
          <a:xfrm xmlns:a="http://schemas.openxmlformats.org/drawingml/2006/main">
            <a:off x="4591050" y="2447925"/>
            <a:ext cx="701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Rendement estimé, exprimé en q/ha.</a:t>
            </a:r>
          </a:p>
        </p:txBody>
      </p:sp>
      <p:sp>
        <p:nvSpPr>
          <p:cNvPr id="11" name="">
            <a:extLst xmlns:a="http://schemas.openxmlformats.org/drawingml/2006/main">
              <a:ext uri="{FF2B5EF4-FFF2-40B4-BE49-F238E27FC236}">
                <a16:creationId xmlns:a16="http://schemas.microsoft.com/office/drawing/2014/main" id="{E0396EF7-814F-4FAD-97D7-47852AE77D75}"/>
              </a:ext>
            </a:extLst>
          </p:cNvPr>
          <p:cNvSpPr>
            <a:spLocks xmlns:a="http://schemas.openxmlformats.org/drawingml/2006/main" noGrp="1"/>
          </p:cNvSpPr>
          <p:nvPr/>
        </p:nvSpPr>
        <p:spPr>
          <a:xfrm xmlns:a="http://schemas.openxmlformats.org/drawingml/2006/main">
            <a:off x="400050" y="31051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12" name="Complétude et valeurs">
            <a:extLst xmlns:a="http://schemas.openxmlformats.org/drawingml/2006/main">
              <a:ext uri="{FF2B5EF4-FFF2-40B4-BE49-F238E27FC236}">
                <a16:creationId xmlns:a16="http://schemas.microsoft.com/office/drawing/2014/main" id="{5BB18D91-3BDB-4BC5-A367-9B28F1F82457}"/>
              </a:ext>
            </a:extLst>
          </p:cNvPr>
          <p:cNvSpPr>
            <a:spLocks xmlns:a="http://schemas.openxmlformats.org/drawingml/2006/main" noGrp="1"/>
          </p:cNvSpPr>
          <p:nvPr/>
        </p:nvSpPr>
        <p:spPr>
          <a:xfrm xmlns:a="http://schemas.openxmlformats.org/drawingml/2006/main">
            <a:off x="400050" y="3171825"/>
            <a:ext cx="4000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high_yield_probability</a:t>
            </a:r>
          </a:p>
        </p:txBody>
      </p:sp>
      <p:sp>
        <p:nvSpPr>
          <p:cNvPr id="13" name="Nullité, bornes de rendement et années">
            <a:extLst xmlns:a="http://schemas.openxmlformats.org/drawingml/2006/main">
              <a:ext uri="{FF2B5EF4-FFF2-40B4-BE49-F238E27FC236}">
                <a16:creationId xmlns:a16="http://schemas.microsoft.com/office/drawing/2014/main" id="{488EF1E6-6939-4DB7-AF68-5006ACA83DF4}"/>
              </a:ext>
            </a:extLst>
          </p:cNvPr>
          <p:cNvSpPr>
            <a:spLocks xmlns:a="http://schemas.openxmlformats.org/drawingml/2006/main" noGrp="1"/>
          </p:cNvSpPr>
          <p:nvPr/>
        </p:nvSpPr>
        <p:spPr>
          <a:xfrm xmlns:a="http://schemas.openxmlformats.org/drawingml/2006/main">
            <a:off x="4591050" y="3171825"/>
            <a:ext cx="701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Probabilité estimée d’un rendement élevé.</a:t>
            </a:r>
          </a:p>
        </p:txBody>
      </p:sp>
      <p:sp>
        <p:nvSpPr>
          <p:cNvPr id="14" name="">
            <a:extLst xmlns:a="http://schemas.openxmlformats.org/drawingml/2006/main">
              <a:ext uri="{FF2B5EF4-FFF2-40B4-BE49-F238E27FC236}">
                <a16:creationId xmlns:a16="http://schemas.microsoft.com/office/drawing/2014/main" id="{9565B91F-A970-4A36-8B54-A42553F46C57}"/>
              </a:ext>
            </a:extLst>
          </p:cNvPr>
          <p:cNvSpPr>
            <a:spLocks xmlns:a="http://schemas.openxmlformats.org/drawingml/2006/main" noGrp="1"/>
          </p:cNvSpPr>
          <p:nvPr/>
        </p:nvSpPr>
        <p:spPr>
          <a:xfrm xmlns:a="http://schemas.openxmlformats.org/drawingml/2006/main">
            <a:off x="400050" y="38290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15" name="Clés dupliquées">
            <a:extLst xmlns:a="http://schemas.openxmlformats.org/drawingml/2006/main">
              <a:ext uri="{FF2B5EF4-FFF2-40B4-BE49-F238E27FC236}">
                <a16:creationId xmlns:a16="http://schemas.microsoft.com/office/drawing/2014/main" id="{B3230046-4507-4B4E-8992-567DFAACD3BC}"/>
              </a:ext>
            </a:extLst>
          </p:cNvPr>
          <p:cNvSpPr>
            <a:spLocks xmlns:a="http://schemas.openxmlformats.org/drawingml/2006/main" noGrp="1"/>
          </p:cNvSpPr>
          <p:nvPr/>
        </p:nvSpPr>
        <p:spPr>
          <a:xfrm xmlns:a="http://schemas.openxmlformats.org/drawingml/2006/main">
            <a:off x="400050" y="3895725"/>
            <a:ext cx="4000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high_yield_threshold_q_ha</a:t>
            </a:r>
          </a:p>
        </p:txBody>
      </p:sp>
      <p:sp>
        <p:nvSpPr>
          <p:cNvPr id="16" name="34 lignes concernées sur le lot fourni">
            <a:extLst xmlns:a="http://schemas.openxmlformats.org/drawingml/2006/main">
              <a:ext uri="{FF2B5EF4-FFF2-40B4-BE49-F238E27FC236}">
                <a16:creationId xmlns:a16="http://schemas.microsoft.com/office/drawing/2014/main" id="{9B13FB3A-7C93-406C-8B27-FB5641D3E248}"/>
              </a:ext>
            </a:extLst>
          </p:cNvPr>
          <p:cNvSpPr>
            <a:spLocks xmlns:a="http://schemas.openxmlformats.org/drawingml/2006/main" noGrp="1"/>
          </p:cNvSpPr>
          <p:nvPr/>
        </p:nvSpPr>
        <p:spPr>
          <a:xfrm xmlns:a="http://schemas.openxmlformats.org/drawingml/2006/main">
            <a:off x="4591050" y="3895725"/>
            <a:ext cx="701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80 q/ha : définition de la classe métier.</a:t>
            </a:r>
          </a:p>
        </p:txBody>
      </p:sp>
      <p:sp>
        <p:nvSpPr>
          <p:cNvPr id="17" name="">
            <a:extLst xmlns:a="http://schemas.openxmlformats.org/drawingml/2006/main">
              <a:ext uri="{FF2B5EF4-FFF2-40B4-BE49-F238E27FC236}">
                <a16:creationId xmlns:a16="http://schemas.microsoft.com/office/drawing/2014/main" id="{90A3DC67-6B03-4055-A964-CB00DE5175EF}"/>
              </a:ext>
            </a:extLst>
          </p:cNvPr>
          <p:cNvSpPr>
            <a:spLocks xmlns:a="http://schemas.openxmlformats.org/drawingml/2006/main" noGrp="1"/>
          </p:cNvSpPr>
          <p:nvPr/>
        </p:nvSpPr>
        <p:spPr>
          <a:xfrm xmlns:a="http://schemas.openxmlformats.org/drawingml/2006/main">
            <a:off x="400050" y="45529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18" name="Quarantaine">
            <a:extLst xmlns:a="http://schemas.openxmlformats.org/drawingml/2006/main">
              <a:ext uri="{FF2B5EF4-FFF2-40B4-BE49-F238E27FC236}">
                <a16:creationId xmlns:a16="http://schemas.microsoft.com/office/drawing/2014/main" id="{F569B73E-53AD-4B70-9E49-12E6AA05FD39}"/>
              </a:ext>
            </a:extLst>
          </p:cNvPr>
          <p:cNvSpPr>
            <a:spLocks xmlns:a="http://schemas.openxmlformats.org/drawingml/2006/main" noGrp="1"/>
          </p:cNvSpPr>
          <p:nvPr/>
        </p:nvSpPr>
        <p:spPr>
          <a:xfrm xmlns:a="http://schemas.openxmlformats.org/drawingml/2006/main">
            <a:off x="400050" y="4619625"/>
            <a:ext cx="4000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decision_probability_threshold</a:t>
            </a:r>
          </a:p>
        </p:txBody>
      </p:sp>
      <p:sp>
        <p:nvSpPr>
          <p:cNvPr id="19" name="32 lignes copiées avec motif">
            <a:extLst xmlns:a="http://schemas.openxmlformats.org/drawingml/2006/main">
              <a:ext uri="{FF2B5EF4-FFF2-40B4-BE49-F238E27FC236}">
                <a16:creationId xmlns:a16="http://schemas.microsoft.com/office/drawing/2014/main" id="{F260AFDB-BB36-427B-B692-AD67D6DA36C0}"/>
              </a:ext>
            </a:extLst>
          </p:cNvPr>
          <p:cNvSpPr>
            <a:spLocks xmlns:a="http://schemas.openxmlformats.org/drawingml/2006/main" noGrp="1"/>
          </p:cNvSpPr>
          <p:nvPr/>
        </p:nvSpPr>
        <p:spPr>
          <a:xfrm xmlns:a="http://schemas.openxmlformats.org/drawingml/2006/main">
            <a:off x="4591050" y="4619625"/>
            <a:ext cx="701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0,41 : seuil de décision sur le modèle fourni.</a:t>
            </a:r>
          </a:p>
        </p:txBody>
      </p:sp>
      <p:sp>
        <p:nvSpPr>
          <p:cNvPr id="20" name="">
            <a:extLst xmlns:a="http://schemas.openxmlformats.org/drawingml/2006/main">
              <a:ext uri="{FF2B5EF4-FFF2-40B4-BE49-F238E27FC236}">
                <a16:creationId xmlns:a16="http://schemas.microsoft.com/office/drawing/2014/main" id="{49D344C5-07E2-48A3-BFB9-F9D334549A41}"/>
              </a:ext>
            </a:extLst>
          </p:cNvPr>
          <p:cNvSpPr>
            <a:spLocks xmlns:a="http://schemas.openxmlformats.org/drawingml/2006/main" noGrp="1"/>
          </p:cNvSpPr>
          <p:nvPr/>
        </p:nvSpPr>
        <p:spPr>
          <a:xfrm xmlns:a="http://schemas.openxmlformats.org/drawingml/2006/main">
            <a:off x="400050" y="52768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21" name="Portée du statut OK">
            <a:extLst xmlns:a="http://schemas.openxmlformats.org/drawingml/2006/main">
              <a:ext uri="{FF2B5EF4-FFF2-40B4-BE49-F238E27FC236}">
                <a16:creationId xmlns:a16="http://schemas.microsoft.com/office/drawing/2014/main" id="{7F27ED0D-E629-4DD2-BF65-E597E08605FE}"/>
              </a:ext>
            </a:extLst>
          </p:cNvPr>
          <p:cNvSpPr>
            <a:spLocks xmlns:a="http://schemas.openxmlformats.org/drawingml/2006/main" noGrp="1"/>
          </p:cNvSpPr>
          <p:nvPr/>
        </p:nvSpPr>
        <p:spPr>
          <a:xfrm xmlns:a="http://schemas.openxmlformats.org/drawingml/2006/main">
            <a:off x="400050" y="5343525"/>
            <a:ext cx="4000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high_yield</a:t>
            </a:r>
          </a:p>
        </p:txBody>
      </p:sp>
      <p:sp>
        <p:nvSpPr>
          <p:cNvPr id="22" name="Contrôles exécutés, pas absence d’anomalies">
            <a:extLst xmlns:a="http://schemas.openxmlformats.org/drawingml/2006/main">
              <a:ext uri="{FF2B5EF4-FFF2-40B4-BE49-F238E27FC236}">
                <a16:creationId xmlns:a16="http://schemas.microsoft.com/office/drawing/2014/main" id="{3D1A84CD-6E07-4A08-8557-97A9A9A3AC5B}"/>
              </a:ext>
            </a:extLst>
          </p:cNvPr>
          <p:cNvSpPr>
            <a:spLocks xmlns:a="http://schemas.openxmlformats.org/drawingml/2006/main" noGrp="1"/>
          </p:cNvSpPr>
          <p:nvPr/>
        </p:nvSpPr>
        <p:spPr>
          <a:xfrm xmlns:a="http://schemas.openxmlformats.org/drawingml/2006/main">
            <a:off x="4591050" y="5343525"/>
            <a:ext cx="701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Vrai si la probabilité atteint le seuil de décision.</a:t>
            </a:r>
          </a:p>
        </p:txBody>
      </p:sp>
    </p:spTree>
    <p:extLst>
      <p:ext uri="{BB962C8B-B14F-4D97-AF65-F5344CB8AC3E}">
        <p14:creationId xmlns:p14="http://schemas.microsoft.com/office/powerpoint/2010/main" val="408948474"/>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11 · EXPLOITATION">
            <a:extLst xmlns:a="http://schemas.openxmlformats.org/drawingml/2006/main">
              <a:ext uri="{FF2B5EF4-FFF2-40B4-BE49-F238E27FC236}">
                <a16:creationId xmlns:a16="http://schemas.microsoft.com/office/drawing/2014/main" id="{A4B4B30D-9394-4DC9-8C73-1AC004F463D4}"/>
              </a:ext>
            </a:extLst>
          </p:cNvPr>
          <p:cNvSpPr>
            <a:spLocks xmlns:a="http://schemas.openxmlformats.org/drawingml/2006/main" noGrp="1"/>
          </p:cNvSpPr>
          <p:nvPr/>
        </p:nvSpPr>
        <p:spPr>
          <a:xfrm xmlns:a="http://schemas.openxmlformats.org/drawingml/2006/main">
            <a:off x="400050" y="228600"/>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1">
                <a:solidFill>
                  <a:srgbClr val="525860"/>
                </a:solidFill>
              </a:defRPr>
            </a:pPr>
            <a:r>
              <a:rPr sz="1650" b="1">
                <a:solidFill>
                  <a:srgbClr val="525860"/>
                </a:solidFill>
              </a:rPr>
              <a:t>11 · EXPLOITATION</a:t>
            </a:r>
          </a:p>
        </p:txBody>
      </p:sp>
      <p:sp>
        <p:nvSpPr>
          <p:cNvPr id="2" name="La reprise exige des sorties cohérentes">
            <a:extLst xmlns:a="http://schemas.openxmlformats.org/drawingml/2006/main">
              <a:ext uri="{FF2B5EF4-FFF2-40B4-BE49-F238E27FC236}">
                <a16:creationId xmlns:a16="http://schemas.microsoft.com/office/drawing/2014/main" id="{E46EFE41-40EC-4ADC-B7D3-6D80E54E2EC4}"/>
              </a:ext>
            </a:extLst>
          </p:cNvPr>
          <p:cNvSpPr>
            <a:spLocks xmlns:a="http://schemas.openxmlformats.org/drawingml/2006/main" noGrp="1"/>
          </p:cNvSpPr>
          <p:nvPr/>
        </p:nvSpPr>
        <p:spPr>
          <a:xfrm xmlns:a="http://schemas.openxmlformats.org/drawingml/2006/main">
            <a:off x="400050" y="742950"/>
            <a:ext cx="113919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3600" b="1">
                <a:solidFill>
                  <a:srgbClr val="111111"/>
                </a:solidFill>
              </a:defRPr>
            </a:pPr>
            <a:r>
              <a:rPr sz="3600" b="1">
                <a:solidFill>
                  <a:srgbClr val="111111"/>
                </a:solidFill>
              </a:rPr>
              <a:t>La reprise exige des sorties cohérentes</a:t>
            </a:r>
          </a:p>
        </p:txBody>
      </p:sp>
      <p:sp>
        <p:nvSpPr>
          <p:cNvPr id="3" name="">
            <a:extLst xmlns:a="http://schemas.openxmlformats.org/drawingml/2006/main">
              <a:ext uri="{FF2B5EF4-FFF2-40B4-BE49-F238E27FC236}">
                <a16:creationId xmlns:a16="http://schemas.microsoft.com/office/drawing/2014/main" id="{DB72ED44-30F2-44E6-979C-62D66F670639}"/>
              </a:ext>
            </a:extLst>
          </p:cNvPr>
          <p:cNvSpPr>
            <a:spLocks xmlns:a="http://schemas.openxmlformats.org/drawingml/2006/main" noGrp="1"/>
          </p:cNvSpPr>
          <p:nvPr/>
        </p:nvSpPr>
        <p:spPr>
          <a:xfrm xmlns:a="http://schemas.openxmlformats.org/drawingml/2006/main">
            <a:off x="400050" y="62293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4" name="SEMENCES R&amp;D · PROJET DE GROUPE">
            <a:extLst xmlns:a="http://schemas.openxmlformats.org/drawingml/2006/main">
              <a:ext uri="{FF2B5EF4-FFF2-40B4-BE49-F238E27FC236}">
                <a16:creationId xmlns:a16="http://schemas.microsoft.com/office/drawing/2014/main" id="{80387F08-F5AE-4A13-9B71-DC1980CC2015}"/>
              </a:ext>
            </a:extLst>
          </p:cNvPr>
          <p:cNvSpPr>
            <a:spLocks xmlns:a="http://schemas.openxmlformats.org/drawingml/2006/main" noGrp="1"/>
          </p:cNvSpPr>
          <p:nvPr/>
        </p:nvSpPr>
        <p:spPr>
          <a:xfrm xmlns:a="http://schemas.openxmlformats.org/drawingml/2006/main">
            <a:off x="400050" y="641032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0">
                <a:solidFill>
                  <a:srgbClr val="525860"/>
                </a:solidFill>
              </a:defRPr>
            </a:pPr>
            <a:r>
              <a:rPr sz="1650" b="0">
                <a:solidFill>
                  <a:srgbClr val="525860"/>
                </a:solidFill>
              </a:rPr>
              <a:t>SEMENCES R&amp;D · PROJET DE GROUPE</a:t>
            </a:r>
          </a:p>
        </p:txBody>
      </p:sp>
      <p:sp>
        <p:nvSpPr>
          <p:cNvPr id="5" name="21">
            <a:extLst xmlns:a="http://schemas.openxmlformats.org/drawingml/2006/main">
              <a:ext uri="{FF2B5EF4-FFF2-40B4-BE49-F238E27FC236}">
                <a16:creationId xmlns:a16="http://schemas.microsoft.com/office/drawing/2014/main" id="{DD1DB034-5791-4DF1-937D-1989C830579C}"/>
              </a:ext>
            </a:extLst>
          </p:cNvPr>
          <p:cNvSpPr>
            <a:spLocks xmlns:a="http://schemas.openxmlformats.org/drawingml/2006/main" noGrp="1"/>
          </p:cNvSpPr>
          <p:nvPr/>
        </p:nvSpPr>
        <p:spPr>
          <a:xfrm xmlns:a="http://schemas.openxmlformats.org/drawingml/2006/main">
            <a:off x="11239500" y="64103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0">
                <a:solidFill>
                  <a:srgbClr val="525860"/>
                </a:solidFill>
              </a:defRPr>
            </a:pPr>
            <a:r>
              <a:rPr sz="1650" b="0">
                <a:solidFill>
                  <a:srgbClr val="525860"/>
                </a:solidFill>
              </a:rPr>
              <a:t>28</a:t>
            </a:r>
          </a:p>
        </p:txBody>
      </p:sp>
      <p:sp>
        <p:nvSpPr>
          <p:cNvPr id="6" name="Exécution complète">
            <a:extLst xmlns:a="http://schemas.openxmlformats.org/drawingml/2006/main">
              <a:ext uri="{FF2B5EF4-FFF2-40B4-BE49-F238E27FC236}">
                <a16:creationId xmlns:a16="http://schemas.microsoft.com/office/drawing/2014/main" id="{68CD953F-5F3E-4885-821C-62C02E218F86}"/>
              </a:ext>
            </a:extLst>
          </p:cNvPr>
          <p:cNvSpPr>
            <a:spLocks xmlns:a="http://schemas.openxmlformats.org/drawingml/2006/main" noGrp="1"/>
          </p:cNvSpPr>
          <p:nvPr/>
        </p:nvSpPr>
        <p:spPr>
          <a:xfrm xmlns:a="http://schemas.openxmlformats.org/drawingml/2006/main">
            <a:off x="400050" y="2057400"/>
            <a:ext cx="54768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2400" b="1">
                <a:solidFill>
                  <a:srgbClr val="111111"/>
                </a:solidFill>
              </a:defRPr>
            </a:pPr>
            <a:r>
              <a:rPr sz="2400" b="1">
                <a:solidFill>
                  <a:srgbClr val="111111"/>
                </a:solidFill>
              </a:rPr>
              <a:t>Exécution complète</a:t>
            </a:r>
          </a:p>
        </p:txBody>
      </p:sp>
      <p:sp>
        <p:nvSpPr>
          <p:cNvPr id="7" name="python main.py recalcule les phases dans l’ordre.">
            <a:extLst xmlns:a="http://schemas.openxmlformats.org/drawingml/2006/main">
              <a:ext uri="{FF2B5EF4-FFF2-40B4-BE49-F238E27FC236}">
                <a16:creationId xmlns:a16="http://schemas.microsoft.com/office/drawing/2014/main" id="{CAD3C033-9D9F-4810-A8E9-54F224A4A2CF}"/>
              </a:ext>
            </a:extLst>
          </p:cNvPr>
          <p:cNvSpPr>
            <a:spLocks xmlns:a="http://schemas.openxmlformats.org/drawingml/2006/main" noGrp="1"/>
          </p:cNvSpPr>
          <p:nvPr/>
        </p:nvSpPr>
        <p:spPr>
          <a:xfrm xmlns:a="http://schemas.openxmlformats.org/drawingml/2006/main">
            <a:off x="400050" y="2800350"/>
            <a:ext cx="54768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python main.py recalcule les phases dans l’ordre.</a:t>
            </a:r>
          </a:p>
        </p:txBody>
      </p:sp>
      <p:sp>
        <p:nvSpPr>
          <p:cNvPr id="8" name="Chaque exception arrête la chaîne et produit un statut d’erreur.">
            <a:extLst xmlns:a="http://schemas.openxmlformats.org/drawingml/2006/main">
              <a:ext uri="{FF2B5EF4-FFF2-40B4-BE49-F238E27FC236}">
                <a16:creationId xmlns:a16="http://schemas.microsoft.com/office/drawing/2014/main" id="{9707608B-74DD-4F87-8ED3-8055CFE1826A}"/>
              </a:ext>
            </a:extLst>
          </p:cNvPr>
          <p:cNvSpPr>
            <a:spLocks xmlns:a="http://schemas.openxmlformats.org/drawingml/2006/main" noGrp="1"/>
          </p:cNvSpPr>
          <p:nvPr/>
        </p:nvSpPr>
        <p:spPr>
          <a:xfrm xmlns:a="http://schemas.openxmlformats.org/drawingml/2006/main">
            <a:off x="400050" y="3743325"/>
            <a:ext cx="54768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Chaque exception arrête la chaîne et produit un statut d’erreur.</a:t>
            </a:r>
          </a:p>
        </p:txBody>
      </p:sp>
      <p:sp>
        <p:nvSpPr>
          <p:cNvPr id="9" name="Spark est isolé pour libérer son contexte avant le ML.">
            <a:extLst xmlns:a="http://schemas.openxmlformats.org/drawingml/2006/main">
              <a:ext uri="{FF2B5EF4-FFF2-40B4-BE49-F238E27FC236}">
                <a16:creationId xmlns:a16="http://schemas.microsoft.com/office/drawing/2014/main" id="{1E5E527B-514D-4EB4-820E-E39BC6A556A8}"/>
              </a:ext>
            </a:extLst>
          </p:cNvPr>
          <p:cNvSpPr>
            <a:spLocks xmlns:a="http://schemas.openxmlformats.org/drawingml/2006/main" noGrp="1"/>
          </p:cNvSpPr>
          <p:nvPr/>
        </p:nvSpPr>
        <p:spPr>
          <a:xfrm xmlns:a="http://schemas.openxmlformats.org/drawingml/2006/main">
            <a:off x="400050" y="4686300"/>
            <a:ext cx="54768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Spark est isolé pour libérer son contexte avant le ML.</a:t>
            </a:r>
          </a:p>
        </p:txBody>
      </p:sp>
      <p:sp>
        <p:nvSpPr>
          <p:cNvPr id="10" name="Après incident">
            <a:extLst xmlns:a="http://schemas.openxmlformats.org/drawingml/2006/main">
              <a:ext uri="{FF2B5EF4-FFF2-40B4-BE49-F238E27FC236}">
                <a16:creationId xmlns:a16="http://schemas.microsoft.com/office/drawing/2014/main" id="{FC036381-CACF-4233-BE0E-FC9B28717AD2}"/>
              </a:ext>
            </a:extLst>
          </p:cNvPr>
          <p:cNvSpPr>
            <a:spLocks xmlns:a="http://schemas.openxmlformats.org/drawingml/2006/main" noGrp="1"/>
          </p:cNvSpPr>
          <p:nvPr/>
        </p:nvSpPr>
        <p:spPr>
          <a:xfrm xmlns:a="http://schemas.openxmlformats.org/drawingml/2006/main">
            <a:off x="6257925" y="2057400"/>
            <a:ext cx="54768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2400" b="1">
                <a:solidFill>
                  <a:srgbClr val="111111"/>
                </a:solidFill>
              </a:defRPr>
            </a:pPr>
            <a:r>
              <a:rPr sz="2400" b="1">
                <a:solidFill>
                  <a:srgbClr val="111111"/>
                </a:solidFill>
              </a:rPr>
              <a:t>Après incident</a:t>
            </a:r>
          </a:p>
        </p:txBody>
      </p:sp>
      <p:sp>
        <p:nvSpPr>
          <p:cNvPr id="11" name="Corriger la cause puis lancer main.py --resume.">
            <a:extLst xmlns:a="http://schemas.openxmlformats.org/drawingml/2006/main">
              <a:ext uri="{FF2B5EF4-FFF2-40B4-BE49-F238E27FC236}">
                <a16:creationId xmlns:a16="http://schemas.microsoft.com/office/drawing/2014/main" id="{EBD2A39B-57CA-41AC-8EF2-AF7FCFAC153A}"/>
              </a:ext>
            </a:extLst>
          </p:cNvPr>
          <p:cNvSpPr>
            <a:spLocks xmlns:a="http://schemas.openxmlformats.org/drawingml/2006/main" noGrp="1"/>
          </p:cNvSpPr>
          <p:nvPr/>
        </p:nvSpPr>
        <p:spPr>
          <a:xfrm xmlns:a="http://schemas.openxmlformats.org/drawingml/2006/main">
            <a:off x="6257925" y="2800350"/>
            <a:ext cx="54768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Corriger la cause puis lancer main.py --resume.</a:t>
            </a:r>
          </a:p>
        </p:txBody>
      </p:sp>
      <p:sp>
        <p:nvSpPr>
          <p:cNvPr id="12" name="Les phases OK du checkpoint sont ignorées.">
            <a:extLst xmlns:a="http://schemas.openxmlformats.org/drawingml/2006/main">
              <a:ext uri="{FF2B5EF4-FFF2-40B4-BE49-F238E27FC236}">
                <a16:creationId xmlns:a16="http://schemas.microsoft.com/office/drawing/2014/main" id="{7AF3207D-E013-4BC5-9C0B-2A821DB983EC}"/>
              </a:ext>
            </a:extLst>
          </p:cNvPr>
          <p:cNvSpPr>
            <a:spLocks xmlns:a="http://schemas.openxmlformats.org/drawingml/2006/main" noGrp="1"/>
          </p:cNvSpPr>
          <p:nvPr/>
        </p:nvSpPr>
        <p:spPr>
          <a:xfrm xmlns:a="http://schemas.openxmlformats.org/drawingml/2006/main">
            <a:off x="6257925" y="3743325"/>
            <a:ext cx="54768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Les phases OK du checkpoint sont ignorées.</a:t>
            </a:r>
          </a:p>
        </p:txBody>
      </p:sp>
      <p:sp>
        <p:nvSpPr>
          <p:cNvPr id="13" name="Après changement des sources : effectuer une exécution complète.">
            <a:extLst xmlns:a="http://schemas.openxmlformats.org/drawingml/2006/main">
              <a:ext uri="{FF2B5EF4-FFF2-40B4-BE49-F238E27FC236}">
                <a16:creationId xmlns:a16="http://schemas.microsoft.com/office/drawing/2014/main" id="{FFE6EABC-2DD2-462B-A40C-8286E83A1AE1}"/>
              </a:ext>
            </a:extLst>
          </p:cNvPr>
          <p:cNvSpPr>
            <a:spLocks xmlns:a="http://schemas.openxmlformats.org/drawingml/2006/main" noGrp="1"/>
          </p:cNvSpPr>
          <p:nvPr/>
        </p:nvSpPr>
        <p:spPr>
          <a:xfrm xmlns:a="http://schemas.openxmlformats.org/drawingml/2006/main">
            <a:off x="6257925" y="4686300"/>
            <a:ext cx="54768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Après changement des sources : effectuer une exécution complète.</a:t>
            </a:r>
          </a:p>
        </p:txBody>
      </p:sp>
    </p:spTree>
    <p:extLst>
      <p:ext uri="{BB962C8B-B14F-4D97-AF65-F5344CB8AC3E}">
        <p14:creationId xmlns:p14="http://schemas.microsoft.com/office/powerpoint/2010/main" val="49839897"/>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11 · VÉRIFICATION">
            <a:extLst xmlns:a="http://schemas.openxmlformats.org/drawingml/2006/main">
              <a:ext uri="{FF2B5EF4-FFF2-40B4-BE49-F238E27FC236}">
                <a16:creationId xmlns:a16="http://schemas.microsoft.com/office/drawing/2014/main" id="{0D25C15F-70E8-4761-8491-3FA710F3E199}"/>
              </a:ext>
            </a:extLst>
          </p:cNvPr>
          <p:cNvSpPr>
            <a:spLocks xmlns:a="http://schemas.openxmlformats.org/drawingml/2006/main" noGrp="1"/>
          </p:cNvSpPr>
          <p:nvPr/>
        </p:nvSpPr>
        <p:spPr>
          <a:xfrm xmlns:a="http://schemas.openxmlformats.org/drawingml/2006/main">
            <a:off x="400050" y="228600"/>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1">
                <a:solidFill>
                  <a:srgbClr val="525860"/>
                </a:solidFill>
              </a:defRPr>
            </a:pPr>
            <a:r>
              <a:rPr sz="1650" b="1">
                <a:solidFill>
                  <a:srgbClr val="525860"/>
                </a:solidFill>
              </a:rPr>
              <a:t>11 · VÉRIFICATION</a:t>
            </a:r>
          </a:p>
        </p:txBody>
      </p:sp>
      <p:sp>
        <p:nvSpPr>
          <p:cNvPr id="2" name="Vérifier le résultat de bout en bout">
            <a:extLst xmlns:a="http://schemas.openxmlformats.org/drawingml/2006/main">
              <a:ext uri="{FF2B5EF4-FFF2-40B4-BE49-F238E27FC236}">
                <a16:creationId xmlns:a16="http://schemas.microsoft.com/office/drawing/2014/main" id="{7E91F980-DA19-4919-A93C-0B7DC23EEA21}"/>
              </a:ext>
            </a:extLst>
          </p:cNvPr>
          <p:cNvSpPr>
            <a:spLocks xmlns:a="http://schemas.openxmlformats.org/drawingml/2006/main" noGrp="1"/>
          </p:cNvSpPr>
          <p:nvPr/>
        </p:nvSpPr>
        <p:spPr>
          <a:xfrm xmlns:a="http://schemas.openxmlformats.org/drawingml/2006/main">
            <a:off x="400050" y="742950"/>
            <a:ext cx="113919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3600" b="1">
                <a:solidFill>
                  <a:srgbClr val="111111"/>
                </a:solidFill>
              </a:defRPr>
            </a:pPr>
            <a:r>
              <a:rPr sz="3600" b="1">
                <a:solidFill>
                  <a:srgbClr val="111111"/>
                </a:solidFill>
              </a:rPr>
              <a:t>Vérifier le résultat de bout en bout</a:t>
            </a:r>
          </a:p>
        </p:txBody>
      </p:sp>
      <p:sp>
        <p:nvSpPr>
          <p:cNvPr id="3" name="">
            <a:extLst xmlns:a="http://schemas.openxmlformats.org/drawingml/2006/main">
              <a:ext uri="{FF2B5EF4-FFF2-40B4-BE49-F238E27FC236}">
                <a16:creationId xmlns:a16="http://schemas.microsoft.com/office/drawing/2014/main" id="{AC0F8B3A-6709-4325-8DE2-68ED3214FCAC}"/>
              </a:ext>
            </a:extLst>
          </p:cNvPr>
          <p:cNvSpPr>
            <a:spLocks xmlns:a="http://schemas.openxmlformats.org/drawingml/2006/main" noGrp="1"/>
          </p:cNvSpPr>
          <p:nvPr/>
        </p:nvSpPr>
        <p:spPr>
          <a:xfrm xmlns:a="http://schemas.openxmlformats.org/drawingml/2006/main">
            <a:off x="400050" y="62293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4" name="SEMENCES R&amp;D · PROJET DE GROUPE">
            <a:extLst xmlns:a="http://schemas.openxmlformats.org/drawingml/2006/main">
              <a:ext uri="{FF2B5EF4-FFF2-40B4-BE49-F238E27FC236}">
                <a16:creationId xmlns:a16="http://schemas.microsoft.com/office/drawing/2014/main" id="{A23D3640-C1F1-4381-BFCE-A4540EEB7E66}"/>
              </a:ext>
            </a:extLst>
          </p:cNvPr>
          <p:cNvSpPr>
            <a:spLocks xmlns:a="http://schemas.openxmlformats.org/drawingml/2006/main" noGrp="1"/>
          </p:cNvSpPr>
          <p:nvPr/>
        </p:nvSpPr>
        <p:spPr>
          <a:xfrm xmlns:a="http://schemas.openxmlformats.org/drawingml/2006/main">
            <a:off x="400050" y="641032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0">
                <a:solidFill>
                  <a:srgbClr val="525860"/>
                </a:solidFill>
              </a:defRPr>
            </a:pPr>
            <a:r>
              <a:rPr sz="1650" b="0">
                <a:solidFill>
                  <a:srgbClr val="525860"/>
                </a:solidFill>
              </a:rPr>
              <a:t>SEMENCES R&amp;D · PROJET DE GROUPE</a:t>
            </a:r>
          </a:p>
        </p:txBody>
      </p:sp>
      <p:sp>
        <p:nvSpPr>
          <p:cNvPr id="5" name="22">
            <a:extLst xmlns:a="http://schemas.openxmlformats.org/drawingml/2006/main">
              <a:ext uri="{FF2B5EF4-FFF2-40B4-BE49-F238E27FC236}">
                <a16:creationId xmlns:a16="http://schemas.microsoft.com/office/drawing/2014/main" id="{B7EAC751-A59A-49B1-B7E5-4ACDCFB810D2}"/>
              </a:ext>
            </a:extLst>
          </p:cNvPr>
          <p:cNvSpPr>
            <a:spLocks xmlns:a="http://schemas.openxmlformats.org/drawingml/2006/main" noGrp="1"/>
          </p:cNvSpPr>
          <p:nvPr/>
        </p:nvSpPr>
        <p:spPr>
          <a:xfrm xmlns:a="http://schemas.openxmlformats.org/drawingml/2006/main">
            <a:off x="11239500" y="64103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0">
                <a:solidFill>
                  <a:srgbClr val="525860"/>
                </a:solidFill>
              </a:defRPr>
            </a:pPr>
            <a:r>
              <a:rPr sz="1650" b="0">
                <a:solidFill>
                  <a:srgbClr val="525860"/>
                </a:solidFill>
              </a:rPr>
              <a:t>29</a:t>
            </a:r>
          </a:p>
        </p:txBody>
      </p:sp>
      <p:sp>
        <p:nvSpPr>
          <p:cNvPr id="6" name="Contrats et intégration">
            <a:extLst xmlns:a="http://schemas.openxmlformats.org/drawingml/2006/main">
              <a:ext uri="{FF2B5EF4-FFF2-40B4-BE49-F238E27FC236}">
                <a16:creationId xmlns:a16="http://schemas.microsoft.com/office/drawing/2014/main" id="{6F280109-7265-4143-A383-1DBAF8B6A5F0}"/>
              </a:ext>
            </a:extLst>
          </p:cNvPr>
          <p:cNvSpPr>
            <a:spLocks xmlns:a="http://schemas.openxmlformats.org/drawingml/2006/main" noGrp="1"/>
          </p:cNvSpPr>
          <p:nvPr/>
        </p:nvSpPr>
        <p:spPr>
          <a:xfrm xmlns:a="http://schemas.openxmlformats.org/drawingml/2006/main">
            <a:off x="400050" y="2057400"/>
            <a:ext cx="54768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2400" b="1">
                <a:solidFill>
                  <a:srgbClr val="111111"/>
                </a:solidFill>
              </a:defRPr>
            </a:pPr>
            <a:r>
              <a:rPr sz="2400" b="1">
                <a:solidFill>
                  <a:srgbClr val="111111"/>
                </a:solidFill>
              </a:rPr>
              <a:t>Contrats et intégration</a:t>
            </a:r>
          </a:p>
        </p:txBody>
      </p:sp>
      <p:sp>
        <p:nvSpPr>
          <p:cNvPr id="7" name="Contrôler les clés, volumes et catégories inconnues.">
            <a:extLst xmlns:a="http://schemas.openxmlformats.org/drawingml/2006/main">
              <a:ext uri="{FF2B5EF4-FFF2-40B4-BE49-F238E27FC236}">
                <a16:creationId xmlns:a16="http://schemas.microsoft.com/office/drawing/2014/main" id="{A13CA14A-2F4F-4019-BF5F-F1218476BC64}"/>
              </a:ext>
            </a:extLst>
          </p:cNvPr>
          <p:cNvSpPr>
            <a:spLocks xmlns:a="http://schemas.openxmlformats.org/drawingml/2006/main" noGrp="1"/>
          </p:cNvSpPr>
          <p:nvPr/>
        </p:nvSpPr>
        <p:spPr>
          <a:xfrm xmlns:a="http://schemas.openxmlformats.org/drawingml/2006/main">
            <a:off x="400050" y="2800350"/>
            <a:ext cx="54768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Contrôler les clés, volumes et catégories inconnues.</a:t>
            </a:r>
          </a:p>
        </p:txBody>
      </p:sp>
      <p:sp>
        <p:nvSpPr>
          <p:cNvPr id="8" name="Valider SQL, événements, catalogue et modèles.">
            <a:extLst xmlns:a="http://schemas.openxmlformats.org/drawingml/2006/main">
              <a:ext uri="{FF2B5EF4-FFF2-40B4-BE49-F238E27FC236}">
                <a16:creationId xmlns:a16="http://schemas.microsoft.com/office/drawing/2014/main" id="{5EB627B9-7647-425A-A26F-4D7150B6A82A}"/>
              </a:ext>
            </a:extLst>
          </p:cNvPr>
          <p:cNvSpPr>
            <a:spLocks xmlns:a="http://schemas.openxmlformats.org/drawingml/2006/main" noGrp="1"/>
          </p:cNvSpPr>
          <p:nvPr/>
        </p:nvSpPr>
        <p:spPr>
          <a:xfrm xmlns:a="http://schemas.openxmlformats.org/drawingml/2006/main">
            <a:off x="400050" y="3743325"/>
            <a:ext cx="54768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Valider SQL, événements, catalogue et modèles.</a:t>
            </a:r>
          </a:p>
        </p:txBody>
      </p:sp>
      <p:sp>
        <p:nvSpPr>
          <p:cNvPr id="9" name="Tester les réponses HTTP et les rôles de l’API.">
            <a:extLst xmlns:a="http://schemas.openxmlformats.org/drawingml/2006/main">
              <a:ext uri="{FF2B5EF4-FFF2-40B4-BE49-F238E27FC236}">
                <a16:creationId xmlns:a16="http://schemas.microsoft.com/office/drawing/2014/main" id="{F4E3002A-5F52-43CD-9B0D-76C312C241B7}"/>
              </a:ext>
            </a:extLst>
          </p:cNvPr>
          <p:cNvSpPr>
            <a:spLocks xmlns:a="http://schemas.openxmlformats.org/drawingml/2006/main" noGrp="1"/>
          </p:cNvSpPr>
          <p:nvPr/>
        </p:nvSpPr>
        <p:spPr>
          <a:xfrm xmlns:a="http://schemas.openxmlformats.org/drawingml/2006/main">
            <a:off x="400050" y="4686300"/>
            <a:ext cx="54768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Tester les réponses HTTP et les rôles de l’API.</a:t>
            </a:r>
          </a:p>
        </p:txBody>
      </p:sp>
      <p:sp>
        <p:nvSpPr>
          <p:cNvPr id="10" name="Démonstration">
            <a:extLst xmlns:a="http://schemas.openxmlformats.org/drawingml/2006/main">
              <a:ext uri="{FF2B5EF4-FFF2-40B4-BE49-F238E27FC236}">
                <a16:creationId xmlns:a16="http://schemas.microsoft.com/office/drawing/2014/main" id="{69B629BD-9737-4D05-BEB1-D724BEA407A7}"/>
              </a:ext>
            </a:extLst>
          </p:cNvPr>
          <p:cNvSpPr>
            <a:spLocks xmlns:a="http://schemas.openxmlformats.org/drawingml/2006/main" noGrp="1"/>
          </p:cNvSpPr>
          <p:nvPr/>
        </p:nvSpPr>
        <p:spPr>
          <a:xfrm xmlns:a="http://schemas.openxmlformats.org/drawingml/2006/main">
            <a:off x="6257925" y="2057400"/>
            <a:ext cx="54768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2400" b="1">
                <a:solidFill>
                  <a:srgbClr val="111111"/>
                </a:solidFill>
              </a:defRPr>
            </a:pPr>
            <a:r>
              <a:rPr sz="2400" b="1">
                <a:solidFill>
                  <a:srgbClr val="111111"/>
                </a:solidFill>
              </a:rPr>
              <a:t>Démonstration</a:t>
            </a:r>
          </a:p>
        </p:txBody>
      </p:sp>
      <p:sp>
        <p:nvSpPr>
          <p:cNvPr id="11" name="Exiger 17 phases OK dans pipeline_run.json.">
            <a:extLst xmlns:a="http://schemas.openxmlformats.org/drawingml/2006/main">
              <a:ext uri="{FF2B5EF4-FFF2-40B4-BE49-F238E27FC236}">
                <a16:creationId xmlns:a16="http://schemas.microsoft.com/office/drawing/2014/main" id="{82B243B5-5AA2-4C97-8709-2B414A0932AA}"/>
              </a:ext>
            </a:extLst>
          </p:cNvPr>
          <p:cNvSpPr>
            <a:spLocks xmlns:a="http://schemas.openxmlformats.org/drawingml/2006/main" noGrp="1"/>
          </p:cNvSpPr>
          <p:nvPr/>
        </p:nvSpPr>
        <p:spPr>
          <a:xfrm xmlns:a="http://schemas.openxmlformats.org/drawingml/2006/main">
            <a:off x="6257925" y="2800350"/>
            <a:ext cx="54768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Exiger 17 phases OK dans pipeline_run.json.</a:t>
            </a:r>
          </a:p>
        </p:txBody>
      </p:sp>
      <p:sp>
        <p:nvSpPr>
          <p:cNvPr id="12" name="Ouvrir les tableaux via HTTP et vérifier les filtres.">
            <a:extLst xmlns:a="http://schemas.openxmlformats.org/drawingml/2006/main">
              <a:ext uri="{FF2B5EF4-FFF2-40B4-BE49-F238E27FC236}">
                <a16:creationId xmlns:a16="http://schemas.microsoft.com/office/drawing/2014/main" id="{5C653A92-3F3A-40D5-A910-B35B4D580A74}"/>
              </a:ext>
            </a:extLst>
          </p:cNvPr>
          <p:cNvSpPr>
            <a:spLocks xmlns:a="http://schemas.openxmlformats.org/drawingml/2006/main" noGrp="1"/>
          </p:cNvSpPr>
          <p:nvPr/>
        </p:nvSpPr>
        <p:spPr>
          <a:xfrm xmlns:a="http://schemas.openxmlformats.org/drawingml/2006/main">
            <a:off x="6257925" y="3743325"/>
            <a:ext cx="54768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Ouvrir les tableaux via HTTP et vérifier les filtres.</a:t>
            </a:r>
          </a:p>
        </p:txBody>
      </p:sp>
      <p:sp>
        <p:nvSpPr>
          <p:cNvPr id="13" name="Lire le PPTX ; conserver les fichiers du dashboard.">
            <a:extLst xmlns:a="http://schemas.openxmlformats.org/drawingml/2006/main">
              <a:ext uri="{FF2B5EF4-FFF2-40B4-BE49-F238E27FC236}">
                <a16:creationId xmlns:a16="http://schemas.microsoft.com/office/drawing/2014/main" id="{0D9A0B1E-3F70-4410-B5E4-4BBFB4C939D5}"/>
              </a:ext>
            </a:extLst>
          </p:cNvPr>
          <p:cNvSpPr>
            <a:spLocks xmlns:a="http://schemas.openxmlformats.org/drawingml/2006/main" noGrp="1"/>
          </p:cNvSpPr>
          <p:nvPr/>
        </p:nvSpPr>
        <p:spPr>
          <a:xfrm xmlns:a="http://schemas.openxmlformats.org/drawingml/2006/main">
            <a:off x="6257925" y="4686300"/>
            <a:ext cx="54768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Lire le PPTX ; conserver les fichiers du dashboard.</a:t>
            </a:r>
          </a:p>
        </p:txBody>
      </p:sp>
    </p:spTree>
    <p:extLst>
      <p:ext uri="{BB962C8B-B14F-4D97-AF65-F5344CB8AC3E}">
        <p14:creationId xmlns:p14="http://schemas.microsoft.com/office/powerpoint/2010/main" val="1394789946"/>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12 · INDUSTRIALISATION">
            <a:extLst xmlns:a="http://schemas.openxmlformats.org/drawingml/2006/main">
              <a:ext uri="{FF2B5EF4-FFF2-40B4-BE49-F238E27FC236}">
                <a16:creationId xmlns:a16="http://schemas.microsoft.com/office/drawing/2014/main" id="{43A8DB10-7A0E-4CF4-A5D3-75E7C7824BA1}"/>
              </a:ext>
            </a:extLst>
          </p:cNvPr>
          <p:cNvSpPr>
            <a:spLocks xmlns:a="http://schemas.openxmlformats.org/drawingml/2006/main" noGrp="1"/>
          </p:cNvSpPr>
          <p:nvPr/>
        </p:nvSpPr>
        <p:spPr>
          <a:xfrm xmlns:a="http://schemas.openxmlformats.org/drawingml/2006/main">
            <a:off x="400050" y="228600"/>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1">
                <a:solidFill>
                  <a:srgbClr val="525860"/>
                </a:solidFill>
              </a:defRPr>
            </a:pPr>
            <a:r>
              <a:rPr sz="1650" b="1">
                <a:solidFill>
                  <a:srgbClr val="525860"/>
                </a:solidFill>
              </a:rPr>
              <a:t>12 · INDUSTRIALISATION</a:t>
            </a:r>
          </a:p>
        </p:txBody>
      </p:sp>
      <p:sp>
        <p:nvSpPr>
          <p:cNvPr id="2" name="Les limites guident les prochaines étapes">
            <a:extLst xmlns:a="http://schemas.openxmlformats.org/drawingml/2006/main">
              <a:ext uri="{FF2B5EF4-FFF2-40B4-BE49-F238E27FC236}">
                <a16:creationId xmlns:a16="http://schemas.microsoft.com/office/drawing/2014/main" id="{ACB8D372-F582-45E0-8610-07E1F8797667}"/>
              </a:ext>
            </a:extLst>
          </p:cNvPr>
          <p:cNvSpPr>
            <a:spLocks xmlns:a="http://schemas.openxmlformats.org/drawingml/2006/main" noGrp="1"/>
          </p:cNvSpPr>
          <p:nvPr/>
        </p:nvSpPr>
        <p:spPr>
          <a:xfrm xmlns:a="http://schemas.openxmlformats.org/drawingml/2006/main">
            <a:off x="400050" y="742950"/>
            <a:ext cx="113919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3600" b="1">
                <a:solidFill>
                  <a:srgbClr val="111111"/>
                </a:solidFill>
              </a:defRPr>
            </a:pPr>
            <a:r>
              <a:rPr sz="3600" b="1">
                <a:solidFill>
                  <a:srgbClr val="111111"/>
                </a:solidFill>
              </a:rPr>
              <a:t>Les limites guident les prochaines étapes</a:t>
            </a:r>
          </a:p>
        </p:txBody>
      </p:sp>
      <p:sp>
        <p:nvSpPr>
          <p:cNvPr id="3" name="">
            <a:extLst xmlns:a="http://schemas.openxmlformats.org/drawingml/2006/main">
              <a:ext uri="{FF2B5EF4-FFF2-40B4-BE49-F238E27FC236}">
                <a16:creationId xmlns:a16="http://schemas.microsoft.com/office/drawing/2014/main" id="{4FC93B6F-76C7-4651-A684-AACC56ECD55E}"/>
              </a:ext>
            </a:extLst>
          </p:cNvPr>
          <p:cNvSpPr>
            <a:spLocks xmlns:a="http://schemas.openxmlformats.org/drawingml/2006/main" noGrp="1"/>
          </p:cNvSpPr>
          <p:nvPr/>
        </p:nvSpPr>
        <p:spPr>
          <a:xfrm xmlns:a="http://schemas.openxmlformats.org/drawingml/2006/main">
            <a:off x="400050" y="62293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4" name="SEMENCES R&amp;D · PROJET DE GROUPE">
            <a:extLst xmlns:a="http://schemas.openxmlformats.org/drawingml/2006/main">
              <a:ext uri="{FF2B5EF4-FFF2-40B4-BE49-F238E27FC236}">
                <a16:creationId xmlns:a16="http://schemas.microsoft.com/office/drawing/2014/main" id="{7AA6E28B-7076-464E-8982-DC1D72206228}"/>
              </a:ext>
            </a:extLst>
          </p:cNvPr>
          <p:cNvSpPr>
            <a:spLocks xmlns:a="http://schemas.openxmlformats.org/drawingml/2006/main" noGrp="1"/>
          </p:cNvSpPr>
          <p:nvPr/>
        </p:nvSpPr>
        <p:spPr>
          <a:xfrm xmlns:a="http://schemas.openxmlformats.org/drawingml/2006/main">
            <a:off x="400050" y="641032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0">
                <a:solidFill>
                  <a:srgbClr val="525860"/>
                </a:solidFill>
              </a:defRPr>
            </a:pPr>
            <a:r>
              <a:rPr sz="1650" b="0">
                <a:solidFill>
                  <a:srgbClr val="525860"/>
                </a:solidFill>
              </a:rPr>
              <a:t>SEMENCES R&amp;D · PROJET DE GROUPE</a:t>
            </a:r>
          </a:p>
        </p:txBody>
      </p:sp>
      <p:sp>
        <p:nvSpPr>
          <p:cNvPr id="5" name="23">
            <a:extLst xmlns:a="http://schemas.openxmlformats.org/drawingml/2006/main">
              <a:ext uri="{FF2B5EF4-FFF2-40B4-BE49-F238E27FC236}">
                <a16:creationId xmlns:a16="http://schemas.microsoft.com/office/drawing/2014/main" id="{72AC4F6D-A839-4B1B-9F11-C1C902B223C7}"/>
              </a:ext>
            </a:extLst>
          </p:cNvPr>
          <p:cNvSpPr>
            <a:spLocks xmlns:a="http://schemas.openxmlformats.org/drawingml/2006/main" noGrp="1"/>
          </p:cNvSpPr>
          <p:nvPr/>
        </p:nvSpPr>
        <p:spPr>
          <a:xfrm xmlns:a="http://schemas.openxmlformats.org/drawingml/2006/main">
            <a:off x="11239500" y="64103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0">
                <a:solidFill>
                  <a:srgbClr val="525860"/>
                </a:solidFill>
              </a:defRPr>
            </a:pPr>
            <a:r>
              <a:rPr sz="1650" b="0">
                <a:solidFill>
                  <a:srgbClr val="525860"/>
                </a:solidFill>
              </a:rPr>
              <a:t>30</a:t>
            </a:r>
          </a:p>
        </p:txBody>
      </p:sp>
      <p:sp>
        <p:nvSpPr>
          <p:cNvPr id="6" name="Données et science">
            <a:extLst xmlns:a="http://schemas.openxmlformats.org/drawingml/2006/main">
              <a:ext uri="{FF2B5EF4-FFF2-40B4-BE49-F238E27FC236}">
                <a16:creationId xmlns:a16="http://schemas.microsoft.com/office/drawing/2014/main" id="{831472F5-C32B-430F-BA1E-229CC9B4908A}"/>
              </a:ext>
            </a:extLst>
          </p:cNvPr>
          <p:cNvSpPr>
            <a:spLocks xmlns:a="http://schemas.openxmlformats.org/drawingml/2006/main" noGrp="1"/>
          </p:cNvSpPr>
          <p:nvPr/>
        </p:nvSpPr>
        <p:spPr>
          <a:xfrm xmlns:a="http://schemas.openxmlformats.org/drawingml/2006/main">
            <a:off x="400050" y="2057400"/>
            <a:ext cx="54768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2400" b="1">
                <a:solidFill>
                  <a:srgbClr val="111111"/>
                </a:solidFill>
              </a:defRPr>
            </a:pPr>
            <a:r>
              <a:rPr sz="2400" b="1">
                <a:solidFill>
                  <a:srgbClr val="111111"/>
                </a:solidFill>
              </a:rPr>
              <a:t>Données et science</a:t>
            </a:r>
          </a:p>
        </p:txBody>
      </p:sp>
      <p:sp>
        <p:nvSpPr>
          <p:cNvPr id="7" name="Météo, sol et conduite culturale manquent.">
            <a:extLst xmlns:a="http://schemas.openxmlformats.org/drawingml/2006/main">
              <a:ext uri="{FF2B5EF4-FFF2-40B4-BE49-F238E27FC236}">
                <a16:creationId xmlns:a16="http://schemas.microsoft.com/office/drawing/2014/main" id="{0975E70D-F5DE-4959-9855-BE5ECBB99A7A}"/>
              </a:ext>
            </a:extLst>
          </p:cNvPr>
          <p:cNvSpPr>
            <a:spLocks xmlns:a="http://schemas.openxmlformats.org/drawingml/2006/main" noGrp="1"/>
          </p:cNvSpPr>
          <p:nvPr/>
        </p:nvSpPr>
        <p:spPr>
          <a:xfrm xmlns:a="http://schemas.openxmlformats.org/drawingml/2006/main">
            <a:off x="400050" y="2800350"/>
            <a:ext cx="54768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Météo, sol et conduite culturale manquent.</a:t>
            </a:r>
          </a:p>
        </p:txBody>
      </p:sp>
      <p:sp>
        <p:nvSpPr>
          <p:cNvPr id="8" name="Les codes d’espèces non résolus demandent une validation.">
            <a:extLst xmlns:a="http://schemas.openxmlformats.org/drawingml/2006/main">
              <a:ext uri="{FF2B5EF4-FFF2-40B4-BE49-F238E27FC236}">
                <a16:creationId xmlns:a16="http://schemas.microsoft.com/office/drawing/2014/main" id="{19473995-F0B5-464A-A637-42E7FF550AE4}"/>
              </a:ext>
            </a:extLst>
          </p:cNvPr>
          <p:cNvSpPr>
            <a:spLocks xmlns:a="http://schemas.openxmlformats.org/drawingml/2006/main" noGrp="1"/>
          </p:cNvSpPr>
          <p:nvPr/>
        </p:nvSpPr>
        <p:spPr>
          <a:xfrm xmlns:a="http://schemas.openxmlformats.org/drawingml/2006/main">
            <a:off x="400050" y="3743325"/>
            <a:ext cx="54768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Les codes d’espèces non résolus demandent une validation.</a:t>
            </a:r>
          </a:p>
        </p:txBody>
      </p:sp>
      <p:sp>
        <p:nvSpPr>
          <p:cNvPr id="9" name="Les seuils et modèles nécessitent une expertise agronomique.">
            <a:extLst xmlns:a="http://schemas.openxmlformats.org/drawingml/2006/main">
              <a:ext uri="{FF2B5EF4-FFF2-40B4-BE49-F238E27FC236}">
                <a16:creationId xmlns:a16="http://schemas.microsoft.com/office/drawing/2014/main" id="{D3DC39DC-7BE1-49A1-BF6E-76575AB5393C}"/>
              </a:ext>
            </a:extLst>
          </p:cNvPr>
          <p:cNvSpPr>
            <a:spLocks xmlns:a="http://schemas.openxmlformats.org/drawingml/2006/main" noGrp="1"/>
          </p:cNvSpPr>
          <p:nvPr/>
        </p:nvSpPr>
        <p:spPr>
          <a:xfrm xmlns:a="http://schemas.openxmlformats.org/drawingml/2006/main">
            <a:off x="400050" y="4686300"/>
            <a:ext cx="54768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Les seuils et modèles nécessitent une expertise agronomique.</a:t>
            </a:r>
          </a:p>
        </p:txBody>
      </p:sp>
      <p:sp>
        <p:nvSpPr>
          <p:cNvPr id="10" name="Exploitation">
            <a:extLst xmlns:a="http://schemas.openxmlformats.org/drawingml/2006/main">
              <a:ext uri="{FF2B5EF4-FFF2-40B4-BE49-F238E27FC236}">
                <a16:creationId xmlns:a16="http://schemas.microsoft.com/office/drawing/2014/main" id="{690A6209-879C-4368-88E0-22211212A7E1}"/>
              </a:ext>
            </a:extLst>
          </p:cNvPr>
          <p:cNvSpPr>
            <a:spLocks xmlns:a="http://schemas.openxmlformats.org/drawingml/2006/main" noGrp="1"/>
          </p:cNvSpPr>
          <p:nvPr/>
        </p:nvSpPr>
        <p:spPr>
          <a:xfrm xmlns:a="http://schemas.openxmlformats.org/drawingml/2006/main">
            <a:off x="6257925" y="2057400"/>
            <a:ext cx="54768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2400" b="1">
                <a:solidFill>
                  <a:srgbClr val="111111"/>
                </a:solidFill>
              </a:defRPr>
            </a:pPr>
            <a:r>
              <a:rPr sz="2400" b="1">
                <a:solidFill>
                  <a:srgbClr val="111111"/>
                </a:solidFill>
              </a:rPr>
              <a:t>Exploitation</a:t>
            </a:r>
          </a:p>
        </p:txBody>
      </p:sp>
      <p:sp>
        <p:nvSpPr>
          <p:cNvPr id="11" name="Pas de cluster distribué ni de haute disponibilité.">
            <a:extLst xmlns:a="http://schemas.openxmlformats.org/drawingml/2006/main">
              <a:ext uri="{FF2B5EF4-FFF2-40B4-BE49-F238E27FC236}">
                <a16:creationId xmlns:a16="http://schemas.microsoft.com/office/drawing/2014/main" id="{3F184806-D229-4671-86D9-056614673D60}"/>
              </a:ext>
            </a:extLst>
          </p:cNvPr>
          <p:cNvSpPr>
            <a:spLocks xmlns:a="http://schemas.openxmlformats.org/drawingml/2006/main" noGrp="1"/>
          </p:cNvSpPr>
          <p:nvPr/>
        </p:nvSpPr>
        <p:spPr>
          <a:xfrm xmlns:a="http://schemas.openxmlformats.org/drawingml/2006/main">
            <a:off x="6257925" y="2800350"/>
            <a:ext cx="54768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Pas de cluster distribué ni de haute disponibilité.</a:t>
            </a:r>
          </a:p>
        </p:txBody>
      </p:sp>
      <p:sp>
        <p:nvSpPr>
          <p:cNvPr id="12" name="Clés locales : pas de SSO, TLS ou coffre de secrets intégré.">
            <a:extLst xmlns:a="http://schemas.openxmlformats.org/drawingml/2006/main">
              <a:ext uri="{FF2B5EF4-FFF2-40B4-BE49-F238E27FC236}">
                <a16:creationId xmlns:a16="http://schemas.microsoft.com/office/drawing/2014/main" id="{0793A7EA-F78C-4F50-84C8-4EA1281CF09B}"/>
              </a:ext>
            </a:extLst>
          </p:cNvPr>
          <p:cNvSpPr>
            <a:spLocks xmlns:a="http://schemas.openxmlformats.org/drawingml/2006/main" noGrp="1"/>
          </p:cNvSpPr>
          <p:nvPr/>
        </p:nvSpPr>
        <p:spPr>
          <a:xfrm xmlns:a="http://schemas.openxmlformats.org/drawingml/2006/main">
            <a:off x="6257925" y="3743325"/>
            <a:ext cx="54768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Clés locales : pas de SSO, TLS ou coffre de secrets intégré.</a:t>
            </a:r>
          </a:p>
        </p:txBody>
      </p:sp>
      <p:sp>
        <p:nvSpPr>
          <p:cNvPr id="13" name="Dashboards éditoriaux et lineage nécessitent une maintenance.">
            <a:extLst xmlns:a="http://schemas.openxmlformats.org/drawingml/2006/main">
              <a:ext uri="{FF2B5EF4-FFF2-40B4-BE49-F238E27FC236}">
                <a16:creationId xmlns:a16="http://schemas.microsoft.com/office/drawing/2014/main" id="{5C5896C4-953A-4D79-95EC-8C9FF5A0B735}"/>
              </a:ext>
            </a:extLst>
          </p:cNvPr>
          <p:cNvSpPr>
            <a:spLocks xmlns:a="http://schemas.openxmlformats.org/drawingml/2006/main" noGrp="1"/>
          </p:cNvSpPr>
          <p:nvPr/>
        </p:nvSpPr>
        <p:spPr>
          <a:xfrm xmlns:a="http://schemas.openxmlformats.org/drawingml/2006/main">
            <a:off x="6257925" y="4686300"/>
            <a:ext cx="54768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Dashboards éditoriaux et lineage nécessitent une maintenance.</a:t>
            </a:r>
          </a:p>
        </p:txBody>
      </p:sp>
    </p:spTree>
    <p:extLst>
      <p:ext uri="{BB962C8B-B14F-4D97-AF65-F5344CB8AC3E}">
        <p14:creationId xmlns:p14="http://schemas.microsoft.com/office/powerpoint/2010/main" val="215574969"/>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12 · INDUSTRIALISATION">
            <a:extLst xmlns:a="http://schemas.openxmlformats.org/drawingml/2006/main">
              <a:ext uri="{FF2B5EF4-FFF2-40B4-BE49-F238E27FC236}">
                <a16:creationId xmlns:a16="http://schemas.microsoft.com/office/drawing/2014/main" id="{DD5A3025-2B32-48A0-A19F-8D8C87F05274}"/>
              </a:ext>
            </a:extLst>
          </p:cNvPr>
          <p:cNvSpPr>
            <a:spLocks xmlns:a="http://schemas.openxmlformats.org/drawingml/2006/main" noGrp="1"/>
          </p:cNvSpPr>
          <p:nvPr/>
        </p:nvSpPr>
        <p:spPr>
          <a:xfrm xmlns:a="http://schemas.openxmlformats.org/drawingml/2006/main">
            <a:off x="400050" y="228600"/>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1">
                <a:solidFill>
                  <a:srgbClr val="525860"/>
                </a:solidFill>
              </a:defRPr>
            </a:pPr>
            <a:r>
              <a:rPr sz="1650" b="1">
                <a:solidFill>
                  <a:srgbClr val="525860"/>
                </a:solidFill>
              </a:rPr>
              <a:t>12 · INDUSTRIALISATION</a:t>
            </a:r>
          </a:p>
        </p:txBody>
      </p:sp>
      <p:sp>
        <p:nvSpPr>
          <p:cNvPr id="2" name="Une évolution en trois étapes">
            <a:extLst xmlns:a="http://schemas.openxmlformats.org/drawingml/2006/main">
              <a:ext uri="{FF2B5EF4-FFF2-40B4-BE49-F238E27FC236}">
                <a16:creationId xmlns:a16="http://schemas.microsoft.com/office/drawing/2014/main" id="{0906DF1D-A6D8-4C84-86D0-B9B3C7DCE4EC}"/>
              </a:ext>
            </a:extLst>
          </p:cNvPr>
          <p:cNvSpPr>
            <a:spLocks xmlns:a="http://schemas.openxmlformats.org/drawingml/2006/main" noGrp="1"/>
          </p:cNvSpPr>
          <p:nvPr/>
        </p:nvSpPr>
        <p:spPr>
          <a:xfrm xmlns:a="http://schemas.openxmlformats.org/drawingml/2006/main">
            <a:off x="400050" y="742950"/>
            <a:ext cx="113919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3600" b="1">
                <a:solidFill>
                  <a:srgbClr val="111111"/>
                </a:solidFill>
              </a:defRPr>
            </a:pPr>
            <a:r>
              <a:rPr sz="3600" b="1">
                <a:solidFill>
                  <a:srgbClr val="111111"/>
                </a:solidFill>
              </a:rPr>
              <a:t>Une évolution en trois étapes</a:t>
            </a:r>
          </a:p>
        </p:txBody>
      </p:sp>
      <p:sp>
        <p:nvSpPr>
          <p:cNvPr id="3" name="">
            <a:extLst xmlns:a="http://schemas.openxmlformats.org/drawingml/2006/main">
              <a:ext uri="{FF2B5EF4-FFF2-40B4-BE49-F238E27FC236}">
                <a16:creationId xmlns:a16="http://schemas.microsoft.com/office/drawing/2014/main" id="{9E0138AF-F918-4C73-9E9E-7FFC5C13326F}"/>
              </a:ext>
            </a:extLst>
          </p:cNvPr>
          <p:cNvSpPr>
            <a:spLocks xmlns:a="http://schemas.openxmlformats.org/drawingml/2006/main" noGrp="1"/>
          </p:cNvSpPr>
          <p:nvPr/>
        </p:nvSpPr>
        <p:spPr>
          <a:xfrm xmlns:a="http://schemas.openxmlformats.org/drawingml/2006/main">
            <a:off x="400050" y="62293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4" name="SEMENCES R&amp;D · PROJET DE GROUPE">
            <a:extLst xmlns:a="http://schemas.openxmlformats.org/drawingml/2006/main">
              <a:ext uri="{FF2B5EF4-FFF2-40B4-BE49-F238E27FC236}">
                <a16:creationId xmlns:a16="http://schemas.microsoft.com/office/drawing/2014/main" id="{37BA25FD-D9C8-46C3-A9AE-0708291EA4D4}"/>
              </a:ext>
            </a:extLst>
          </p:cNvPr>
          <p:cNvSpPr>
            <a:spLocks xmlns:a="http://schemas.openxmlformats.org/drawingml/2006/main" noGrp="1"/>
          </p:cNvSpPr>
          <p:nvPr/>
        </p:nvSpPr>
        <p:spPr>
          <a:xfrm xmlns:a="http://schemas.openxmlformats.org/drawingml/2006/main">
            <a:off x="400050" y="641032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0">
                <a:solidFill>
                  <a:srgbClr val="525860"/>
                </a:solidFill>
              </a:defRPr>
            </a:pPr>
            <a:r>
              <a:rPr sz="1650" b="0">
                <a:solidFill>
                  <a:srgbClr val="525860"/>
                </a:solidFill>
              </a:rPr>
              <a:t>SEMENCES R&amp;D · PROJET DE GROUPE</a:t>
            </a:r>
          </a:p>
        </p:txBody>
      </p:sp>
      <p:sp>
        <p:nvSpPr>
          <p:cNvPr id="5" name="24">
            <a:extLst xmlns:a="http://schemas.openxmlformats.org/drawingml/2006/main">
              <a:ext uri="{FF2B5EF4-FFF2-40B4-BE49-F238E27FC236}">
                <a16:creationId xmlns:a16="http://schemas.microsoft.com/office/drawing/2014/main" id="{C1A22F8B-2756-48B6-98F0-E51A0F5EABE9}"/>
              </a:ext>
            </a:extLst>
          </p:cNvPr>
          <p:cNvSpPr>
            <a:spLocks xmlns:a="http://schemas.openxmlformats.org/drawingml/2006/main" noGrp="1"/>
          </p:cNvSpPr>
          <p:nvPr/>
        </p:nvSpPr>
        <p:spPr>
          <a:xfrm xmlns:a="http://schemas.openxmlformats.org/drawingml/2006/main">
            <a:off x="11239500" y="64103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0">
                <a:solidFill>
                  <a:srgbClr val="525860"/>
                </a:solidFill>
              </a:defRPr>
            </a:pPr>
            <a:r>
              <a:rPr sz="1650" b="0">
                <a:solidFill>
                  <a:srgbClr val="525860"/>
                </a:solidFill>
              </a:rPr>
              <a:t>31</a:t>
            </a:r>
          </a:p>
        </p:txBody>
      </p:sp>
      <p:sp>
        <p:nvSpPr>
          <p:cNvPr id="6" name="">
            <a:extLst xmlns:a="http://schemas.openxmlformats.org/drawingml/2006/main">
              <a:ext uri="{FF2B5EF4-FFF2-40B4-BE49-F238E27FC236}">
                <a16:creationId xmlns:a16="http://schemas.microsoft.com/office/drawing/2014/main" id="{EAC158EA-DB42-4984-8428-0CDF743B61DA}"/>
              </a:ext>
            </a:extLst>
          </p:cNvPr>
          <p:cNvSpPr>
            <a:spLocks xmlns:a="http://schemas.openxmlformats.org/drawingml/2006/main" noGrp="1"/>
          </p:cNvSpPr>
          <p:nvPr/>
        </p:nvSpPr>
        <p:spPr>
          <a:xfrm xmlns:a="http://schemas.openxmlformats.org/drawingml/2006/main">
            <a:off x="400050" y="33337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7" name="Prototype">
            <a:extLst xmlns:a="http://schemas.openxmlformats.org/drawingml/2006/main">
              <a:ext uri="{FF2B5EF4-FFF2-40B4-BE49-F238E27FC236}">
                <a16:creationId xmlns:a16="http://schemas.microsoft.com/office/drawing/2014/main" id="{474FCC00-7F80-466A-8551-93ADDB2AA164}"/>
              </a:ext>
            </a:extLst>
          </p:cNvPr>
          <p:cNvSpPr>
            <a:spLocks xmlns:a="http://schemas.openxmlformats.org/drawingml/2006/main" noGrp="1"/>
          </p:cNvSpPr>
          <p:nvPr/>
        </p:nvSpPr>
        <p:spPr>
          <a:xfrm xmlns:a="http://schemas.openxmlformats.org/drawingml/2006/main">
            <a:off x="400050" y="2571750"/>
            <a:ext cx="3486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3000" b="1">
                <a:solidFill>
                  <a:srgbClr val="2475AC"/>
                </a:solidFill>
              </a:defRPr>
            </a:pPr>
            <a:r>
              <a:rPr sz="3000" b="1">
                <a:solidFill>
                  <a:srgbClr val="2475AC"/>
                </a:solidFill>
              </a:rPr>
              <a:t>Prototype</a:t>
            </a:r>
          </a:p>
        </p:txBody>
      </p:sp>
      <p:sp>
        <p:nvSpPr>
          <p:cNvPr id="8" name="Reproduire">
            <a:extLst xmlns:a="http://schemas.openxmlformats.org/drawingml/2006/main">
              <a:ext uri="{FF2B5EF4-FFF2-40B4-BE49-F238E27FC236}">
                <a16:creationId xmlns:a16="http://schemas.microsoft.com/office/drawing/2014/main" id="{9BCEBBD0-65F3-469B-B6A4-8136FC2BD1C0}"/>
              </a:ext>
            </a:extLst>
          </p:cNvPr>
          <p:cNvSpPr>
            <a:spLocks xmlns:a="http://schemas.openxmlformats.org/drawingml/2006/main" noGrp="1"/>
          </p:cNvSpPr>
          <p:nvPr/>
        </p:nvSpPr>
        <p:spPr>
          <a:xfrm xmlns:a="http://schemas.openxmlformats.org/drawingml/2006/main">
            <a:off x="400050" y="3743325"/>
            <a:ext cx="3486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2400" b="1">
                <a:solidFill>
                  <a:srgbClr val="111111"/>
                </a:solidFill>
              </a:defRPr>
            </a:pPr>
            <a:r>
              <a:rPr sz="2400" b="1">
                <a:solidFill>
                  <a:srgbClr val="111111"/>
                </a:solidFill>
              </a:rPr>
              <a:t>Reproduire</a:t>
            </a:r>
          </a:p>
        </p:txBody>
      </p:sp>
      <p:sp>
        <p:nvSpPr>
          <p:cNvPr id="9" name="Données locales, contrôle qualité, analyses et démonstration.">
            <a:extLst xmlns:a="http://schemas.openxmlformats.org/drawingml/2006/main">
              <a:ext uri="{FF2B5EF4-FFF2-40B4-BE49-F238E27FC236}">
                <a16:creationId xmlns:a16="http://schemas.microsoft.com/office/drawing/2014/main" id="{6AA59F7A-3327-48B3-8997-24B0802C440F}"/>
              </a:ext>
            </a:extLst>
          </p:cNvPr>
          <p:cNvSpPr>
            <a:spLocks xmlns:a="http://schemas.openxmlformats.org/drawingml/2006/main" noGrp="1"/>
          </p:cNvSpPr>
          <p:nvPr/>
        </p:nvSpPr>
        <p:spPr>
          <a:xfrm xmlns:a="http://schemas.openxmlformats.org/drawingml/2006/main">
            <a:off x="400050" y="4514850"/>
            <a:ext cx="348615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Données locales, contrôle qualité, analyses et démonstration.</a:t>
            </a:r>
          </a:p>
        </p:txBody>
      </p:sp>
      <p:sp>
        <p:nvSpPr>
          <p:cNvPr id="10" name="Préproduction">
            <a:extLst xmlns:a="http://schemas.openxmlformats.org/drawingml/2006/main">
              <a:ext uri="{FF2B5EF4-FFF2-40B4-BE49-F238E27FC236}">
                <a16:creationId xmlns:a16="http://schemas.microsoft.com/office/drawing/2014/main" id="{47A14197-0DBA-4F0B-B6DF-F6CB6DF4610C}"/>
              </a:ext>
            </a:extLst>
          </p:cNvPr>
          <p:cNvSpPr>
            <a:spLocks xmlns:a="http://schemas.openxmlformats.org/drawingml/2006/main" noGrp="1"/>
          </p:cNvSpPr>
          <p:nvPr/>
        </p:nvSpPr>
        <p:spPr>
          <a:xfrm xmlns:a="http://schemas.openxmlformats.org/drawingml/2006/main">
            <a:off x="4314825" y="2571750"/>
            <a:ext cx="3486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3000" b="1">
                <a:solidFill>
                  <a:srgbClr val="2475AC"/>
                </a:solidFill>
              </a:defRPr>
            </a:pPr>
            <a:r>
              <a:rPr sz="3000" b="1">
                <a:solidFill>
                  <a:srgbClr val="2475AC"/>
                </a:solidFill>
              </a:rPr>
              <a:t>Préproduction</a:t>
            </a:r>
          </a:p>
        </p:txBody>
      </p:sp>
      <p:sp>
        <p:nvSpPr>
          <p:cNvPr id="11" name="Intégrer">
            <a:extLst xmlns:a="http://schemas.openxmlformats.org/drawingml/2006/main">
              <a:ext uri="{FF2B5EF4-FFF2-40B4-BE49-F238E27FC236}">
                <a16:creationId xmlns:a16="http://schemas.microsoft.com/office/drawing/2014/main" id="{59647757-F398-46A3-A2AE-4924CB4609C8}"/>
              </a:ext>
            </a:extLst>
          </p:cNvPr>
          <p:cNvSpPr>
            <a:spLocks xmlns:a="http://schemas.openxmlformats.org/drawingml/2006/main" noGrp="1"/>
          </p:cNvSpPr>
          <p:nvPr/>
        </p:nvSpPr>
        <p:spPr>
          <a:xfrm xmlns:a="http://schemas.openxmlformats.org/drawingml/2006/main">
            <a:off x="4314825" y="3743325"/>
            <a:ext cx="3486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2400" b="1">
                <a:solidFill>
                  <a:srgbClr val="111111"/>
                </a:solidFill>
              </a:defRPr>
            </a:pPr>
            <a:r>
              <a:rPr sz="2400" b="1">
                <a:solidFill>
                  <a:srgbClr val="111111"/>
                </a:solidFill>
              </a:rPr>
              <a:t>Intégrer</a:t>
            </a:r>
          </a:p>
        </p:txBody>
      </p:sp>
      <p:sp>
        <p:nvSpPr>
          <p:cNvPr id="12" name="Services persistants, données météo/sol et tests de reprise.">
            <a:extLst xmlns:a="http://schemas.openxmlformats.org/drawingml/2006/main">
              <a:ext uri="{FF2B5EF4-FFF2-40B4-BE49-F238E27FC236}">
                <a16:creationId xmlns:a16="http://schemas.microsoft.com/office/drawing/2014/main" id="{7BBB5772-DADE-4EE5-B5FD-D811C31D09CF}"/>
              </a:ext>
            </a:extLst>
          </p:cNvPr>
          <p:cNvSpPr>
            <a:spLocks xmlns:a="http://schemas.openxmlformats.org/drawingml/2006/main" noGrp="1"/>
          </p:cNvSpPr>
          <p:nvPr/>
        </p:nvSpPr>
        <p:spPr>
          <a:xfrm xmlns:a="http://schemas.openxmlformats.org/drawingml/2006/main">
            <a:off x="4314825" y="4514850"/>
            <a:ext cx="348615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Services persistants, données météo/sol et tests de reprise.</a:t>
            </a:r>
          </a:p>
        </p:txBody>
      </p:sp>
      <p:sp>
        <p:nvSpPr>
          <p:cNvPr id="13" name="Production">
            <a:extLst xmlns:a="http://schemas.openxmlformats.org/drawingml/2006/main">
              <a:ext uri="{FF2B5EF4-FFF2-40B4-BE49-F238E27FC236}">
                <a16:creationId xmlns:a16="http://schemas.microsoft.com/office/drawing/2014/main" id="{1E877AF3-D32C-4288-B7F6-1C3F70FB29A6}"/>
              </a:ext>
            </a:extLst>
          </p:cNvPr>
          <p:cNvSpPr>
            <a:spLocks xmlns:a="http://schemas.openxmlformats.org/drawingml/2006/main" noGrp="1"/>
          </p:cNvSpPr>
          <p:nvPr/>
        </p:nvSpPr>
        <p:spPr>
          <a:xfrm xmlns:a="http://schemas.openxmlformats.org/drawingml/2006/main">
            <a:off x="8229600" y="2571750"/>
            <a:ext cx="34861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3000" b="1">
                <a:solidFill>
                  <a:srgbClr val="2475AC"/>
                </a:solidFill>
              </a:defRPr>
            </a:pPr>
            <a:r>
              <a:rPr sz="3000" b="1">
                <a:solidFill>
                  <a:srgbClr val="2475AC"/>
                </a:solidFill>
              </a:rPr>
              <a:t>Production</a:t>
            </a:r>
          </a:p>
        </p:txBody>
      </p:sp>
      <p:sp>
        <p:nvSpPr>
          <p:cNvPr id="14" name="Exploiter">
            <a:extLst xmlns:a="http://schemas.openxmlformats.org/drawingml/2006/main">
              <a:ext uri="{FF2B5EF4-FFF2-40B4-BE49-F238E27FC236}">
                <a16:creationId xmlns:a16="http://schemas.microsoft.com/office/drawing/2014/main" id="{34FC93C6-25FD-4125-86F0-57093BE61E4B}"/>
              </a:ext>
            </a:extLst>
          </p:cNvPr>
          <p:cNvSpPr>
            <a:spLocks xmlns:a="http://schemas.openxmlformats.org/drawingml/2006/main" noGrp="1"/>
          </p:cNvSpPr>
          <p:nvPr/>
        </p:nvSpPr>
        <p:spPr>
          <a:xfrm xmlns:a="http://schemas.openxmlformats.org/drawingml/2006/main">
            <a:off x="8229600" y="3743325"/>
            <a:ext cx="3486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2400" b="1">
                <a:solidFill>
                  <a:srgbClr val="111111"/>
                </a:solidFill>
              </a:defRPr>
            </a:pPr>
            <a:r>
              <a:rPr sz="2400" b="1">
                <a:solidFill>
                  <a:srgbClr val="111111"/>
                </a:solidFill>
              </a:rPr>
              <a:t>Exploiter</a:t>
            </a:r>
          </a:p>
        </p:txBody>
      </p:sp>
      <p:sp>
        <p:nvSpPr>
          <p:cNvPr id="15" name="SSO/TLS, supervision, sauvegardes et validation métier.">
            <a:extLst xmlns:a="http://schemas.openxmlformats.org/drawingml/2006/main">
              <a:ext uri="{FF2B5EF4-FFF2-40B4-BE49-F238E27FC236}">
                <a16:creationId xmlns:a16="http://schemas.microsoft.com/office/drawing/2014/main" id="{4A81D773-12D9-4704-BE7D-4F1A511BEC7F}"/>
              </a:ext>
            </a:extLst>
          </p:cNvPr>
          <p:cNvSpPr>
            <a:spLocks xmlns:a="http://schemas.openxmlformats.org/drawingml/2006/main" noGrp="1"/>
          </p:cNvSpPr>
          <p:nvPr/>
        </p:nvSpPr>
        <p:spPr>
          <a:xfrm xmlns:a="http://schemas.openxmlformats.org/drawingml/2006/main">
            <a:off x="8229600" y="4514850"/>
            <a:ext cx="348615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SSO/TLS, supervision, sauvegardes et validation métier.</a:t>
            </a:r>
          </a:p>
        </p:txBody>
      </p:sp>
    </p:spTree>
    <p:extLst>
      <p:ext uri="{BB962C8B-B14F-4D97-AF65-F5344CB8AC3E}">
        <p14:creationId xmlns:p14="http://schemas.microsoft.com/office/powerpoint/2010/main" val="1491139853"/>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05 · GOUVERNANCE">
            <a:extLst xmlns:a="http://schemas.openxmlformats.org/drawingml/2006/main">
              <a:ext uri="{FF2B5EF4-FFF2-40B4-BE49-F238E27FC236}">
                <a16:creationId xmlns:a16="http://schemas.microsoft.com/office/drawing/2014/main" id="{BA2B76F4-D12F-4D22-829A-FFAE2E89F76B}"/>
              </a:ext>
            </a:extLst>
          </p:cNvPr>
          <p:cNvSpPr>
            <a:spLocks xmlns:a="http://schemas.openxmlformats.org/drawingml/2006/main" noGrp="1"/>
          </p:cNvSpPr>
          <p:nvPr/>
        </p:nvSpPr>
        <p:spPr>
          <a:xfrm xmlns:a="http://schemas.openxmlformats.org/drawingml/2006/main">
            <a:off x="400050" y="228600"/>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1">
                <a:solidFill>
                  <a:srgbClr val="525860"/>
                </a:solidFill>
              </a:defRPr>
            </a:pPr>
            <a:r>
              <a:rPr sz="1650" b="1">
                <a:solidFill>
                  <a:srgbClr val="525860"/>
                </a:solidFill>
              </a:rPr>
              <a:t>13 · DÉMONSTRATION RAPIDE</a:t>
            </a:r>
          </a:p>
        </p:txBody>
      </p:sp>
      <p:sp>
        <p:nvSpPr>
          <p:cNvPr id="2" name="La qualité expose les anomalies">
            <a:extLst xmlns:a="http://schemas.openxmlformats.org/drawingml/2006/main">
              <a:ext uri="{FF2B5EF4-FFF2-40B4-BE49-F238E27FC236}">
                <a16:creationId xmlns:a16="http://schemas.microsoft.com/office/drawing/2014/main" id="{88DD8AA3-8C98-4A4D-B677-7AD417E29058}"/>
              </a:ext>
            </a:extLst>
          </p:cNvPr>
          <p:cNvSpPr>
            <a:spLocks xmlns:a="http://schemas.openxmlformats.org/drawingml/2006/main" noGrp="1"/>
          </p:cNvSpPr>
          <p:nvPr/>
        </p:nvSpPr>
        <p:spPr>
          <a:xfrm xmlns:a="http://schemas.openxmlformats.org/drawingml/2006/main">
            <a:off x="400050" y="742950"/>
            <a:ext cx="113919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3600" b="1">
                <a:solidFill>
                  <a:srgbClr val="111111"/>
                </a:solidFill>
              </a:defRPr>
            </a:pPr>
            <a:r>
              <a:rPr sz="3600" b="1">
                <a:solidFill>
                  <a:srgbClr val="111111"/>
                </a:solidFill>
              </a:rPr>
              <a:t>Ouvrir les résultats fournis depuis GitHub</a:t>
            </a:r>
          </a:p>
        </p:txBody>
      </p:sp>
      <p:sp>
        <p:nvSpPr>
          <p:cNvPr id="3" name="">
            <a:extLst xmlns:a="http://schemas.openxmlformats.org/drawingml/2006/main">
              <a:ext uri="{FF2B5EF4-FFF2-40B4-BE49-F238E27FC236}">
                <a16:creationId xmlns:a16="http://schemas.microsoft.com/office/drawing/2014/main" id="{D77441C1-CED2-4491-9E1B-3614700FF8EE}"/>
              </a:ext>
            </a:extLst>
          </p:cNvPr>
          <p:cNvSpPr>
            <a:spLocks xmlns:a="http://schemas.openxmlformats.org/drawingml/2006/main" noGrp="1"/>
          </p:cNvSpPr>
          <p:nvPr/>
        </p:nvSpPr>
        <p:spPr>
          <a:xfrm xmlns:a="http://schemas.openxmlformats.org/drawingml/2006/main">
            <a:off x="400050" y="62293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4" name="SEMENCES R&amp;D · PROJET DE GROUPE">
            <a:extLst xmlns:a="http://schemas.openxmlformats.org/drawingml/2006/main">
              <a:ext uri="{FF2B5EF4-FFF2-40B4-BE49-F238E27FC236}">
                <a16:creationId xmlns:a16="http://schemas.microsoft.com/office/drawing/2014/main" id="{248D1C1B-85D8-41DD-8670-ED12D1213E90}"/>
              </a:ext>
            </a:extLst>
          </p:cNvPr>
          <p:cNvSpPr>
            <a:spLocks xmlns:a="http://schemas.openxmlformats.org/drawingml/2006/main" noGrp="1"/>
          </p:cNvSpPr>
          <p:nvPr/>
        </p:nvSpPr>
        <p:spPr>
          <a:xfrm xmlns:a="http://schemas.openxmlformats.org/drawingml/2006/main">
            <a:off x="400050" y="641032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0">
                <a:solidFill>
                  <a:srgbClr val="525860"/>
                </a:solidFill>
              </a:defRPr>
            </a:pPr>
            <a:r>
              <a:rPr sz="1650" b="0">
                <a:solidFill>
                  <a:srgbClr val="525860"/>
                </a:solidFill>
              </a:rPr>
              <a:t>SEMENCES R&amp;D · PROJET DE GROUPE</a:t>
            </a:r>
          </a:p>
        </p:txBody>
      </p:sp>
      <p:sp>
        <p:nvSpPr>
          <p:cNvPr id="5" name="10">
            <a:extLst xmlns:a="http://schemas.openxmlformats.org/drawingml/2006/main">
              <a:ext uri="{FF2B5EF4-FFF2-40B4-BE49-F238E27FC236}">
                <a16:creationId xmlns:a16="http://schemas.microsoft.com/office/drawing/2014/main" id="{250D617A-6EC1-4B34-9710-1D32288E607C}"/>
              </a:ext>
            </a:extLst>
          </p:cNvPr>
          <p:cNvSpPr>
            <a:spLocks xmlns:a="http://schemas.openxmlformats.org/drawingml/2006/main" noGrp="1"/>
          </p:cNvSpPr>
          <p:nvPr/>
        </p:nvSpPr>
        <p:spPr>
          <a:xfrm xmlns:a="http://schemas.openxmlformats.org/drawingml/2006/main">
            <a:off x="11239500" y="64103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0">
                <a:solidFill>
                  <a:srgbClr val="525860"/>
                </a:solidFill>
              </a:defRPr>
            </a:pPr>
            <a:r>
              <a:rPr sz="1650" b="0">
                <a:solidFill>
                  <a:srgbClr val="525860"/>
                </a:solidFill>
              </a:rPr>
              <a:t>32</a:t>
            </a:r>
          </a:p>
        </p:txBody>
      </p:sp>
      <p:sp>
        <p:nvSpPr>
          <p:cNvPr id="6" name="Contrôle">
            <a:extLst xmlns:a="http://schemas.openxmlformats.org/drawingml/2006/main">
              <a:ext uri="{FF2B5EF4-FFF2-40B4-BE49-F238E27FC236}">
                <a16:creationId xmlns:a16="http://schemas.microsoft.com/office/drawing/2014/main" id="{12BBEFF3-8D83-4ED7-935D-786DE03D7438}"/>
              </a:ext>
            </a:extLst>
          </p:cNvPr>
          <p:cNvSpPr>
            <a:spLocks xmlns:a="http://schemas.openxmlformats.org/drawingml/2006/main" noGrp="1"/>
          </p:cNvSpPr>
          <p:nvPr/>
        </p:nvSpPr>
        <p:spPr>
          <a:xfrm xmlns:a="http://schemas.openxmlformats.org/drawingml/2006/main">
            <a:off x="400050" y="1838325"/>
            <a:ext cx="4019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1">
                <a:solidFill>
                  <a:srgbClr val="111111"/>
                </a:solidFill>
              </a:defRPr>
            </a:pPr>
            <a:r>
              <a:rPr sz="1950" b="1">
                <a:solidFill>
                  <a:srgbClr val="111111"/>
                </a:solidFill>
              </a:rPr>
              <a:t>Étape</a:t>
            </a:r>
          </a:p>
        </p:txBody>
      </p:sp>
      <p:sp>
        <p:nvSpPr>
          <p:cNvPr id="7" name="Comportement">
            <a:extLst xmlns:a="http://schemas.openxmlformats.org/drawingml/2006/main">
              <a:ext uri="{FF2B5EF4-FFF2-40B4-BE49-F238E27FC236}">
                <a16:creationId xmlns:a16="http://schemas.microsoft.com/office/drawing/2014/main" id="{A22C0B52-9FCF-452D-8257-6986D42E59BB}"/>
              </a:ext>
            </a:extLst>
          </p:cNvPr>
          <p:cNvSpPr>
            <a:spLocks xmlns:a="http://schemas.openxmlformats.org/drawingml/2006/main" noGrp="1"/>
          </p:cNvSpPr>
          <p:nvPr/>
        </p:nvSpPr>
        <p:spPr>
          <a:xfrm xmlns:a="http://schemas.openxmlformats.org/drawingml/2006/main">
            <a:off x="4591050" y="1838325"/>
            <a:ext cx="7029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1">
                <a:solidFill>
                  <a:srgbClr val="111111"/>
                </a:solidFill>
              </a:defRPr>
            </a:pPr>
            <a:r>
              <a:rPr sz="1950" b="1">
                <a:solidFill>
                  <a:srgbClr val="111111"/>
                </a:solidFill>
              </a:rPr>
              <a:t>Action sur son ordinateur</a:t>
            </a:r>
          </a:p>
        </p:txBody>
      </p:sp>
      <p:sp>
        <p:nvSpPr>
          <p:cNvPr id="8" name="">
            <a:extLst xmlns:a="http://schemas.openxmlformats.org/drawingml/2006/main">
              <a:ext uri="{FF2B5EF4-FFF2-40B4-BE49-F238E27FC236}">
                <a16:creationId xmlns:a16="http://schemas.microsoft.com/office/drawing/2014/main" id="{6A4A888A-0709-4C45-BD74-761487D4DE8A}"/>
              </a:ext>
            </a:extLst>
          </p:cNvPr>
          <p:cNvSpPr>
            <a:spLocks xmlns:a="http://schemas.openxmlformats.org/drawingml/2006/main" noGrp="1"/>
          </p:cNvSpPr>
          <p:nvPr/>
        </p:nvSpPr>
        <p:spPr>
          <a:xfrm xmlns:a="http://schemas.openxmlformats.org/drawingml/2006/main">
            <a:off x="400050" y="23050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9" name="Schéma">
            <a:extLst xmlns:a="http://schemas.openxmlformats.org/drawingml/2006/main">
              <a:ext uri="{FF2B5EF4-FFF2-40B4-BE49-F238E27FC236}">
                <a16:creationId xmlns:a16="http://schemas.microsoft.com/office/drawing/2014/main" id="{4C526CC1-D93D-4C76-8C25-8550EBA2BD0B}"/>
              </a:ext>
            </a:extLst>
          </p:cNvPr>
          <p:cNvSpPr>
            <a:spLocks xmlns:a="http://schemas.openxmlformats.org/drawingml/2006/main" noGrp="1"/>
          </p:cNvSpPr>
          <p:nvPr/>
        </p:nvSpPr>
        <p:spPr>
          <a:xfrm xmlns:a="http://schemas.openxmlformats.org/drawingml/2006/main">
            <a:off x="400050" y="2447925"/>
            <a:ext cx="4000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1 · Télécharger</a:t>
            </a:r>
          </a:p>
        </p:txBody>
      </p:sp>
      <p:sp>
        <p:nvSpPr>
          <p:cNvPr id="10" name="Présence des colonnes obligatoires">
            <a:extLst xmlns:a="http://schemas.openxmlformats.org/drawingml/2006/main">
              <a:ext uri="{FF2B5EF4-FFF2-40B4-BE49-F238E27FC236}">
                <a16:creationId xmlns:a16="http://schemas.microsoft.com/office/drawing/2014/main" id="{DD8F86DC-13E9-48E5-8990-425863F6A6C2}"/>
              </a:ext>
            </a:extLst>
          </p:cNvPr>
          <p:cNvSpPr>
            <a:spLocks xmlns:a="http://schemas.openxmlformats.org/drawingml/2006/main" noGrp="1"/>
          </p:cNvSpPr>
          <p:nvPr/>
        </p:nvSpPr>
        <p:spPr>
          <a:xfrm xmlns:a="http://schemas.openxmlformats.org/drawingml/2006/main">
            <a:off x="4591050" y="2447925"/>
            <a:ext cx="701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GitHub → Code → Download ZIP, puis extraire tout le dossier.</a:t>
            </a:r>
          </a:p>
        </p:txBody>
      </p:sp>
      <p:sp>
        <p:nvSpPr>
          <p:cNvPr id="11" name="">
            <a:extLst xmlns:a="http://schemas.openxmlformats.org/drawingml/2006/main">
              <a:ext uri="{FF2B5EF4-FFF2-40B4-BE49-F238E27FC236}">
                <a16:creationId xmlns:a16="http://schemas.microsoft.com/office/drawing/2014/main" id="{E0396EF7-814F-4FAD-97D7-47852AE77D75}"/>
              </a:ext>
            </a:extLst>
          </p:cNvPr>
          <p:cNvSpPr>
            <a:spLocks xmlns:a="http://schemas.openxmlformats.org/drawingml/2006/main" noGrp="1"/>
          </p:cNvSpPr>
          <p:nvPr/>
        </p:nvSpPr>
        <p:spPr>
          <a:xfrm xmlns:a="http://schemas.openxmlformats.org/drawingml/2006/main">
            <a:off x="400050" y="31051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12" name="Complétude et valeurs">
            <a:extLst xmlns:a="http://schemas.openxmlformats.org/drawingml/2006/main">
              <a:ext uri="{FF2B5EF4-FFF2-40B4-BE49-F238E27FC236}">
                <a16:creationId xmlns:a16="http://schemas.microsoft.com/office/drawing/2014/main" id="{5BB18D91-3BDB-4BC5-A367-9B28F1F82457}"/>
              </a:ext>
            </a:extLst>
          </p:cNvPr>
          <p:cNvSpPr>
            <a:spLocks xmlns:a="http://schemas.openxmlformats.org/drawingml/2006/main" noGrp="1"/>
          </p:cNvSpPr>
          <p:nvPr/>
        </p:nvSpPr>
        <p:spPr>
          <a:xfrm xmlns:a="http://schemas.openxmlformats.org/drawingml/2006/main">
            <a:off x="400050" y="3171825"/>
            <a:ext cx="4000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2 · Ouvrir le terminal</a:t>
            </a:r>
          </a:p>
        </p:txBody>
      </p:sp>
      <p:sp>
        <p:nvSpPr>
          <p:cNvPr id="13" name="Nullité, bornes de rendement et années">
            <a:extLst xmlns:a="http://schemas.openxmlformats.org/drawingml/2006/main">
              <a:ext uri="{FF2B5EF4-FFF2-40B4-BE49-F238E27FC236}">
                <a16:creationId xmlns:a16="http://schemas.microsoft.com/office/drawing/2014/main" id="{488EF1E6-6939-4DB7-AF68-5006ACA83DF4}"/>
              </a:ext>
            </a:extLst>
          </p:cNvPr>
          <p:cNvSpPr>
            <a:spLocks xmlns:a="http://schemas.openxmlformats.org/drawingml/2006/main" noGrp="1"/>
          </p:cNvSpPr>
          <p:nvPr/>
        </p:nvSpPr>
        <p:spPr>
          <a:xfrm xmlns:a="http://schemas.openxmlformats.org/drawingml/2006/main">
            <a:off x="4591050" y="3171825"/>
            <a:ext cx="701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Se placer dans le dossier qui contient main.py et CSV/.</a:t>
            </a:r>
          </a:p>
        </p:txBody>
      </p:sp>
      <p:sp>
        <p:nvSpPr>
          <p:cNvPr id="14" name="">
            <a:extLst xmlns:a="http://schemas.openxmlformats.org/drawingml/2006/main">
              <a:ext uri="{FF2B5EF4-FFF2-40B4-BE49-F238E27FC236}">
                <a16:creationId xmlns:a16="http://schemas.microsoft.com/office/drawing/2014/main" id="{9565B91F-A970-4A36-8B54-A42553F46C57}"/>
              </a:ext>
            </a:extLst>
          </p:cNvPr>
          <p:cNvSpPr>
            <a:spLocks xmlns:a="http://schemas.openxmlformats.org/drawingml/2006/main" noGrp="1"/>
          </p:cNvSpPr>
          <p:nvPr/>
        </p:nvSpPr>
        <p:spPr>
          <a:xfrm xmlns:a="http://schemas.openxmlformats.org/drawingml/2006/main">
            <a:off x="400050" y="38290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15" name="Clés dupliquées">
            <a:extLst xmlns:a="http://schemas.openxmlformats.org/drawingml/2006/main">
              <a:ext uri="{FF2B5EF4-FFF2-40B4-BE49-F238E27FC236}">
                <a16:creationId xmlns:a16="http://schemas.microsoft.com/office/drawing/2014/main" id="{B3230046-4507-4B4E-8992-567DFAACD3BC}"/>
              </a:ext>
            </a:extLst>
          </p:cNvPr>
          <p:cNvSpPr>
            <a:spLocks xmlns:a="http://schemas.openxmlformats.org/drawingml/2006/main" noGrp="1"/>
          </p:cNvSpPr>
          <p:nvPr/>
        </p:nvSpPr>
        <p:spPr>
          <a:xfrm xmlns:a="http://schemas.openxmlformats.org/drawingml/2006/main">
            <a:off x="400050" y="3895725"/>
            <a:ext cx="4000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3 · Vérifier sous Windows</a:t>
            </a:r>
          </a:p>
        </p:txBody>
      </p:sp>
      <p:sp>
        <p:nvSpPr>
          <p:cNvPr id="16" name="34 lignes concernées sur le lot fourni">
            <a:extLst xmlns:a="http://schemas.openxmlformats.org/drawingml/2006/main">
              <a:ext uri="{FF2B5EF4-FFF2-40B4-BE49-F238E27FC236}">
                <a16:creationId xmlns:a16="http://schemas.microsoft.com/office/drawing/2014/main" id="{9B13FB3A-7C93-406C-8B27-FB5641D3E248}"/>
              </a:ext>
            </a:extLst>
          </p:cNvPr>
          <p:cNvSpPr>
            <a:spLocks xmlns:a="http://schemas.openxmlformats.org/drawingml/2006/main" noGrp="1"/>
          </p:cNvSpPr>
          <p:nvPr/>
        </p:nvSpPr>
        <p:spPr>
          <a:xfrm xmlns:a="http://schemas.openxmlformats.org/drawingml/2006/main">
            <a:off x="4591050" y="3895725"/>
            <a:ext cx="701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py -3.12 tools/check_environment.py --demo</a:t>
            </a:r>
          </a:p>
        </p:txBody>
      </p:sp>
      <p:sp>
        <p:nvSpPr>
          <p:cNvPr id="17" name="">
            <a:extLst xmlns:a="http://schemas.openxmlformats.org/drawingml/2006/main">
              <a:ext uri="{FF2B5EF4-FFF2-40B4-BE49-F238E27FC236}">
                <a16:creationId xmlns:a16="http://schemas.microsoft.com/office/drawing/2014/main" id="{90A3DC67-6B03-4055-A964-CB00DE5175EF}"/>
              </a:ext>
            </a:extLst>
          </p:cNvPr>
          <p:cNvSpPr>
            <a:spLocks xmlns:a="http://schemas.openxmlformats.org/drawingml/2006/main" noGrp="1"/>
          </p:cNvSpPr>
          <p:nvPr/>
        </p:nvSpPr>
        <p:spPr>
          <a:xfrm xmlns:a="http://schemas.openxmlformats.org/drawingml/2006/main">
            <a:off x="400050" y="45529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18" name="Quarantaine">
            <a:extLst xmlns:a="http://schemas.openxmlformats.org/drawingml/2006/main">
              <a:ext uri="{FF2B5EF4-FFF2-40B4-BE49-F238E27FC236}">
                <a16:creationId xmlns:a16="http://schemas.microsoft.com/office/drawing/2014/main" id="{F569B73E-53AD-4B70-9E49-12E6AA05FD39}"/>
              </a:ext>
            </a:extLst>
          </p:cNvPr>
          <p:cNvSpPr>
            <a:spLocks xmlns:a="http://schemas.openxmlformats.org/drawingml/2006/main" noGrp="1"/>
          </p:cNvSpPr>
          <p:nvPr/>
        </p:nvSpPr>
        <p:spPr>
          <a:xfrm xmlns:a="http://schemas.openxmlformats.org/drawingml/2006/main">
            <a:off x="400050" y="4619625"/>
            <a:ext cx="4000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4 · Démarrer le serveur</a:t>
            </a:r>
          </a:p>
        </p:txBody>
      </p:sp>
      <p:sp>
        <p:nvSpPr>
          <p:cNvPr id="19" name="32 lignes copiées avec motif">
            <a:extLst xmlns:a="http://schemas.openxmlformats.org/drawingml/2006/main">
              <a:ext uri="{FF2B5EF4-FFF2-40B4-BE49-F238E27FC236}">
                <a16:creationId xmlns:a16="http://schemas.microsoft.com/office/drawing/2014/main" id="{F260AFDB-BB36-427B-B692-AD67D6DA36C0}"/>
              </a:ext>
            </a:extLst>
          </p:cNvPr>
          <p:cNvSpPr>
            <a:spLocks xmlns:a="http://schemas.openxmlformats.org/drawingml/2006/main" noGrp="1"/>
          </p:cNvSpPr>
          <p:nvPr/>
        </p:nvSpPr>
        <p:spPr>
          <a:xfrm xmlns:a="http://schemas.openxmlformats.org/drawingml/2006/main">
            <a:off x="4591050" y="4619625"/>
            <a:ext cx="701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py -3.12 -m http.server 8000 --bind 127.0.0.1</a:t>
            </a:r>
          </a:p>
        </p:txBody>
      </p:sp>
      <p:sp>
        <p:nvSpPr>
          <p:cNvPr id="20" name="">
            <a:extLst xmlns:a="http://schemas.openxmlformats.org/drawingml/2006/main">
              <a:ext uri="{FF2B5EF4-FFF2-40B4-BE49-F238E27FC236}">
                <a16:creationId xmlns:a16="http://schemas.microsoft.com/office/drawing/2014/main" id="{49D344C5-07E2-48A3-BFB9-F9D334549A41}"/>
              </a:ext>
            </a:extLst>
          </p:cNvPr>
          <p:cNvSpPr>
            <a:spLocks xmlns:a="http://schemas.openxmlformats.org/drawingml/2006/main" noGrp="1"/>
          </p:cNvSpPr>
          <p:nvPr/>
        </p:nvSpPr>
        <p:spPr>
          <a:xfrm xmlns:a="http://schemas.openxmlformats.org/drawingml/2006/main">
            <a:off x="400050" y="52768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21" name="Portée du statut OK">
            <a:extLst xmlns:a="http://schemas.openxmlformats.org/drawingml/2006/main">
              <a:ext uri="{FF2B5EF4-FFF2-40B4-BE49-F238E27FC236}">
                <a16:creationId xmlns:a16="http://schemas.microsoft.com/office/drawing/2014/main" id="{7F27ED0D-E629-4DD2-BF65-E597E08605FE}"/>
              </a:ext>
            </a:extLst>
          </p:cNvPr>
          <p:cNvSpPr>
            <a:spLocks xmlns:a="http://schemas.openxmlformats.org/drawingml/2006/main" noGrp="1"/>
          </p:cNvSpPr>
          <p:nvPr/>
        </p:nvSpPr>
        <p:spPr>
          <a:xfrm xmlns:a="http://schemas.openxmlformats.org/drawingml/2006/main">
            <a:off x="400050" y="5343525"/>
            <a:ext cx="4000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5 · Ouvrir le portail</a:t>
            </a:r>
          </a:p>
        </p:txBody>
      </p:sp>
      <p:sp>
        <p:nvSpPr>
          <p:cNvPr id="22" name="Contrôles exécutés, pas absence d’anomalies">
            <a:extLst xmlns:a="http://schemas.openxmlformats.org/drawingml/2006/main">
              <a:ext uri="{FF2B5EF4-FFF2-40B4-BE49-F238E27FC236}">
                <a16:creationId xmlns:a16="http://schemas.microsoft.com/office/drawing/2014/main" id="{3D1A84CD-6E07-4A08-8557-97A9A9A3AC5B}"/>
              </a:ext>
            </a:extLst>
          </p:cNvPr>
          <p:cNvSpPr>
            <a:spLocks xmlns:a="http://schemas.openxmlformats.org/drawingml/2006/main" noGrp="1"/>
          </p:cNvSpPr>
          <p:nvPr/>
        </p:nvSpPr>
        <p:spPr>
          <a:xfrm xmlns:a="http://schemas.openxmlformats.org/drawingml/2006/main">
            <a:off x="4591050" y="5343525"/>
            <a:ext cx="701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http://127.0.0.1:8000/INDEX.html</a:t>
            </a:r>
          </a:p>
        </p:txBody>
      </p:sp>
    </p:spTree>
    <p:extLst>
      <p:ext uri="{BB962C8B-B14F-4D97-AF65-F5344CB8AC3E}">
        <p14:creationId xmlns:p14="http://schemas.microsoft.com/office/powerpoint/2010/main" val="408948474"/>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05 · GOUVERNANCE">
            <a:extLst xmlns:a="http://schemas.openxmlformats.org/drawingml/2006/main">
              <a:ext uri="{FF2B5EF4-FFF2-40B4-BE49-F238E27FC236}">
                <a16:creationId xmlns:a16="http://schemas.microsoft.com/office/drawing/2014/main" id="{BA2B76F4-D12F-4D22-829A-FFAE2E89F76B}"/>
              </a:ext>
            </a:extLst>
          </p:cNvPr>
          <p:cNvSpPr>
            <a:spLocks xmlns:a="http://schemas.openxmlformats.org/drawingml/2006/main" noGrp="1"/>
          </p:cNvSpPr>
          <p:nvPr/>
        </p:nvSpPr>
        <p:spPr>
          <a:xfrm xmlns:a="http://schemas.openxmlformats.org/drawingml/2006/main">
            <a:off x="400050" y="228600"/>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1">
                <a:solidFill>
                  <a:srgbClr val="525860"/>
                </a:solidFill>
              </a:defRPr>
            </a:pPr>
            <a:r>
              <a:rPr sz="1650" b="1">
                <a:solidFill>
                  <a:srgbClr val="525860"/>
                </a:solidFill>
              </a:rPr>
              <a:t>13 · INSTALLATION</a:t>
            </a:r>
          </a:p>
        </p:txBody>
      </p:sp>
      <p:sp>
        <p:nvSpPr>
          <p:cNvPr id="2" name="La qualité expose les anomalies">
            <a:extLst xmlns:a="http://schemas.openxmlformats.org/drawingml/2006/main">
              <a:ext uri="{FF2B5EF4-FFF2-40B4-BE49-F238E27FC236}">
                <a16:creationId xmlns:a16="http://schemas.microsoft.com/office/drawing/2014/main" id="{88DD8AA3-8C98-4A4D-B677-7AD417E29058}"/>
              </a:ext>
            </a:extLst>
          </p:cNvPr>
          <p:cNvSpPr>
            <a:spLocks xmlns:a="http://schemas.openxmlformats.org/drawingml/2006/main" noGrp="1"/>
          </p:cNvSpPr>
          <p:nvPr/>
        </p:nvSpPr>
        <p:spPr>
          <a:xfrm xmlns:a="http://schemas.openxmlformats.org/drawingml/2006/main">
            <a:off x="400050" y="742950"/>
            <a:ext cx="113919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3600" b="1">
                <a:solidFill>
                  <a:srgbClr val="111111"/>
                </a:solidFill>
              </a:defRPr>
            </a:pPr>
            <a:r>
              <a:rPr sz="3600" b="1">
                <a:solidFill>
                  <a:srgbClr val="111111"/>
                </a:solidFill>
              </a:rPr>
              <a:t>Installer le calcul complet sous Windows</a:t>
            </a:r>
          </a:p>
        </p:txBody>
      </p:sp>
      <p:sp>
        <p:nvSpPr>
          <p:cNvPr id="3" name="">
            <a:extLst xmlns:a="http://schemas.openxmlformats.org/drawingml/2006/main">
              <a:ext uri="{FF2B5EF4-FFF2-40B4-BE49-F238E27FC236}">
                <a16:creationId xmlns:a16="http://schemas.microsoft.com/office/drawing/2014/main" id="{D77441C1-CED2-4491-9E1B-3614700FF8EE}"/>
              </a:ext>
            </a:extLst>
          </p:cNvPr>
          <p:cNvSpPr>
            <a:spLocks xmlns:a="http://schemas.openxmlformats.org/drawingml/2006/main" noGrp="1"/>
          </p:cNvSpPr>
          <p:nvPr/>
        </p:nvSpPr>
        <p:spPr>
          <a:xfrm xmlns:a="http://schemas.openxmlformats.org/drawingml/2006/main">
            <a:off x="400050" y="62293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4" name="SEMENCES R&amp;D · PROJET DE GROUPE">
            <a:extLst xmlns:a="http://schemas.openxmlformats.org/drawingml/2006/main">
              <a:ext uri="{FF2B5EF4-FFF2-40B4-BE49-F238E27FC236}">
                <a16:creationId xmlns:a16="http://schemas.microsoft.com/office/drawing/2014/main" id="{248D1C1B-85D8-41DD-8670-ED12D1213E90}"/>
              </a:ext>
            </a:extLst>
          </p:cNvPr>
          <p:cNvSpPr>
            <a:spLocks xmlns:a="http://schemas.openxmlformats.org/drawingml/2006/main" noGrp="1"/>
          </p:cNvSpPr>
          <p:nvPr/>
        </p:nvSpPr>
        <p:spPr>
          <a:xfrm xmlns:a="http://schemas.openxmlformats.org/drawingml/2006/main">
            <a:off x="400050" y="641032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0">
                <a:solidFill>
                  <a:srgbClr val="525860"/>
                </a:solidFill>
              </a:defRPr>
            </a:pPr>
            <a:r>
              <a:rPr sz="1650" b="0">
                <a:solidFill>
                  <a:srgbClr val="525860"/>
                </a:solidFill>
              </a:rPr>
              <a:t>SEMENCES R&amp;D · PROJET DE GROUPE</a:t>
            </a:r>
          </a:p>
        </p:txBody>
      </p:sp>
      <p:sp>
        <p:nvSpPr>
          <p:cNvPr id="5" name="10">
            <a:extLst xmlns:a="http://schemas.openxmlformats.org/drawingml/2006/main">
              <a:ext uri="{FF2B5EF4-FFF2-40B4-BE49-F238E27FC236}">
                <a16:creationId xmlns:a16="http://schemas.microsoft.com/office/drawing/2014/main" id="{250D617A-6EC1-4B34-9710-1D32288E607C}"/>
              </a:ext>
            </a:extLst>
          </p:cNvPr>
          <p:cNvSpPr>
            <a:spLocks xmlns:a="http://schemas.openxmlformats.org/drawingml/2006/main" noGrp="1"/>
          </p:cNvSpPr>
          <p:nvPr/>
        </p:nvSpPr>
        <p:spPr>
          <a:xfrm xmlns:a="http://schemas.openxmlformats.org/drawingml/2006/main">
            <a:off x="11239500" y="64103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0">
                <a:solidFill>
                  <a:srgbClr val="525860"/>
                </a:solidFill>
              </a:defRPr>
            </a:pPr>
            <a:r>
              <a:rPr sz="1650" b="0">
                <a:solidFill>
                  <a:srgbClr val="525860"/>
                </a:solidFill>
              </a:rPr>
              <a:t>33</a:t>
            </a:r>
          </a:p>
        </p:txBody>
      </p:sp>
      <p:sp>
        <p:nvSpPr>
          <p:cNvPr id="6" name="Contrôle">
            <a:extLst xmlns:a="http://schemas.openxmlformats.org/drawingml/2006/main">
              <a:ext uri="{FF2B5EF4-FFF2-40B4-BE49-F238E27FC236}">
                <a16:creationId xmlns:a16="http://schemas.microsoft.com/office/drawing/2014/main" id="{12BBEFF3-8D83-4ED7-935D-786DE03D7438}"/>
              </a:ext>
            </a:extLst>
          </p:cNvPr>
          <p:cNvSpPr>
            <a:spLocks xmlns:a="http://schemas.openxmlformats.org/drawingml/2006/main" noGrp="1"/>
          </p:cNvSpPr>
          <p:nvPr/>
        </p:nvSpPr>
        <p:spPr>
          <a:xfrm xmlns:a="http://schemas.openxmlformats.org/drawingml/2006/main">
            <a:off x="400050" y="1838325"/>
            <a:ext cx="4019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1">
                <a:solidFill>
                  <a:srgbClr val="111111"/>
                </a:solidFill>
              </a:defRPr>
            </a:pPr>
            <a:r>
              <a:rPr sz="1950" b="1">
                <a:solidFill>
                  <a:srgbClr val="111111"/>
                </a:solidFill>
              </a:rPr>
              <a:t>Dans PowerShell, à la racine</a:t>
            </a:r>
          </a:p>
        </p:txBody>
      </p:sp>
      <p:sp>
        <p:nvSpPr>
          <p:cNvPr id="7" name="Comportement">
            <a:extLst xmlns:a="http://schemas.openxmlformats.org/drawingml/2006/main">
              <a:ext uri="{FF2B5EF4-FFF2-40B4-BE49-F238E27FC236}">
                <a16:creationId xmlns:a16="http://schemas.microsoft.com/office/drawing/2014/main" id="{A22C0B52-9FCF-452D-8257-6986D42E59BB}"/>
              </a:ext>
            </a:extLst>
          </p:cNvPr>
          <p:cNvSpPr>
            <a:spLocks xmlns:a="http://schemas.openxmlformats.org/drawingml/2006/main" noGrp="1"/>
          </p:cNvSpPr>
          <p:nvPr/>
        </p:nvSpPr>
        <p:spPr>
          <a:xfrm xmlns:a="http://schemas.openxmlformats.org/drawingml/2006/main">
            <a:off x="4591050" y="1838325"/>
            <a:ext cx="7029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1">
                <a:solidFill>
                  <a:srgbClr val="111111"/>
                </a:solidFill>
              </a:defRPr>
            </a:pPr>
            <a:r>
              <a:rPr sz="1950" b="1">
                <a:solidFill>
                  <a:srgbClr val="111111"/>
                </a:solidFill>
              </a:rPr>
              <a:t>Commande ou prérequis</a:t>
            </a:r>
          </a:p>
        </p:txBody>
      </p:sp>
      <p:sp>
        <p:nvSpPr>
          <p:cNvPr id="8" name="">
            <a:extLst xmlns:a="http://schemas.openxmlformats.org/drawingml/2006/main">
              <a:ext uri="{FF2B5EF4-FFF2-40B4-BE49-F238E27FC236}">
                <a16:creationId xmlns:a16="http://schemas.microsoft.com/office/drawing/2014/main" id="{6A4A888A-0709-4C45-BD74-761487D4DE8A}"/>
              </a:ext>
            </a:extLst>
          </p:cNvPr>
          <p:cNvSpPr>
            <a:spLocks xmlns:a="http://schemas.openxmlformats.org/drawingml/2006/main" noGrp="1"/>
          </p:cNvSpPr>
          <p:nvPr/>
        </p:nvSpPr>
        <p:spPr>
          <a:xfrm xmlns:a="http://schemas.openxmlformats.org/drawingml/2006/main">
            <a:off x="400050" y="23050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9" name="Schéma">
            <a:extLst xmlns:a="http://schemas.openxmlformats.org/drawingml/2006/main">
              <a:ext uri="{FF2B5EF4-FFF2-40B4-BE49-F238E27FC236}">
                <a16:creationId xmlns:a16="http://schemas.microsoft.com/office/drawing/2014/main" id="{4C526CC1-D93D-4C76-8C25-8550EBA2BD0B}"/>
              </a:ext>
            </a:extLst>
          </p:cNvPr>
          <p:cNvSpPr>
            <a:spLocks xmlns:a="http://schemas.openxmlformats.org/drawingml/2006/main" noGrp="1"/>
          </p:cNvSpPr>
          <p:nvPr/>
        </p:nvSpPr>
        <p:spPr>
          <a:xfrm xmlns:a="http://schemas.openxmlformats.org/drawingml/2006/main">
            <a:off x="400050" y="2447925"/>
            <a:ext cx="4000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Prérequis système</a:t>
            </a:r>
          </a:p>
        </p:txBody>
      </p:sp>
      <p:sp>
        <p:nvSpPr>
          <p:cNvPr id="10" name="Présence des colonnes obligatoires">
            <a:extLst xmlns:a="http://schemas.openxmlformats.org/drawingml/2006/main">
              <a:ext uri="{FF2B5EF4-FFF2-40B4-BE49-F238E27FC236}">
                <a16:creationId xmlns:a16="http://schemas.microsoft.com/office/drawing/2014/main" id="{DD8F86DC-13E9-48E5-8990-425863F6A6C2}"/>
              </a:ext>
            </a:extLst>
          </p:cNvPr>
          <p:cNvSpPr>
            <a:spLocks xmlns:a="http://schemas.openxmlformats.org/drawingml/2006/main" noGrp="1"/>
          </p:cNvSpPr>
          <p:nvPr/>
        </p:nvSpPr>
        <p:spPr>
          <a:xfrm xmlns:a="http://schemas.openxmlformats.org/drawingml/2006/main">
            <a:off x="4591050" y="2447925"/>
            <a:ext cx="701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Python 3.12, R ≥ 4.3 et Java ; Internet pour installer.</a:t>
            </a:r>
          </a:p>
        </p:txBody>
      </p:sp>
      <p:sp>
        <p:nvSpPr>
          <p:cNvPr id="11" name="">
            <a:extLst xmlns:a="http://schemas.openxmlformats.org/drawingml/2006/main">
              <a:ext uri="{FF2B5EF4-FFF2-40B4-BE49-F238E27FC236}">
                <a16:creationId xmlns:a16="http://schemas.microsoft.com/office/drawing/2014/main" id="{E0396EF7-814F-4FAD-97D7-47852AE77D75}"/>
              </a:ext>
            </a:extLst>
          </p:cNvPr>
          <p:cNvSpPr>
            <a:spLocks xmlns:a="http://schemas.openxmlformats.org/drawingml/2006/main" noGrp="1"/>
          </p:cNvSpPr>
          <p:nvPr/>
        </p:nvSpPr>
        <p:spPr>
          <a:xfrm xmlns:a="http://schemas.openxmlformats.org/drawingml/2006/main">
            <a:off x="400050" y="31051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12" name="Complétude et valeurs">
            <a:extLst xmlns:a="http://schemas.openxmlformats.org/drawingml/2006/main">
              <a:ext uri="{FF2B5EF4-FFF2-40B4-BE49-F238E27FC236}">
                <a16:creationId xmlns:a16="http://schemas.microsoft.com/office/drawing/2014/main" id="{5BB18D91-3BDB-4BC5-A367-9B28F1F82457}"/>
              </a:ext>
            </a:extLst>
          </p:cNvPr>
          <p:cNvSpPr>
            <a:spLocks xmlns:a="http://schemas.openxmlformats.org/drawingml/2006/main" noGrp="1"/>
          </p:cNvSpPr>
          <p:nvPr/>
        </p:nvSpPr>
        <p:spPr>
          <a:xfrm xmlns:a="http://schemas.openxmlformats.org/drawingml/2006/main">
            <a:off x="400050" y="3171825"/>
            <a:ext cx="4000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Créer l’environnement</a:t>
            </a:r>
          </a:p>
        </p:txBody>
      </p:sp>
      <p:sp>
        <p:nvSpPr>
          <p:cNvPr id="13" name="Nullité, bornes de rendement et années">
            <a:extLst xmlns:a="http://schemas.openxmlformats.org/drawingml/2006/main">
              <a:ext uri="{FF2B5EF4-FFF2-40B4-BE49-F238E27FC236}">
                <a16:creationId xmlns:a16="http://schemas.microsoft.com/office/drawing/2014/main" id="{488EF1E6-6939-4DB7-AF68-5006ACA83DF4}"/>
              </a:ext>
            </a:extLst>
          </p:cNvPr>
          <p:cNvSpPr>
            <a:spLocks xmlns:a="http://schemas.openxmlformats.org/drawingml/2006/main" noGrp="1"/>
          </p:cNvSpPr>
          <p:nvPr/>
        </p:nvSpPr>
        <p:spPr>
          <a:xfrm xmlns:a="http://schemas.openxmlformats.org/drawingml/2006/main">
            <a:off x="4591050" y="3171825"/>
            <a:ext cx="701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py -3.12 -m venv .venv</a:t>
            </a:r>
          </a:p>
        </p:txBody>
      </p:sp>
      <p:sp>
        <p:nvSpPr>
          <p:cNvPr id="14" name="">
            <a:extLst xmlns:a="http://schemas.openxmlformats.org/drawingml/2006/main">
              <a:ext uri="{FF2B5EF4-FFF2-40B4-BE49-F238E27FC236}">
                <a16:creationId xmlns:a16="http://schemas.microsoft.com/office/drawing/2014/main" id="{9565B91F-A970-4A36-8B54-A42553F46C57}"/>
              </a:ext>
            </a:extLst>
          </p:cNvPr>
          <p:cNvSpPr>
            <a:spLocks xmlns:a="http://schemas.openxmlformats.org/drawingml/2006/main" noGrp="1"/>
          </p:cNvSpPr>
          <p:nvPr/>
        </p:nvSpPr>
        <p:spPr>
          <a:xfrm xmlns:a="http://schemas.openxmlformats.org/drawingml/2006/main">
            <a:off x="400050" y="38290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15" name="Clés dupliquées">
            <a:extLst xmlns:a="http://schemas.openxmlformats.org/drawingml/2006/main">
              <a:ext uri="{FF2B5EF4-FFF2-40B4-BE49-F238E27FC236}">
                <a16:creationId xmlns:a16="http://schemas.microsoft.com/office/drawing/2014/main" id="{B3230046-4507-4B4E-8992-567DFAACD3BC}"/>
              </a:ext>
            </a:extLst>
          </p:cNvPr>
          <p:cNvSpPr>
            <a:spLocks xmlns:a="http://schemas.openxmlformats.org/drawingml/2006/main" noGrp="1"/>
          </p:cNvSpPr>
          <p:nvPr/>
        </p:nvSpPr>
        <p:spPr>
          <a:xfrm xmlns:a="http://schemas.openxmlformats.org/drawingml/2006/main">
            <a:off x="400050" y="3895725"/>
            <a:ext cx="4000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Sélectionner son Python</a:t>
            </a:r>
          </a:p>
        </p:txBody>
      </p:sp>
      <p:sp>
        <p:nvSpPr>
          <p:cNvPr id="16" name="34 lignes concernées sur le lot fourni">
            <a:extLst xmlns:a="http://schemas.openxmlformats.org/drawingml/2006/main">
              <a:ext uri="{FF2B5EF4-FFF2-40B4-BE49-F238E27FC236}">
                <a16:creationId xmlns:a16="http://schemas.microsoft.com/office/drawing/2014/main" id="{9B13FB3A-7C93-406C-8B27-FB5641D3E248}"/>
              </a:ext>
            </a:extLst>
          </p:cNvPr>
          <p:cNvSpPr>
            <a:spLocks xmlns:a="http://schemas.openxmlformats.org/drawingml/2006/main" noGrp="1"/>
          </p:cNvSpPr>
          <p:nvPr/>
        </p:nvSpPr>
        <p:spPr>
          <a:xfrm xmlns:a="http://schemas.openxmlformats.org/drawingml/2006/main">
            <a:off x="4591050" y="3895725"/>
            <a:ext cx="701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$py = '.\.venv\Scripts\python.exe'</a:t>
            </a:r>
          </a:p>
        </p:txBody>
      </p:sp>
      <p:sp>
        <p:nvSpPr>
          <p:cNvPr id="17" name="">
            <a:extLst xmlns:a="http://schemas.openxmlformats.org/drawingml/2006/main">
              <a:ext uri="{FF2B5EF4-FFF2-40B4-BE49-F238E27FC236}">
                <a16:creationId xmlns:a16="http://schemas.microsoft.com/office/drawing/2014/main" id="{90A3DC67-6B03-4055-A964-CB00DE5175EF}"/>
              </a:ext>
            </a:extLst>
          </p:cNvPr>
          <p:cNvSpPr>
            <a:spLocks xmlns:a="http://schemas.openxmlformats.org/drawingml/2006/main" noGrp="1"/>
          </p:cNvSpPr>
          <p:nvPr/>
        </p:nvSpPr>
        <p:spPr>
          <a:xfrm xmlns:a="http://schemas.openxmlformats.org/drawingml/2006/main">
            <a:off x="400050" y="45529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18" name="Quarantaine">
            <a:extLst xmlns:a="http://schemas.openxmlformats.org/drawingml/2006/main">
              <a:ext uri="{FF2B5EF4-FFF2-40B4-BE49-F238E27FC236}">
                <a16:creationId xmlns:a16="http://schemas.microsoft.com/office/drawing/2014/main" id="{F569B73E-53AD-4B70-9E49-12E6AA05FD39}"/>
              </a:ext>
            </a:extLst>
          </p:cNvPr>
          <p:cNvSpPr>
            <a:spLocks xmlns:a="http://schemas.openxmlformats.org/drawingml/2006/main" noGrp="1"/>
          </p:cNvSpPr>
          <p:nvPr/>
        </p:nvSpPr>
        <p:spPr>
          <a:xfrm xmlns:a="http://schemas.openxmlformats.org/drawingml/2006/main">
            <a:off x="400050" y="4619625"/>
            <a:ext cx="4000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Installer les versions fixées</a:t>
            </a:r>
          </a:p>
        </p:txBody>
      </p:sp>
      <p:sp>
        <p:nvSpPr>
          <p:cNvPr id="19" name="32 lignes copiées avec motif">
            <a:extLst xmlns:a="http://schemas.openxmlformats.org/drawingml/2006/main">
              <a:ext uri="{FF2B5EF4-FFF2-40B4-BE49-F238E27FC236}">
                <a16:creationId xmlns:a16="http://schemas.microsoft.com/office/drawing/2014/main" id="{F260AFDB-BB36-427B-B692-AD67D6DA36C0}"/>
              </a:ext>
            </a:extLst>
          </p:cNvPr>
          <p:cNvSpPr>
            <a:spLocks xmlns:a="http://schemas.openxmlformats.org/drawingml/2006/main" noGrp="1"/>
          </p:cNvSpPr>
          <p:nvPr/>
        </p:nvSpPr>
        <p:spPr>
          <a:xfrm xmlns:a="http://schemas.openxmlformats.org/drawingml/2006/main">
            <a:off x="4591050" y="4619625"/>
            <a:ext cx="701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&amp; $py -m pip install -r requirements.txt</a:t>
            </a:r>
          </a:p>
        </p:txBody>
      </p:sp>
      <p:sp>
        <p:nvSpPr>
          <p:cNvPr id="20" name="">
            <a:extLst xmlns:a="http://schemas.openxmlformats.org/drawingml/2006/main">
              <a:ext uri="{FF2B5EF4-FFF2-40B4-BE49-F238E27FC236}">
                <a16:creationId xmlns:a16="http://schemas.microsoft.com/office/drawing/2014/main" id="{49D344C5-07E2-48A3-BFB9-F9D334549A41}"/>
              </a:ext>
            </a:extLst>
          </p:cNvPr>
          <p:cNvSpPr>
            <a:spLocks xmlns:a="http://schemas.openxmlformats.org/drawingml/2006/main" noGrp="1"/>
          </p:cNvSpPr>
          <p:nvPr/>
        </p:nvSpPr>
        <p:spPr>
          <a:xfrm xmlns:a="http://schemas.openxmlformats.org/drawingml/2006/main">
            <a:off x="400050" y="52768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21" name="Portée du statut OK">
            <a:extLst xmlns:a="http://schemas.openxmlformats.org/drawingml/2006/main">
              <a:ext uri="{FF2B5EF4-FFF2-40B4-BE49-F238E27FC236}">
                <a16:creationId xmlns:a16="http://schemas.microsoft.com/office/drawing/2014/main" id="{7F27ED0D-E629-4DD2-BF65-E597E08605FE}"/>
              </a:ext>
            </a:extLst>
          </p:cNvPr>
          <p:cNvSpPr>
            <a:spLocks xmlns:a="http://schemas.openxmlformats.org/drawingml/2006/main" noGrp="1"/>
          </p:cNvSpPr>
          <p:nvPr/>
        </p:nvSpPr>
        <p:spPr>
          <a:xfrm xmlns:a="http://schemas.openxmlformats.org/drawingml/2006/main">
            <a:off x="400050" y="5343525"/>
            <a:ext cx="4000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Vérifier les dépendances</a:t>
            </a:r>
          </a:p>
        </p:txBody>
      </p:sp>
      <p:sp>
        <p:nvSpPr>
          <p:cNvPr id="22" name="Contrôles exécutés, pas absence d’anomalies">
            <a:extLst xmlns:a="http://schemas.openxmlformats.org/drawingml/2006/main">
              <a:ext uri="{FF2B5EF4-FFF2-40B4-BE49-F238E27FC236}">
                <a16:creationId xmlns:a16="http://schemas.microsoft.com/office/drawing/2014/main" id="{3D1A84CD-6E07-4A08-8557-97A9A9A3AC5B}"/>
              </a:ext>
            </a:extLst>
          </p:cNvPr>
          <p:cNvSpPr>
            <a:spLocks xmlns:a="http://schemas.openxmlformats.org/drawingml/2006/main" noGrp="1"/>
          </p:cNvSpPr>
          <p:nvPr/>
        </p:nvSpPr>
        <p:spPr>
          <a:xfrm xmlns:a="http://schemas.openxmlformats.org/drawingml/2006/main">
            <a:off x="4591050" y="5343525"/>
            <a:ext cx="701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&amp; $py -m pip check</a:t>
            </a:r>
          </a:p>
        </p:txBody>
      </p:sp>
    </p:spTree>
    <p:extLst>
      <p:ext uri="{BB962C8B-B14F-4D97-AF65-F5344CB8AC3E}">
        <p14:creationId xmlns:p14="http://schemas.microsoft.com/office/powerpoint/2010/main" val="408948474"/>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05 · GOUVERNANCE">
            <a:extLst xmlns:a="http://schemas.openxmlformats.org/drawingml/2006/main">
              <a:ext uri="{FF2B5EF4-FFF2-40B4-BE49-F238E27FC236}">
                <a16:creationId xmlns:a16="http://schemas.microsoft.com/office/drawing/2014/main" id="{BA2B76F4-D12F-4D22-829A-FFAE2E89F76B}"/>
              </a:ext>
            </a:extLst>
          </p:cNvPr>
          <p:cNvSpPr>
            <a:spLocks xmlns:a="http://schemas.openxmlformats.org/drawingml/2006/main" noGrp="1"/>
          </p:cNvSpPr>
          <p:nvPr/>
        </p:nvSpPr>
        <p:spPr>
          <a:xfrm xmlns:a="http://schemas.openxmlformats.org/drawingml/2006/main">
            <a:off x="400050" y="228600"/>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1">
                <a:solidFill>
                  <a:srgbClr val="525860"/>
                </a:solidFill>
              </a:defRPr>
            </a:pPr>
            <a:r>
              <a:rPr sz="1650" b="1">
                <a:solidFill>
                  <a:srgbClr val="525860"/>
                </a:solidFill>
              </a:rPr>
              <a:t>13 · EXÉCUTION COMPLÈTE</a:t>
            </a:r>
          </a:p>
        </p:txBody>
      </p:sp>
      <p:sp>
        <p:nvSpPr>
          <p:cNvPr id="2" name="La qualité expose les anomalies">
            <a:extLst xmlns:a="http://schemas.openxmlformats.org/drawingml/2006/main">
              <a:ext uri="{FF2B5EF4-FFF2-40B4-BE49-F238E27FC236}">
                <a16:creationId xmlns:a16="http://schemas.microsoft.com/office/drawing/2014/main" id="{88DD8AA3-8C98-4A4D-B677-7AD417E29058}"/>
              </a:ext>
            </a:extLst>
          </p:cNvPr>
          <p:cNvSpPr>
            <a:spLocks xmlns:a="http://schemas.openxmlformats.org/drawingml/2006/main" noGrp="1"/>
          </p:cNvSpPr>
          <p:nvPr/>
        </p:nvSpPr>
        <p:spPr>
          <a:xfrm xmlns:a="http://schemas.openxmlformats.org/drawingml/2006/main">
            <a:off x="400050" y="742950"/>
            <a:ext cx="113919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3600" b="1">
                <a:solidFill>
                  <a:srgbClr val="111111"/>
                </a:solidFill>
              </a:defRPr>
            </a:pPr>
            <a:r>
              <a:rPr sz="3600" b="1">
                <a:solidFill>
                  <a:srgbClr val="111111"/>
                </a:solidFill>
              </a:rPr>
              <a:t>Calculer puis vérifier les sorties</a:t>
            </a:r>
          </a:p>
        </p:txBody>
      </p:sp>
      <p:sp>
        <p:nvSpPr>
          <p:cNvPr id="3" name="">
            <a:extLst xmlns:a="http://schemas.openxmlformats.org/drawingml/2006/main">
              <a:ext uri="{FF2B5EF4-FFF2-40B4-BE49-F238E27FC236}">
                <a16:creationId xmlns:a16="http://schemas.microsoft.com/office/drawing/2014/main" id="{D77441C1-CED2-4491-9E1B-3614700FF8EE}"/>
              </a:ext>
            </a:extLst>
          </p:cNvPr>
          <p:cNvSpPr>
            <a:spLocks xmlns:a="http://schemas.openxmlformats.org/drawingml/2006/main" noGrp="1"/>
          </p:cNvSpPr>
          <p:nvPr/>
        </p:nvSpPr>
        <p:spPr>
          <a:xfrm xmlns:a="http://schemas.openxmlformats.org/drawingml/2006/main">
            <a:off x="400050" y="62293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4" name="SEMENCES R&amp;D · PROJET DE GROUPE">
            <a:extLst xmlns:a="http://schemas.openxmlformats.org/drawingml/2006/main">
              <a:ext uri="{FF2B5EF4-FFF2-40B4-BE49-F238E27FC236}">
                <a16:creationId xmlns:a16="http://schemas.microsoft.com/office/drawing/2014/main" id="{248D1C1B-85D8-41DD-8670-ED12D1213E90}"/>
              </a:ext>
            </a:extLst>
          </p:cNvPr>
          <p:cNvSpPr>
            <a:spLocks xmlns:a="http://schemas.openxmlformats.org/drawingml/2006/main" noGrp="1"/>
          </p:cNvSpPr>
          <p:nvPr/>
        </p:nvSpPr>
        <p:spPr>
          <a:xfrm xmlns:a="http://schemas.openxmlformats.org/drawingml/2006/main">
            <a:off x="400050" y="641032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0">
                <a:solidFill>
                  <a:srgbClr val="525860"/>
                </a:solidFill>
              </a:defRPr>
            </a:pPr>
            <a:r>
              <a:rPr sz="1650" b="0">
                <a:solidFill>
                  <a:srgbClr val="525860"/>
                </a:solidFill>
              </a:rPr>
              <a:t>SEMENCES R&amp;D · PROJET DE GROUPE</a:t>
            </a:r>
          </a:p>
        </p:txBody>
      </p:sp>
      <p:sp>
        <p:nvSpPr>
          <p:cNvPr id="5" name="10">
            <a:extLst xmlns:a="http://schemas.openxmlformats.org/drawingml/2006/main">
              <a:ext uri="{FF2B5EF4-FFF2-40B4-BE49-F238E27FC236}">
                <a16:creationId xmlns:a16="http://schemas.microsoft.com/office/drawing/2014/main" id="{250D617A-6EC1-4B34-9710-1D32288E607C}"/>
              </a:ext>
            </a:extLst>
          </p:cNvPr>
          <p:cNvSpPr>
            <a:spLocks xmlns:a="http://schemas.openxmlformats.org/drawingml/2006/main" noGrp="1"/>
          </p:cNvSpPr>
          <p:nvPr/>
        </p:nvSpPr>
        <p:spPr>
          <a:xfrm xmlns:a="http://schemas.openxmlformats.org/drawingml/2006/main">
            <a:off x="11239500" y="64103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0">
                <a:solidFill>
                  <a:srgbClr val="525860"/>
                </a:solidFill>
              </a:defRPr>
            </a:pPr>
            <a:r>
              <a:rPr sz="1650" b="0">
                <a:solidFill>
                  <a:srgbClr val="525860"/>
                </a:solidFill>
              </a:rPr>
              <a:t>34</a:t>
            </a:r>
          </a:p>
        </p:txBody>
      </p:sp>
      <p:sp>
        <p:nvSpPr>
          <p:cNvPr id="6" name="Contrôle">
            <a:extLst xmlns:a="http://schemas.openxmlformats.org/drawingml/2006/main">
              <a:ext uri="{FF2B5EF4-FFF2-40B4-BE49-F238E27FC236}">
                <a16:creationId xmlns:a16="http://schemas.microsoft.com/office/drawing/2014/main" id="{12BBEFF3-8D83-4ED7-935D-786DE03D7438}"/>
              </a:ext>
            </a:extLst>
          </p:cNvPr>
          <p:cNvSpPr>
            <a:spLocks xmlns:a="http://schemas.openxmlformats.org/drawingml/2006/main" noGrp="1"/>
          </p:cNvSpPr>
          <p:nvPr/>
        </p:nvSpPr>
        <p:spPr>
          <a:xfrm xmlns:a="http://schemas.openxmlformats.org/drawingml/2006/main">
            <a:off x="400050" y="1838325"/>
            <a:ext cx="4019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1">
                <a:solidFill>
                  <a:srgbClr val="111111"/>
                </a:solidFill>
              </a:defRPr>
            </a:pPr>
            <a:r>
              <a:rPr sz="1950" b="1">
                <a:solidFill>
                  <a:srgbClr val="111111"/>
                </a:solidFill>
              </a:rPr>
              <a:t>Même terminal PowerShell</a:t>
            </a:r>
          </a:p>
        </p:txBody>
      </p:sp>
      <p:sp>
        <p:nvSpPr>
          <p:cNvPr id="7" name="Comportement">
            <a:extLst xmlns:a="http://schemas.openxmlformats.org/drawingml/2006/main">
              <a:ext uri="{FF2B5EF4-FFF2-40B4-BE49-F238E27FC236}">
                <a16:creationId xmlns:a16="http://schemas.microsoft.com/office/drawing/2014/main" id="{A22C0B52-9FCF-452D-8257-6986D42E59BB}"/>
              </a:ext>
            </a:extLst>
          </p:cNvPr>
          <p:cNvSpPr>
            <a:spLocks xmlns:a="http://schemas.openxmlformats.org/drawingml/2006/main" noGrp="1"/>
          </p:cNvSpPr>
          <p:nvPr/>
        </p:nvSpPr>
        <p:spPr>
          <a:xfrm xmlns:a="http://schemas.openxmlformats.org/drawingml/2006/main">
            <a:off x="4591050" y="1838325"/>
            <a:ext cx="7029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1">
                <a:solidFill>
                  <a:srgbClr val="111111"/>
                </a:solidFill>
              </a:defRPr>
            </a:pPr>
            <a:r>
              <a:rPr sz="1950" b="1">
                <a:solidFill>
                  <a:srgbClr val="111111"/>
                </a:solidFill>
              </a:rPr>
              <a:t>Commande ou résultat attendu</a:t>
            </a:r>
          </a:p>
        </p:txBody>
      </p:sp>
      <p:sp>
        <p:nvSpPr>
          <p:cNvPr id="8" name="">
            <a:extLst xmlns:a="http://schemas.openxmlformats.org/drawingml/2006/main">
              <a:ext uri="{FF2B5EF4-FFF2-40B4-BE49-F238E27FC236}">
                <a16:creationId xmlns:a16="http://schemas.microsoft.com/office/drawing/2014/main" id="{6A4A888A-0709-4C45-BD74-761487D4DE8A}"/>
              </a:ext>
            </a:extLst>
          </p:cNvPr>
          <p:cNvSpPr>
            <a:spLocks xmlns:a="http://schemas.openxmlformats.org/drawingml/2006/main" noGrp="1"/>
          </p:cNvSpPr>
          <p:nvPr/>
        </p:nvSpPr>
        <p:spPr>
          <a:xfrm xmlns:a="http://schemas.openxmlformats.org/drawingml/2006/main">
            <a:off x="400050" y="23050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9" name="Schéma">
            <a:extLst xmlns:a="http://schemas.openxmlformats.org/drawingml/2006/main">
              <a:ext uri="{FF2B5EF4-FFF2-40B4-BE49-F238E27FC236}">
                <a16:creationId xmlns:a16="http://schemas.microsoft.com/office/drawing/2014/main" id="{4C526CC1-D93D-4C76-8C25-8550EBA2BD0B}"/>
              </a:ext>
            </a:extLst>
          </p:cNvPr>
          <p:cNvSpPr>
            <a:spLocks xmlns:a="http://schemas.openxmlformats.org/drawingml/2006/main" noGrp="1"/>
          </p:cNvSpPr>
          <p:nvPr/>
        </p:nvSpPr>
        <p:spPr>
          <a:xfrm xmlns:a="http://schemas.openxmlformats.org/drawingml/2006/main">
            <a:off x="400050" y="2447925"/>
            <a:ext cx="4000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Diagnostic du poste</a:t>
            </a:r>
          </a:p>
        </p:txBody>
      </p:sp>
      <p:sp>
        <p:nvSpPr>
          <p:cNvPr id="10" name="Présence des colonnes obligatoires">
            <a:extLst xmlns:a="http://schemas.openxmlformats.org/drawingml/2006/main">
              <a:ext uri="{FF2B5EF4-FFF2-40B4-BE49-F238E27FC236}">
                <a16:creationId xmlns:a16="http://schemas.microsoft.com/office/drawing/2014/main" id="{DD8F86DC-13E9-48E5-8990-425863F6A6C2}"/>
              </a:ext>
            </a:extLst>
          </p:cNvPr>
          <p:cNvSpPr>
            <a:spLocks xmlns:a="http://schemas.openxmlformats.org/drawingml/2006/main" noGrp="1"/>
          </p:cNvSpPr>
          <p:nvPr/>
        </p:nvSpPr>
        <p:spPr>
          <a:xfrm xmlns:a="http://schemas.openxmlformats.org/drawingml/2006/main">
            <a:off x="4591050" y="2447925"/>
            <a:ext cx="701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&amp; $py -X utf8 tools/check_environment.py --strict-spark</a:t>
            </a:r>
          </a:p>
        </p:txBody>
      </p:sp>
      <p:sp>
        <p:nvSpPr>
          <p:cNvPr id="11" name="">
            <a:extLst xmlns:a="http://schemas.openxmlformats.org/drawingml/2006/main">
              <a:ext uri="{FF2B5EF4-FFF2-40B4-BE49-F238E27FC236}">
                <a16:creationId xmlns:a16="http://schemas.microsoft.com/office/drawing/2014/main" id="{E0396EF7-814F-4FAD-97D7-47852AE77D75}"/>
              </a:ext>
            </a:extLst>
          </p:cNvPr>
          <p:cNvSpPr>
            <a:spLocks xmlns:a="http://schemas.openxmlformats.org/drawingml/2006/main" noGrp="1"/>
          </p:cNvSpPr>
          <p:nvPr/>
        </p:nvSpPr>
        <p:spPr>
          <a:xfrm xmlns:a="http://schemas.openxmlformats.org/drawingml/2006/main">
            <a:off x="400050" y="31051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12" name="Complétude et valeurs">
            <a:extLst xmlns:a="http://schemas.openxmlformats.org/drawingml/2006/main">
              <a:ext uri="{FF2B5EF4-FFF2-40B4-BE49-F238E27FC236}">
                <a16:creationId xmlns:a16="http://schemas.microsoft.com/office/drawing/2014/main" id="{5BB18D91-3BDB-4BC5-A367-9B28F1F82457}"/>
              </a:ext>
            </a:extLst>
          </p:cNvPr>
          <p:cNvSpPr>
            <a:spLocks xmlns:a="http://schemas.openxmlformats.org/drawingml/2006/main" noGrp="1"/>
          </p:cNvSpPr>
          <p:nvPr/>
        </p:nvSpPr>
        <p:spPr>
          <a:xfrm xmlns:a="http://schemas.openxmlformats.org/drawingml/2006/main">
            <a:off x="400050" y="3171825"/>
            <a:ext cx="4000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Calcul complet</a:t>
            </a:r>
          </a:p>
        </p:txBody>
      </p:sp>
      <p:sp>
        <p:nvSpPr>
          <p:cNvPr id="13" name="Nullité, bornes de rendement et années">
            <a:extLst xmlns:a="http://schemas.openxmlformats.org/drawingml/2006/main">
              <a:ext uri="{FF2B5EF4-FFF2-40B4-BE49-F238E27FC236}">
                <a16:creationId xmlns:a16="http://schemas.microsoft.com/office/drawing/2014/main" id="{488EF1E6-6939-4DB7-AF68-5006ACA83DF4}"/>
              </a:ext>
            </a:extLst>
          </p:cNvPr>
          <p:cNvSpPr>
            <a:spLocks xmlns:a="http://schemas.openxmlformats.org/drawingml/2006/main" noGrp="1"/>
          </p:cNvSpPr>
          <p:nvPr/>
        </p:nvSpPr>
        <p:spPr>
          <a:xfrm xmlns:a="http://schemas.openxmlformats.org/drawingml/2006/main">
            <a:off x="4591050" y="3171825"/>
            <a:ext cx="701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&amp; $py -X utf8 main.py</a:t>
            </a:r>
          </a:p>
        </p:txBody>
      </p:sp>
      <p:sp>
        <p:nvSpPr>
          <p:cNvPr id="14" name="">
            <a:extLst xmlns:a="http://schemas.openxmlformats.org/drawingml/2006/main">
              <a:ext uri="{FF2B5EF4-FFF2-40B4-BE49-F238E27FC236}">
                <a16:creationId xmlns:a16="http://schemas.microsoft.com/office/drawing/2014/main" id="{9565B91F-A970-4A36-8B54-A42553F46C57}"/>
              </a:ext>
            </a:extLst>
          </p:cNvPr>
          <p:cNvSpPr>
            <a:spLocks xmlns:a="http://schemas.openxmlformats.org/drawingml/2006/main" noGrp="1"/>
          </p:cNvSpPr>
          <p:nvPr/>
        </p:nvSpPr>
        <p:spPr>
          <a:xfrm xmlns:a="http://schemas.openxmlformats.org/drawingml/2006/main">
            <a:off x="400050" y="38290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15" name="Clés dupliquées">
            <a:extLst xmlns:a="http://schemas.openxmlformats.org/drawingml/2006/main">
              <a:ext uri="{FF2B5EF4-FFF2-40B4-BE49-F238E27FC236}">
                <a16:creationId xmlns:a16="http://schemas.microsoft.com/office/drawing/2014/main" id="{B3230046-4507-4B4E-8992-567DFAACD3BC}"/>
              </a:ext>
            </a:extLst>
          </p:cNvPr>
          <p:cNvSpPr>
            <a:spLocks xmlns:a="http://schemas.openxmlformats.org/drawingml/2006/main" noGrp="1"/>
          </p:cNvSpPr>
          <p:nvPr/>
        </p:nvSpPr>
        <p:spPr>
          <a:xfrm xmlns:a="http://schemas.openxmlformats.org/drawingml/2006/main">
            <a:off x="400050" y="3895725"/>
            <a:ext cx="4000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Tests d’intégration</a:t>
            </a:r>
          </a:p>
        </p:txBody>
      </p:sp>
      <p:sp>
        <p:nvSpPr>
          <p:cNvPr id="16" name="34 lignes concernées sur le lot fourni">
            <a:extLst xmlns:a="http://schemas.openxmlformats.org/drawingml/2006/main">
              <a:ext uri="{FF2B5EF4-FFF2-40B4-BE49-F238E27FC236}">
                <a16:creationId xmlns:a16="http://schemas.microsoft.com/office/drawing/2014/main" id="{9B13FB3A-7C93-406C-8B27-FB5641D3E248}"/>
              </a:ext>
            </a:extLst>
          </p:cNvPr>
          <p:cNvSpPr>
            <a:spLocks xmlns:a="http://schemas.openxmlformats.org/drawingml/2006/main" noGrp="1"/>
          </p:cNvSpPr>
          <p:nvPr/>
        </p:nvSpPr>
        <p:spPr>
          <a:xfrm xmlns:a="http://schemas.openxmlformats.org/drawingml/2006/main">
            <a:off x="4591050" y="3895725"/>
            <a:ext cx="701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&amp; $py -m unittest discover -s tests -v</a:t>
            </a:r>
          </a:p>
        </p:txBody>
      </p:sp>
      <p:sp>
        <p:nvSpPr>
          <p:cNvPr id="17" name="">
            <a:extLst xmlns:a="http://schemas.openxmlformats.org/drawingml/2006/main">
              <a:ext uri="{FF2B5EF4-FFF2-40B4-BE49-F238E27FC236}">
                <a16:creationId xmlns:a16="http://schemas.microsoft.com/office/drawing/2014/main" id="{90A3DC67-6B03-4055-A964-CB00DE5175EF}"/>
              </a:ext>
            </a:extLst>
          </p:cNvPr>
          <p:cNvSpPr>
            <a:spLocks xmlns:a="http://schemas.openxmlformats.org/drawingml/2006/main" noGrp="1"/>
          </p:cNvSpPr>
          <p:nvPr/>
        </p:nvSpPr>
        <p:spPr>
          <a:xfrm xmlns:a="http://schemas.openxmlformats.org/drawingml/2006/main">
            <a:off x="400050" y="45529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18" name="Quarantaine">
            <a:extLst xmlns:a="http://schemas.openxmlformats.org/drawingml/2006/main">
              <a:ext uri="{FF2B5EF4-FFF2-40B4-BE49-F238E27FC236}">
                <a16:creationId xmlns:a16="http://schemas.microsoft.com/office/drawing/2014/main" id="{F569B73E-53AD-4B70-9E49-12E6AA05FD39}"/>
              </a:ext>
            </a:extLst>
          </p:cNvPr>
          <p:cNvSpPr>
            <a:spLocks xmlns:a="http://schemas.openxmlformats.org/drawingml/2006/main" noGrp="1"/>
          </p:cNvSpPr>
          <p:nvPr/>
        </p:nvSpPr>
        <p:spPr>
          <a:xfrm xmlns:a="http://schemas.openxmlformats.org/drawingml/2006/main">
            <a:off x="400050" y="4619625"/>
            <a:ext cx="4000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Preuve du pipeline</a:t>
            </a:r>
          </a:p>
        </p:txBody>
      </p:sp>
      <p:sp>
        <p:nvSpPr>
          <p:cNvPr id="19" name="32 lignes copiées avec motif">
            <a:extLst xmlns:a="http://schemas.openxmlformats.org/drawingml/2006/main">
              <a:ext uri="{FF2B5EF4-FFF2-40B4-BE49-F238E27FC236}">
                <a16:creationId xmlns:a16="http://schemas.microsoft.com/office/drawing/2014/main" id="{F260AFDB-BB36-427B-B692-AD67D6DA36C0}"/>
              </a:ext>
            </a:extLst>
          </p:cNvPr>
          <p:cNvSpPr>
            <a:spLocks xmlns:a="http://schemas.openxmlformats.org/drawingml/2006/main" noGrp="1"/>
          </p:cNvSpPr>
          <p:nvPr/>
        </p:nvSpPr>
        <p:spPr>
          <a:xfrm xmlns:a="http://schemas.openxmlformats.org/drawingml/2006/main">
            <a:off x="4591050" y="4619625"/>
            <a:ext cx="701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reports/pipeline_run.json : 17 phases OK sur 17.</a:t>
            </a:r>
          </a:p>
        </p:txBody>
      </p:sp>
      <p:sp>
        <p:nvSpPr>
          <p:cNvPr id="20" name="">
            <a:extLst xmlns:a="http://schemas.openxmlformats.org/drawingml/2006/main">
              <a:ext uri="{FF2B5EF4-FFF2-40B4-BE49-F238E27FC236}">
                <a16:creationId xmlns:a16="http://schemas.microsoft.com/office/drawing/2014/main" id="{49D344C5-07E2-48A3-BFB9-F9D334549A41}"/>
              </a:ext>
            </a:extLst>
          </p:cNvPr>
          <p:cNvSpPr>
            <a:spLocks xmlns:a="http://schemas.openxmlformats.org/drawingml/2006/main" noGrp="1"/>
          </p:cNvSpPr>
          <p:nvPr/>
        </p:nvSpPr>
        <p:spPr>
          <a:xfrm xmlns:a="http://schemas.openxmlformats.org/drawingml/2006/main">
            <a:off x="400050" y="52768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21" name="Portée du statut OK">
            <a:extLst xmlns:a="http://schemas.openxmlformats.org/drawingml/2006/main">
              <a:ext uri="{FF2B5EF4-FFF2-40B4-BE49-F238E27FC236}">
                <a16:creationId xmlns:a16="http://schemas.microsoft.com/office/drawing/2014/main" id="{7F27ED0D-E629-4DD2-BF65-E597E08605FE}"/>
              </a:ext>
            </a:extLst>
          </p:cNvPr>
          <p:cNvSpPr>
            <a:spLocks xmlns:a="http://schemas.openxmlformats.org/drawingml/2006/main" noGrp="1"/>
          </p:cNvSpPr>
          <p:nvPr/>
        </p:nvSpPr>
        <p:spPr>
          <a:xfrm xmlns:a="http://schemas.openxmlformats.org/drawingml/2006/main">
            <a:off x="400050" y="5343525"/>
            <a:ext cx="4000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Preuve de Spark</a:t>
            </a:r>
          </a:p>
        </p:txBody>
      </p:sp>
      <p:sp>
        <p:nvSpPr>
          <p:cNvPr id="22" name="Contrôles exécutés, pas absence d’anomalies">
            <a:extLst xmlns:a="http://schemas.openxmlformats.org/drawingml/2006/main">
              <a:ext uri="{FF2B5EF4-FFF2-40B4-BE49-F238E27FC236}">
                <a16:creationId xmlns:a16="http://schemas.microsoft.com/office/drawing/2014/main" id="{3D1A84CD-6E07-4A08-8557-97A9A9A3AC5B}"/>
              </a:ext>
            </a:extLst>
          </p:cNvPr>
          <p:cNvSpPr>
            <a:spLocks xmlns:a="http://schemas.openxmlformats.org/drawingml/2006/main" noGrp="1"/>
          </p:cNvSpPr>
          <p:nvPr/>
        </p:nvSpPr>
        <p:spPr>
          <a:xfrm xmlns:a="http://schemas.openxmlformats.org/drawingml/2006/main">
            <a:off x="4591050" y="5343525"/>
            <a:ext cx="701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reports/spark_report.json : engine = PySpark.</a:t>
            </a:r>
          </a:p>
        </p:txBody>
      </p:sp>
    </p:spTree>
    <p:extLst>
      <p:ext uri="{BB962C8B-B14F-4D97-AF65-F5344CB8AC3E}">
        <p14:creationId xmlns:p14="http://schemas.microsoft.com/office/powerpoint/2010/main" val="408948474"/>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05 · GOUVERNANCE">
            <a:extLst xmlns:a="http://schemas.openxmlformats.org/drawingml/2006/main">
              <a:ext uri="{FF2B5EF4-FFF2-40B4-BE49-F238E27FC236}">
                <a16:creationId xmlns:a16="http://schemas.microsoft.com/office/drawing/2014/main" id="{BA2B76F4-D12F-4D22-829A-FFAE2E89F76B}"/>
              </a:ext>
            </a:extLst>
          </p:cNvPr>
          <p:cNvSpPr>
            <a:spLocks xmlns:a="http://schemas.openxmlformats.org/drawingml/2006/main" noGrp="1"/>
          </p:cNvSpPr>
          <p:nvPr/>
        </p:nvSpPr>
        <p:spPr>
          <a:xfrm xmlns:a="http://schemas.openxmlformats.org/drawingml/2006/main">
            <a:off x="400050" y="228600"/>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1">
                <a:solidFill>
                  <a:srgbClr val="525860"/>
                </a:solidFill>
              </a:defRPr>
            </a:pPr>
            <a:r>
              <a:rPr sz="1650" b="1">
                <a:solidFill>
                  <a:srgbClr val="525860"/>
                </a:solidFill>
              </a:rPr>
              <a:t>13 · SERVEURS LOCAUX</a:t>
            </a:r>
          </a:p>
        </p:txBody>
      </p:sp>
      <p:sp>
        <p:nvSpPr>
          <p:cNvPr id="2" name="La qualité expose les anomalies">
            <a:extLst xmlns:a="http://schemas.openxmlformats.org/drawingml/2006/main">
              <a:ext uri="{FF2B5EF4-FFF2-40B4-BE49-F238E27FC236}">
                <a16:creationId xmlns:a16="http://schemas.microsoft.com/office/drawing/2014/main" id="{88DD8AA3-8C98-4A4D-B677-7AD417E29058}"/>
              </a:ext>
            </a:extLst>
          </p:cNvPr>
          <p:cNvSpPr>
            <a:spLocks xmlns:a="http://schemas.openxmlformats.org/drawingml/2006/main" noGrp="1"/>
          </p:cNvSpPr>
          <p:nvPr/>
        </p:nvSpPr>
        <p:spPr>
          <a:xfrm xmlns:a="http://schemas.openxmlformats.org/drawingml/2006/main">
            <a:off x="400050" y="742950"/>
            <a:ext cx="113919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3600" b="1">
                <a:solidFill>
                  <a:srgbClr val="111111"/>
                </a:solidFill>
              </a:defRPr>
            </a:pPr>
            <a:r>
              <a:rPr sz="3600" b="1">
                <a:solidFill>
                  <a:srgbClr val="111111"/>
                </a:solidFill>
              </a:rPr>
              <a:t>Démarrer les deux accès aux résultats</a:t>
            </a:r>
          </a:p>
        </p:txBody>
      </p:sp>
      <p:sp>
        <p:nvSpPr>
          <p:cNvPr id="3" name="">
            <a:extLst xmlns:a="http://schemas.openxmlformats.org/drawingml/2006/main">
              <a:ext uri="{FF2B5EF4-FFF2-40B4-BE49-F238E27FC236}">
                <a16:creationId xmlns:a16="http://schemas.microsoft.com/office/drawing/2014/main" id="{D77441C1-CED2-4491-9E1B-3614700FF8EE}"/>
              </a:ext>
            </a:extLst>
          </p:cNvPr>
          <p:cNvSpPr>
            <a:spLocks xmlns:a="http://schemas.openxmlformats.org/drawingml/2006/main" noGrp="1"/>
          </p:cNvSpPr>
          <p:nvPr/>
        </p:nvSpPr>
        <p:spPr>
          <a:xfrm xmlns:a="http://schemas.openxmlformats.org/drawingml/2006/main">
            <a:off x="400050" y="62293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4" name="SEMENCES R&amp;D · PROJET DE GROUPE">
            <a:extLst xmlns:a="http://schemas.openxmlformats.org/drawingml/2006/main">
              <a:ext uri="{FF2B5EF4-FFF2-40B4-BE49-F238E27FC236}">
                <a16:creationId xmlns:a16="http://schemas.microsoft.com/office/drawing/2014/main" id="{248D1C1B-85D8-41DD-8670-ED12D1213E90}"/>
              </a:ext>
            </a:extLst>
          </p:cNvPr>
          <p:cNvSpPr>
            <a:spLocks xmlns:a="http://schemas.openxmlformats.org/drawingml/2006/main" noGrp="1"/>
          </p:cNvSpPr>
          <p:nvPr/>
        </p:nvSpPr>
        <p:spPr>
          <a:xfrm xmlns:a="http://schemas.openxmlformats.org/drawingml/2006/main">
            <a:off x="400050" y="641032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0">
                <a:solidFill>
                  <a:srgbClr val="525860"/>
                </a:solidFill>
              </a:defRPr>
            </a:pPr>
            <a:r>
              <a:rPr sz="1650" b="0">
                <a:solidFill>
                  <a:srgbClr val="525860"/>
                </a:solidFill>
              </a:rPr>
              <a:t>SEMENCES R&amp;D · PROJET DE GROUPE</a:t>
            </a:r>
          </a:p>
        </p:txBody>
      </p:sp>
      <p:sp>
        <p:nvSpPr>
          <p:cNvPr id="5" name="10">
            <a:extLst xmlns:a="http://schemas.openxmlformats.org/drawingml/2006/main">
              <a:ext uri="{FF2B5EF4-FFF2-40B4-BE49-F238E27FC236}">
                <a16:creationId xmlns:a16="http://schemas.microsoft.com/office/drawing/2014/main" id="{250D617A-6EC1-4B34-9710-1D32288E607C}"/>
              </a:ext>
            </a:extLst>
          </p:cNvPr>
          <p:cNvSpPr>
            <a:spLocks xmlns:a="http://schemas.openxmlformats.org/drawingml/2006/main" noGrp="1"/>
          </p:cNvSpPr>
          <p:nvPr/>
        </p:nvSpPr>
        <p:spPr>
          <a:xfrm xmlns:a="http://schemas.openxmlformats.org/drawingml/2006/main">
            <a:off x="11239500" y="64103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0">
                <a:solidFill>
                  <a:srgbClr val="525860"/>
                </a:solidFill>
              </a:defRPr>
            </a:pPr>
            <a:r>
              <a:rPr sz="1650" b="0">
                <a:solidFill>
                  <a:srgbClr val="525860"/>
                </a:solidFill>
              </a:rPr>
              <a:t>35</a:t>
            </a:r>
          </a:p>
        </p:txBody>
      </p:sp>
      <p:sp>
        <p:nvSpPr>
          <p:cNvPr id="6" name="Contrôle">
            <a:extLst xmlns:a="http://schemas.openxmlformats.org/drawingml/2006/main">
              <a:ext uri="{FF2B5EF4-FFF2-40B4-BE49-F238E27FC236}">
                <a16:creationId xmlns:a16="http://schemas.microsoft.com/office/drawing/2014/main" id="{12BBEFF3-8D83-4ED7-935D-786DE03D7438}"/>
              </a:ext>
            </a:extLst>
          </p:cNvPr>
          <p:cNvSpPr>
            <a:spLocks xmlns:a="http://schemas.openxmlformats.org/drawingml/2006/main" noGrp="1"/>
          </p:cNvSpPr>
          <p:nvPr/>
        </p:nvSpPr>
        <p:spPr>
          <a:xfrm xmlns:a="http://schemas.openxmlformats.org/drawingml/2006/main">
            <a:off x="400050" y="1838325"/>
            <a:ext cx="4019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1">
                <a:solidFill>
                  <a:srgbClr val="111111"/>
                </a:solidFill>
              </a:defRPr>
            </a:pPr>
            <a:r>
              <a:rPr sz="1950" b="1">
                <a:solidFill>
                  <a:srgbClr val="111111"/>
                </a:solidFill>
              </a:rPr>
              <a:t>Terminal / navigateur</a:t>
            </a:r>
          </a:p>
        </p:txBody>
      </p:sp>
      <p:sp>
        <p:nvSpPr>
          <p:cNvPr id="7" name="Comportement">
            <a:extLst xmlns:a="http://schemas.openxmlformats.org/drawingml/2006/main">
              <a:ext uri="{FF2B5EF4-FFF2-40B4-BE49-F238E27FC236}">
                <a16:creationId xmlns:a16="http://schemas.microsoft.com/office/drawing/2014/main" id="{A22C0B52-9FCF-452D-8257-6986D42E59BB}"/>
              </a:ext>
            </a:extLst>
          </p:cNvPr>
          <p:cNvSpPr>
            <a:spLocks xmlns:a="http://schemas.openxmlformats.org/drawingml/2006/main" noGrp="1"/>
          </p:cNvSpPr>
          <p:nvPr/>
        </p:nvSpPr>
        <p:spPr>
          <a:xfrm xmlns:a="http://schemas.openxmlformats.org/drawingml/2006/main">
            <a:off x="4591050" y="1838325"/>
            <a:ext cx="7029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1">
                <a:solidFill>
                  <a:srgbClr val="111111"/>
                </a:solidFill>
              </a:defRPr>
            </a:pPr>
            <a:r>
              <a:rPr sz="1950" b="1">
                <a:solidFill>
                  <a:srgbClr val="111111"/>
                </a:solidFill>
              </a:rPr>
              <a:t>Commande ou adresse</a:t>
            </a:r>
          </a:p>
        </p:txBody>
      </p:sp>
      <p:sp>
        <p:nvSpPr>
          <p:cNvPr id="8" name="">
            <a:extLst xmlns:a="http://schemas.openxmlformats.org/drawingml/2006/main">
              <a:ext uri="{FF2B5EF4-FFF2-40B4-BE49-F238E27FC236}">
                <a16:creationId xmlns:a16="http://schemas.microsoft.com/office/drawing/2014/main" id="{6A4A888A-0709-4C45-BD74-761487D4DE8A}"/>
              </a:ext>
            </a:extLst>
          </p:cNvPr>
          <p:cNvSpPr>
            <a:spLocks xmlns:a="http://schemas.openxmlformats.org/drawingml/2006/main" noGrp="1"/>
          </p:cNvSpPr>
          <p:nvPr/>
        </p:nvSpPr>
        <p:spPr>
          <a:xfrm xmlns:a="http://schemas.openxmlformats.org/drawingml/2006/main">
            <a:off x="400050" y="23050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9" name="Schéma">
            <a:extLst xmlns:a="http://schemas.openxmlformats.org/drawingml/2006/main">
              <a:ext uri="{FF2B5EF4-FFF2-40B4-BE49-F238E27FC236}">
                <a16:creationId xmlns:a16="http://schemas.microsoft.com/office/drawing/2014/main" id="{4C526CC1-D93D-4C76-8C25-8550EBA2BD0B}"/>
              </a:ext>
            </a:extLst>
          </p:cNvPr>
          <p:cNvSpPr>
            <a:spLocks xmlns:a="http://schemas.openxmlformats.org/drawingml/2006/main" noGrp="1"/>
          </p:cNvSpPr>
          <p:nvPr/>
        </p:nvSpPr>
        <p:spPr>
          <a:xfrm xmlns:a="http://schemas.openxmlformats.org/drawingml/2006/main">
            <a:off x="400050" y="2447925"/>
            <a:ext cx="4000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Terminal 2 : pages</a:t>
            </a:r>
          </a:p>
        </p:txBody>
      </p:sp>
      <p:sp>
        <p:nvSpPr>
          <p:cNvPr id="10" name="Présence des colonnes obligatoires">
            <a:extLst xmlns:a="http://schemas.openxmlformats.org/drawingml/2006/main">
              <a:ext uri="{FF2B5EF4-FFF2-40B4-BE49-F238E27FC236}">
                <a16:creationId xmlns:a16="http://schemas.microsoft.com/office/drawing/2014/main" id="{DD8F86DC-13E9-48E5-8990-425863F6A6C2}"/>
              </a:ext>
            </a:extLst>
          </p:cNvPr>
          <p:cNvSpPr>
            <a:spLocks xmlns:a="http://schemas.openxmlformats.org/drawingml/2006/main" noGrp="1"/>
          </p:cNvSpPr>
          <p:nvPr/>
        </p:nvSpPr>
        <p:spPr>
          <a:xfrm xmlns:a="http://schemas.openxmlformats.org/drawingml/2006/main">
            <a:off x="4591050" y="2447925"/>
            <a:ext cx="701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py -3.12 -m http.server 8000 --bind 127.0.0.1</a:t>
            </a:r>
          </a:p>
        </p:txBody>
      </p:sp>
      <p:sp>
        <p:nvSpPr>
          <p:cNvPr id="11" name="">
            <a:extLst xmlns:a="http://schemas.openxmlformats.org/drawingml/2006/main">
              <a:ext uri="{FF2B5EF4-FFF2-40B4-BE49-F238E27FC236}">
                <a16:creationId xmlns:a16="http://schemas.microsoft.com/office/drawing/2014/main" id="{E0396EF7-814F-4FAD-97D7-47852AE77D75}"/>
              </a:ext>
            </a:extLst>
          </p:cNvPr>
          <p:cNvSpPr>
            <a:spLocks xmlns:a="http://schemas.openxmlformats.org/drawingml/2006/main" noGrp="1"/>
          </p:cNvSpPr>
          <p:nvPr/>
        </p:nvSpPr>
        <p:spPr>
          <a:xfrm xmlns:a="http://schemas.openxmlformats.org/drawingml/2006/main">
            <a:off x="400050" y="31051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12" name="Complétude et valeurs">
            <a:extLst xmlns:a="http://schemas.openxmlformats.org/drawingml/2006/main">
              <a:ext uri="{FF2B5EF4-FFF2-40B4-BE49-F238E27FC236}">
                <a16:creationId xmlns:a16="http://schemas.microsoft.com/office/drawing/2014/main" id="{5BB18D91-3BDB-4BC5-A367-9B28F1F82457}"/>
              </a:ext>
            </a:extLst>
          </p:cNvPr>
          <p:cNvSpPr>
            <a:spLocks xmlns:a="http://schemas.openxmlformats.org/drawingml/2006/main" noGrp="1"/>
          </p:cNvSpPr>
          <p:nvPr/>
        </p:nvSpPr>
        <p:spPr>
          <a:xfrm xmlns:a="http://schemas.openxmlformats.org/drawingml/2006/main">
            <a:off x="400050" y="3171825"/>
            <a:ext cx="4000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Navigateur : dashboard</a:t>
            </a:r>
          </a:p>
        </p:txBody>
      </p:sp>
      <p:sp>
        <p:nvSpPr>
          <p:cNvPr id="13" name="Nullité, bornes de rendement et années">
            <a:extLst xmlns:a="http://schemas.openxmlformats.org/drawingml/2006/main">
              <a:ext uri="{FF2B5EF4-FFF2-40B4-BE49-F238E27FC236}">
                <a16:creationId xmlns:a16="http://schemas.microsoft.com/office/drawing/2014/main" id="{488EF1E6-6939-4DB7-AF68-5006ACA83DF4}"/>
              </a:ext>
            </a:extLst>
          </p:cNvPr>
          <p:cNvSpPr>
            <a:spLocks xmlns:a="http://schemas.openxmlformats.org/drawingml/2006/main" noGrp="1"/>
          </p:cNvSpPr>
          <p:nvPr/>
        </p:nvSpPr>
        <p:spPr>
          <a:xfrm xmlns:a="http://schemas.openxmlformats.org/drawingml/2006/main">
            <a:off x="4591050" y="3171825"/>
            <a:ext cx="701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http://127.0.0.1:8000/reports/dashboard.html</a:t>
            </a:r>
          </a:p>
        </p:txBody>
      </p:sp>
      <p:sp>
        <p:nvSpPr>
          <p:cNvPr id="14" name="">
            <a:extLst xmlns:a="http://schemas.openxmlformats.org/drawingml/2006/main">
              <a:ext uri="{FF2B5EF4-FFF2-40B4-BE49-F238E27FC236}">
                <a16:creationId xmlns:a16="http://schemas.microsoft.com/office/drawing/2014/main" id="{9565B91F-A970-4A36-8B54-A42553F46C57}"/>
              </a:ext>
            </a:extLst>
          </p:cNvPr>
          <p:cNvSpPr>
            <a:spLocks xmlns:a="http://schemas.openxmlformats.org/drawingml/2006/main" noGrp="1"/>
          </p:cNvSpPr>
          <p:nvPr/>
        </p:nvSpPr>
        <p:spPr>
          <a:xfrm xmlns:a="http://schemas.openxmlformats.org/drawingml/2006/main">
            <a:off x="400050" y="38290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15" name="Clés dupliquées">
            <a:extLst xmlns:a="http://schemas.openxmlformats.org/drawingml/2006/main">
              <a:ext uri="{FF2B5EF4-FFF2-40B4-BE49-F238E27FC236}">
                <a16:creationId xmlns:a16="http://schemas.microsoft.com/office/drawing/2014/main" id="{B3230046-4507-4B4E-8992-567DFAACD3BC}"/>
              </a:ext>
            </a:extLst>
          </p:cNvPr>
          <p:cNvSpPr>
            <a:spLocks xmlns:a="http://schemas.openxmlformats.org/drawingml/2006/main" noGrp="1"/>
          </p:cNvSpPr>
          <p:nvPr/>
        </p:nvSpPr>
        <p:spPr>
          <a:xfrm xmlns:a="http://schemas.openxmlformats.org/drawingml/2006/main">
            <a:off x="400050" y="3895725"/>
            <a:ext cx="4000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Terminal 3 : API</a:t>
            </a:r>
          </a:p>
        </p:txBody>
      </p:sp>
      <p:sp>
        <p:nvSpPr>
          <p:cNvPr id="16" name="34 lignes concernées sur le lot fourni">
            <a:extLst xmlns:a="http://schemas.openxmlformats.org/drawingml/2006/main">
              <a:ext uri="{FF2B5EF4-FFF2-40B4-BE49-F238E27FC236}">
                <a16:creationId xmlns:a16="http://schemas.microsoft.com/office/drawing/2014/main" id="{9B13FB3A-7C93-406C-8B27-FB5641D3E248}"/>
              </a:ext>
            </a:extLst>
          </p:cNvPr>
          <p:cNvSpPr>
            <a:spLocks xmlns:a="http://schemas.openxmlformats.org/drawingml/2006/main" noGrp="1"/>
          </p:cNvSpPr>
          <p:nvPr/>
        </p:nvSpPr>
        <p:spPr>
          <a:xfrm xmlns:a="http://schemas.openxmlformats.org/drawingml/2006/main">
            <a:off x="4591050" y="3895725"/>
            <a:ext cx="701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.\.venv\Scripts\python.exe -X utf8 platform_api.py</a:t>
            </a:r>
          </a:p>
        </p:txBody>
      </p:sp>
      <p:sp>
        <p:nvSpPr>
          <p:cNvPr id="17" name="">
            <a:extLst xmlns:a="http://schemas.openxmlformats.org/drawingml/2006/main">
              <a:ext uri="{FF2B5EF4-FFF2-40B4-BE49-F238E27FC236}">
                <a16:creationId xmlns:a16="http://schemas.microsoft.com/office/drawing/2014/main" id="{90A3DC67-6B03-4055-A964-CB00DE5175EF}"/>
              </a:ext>
            </a:extLst>
          </p:cNvPr>
          <p:cNvSpPr>
            <a:spLocks xmlns:a="http://schemas.openxmlformats.org/drawingml/2006/main" noGrp="1"/>
          </p:cNvSpPr>
          <p:nvPr/>
        </p:nvSpPr>
        <p:spPr>
          <a:xfrm xmlns:a="http://schemas.openxmlformats.org/drawingml/2006/main">
            <a:off x="400050" y="45529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18" name="Quarantaine">
            <a:extLst xmlns:a="http://schemas.openxmlformats.org/drawingml/2006/main">
              <a:ext uri="{FF2B5EF4-FFF2-40B4-BE49-F238E27FC236}">
                <a16:creationId xmlns:a16="http://schemas.microsoft.com/office/drawing/2014/main" id="{F569B73E-53AD-4B70-9E49-12E6AA05FD39}"/>
              </a:ext>
            </a:extLst>
          </p:cNvPr>
          <p:cNvSpPr>
            <a:spLocks xmlns:a="http://schemas.openxmlformats.org/drawingml/2006/main" noGrp="1"/>
          </p:cNvSpPr>
          <p:nvPr/>
        </p:nvSpPr>
        <p:spPr>
          <a:xfrm xmlns:a="http://schemas.openxmlformats.org/drawingml/2006/main">
            <a:off x="400050" y="4619625"/>
            <a:ext cx="4000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Navigateur : santé de l’API</a:t>
            </a:r>
          </a:p>
        </p:txBody>
      </p:sp>
      <p:sp>
        <p:nvSpPr>
          <p:cNvPr id="19" name="32 lignes copiées avec motif">
            <a:extLst xmlns:a="http://schemas.openxmlformats.org/drawingml/2006/main">
              <a:ext uri="{FF2B5EF4-FFF2-40B4-BE49-F238E27FC236}">
                <a16:creationId xmlns:a16="http://schemas.microsoft.com/office/drawing/2014/main" id="{F260AFDB-BB36-427B-B692-AD67D6DA36C0}"/>
              </a:ext>
            </a:extLst>
          </p:cNvPr>
          <p:cNvSpPr>
            <a:spLocks xmlns:a="http://schemas.openxmlformats.org/drawingml/2006/main" noGrp="1"/>
          </p:cNvSpPr>
          <p:nvPr/>
        </p:nvSpPr>
        <p:spPr>
          <a:xfrm xmlns:a="http://schemas.openxmlformats.org/drawingml/2006/main">
            <a:off x="4591050" y="4619625"/>
            <a:ext cx="701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http://127.0.0.1:8080/api/health</a:t>
            </a:r>
          </a:p>
        </p:txBody>
      </p:sp>
      <p:sp>
        <p:nvSpPr>
          <p:cNvPr id="20" name="">
            <a:extLst xmlns:a="http://schemas.openxmlformats.org/drawingml/2006/main">
              <a:ext uri="{FF2B5EF4-FFF2-40B4-BE49-F238E27FC236}">
                <a16:creationId xmlns:a16="http://schemas.microsoft.com/office/drawing/2014/main" id="{49D344C5-07E2-48A3-BFB9-F9D334549A41}"/>
              </a:ext>
            </a:extLst>
          </p:cNvPr>
          <p:cNvSpPr>
            <a:spLocks xmlns:a="http://schemas.openxmlformats.org/drawingml/2006/main" noGrp="1"/>
          </p:cNvSpPr>
          <p:nvPr/>
        </p:nvSpPr>
        <p:spPr>
          <a:xfrm xmlns:a="http://schemas.openxmlformats.org/drawingml/2006/main">
            <a:off x="400050" y="52768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21" name="Portée du statut OK">
            <a:extLst xmlns:a="http://schemas.openxmlformats.org/drawingml/2006/main">
              <a:ext uri="{FF2B5EF4-FFF2-40B4-BE49-F238E27FC236}">
                <a16:creationId xmlns:a16="http://schemas.microsoft.com/office/drawing/2014/main" id="{7F27ED0D-E629-4DD2-BF65-E597E08605FE}"/>
              </a:ext>
            </a:extLst>
          </p:cNvPr>
          <p:cNvSpPr>
            <a:spLocks xmlns:a="http://schemas.openxmlformats.org/drawingml/2006/main" noGrp="1"/>
          </p:cNvSpPr>
          <p:nvPr/>
        </p:nvSpPr>
        <p:spPr>
          <a:xfrm xmlns:a="http://schemas.openxmlformats.org/drawingml/2006/main">
            <a:off x="400050" y="5343525"/>
            <a:ext cx="4000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Arrêter un serveur</a:t>
            </a:r>
          </a:p>
        </p:txBody>
      </p:sp>
      <p:sp>
        <p:nvSpPr>
          <p:cNvPr id="22" name="Contrôles exécutés, pas absence d’anomalies">
            <a:extLst xmlns:a="http://schemas.openxmlformats.org/drawingml/2006/main">
              <a:ext uri="{FF2B5EF4-FFF2-40B4-BE49-F238E27FC236}">
                <a16:creationId xmlns:a16="http://schemas.microsoft.com/office/drawing/2014/main" id="{3D1A84CD-6E07-4A08-8557-97A9A9A3AC5B}"/>
              </a:ext>
            </a:extLst>
          </p:cNvPr>
          <p:cNvSpPr>
            <a:spLocks xmlns:a="http://schemas.openxmlformats.org/drawingml/2006/main" noGrp="1"/>
          </p:cNvSpPr>
          <p:nvPr/>
        </p:nvSpPr>
        <p:spPr>
          <a:xfrm xmlns:a="http://schemas.openxmlformats.org/drawingml/2006/main">
            <a:off x="4591050" y="5343525"/>
            <a:ext cx="701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Ctrl+C dans son terminal ; les fichiers restent présents.</a:t>
            </a:r>
          </a:p>
        </p:txBody>
      </p:sp>
    </p:spTree>
    <p:extLst>
      <p:ext uri="{BB962C8B-B14F-4D97-AF65-F5344CB8AC3E}">
        <p14:creationId xmlns:p14="http://schemas.microsoft.com/office/powerpoint/2010/main" val="408948474"/>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05 · GOUVERNANCE">
            <a:extLst xmlns:a="http://schemas.openxmlformats.org/drawingml/2006/main">
              <a:ext uri="{FF2B5EF4-FFF2-40B4-BE49-F238E27FC236}">
                <a16:creationId xmlns:a16="http://schemas.microsoft.com/office/drawing/2014/main" id="{BA2B76F4-D12F-4D22-829A-FFAE2E89F76B}"/>
              </a:ext>
            </a:extLst>
          </p:cNvPr>
          <p:cNvSpPr>
            <a:spLocks xmlns:a="http://schemas.openxmlformats.org/drawingml/2006/main" noGrp="1"/>
          </p:cNvSpPr>
          <p:nvPr/>
        </p:nvSpPr>
        <p:spPr>
          <a:xfrm xmlns:a="http://schemas.openxmlformats.org/drawingml/2006/main">
            <a:off x="400050" y="228600"/>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1">
                <a:solidFill>
                  <a:srgbClr val="525860"/>
                </a:solidFill>
              </a:defRPr>
            </a:pPr>
            <a:r>
              <a:rPr sz="1650" b="1">
                <a:solidFill>
                  <a:srgbClr val="525860"/>
                </a:solidFill>
              </a:rPr>
              <a:t>13 · AUTRES SYSTÈMES</a:t>
            </a:r>
          </a:p>
        </p:txBody>
      </p:sp>
      <p:sp>
        <p:nvSpPr>
          <p:cNvPr id="2" name="La qualité expose les anomalies">
            <a:extLst xmlns:a="http://schemas.openxmlformats.org/drawingml/2006/main">
              <a:ext uri="{FF2B5EF4-FFF2-40B4-BE49-F238E27FC236}">
                <a16:creationId xmlns:a16="http://schemas.microsoft.com/office/drawing/2014/main" id="{88DD8AA3-8C98-4A4D-B677-7AD417E29058}"/>
              </a:ext>
            </a:extLst>
          </p:cNvPr>
          <p:cNvSpPr>
            <a:spLocks xmlns:a="http://schemas.openxmlformats.org/drawingml/2006/main" noGrp="1"/>
          </p:cNvSpPr>
          <p:nvPr/>
        </p:nvSpPr>
        <p:spPr>
          <a:xfrm xmlns:a="http://schemas.openxmlformats.org/drawingml/2006/main">
            <a:off x="400050" y="742950"/>
            <a:ext cx="113919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3600" b="1">
                <a:solidFill>
                  <a:srgbClr val="111111"/>
                </a:solidFill>
              </a:defRPr>
            </a:pPr>
            <a:r>
              <a:rPr sz="3600" b="1">
                <a:solidFill>
                  <a:srgbClr val="111111"/>
                </a:solidFill>
              </a:rPr>
              <a:t>Adapter les commandes sous Linux ou macOS</a:t>
            </a:r>
          </a:p>
        </p:txBody>
      </p:sp>
      <p:sp>
        <p:nvSpPr>
          <p:cNvPr id="3" name="">
            <a:extLst xmlns:a="http://schemas.openxmlformats.org/drawingml/2006/main">
              <a:ext uri="{FF2B5EF4-FFF2-40B4-BE49-F238E27FC236}">
                <a16:creationId xmlns:a16="http://schemas.microsoft.com/office/drawing/2014/main" id="{D77441C1-CED2-4491-9E1B-3614700FF8EE}"/>
              </a:ext>
            </a:extLst>
          </p:cNvPr>
          <p:cNvSpPr>
            <a:spLocks xmlns:a="http://schemas.openxmlformats.org/drawingml/2006/main" noGrp="1"/>
          </p:cNvSpPr>
          <p:nvPr/>
        </p:nvSpPr>
        <p:spPr>
          <a:xfrm xmlns:a="http://schemas.openxmlformats.org/drawingml/2006/main">
            <a:off x="400050" y="62293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4" name="SEMENCES R&amp;D · PROJET DE GROUPE">
            <a:extLst xmlns:a="http://schemas.openxmlformats.org/drawingml/2006/main">
              <a:ext uri="{FF2B5EF4-FFF2-40B4-BE49-F238E27FC236}">
                <a16:creationId xmlns:a16="http://schemas.microsoft.com/office/drawing/2014/main" id="{248D1C1B-85D8-41DD-8670-ED12D1213E90}"/>
              </a:ext>
            </a:extLst>
          </p:cNvPr>
          <p:cNvSpPr>
            <a:spLocks xmlns:a="http://schemas.openxmlformats.org/drawingml/2006/main" noGrp="1"/>
          </p:cNvSpPr>
          <p:nvPr/>
        </p:nvSpPr>
        <p:spPr>
          <a:xfrm xmlns:a="http://schemas.openxmlformats.org/drawingml/2006/main">
            <a:off x="400050" y="641032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0">
                <a:solidFill>
                  <a:srgbClr val="525860"/>
                </a:solidFill>
              </a:defRPr>
            </a:pPr>
            <a:r>
              <a:rPr sz="1650" b="0">
                <a:solidFill>
                  <a:srgbClr val="525860"/>
                </a:solidFill>
              </a:rPr>
              <a:t>SEMENCES R&amp;D · PROJET DE GROUPE</a:t>
            </a:r>
          </a:p>
        </p:txBody>
      </p:sp>
      <p:sp>
        <p:nvSpPr>
          <p:cNvPr id="5" name="10">
            <a:extLst xmlns:a="http://schemas.openxmlformats.org/drawingml/2006/main">
              <a:ext uri="{FF2B5EF4-FFF2-40B4-BE49-F238E27FC236}">
                <a16:creationId xmlns:a16="http://schemas.microsoft.com/office/drawing/2014/main" id="{250D617A-6EC1-4B34-9710-1D32288E607C}"/>
              </a:ext>
            </a:extLst>
          </p:cNvPr>
          <p:cNvSpPr>
            <a:spLocks xmlns:a="http://schemas.openxmlformats.org/drawingml/2006/main" noGrp="1"/>
          </p:cNvSpPr>
          <p:nvPr/>
        </p:nvSpPr>
        <p:spPr>
          <a:xfrm xmlns:a="http://schemas.openxmlformats.org/drawingml/2006/main">
            <a:off x="11239500" y="64103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0">
                <a:solidFill>
                  <a:srgbClr val="525860"/>
                </a:solidFill>
              </a:defRPr>
            </a:pPr>
            <a:r>
              <a:rPr sz="1650" b="0">
                <a:solidFill>
                  <a:srgbClr val="525860"/>
                </a:solidFill>
              </a:rPr>
              <a:t>36</a:t>
            </a:r>
          </a:p>
        </p:txBody>
      </p:sp>
      <p:sp>
        <p:nvSpPr>
          <p:cNvPr id="6" name="Contrôle">
            <a:extLst xmlns:a="http://schemas.openxmlformats.org/drawingml/2006/main">
              <a:ext uri="{FF2B5EF4-FFF2-40B4-BE49-F238E27FC236}">
                <a16:creationId xmlns:a16="http://schemas.microsoft.com/office/drawing/2014/main" id="{12BBEFF3-8D83-4ED7-935D-786DE03D7438}"/>
              </a:ext>
            </a:extLst>
          </p:cNvPr>
          <p:cNvSpPr>
            <a:spLocks xmlns:a="http://schemas.openxmlformats.org/drawingml/2006/main" noGrp="1"/>
          </p:cNvSpPr>
          <p:nvPr/>
        </p:nvSpPr>
        <p:spPr>
          <a:xfrm xmlns:a="http://schemas.openxmlformats.org/drawingml/2006/main">
            <a:off x="400050" y="1838325"/>
            <a:ext cx="4019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1">
                <a:solidFill>
                  <a:srgbClr val="111111"/>
                </a:solidFill>
              </a:defRPr>
            </a:pPr>
            <a:r>
              <a:rPr sz="1950" b="1">
                <a:solidFill>
                  <a:srgbClr val="111111"/>
                </a:solidFill>
              </a:rPr>
              <a:t>Terminal à la racine</a:t>
            </a:r>
          </a:p>
        </p:txBody>
      </p:sp>
      <p:sp>
        <p:nvSpPr>
          <p:cNvPr id="7" name="Comportement">
            <a:extLst xmlns:a="http://schemas.openxmlformats.org/drawingml/2006/main">
              <a:ext uri="{FF2B5EF4-FFF2-40B4-BE49-F238E27FC236}">
                <a16:creationId xmlns:a16="http://schemas.microsoft.com/office/drawing/2014/main" id="{A22C0B52-9FCF-452D-8257-6986D42E59BB}"/>
              </a:ext>
            </a:extLst>
          </p:cNvPr>
          <p:cNvSpPr>
            <a:spLocks xmlns:a="http://schemas.openxmlformats.org/drawingml/2006/main" noGrp="1"/>
          </p:cNvSpPr>
          <p:nvPr/>
        </p:nvSpPr>
        <p:spPr>
          <a:xfrm xmlns:a="http://schemas.openxmlformats.org/drawingml/2006/main">
            <a:off x="4591050" y="1838325"/>
            <a:ext cx="7029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1">
                <a:solidFill>
                  <a:srgbClr val="111111"/>
                </a:solidFill>
              </a:defRPr>
            </a:pPr>
            <a:r>
              <a:rPr sz="1950" b="1">
                <a:solidFill>
                  <a:srgbClr val="111111"/>
                </a:solidFill>
              </a:rPr>
              <a:t>Commande</a:t>
            </a:r>
          </a:p>
        </p:txBody>
      </p:sp>
      <p:sp>
        <p:nvSpPr>
          <p:cNvPr id="8" name="">
            <a:extLst xmlns:a="http://schemas.openxmlformats.org/drawingml/2006/main">
              <a:ext uri="{FF2B5EF4-FFF2-40B4-BE49-F238E27FC236}">
                <a16:creationId xmlns:a16="http://schemas.microsoft.com/office/drawing/2014/main" id="{6A4A888A-0709-4C45-BD74-761487D4DE8A}"/>
              </a:ext>
            </a:extLst>
          </p:cNvPr>
          <p:cNvSpPr>
            <a:spLocks xmlns:a="http://schemas.openxmlformats.org/drawingml/2006/main" noGrp="1"/>
          </p:cNvSpPr>
          <p:nvPr/>
        </p:nvSpPr>
        <p:spPr>
          <a:xfrm xmlns:a="http://schemas.openxmlformats.org/drawingml/2006/main">
            <a:off x="400050" y="23050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9" name="Schéma">
            <a:extLst xmlns:a="http://schemas.openxmlformats.org/drawingml/2006/main">
              <a:ext uri="{FF2B5EF4-FFF2-40B4-BE49-F238E27FC236}">
                <a16:creationId xmlns:a16="http://schemas.microsoft.com/office/drawing/2014/main" id="{4C526CC1-D93D-4C76-8C25-8550EBA2BD0B}"/>
              </a:ext>
            </a:extLst>
          </p:cNvPr>
          <p:cNvSpPr>
            <a:spLocks xmlns:a="http://schemas.openxmlformats.org/drawingml/2006/main" noGrp="1"/>
          </p:cNvSpPr>
          <p:nvPr/>
        </p:nvSpPr>
        <p:spPr>
          <a:xfrm xmlns:a="http://schemas.openxmlformats.org/drawingml/2006/main">
            <a:off x="400050" y="2447925"/>
            <a:ext cx="4000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Créer et activer .venv</a:t>
            </a:r>
          </a:p>
        </p:txBody>
      </p:sp>
      <p:sp>
        <p:nvSpPr>
          <p:cNvPr id="10" name="Présence des colonnes obligatoires">
            <a:extLst xmlns:a="http://schemas.openxmlformats.org/drawingml/2006/main">
              <a:ext uri="{FF2B5EF4-FFF2-40B4-BE49-F238E27FC236}">
                <a16:creationId xmlns:a16="http://schemas.microsoft.com/office/drawing/2014/main" id="{DD8F86DC-13E9-48E5-8990-425863F6A6C2}"/>
              </a:ext>
            </a:extLst>
          </p:cNvPr>
          <p:cNvSpPr>
            <a:spLocks xmlns:a="http://schemas.openxmlformats.org/drawingml/2006/main" noGrp="1"/>
          </p:cNvSpPr>
          <p:nvPr/>
        </p:nvSpPr>
        <p:spPr>
          <a:xfrm xmlns:a="http://schemas.openxmlformats.org/drawingml/2006/main">
            <a:off x="4591050" y="2447925"/>
            <a:ext cx="701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python3.12 -m venv .venv
source .venv/bin/activate</a:t>
            </a:r>
          </a:p>
        </p:txBody>
      </p:sp>
      <p:sp>
        <p:nvSpPr>
          <p:cNvPr id="11" name="">
            <a:extLst xmlns:a="http://schemas.openxmlformats.org/drawingml/2006/main">
              <a:ext uri="{FF2B5EF4-FFF2-40B4-BE49-F238E27FC236}">
                <a16:creationId xmlns:a16="http://schemas.microsoft.com/office/drawing/2014/main" id="{E0396EF7-814F-4FAD-97D7-47852AE77D75}"/>
              </a:ext>
            </a:extLst>
          </p:cNvPr>
          <p:cNvSpPr>
            <a:spLocks xmlns:a="http://schemas.openxmlformats.org/drawingml/2006/main" noGrp="1"/>
          </p:cNvSpPr>
          <p:nvPr/>
        </p:nvSpPr>
        <p:spPr>
          <a:xfrm xmlns:a="http://schemas.openxmlformats.org/drawingml/2006/main">
            <a:off x="400050" y="31051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12" name="Complétude et valeurs">
            <a:extLst xmlns:a="http://schemas.openxmlformats.org/drawingml/2006/main">
              <a:ext uri="{FF2B5EF4-FFF2-40B4-BE49-F238E27FC236}">
                <a16:creationId xmlns:a16="http://schemas.microsoft.com/office/drawing/2014/main" id="{5BB18D91-3BDB-4BC5-A367-9B28F1F82457}"/>
              </a:ext>
            </a:extLst>
          </p:cNvPr>
          <p:cNvSpPr>
            <a:spLocks xmlns:a="http://schemas.openxmlformats.org/drawingml/2006/main" noGrp="1"/>
          </p:cNvSpPr>
          <p:nvPr/>
        </p:nvSpPr>
        <p:spPr>
          <a:xfrm xmlns:a="http://schemas.openxmlformats.org/drawingml/2006/main">
            <a:off x="400050" y="3171825"/>
            <a:ext cx="4000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Installer les dépendances</a:t>
            </a:r>
          </a:p>
        </p:txBody>
      </p:sp>
      <p:sp>
        <p:nvSpPr>
          <p:cNvPr id="13" name="Nullité, bornes de rendement et années">
            <a:extLst xmlns:a="http://schemas.openxmlformats.org/drawingml/2006/main">
              <a:ext uri="{FF2B5EF4-FFF2-40B4-BE49-F238E27FC236}">
                <a16:creationId xmlns:a16="http://schemas.microsoft.com/office/drawing/2014/main" id="{488EF1E6-6939-4DB7-AF68-5006ACA83DF4}"/>
              </a:ext>
            </a:extLst>
          </p:cNvPr>
          <p:cNvSpPr>
            <a:spLocks xmlns:a="http://schemas.openxmlformats.org/drawingml/2006/main" noGrp="1"/>
          </p:cNvSpPr>
          <p:nvPr/>
        </p:nvSpPr>
        <p:spPr>
          <a:xfrm xmlns:a="http://schemas.openxmlformats.org/drawingml/2006/main">
            <a:off x="4591050" y="3171825"/>
            <a:ext cx="701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python -m pip install -r requirements.txt</a:t>
            </a:r>
          </a:p>
        </p:txBody>
      </p:sp>
      <p:sp>
        <p:nvSpPr>
          <p:cNvPr id="14" name="">
            <a:extLst xmlns:a="http://schemas.openxmlformats.org/drawingml/2006/main">
              <a:ext uri="{FF2B5EF4-FFF2-40B4-BE49-F238E27FC236}">
                <a16:creationId xmlns:a16="http://schemas.microsoft.com/office/drawing/2014/main" id="{9565B91F-A970-4A36-8B54-A42553F46C57}"/>
              </a:ext>
            </a:extLst>
          </p:cNvPr>
          <p:cNvSpPr>
            <a:spLocks xmlns:a="http://schemas.openxmlformats.org/drawingml/2006/main" noGrp="1"/>
          </p:cNvSpPr>
          <p:nvPr/>
        </p:nvSpPr>
        <p:spPr>
          <a:xfrm xmlns:a="http://schemas.openxmlformats.org/drawingml/2006/main">
            <a:off x="400050" y="38290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15" name="Clés dupliquées">
            <a:extLst xmlns:a="http://schemas.openxmlformats.org/drawingml/2006/main">
              <a:ext uri="{FF2B5EF4-FFF2-40B4-BE49-F238E27FC236}">
                <a16:creationId xmlns:a16="http://schemas.microsoft.com/office/drawing/2014/main" id="{B3230046-4507-4B4E-8992-567DFAACD3BC}"/>
              </a:ext>
            </a:extLst>
          </p:cNvPr>
          <p:cNvSpPr>
            <a:spLocks xmlns:a="http://schemas.openxmlformats.org/drawingml/2006/main" noGrp="1"/>
          </p:cNvSpPr>
          <p:nvPr/>
        </p:nvSpPr>
        <p:spPr>
          <a:xfrm xmlns:a="http://schemas.openxmlformats.org/drawingml/2006/main">
            <a:off x="400050" y="3895725"/>
            <a:ext cx="4000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Vérifier R et Java</a:t>
            </a:r>
          </a:p>
        </p:txBody>
      </p:sp>
      <p:sp>
        <p:nvSpPr>
          <p:cNvPr id="16" name="34 lignes concernées sur le lot fourni">
            <a:extLst xmlns:a="http://schemas.openxmlformats.org/drawingml/2006/main">
              <a:ext uri="{FF2B5EF4-FFF2-40B4-BE49-F238E27FC236}">
                <a16:creationId xmlns:a16="http://schemas.microsoft.com/office/drawing/2014/main" id="{9B13FB3A-7C93-406C-8B27-FB5641D3E248}"/>
              </a:ext>
            </a:extLst>
          </p:cNvPr>
          <p:cNvSpPr>
            <a:spLocks xmlns:a="http://schemas.openxmlformats.org/drawingml/2006/main" noGrp="1"/>
          </p:cNvSpPr>
          <p:nvPr/>
        </p:nvSpPr>
        <p:spPr>
          <a:xfrm xmlns:a="http://schemas.openxmlformats.org/drawingml/2006/main">
            <a:off x="4591050" y="3895725"/>
            <a:ext cx="701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Rscript --version
java -version</a:t>
            </a:r>
          </a:p>
        </p:txBody>
      </p:sp>
      <p:sp>
        <p:nvSpPr>
          <p:cNvPr id="17" name="">
            <a:extLst xmlns:a="http://schemas.openxmlformats.org/drawingml/2006/main">
              <a:ext uri="{FF2B5EF4-FFF2-40B4-BE49-F238E27FC236}">
                <a16:creationId xmlns:a16="http://schemas.microsoft.com/office/drawing/2014/main" id="{90A3DC67-6B03-4055-A964-CB00DE5175EF}"/>
              </a:ext>
            </a:extLst>
          </p:cNvPr>
          <p:cNvSpPr>
            <a:spLocks xmlns:a="http://schemas.openxmlformats.org/drawingml/2006/main" noGrp="1"/>
          </p:cNvSpPr>
          <p:nvPr/>
        </p:nvSpPr>
        <p:spPr>
          <a:xfrm xmlns:a="http://schemas.openxmlformats.org/drawingml/2006/main">
            <a:off x="400050" y="45529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18" name="Quarantaine">
            <a:extLst xmlns:a="http://schemas.openxmlformats.org/drawingml/2006/main">
              <a:ext uri="{FF2B5EF4-FFF2-40B4-BE49-F238E27FC236}">
                <a16:creationId xmlns:a16="http://schemas.microsoft.com/office/drawing/2014/main" id="{F569B73E-53AD-4B70-9E49-12E6AA05FD39}"/>
              </a:ext>
            </a:extLst>
          </p:cNvPr>
          <p:cNvSpPr>
            <a:spLocks xmlns:a="http://schemas.openxmlformats.org/drawingml/2006/main" noGrp="1"/>
          </p:cNvSpPr>
          <p:nvPr/>
        </p:nvSpPr>
        <p:spPr>
          <a:xfrm xmlns:a="http://schemas.openxmlformats.org/drawingml/2006/main">
            <a:off x="400050" y="4619625"/>
            <a:ext cx="4000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Diagnostic puis calcul</a:t>
            </a:r>
          </a:p>
        </p:txBody>
      </p:sp>
      <p:sp>
        <p:nvSpPr>
          <p:cNvPr id="19" name="32 lignes copiées avec motif">
            <a:extLst xmlns:a="http://schemas.openxmlformats.org/drawingml/2006/main">
              <a:ext uri="{FF2B5EF4-FFF2-40B4-BE49-F238E27FC236}">
                <a16:creationId xmlns:a16="http://schemas.microsoft.com/office/drawing/2014/main" id="{F260AFDB-BB36-427B-B692-AD67D6DA36C0}"/>
              </a:ext>
            </a:extLst>
          </p:cNvPr>
          <p:cNvSpPr>
            <a:spLocks xmlns:a="http://schemas.openxmlformats.org/drawingml/2006/main" noGrp="1"/>
          </p:cNvSpPr>
          <p:nvPr/>
        </p:nvSpPr>
        <p:spPr>
          <a:xfrm xmlns:a="http://schemas.openxmlformats.org/drawingml/2006/main">
            <a:off x="4591050" y="4619625"/>
            <a:ext cx="701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python tools/check_environment.py --strict-spark
python -X utf8 main.py</a:t>
            </a:r>
          </a:p>
        </p:txBody>
      </p:sp>
      <p:sp>
        <p:nvSpPr>
          <p:cNvPr id="20" name="">
            <a:extLst xmlns:a="http://schemas.openxmlformats.org/drawingml/2006/main">
              <a:ext uri="{FF2B5EF4-FFF2-40B4-BE49-F238E27FC236}">
                <a16:creationId xmlns:a16="http://schemas.microsoft.com/office/drawing/2014/main" id="{49D344C5-07E2-48A3-BFB9-F9D334549A41}"/>
              </a:ext>
            </a:extLst>
          </p:cNvPr>
          <p:cNvSpPr>
            <a:spLocks xmlns:a="http://schemas.openxmlformats.org/drawingml/2006/main" noGrp="1"/>
          </p:cNvSpPr>
          <p:nvPr/>
        </p:nvSpPr>
        <p:spPr>
          <a:xfrm xmlns:a="http://schemas.openxmlformats.org/drawingml/2006/main">
            <a:off x="400050" y="52768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21" name="Portée du statut OK">
            <a:extLst xmlns:a="http://schemas.openxmlformats.org/drawingml/2006/main">
              <a:ext uri="{FF2B5EF4-FFF2-40B4-BE49-F238E27FC236}">
                <a16:creationId xmlns:a16="http://schemas.microsoft.com/office/drawing/2014/main" id="{7F27ED0D-E629-4DD2-BF65-E597E08605FE}"/>
              </a:ext>
            </a:extLst>
          </p:cNvPr>
          <p:cNvSpPr>
            <a:spLocks xmlns:a="http://schemas.openxmlformats.org/drawingml/2006/main" noGrp="1"/>
          </p:cNvSpPr>
          <p:nvPr/>
        </p:nvSpPr>
        <p:spPr>
          <a:xfrm xmlns:a="http://schemas.openxmlformats.org/drawingml/2006/main">
            <a:off x="400050" y="5343525"/>
            <a:ext cx="4000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Vérifier les résultats</a:t>
            </a:r>
          </a:p>
        </p:txBody>
      </p:sp>
      <p:sp>
        <p:nvSpPr>
          <p:cNvPr id="22" name="Contrôles exécutés, pas absence d’anomalies">
            <a:extLst xmlns:a="http://schemas.openxmlformats.org/drawingml/2006/main">
              <a:ext uri="{FF2B5EF4-FFF2-40B4-BE49-F238E27FC236}">
                <a16:creationId xmlns:a16="http://schemas.microsoft.com/office/drawing/2014/main" id="{3D1A84CD-6E07-4A08-8557-97A9A9A3AC5B}"/>
              </a:ext>
            </a:extLst>
          </p:cNvPr>
          <p:cNvSpPr>
            <a:spLocks xmlns:a="http://schemas.openxmlformats.org/drawingml/2006/main" noGrp="1"/>
          </p:cNvSpPr>
          <p:nvPr/>
        </p:nvSpPr>
        <p:spPr>
          <a:xfrm xmlns:a="http://schemas.openxmlformats.org/drawingml/2006/main">
            <a:off x="4591050" y="5343525"/>
            <a:ext cx="701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python -m unittest discover -s tests -v</a:t>
            </a:r>
          </a:p>
        </p:txBody>
      </p:sp>
    </p:spTree>
    <p:extLst>
      <p:ext uri="{BB962C8B-B14F-4D97-AF65-F5344CB8AC3E}">
        <p14:creationId xmlns:p14="http://schemas.microsoft.com/office/powerpoint/2010/main" val="408948474"/>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13 · PRISE EN MAIN">
            <a:extLst xmlns:a="http://schemas.openxmlformats.org/drawingml/2006/main">
              <a:ext uri="{FF2B5EF4-FFF2-40B4-BE49-F238E27FC236}">
                <a16:creationId xmlns:a16="http://schemas.microsoft.com/office/drawing/2014/main" id="{012ADA01-567F-4E6D-B16C-6D221F4630F0}"/>
              </a:ext>
            </a:extLst>
          </p:cNvPr>
          <p:cNvSpPr>
            <a:spLocks xmlns:a="http://schemas.openxmlformats.org/drawingml/2006/main" noGrp="1"/>
          </p:cNvSpPr>
          <p:nvPr/>
        </p:nvSpPr>
        <p:spPr>
          <a:xfrm xmlns:a="http://schemas.openxmlformats.org/drawingml/2006/main">
            <a:off x="400050" y="228600"/>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1">
                <a:solidFill>
                  <a:srgbClr val="525860"/>
                </a:solidFill>
              </a:defRPr>
            </a:pPr>
            <a:r>
              <a:rPr sz="1650" b="1">
                <a:solidFill>
                  <a:srgbClr val="525860"/>
                </a:solidFill>
              </a:rPr>
              <a:t>13 · PRISE EN MAIN</a:t>
            </a:r>
          </a:p>
        </p:txBody>
      </p:sp>
      <p:sp>
        <p:nvSpPr>
          <p:cNvPr id="2" name="Un parcours de démonstration reproductible">
            <a:extLst xmlns:a="http://schemas.openxmlformats.org/drawingml/2006/main">
              <a:ext uri="{FF2B5EF4-FFF2-40B4-BE49-F238E27FC236}">
                <a16:creationId xmlns:a16="http://schemas.microsoft.com/office/drawing/2014/main" id="{5C5D3196-BF09-4320-A62E-FC4286931153}"/>
              </a:ext>
            </a:extLst>
          </p:cNvPr>
          <p:cNvSpPr>
            <a:spLocks xmlns:a="http://schemas.openxmlformats.org/drawingml/2006/main" noGrp="1"/>
          </p:cNvSpPr>
          <p:nvPr/>
        </p:nvSpPr>
        <p:spPr>
          <a:xfrm xmlns:a="http://schemas.openxmlformats.org/drawingml/2006/main">
            <a:off x="400050" y="742950"/>
            <a:ext cx="113919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3600" b="1">
                <a:solidFill>
                  <a:srgbClr val="111111"/>
                </a:solidFill>
              </a:defRPr>
            </a:pPr>
            <a:r>
              <a:rPr sz="3600" b="1">
                <a:solidFill>
                  <a:srgbClr val="111111"/>
                </a:solidFill>
              </a:rPr>
              <a:t>Un parcours de démonstration reproductible</a:t>
            </a:r>
          </a:p>
        </p:txBody>
      </p:sp>
      <p:sp>
        <p:nvSpPr>
          <p:cNvPr id="3" name="">
            <a:extLst xmlns:a="http://schemas.openxmlformats.org/drawingml/2006/main">
              <a:ext uri="{FF2B5EF4-FFF2-40B4-BE49-F238E27FC236}">
                <a16:creationId xmlns:a16="http://schemas.microsoft.com/office/drawing/2014/main" id="{0A4BFBC7-9600-4613-89E6-EBC1273F2CF8}"/>
              </a:ext>
            </a:extLst>
          </p:cNvPr>
          <p:cNvSpPr>
            <a:spLocks xmlns:a="http://schemas.openxmlformats.org/drawingml/2006/main" noGrp="1"/>
          </p:cNvSpPr>
          <p:nvPr/>
        </p:nvSpPr>
        <p:spPr>
          <a:xfrm xmlns:a="http://schemas.openxmlformats.org/drawingml/2006/main">
            <a:off x="400050" y="62293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4" name="SEMENCES R&amp;D · PROJET DE GROUPE">
            <a:extLst xmlns:a="http://schemas.openxmlformats.org/drawingml/2006/main">
              <a:ext uri="{FF2B5EF4-FFF2-40B4-BE49-F238E27FC236}">
                <a16:creationId xmlns:a16="http://schemas.microsoft.com/office/drawing/2014/main" id="{8EFBD3F4-596A-43FC-AAF2-8BAF9819B950}"/>
              </a:ext>
            </a:extLst>
          </p:cNvPr>
          <p:cNvSpPr>
            <a:spLocks xmlns:a="http://schemas.openxmlformats.org/drawingml/2006/main" noGrp="1"/>
          </p:cNvSpPr>
          <p:nvPr/>
        </p:nvSpPr>
        <p:spPr>
          <a:xfrm xmlns:a="http://schemas.openxmlformats.org/drawingml/2006/main">
            <a:off x="400050" y="641032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0">
                <a:solidFill>
                  <a:srgbClr val="525860"/>
                </a:solidFill>
              </a:defRPr>
            </a:pPr>
            <a:r>
              <a:rPr sz="1650" b="0">
                <a:solidFill>
                  <a:srgbClr val="525860"/>
                </a:solidFill>
              </a:rPr>
              <a:t>SEMENCES R&amp;D · PROJET DE GROUPE</a:t>
            </a:r>
          </a:p>
        </p:txBody>
      </p:sp>
      <p:sp>
        <p:nvSpPr>
          <p:cNvPr id="5" name="25">
            <a:extLst xmlns:a="http://schemas.openxmlformats.org/drawingml/2006/main">
              <a:ext uri="{FF2B5EF4-FFF2-40B4-BE49-F238E27FC236}">
                <a16:creationId xmlns:a16="http://schemas.microsoft.com/office/drawing/2014/main" id="{B4A433B3-97BC-4644-B4EB-81D402311518}"/>
              </a:ext>
            </a:extLst>
          </p:cNvPr>
          <p:cNvSpPr>
            <a:spLocks xmlns:a="http://schemas.openxmlformats.org/drawingml/2006/main" noGrp="1"/>
          </p:cNvSpPr>
          <p:nvPr/>
        </p:nvSpPr>
        <p:spPr>
          <a:xfrm xmlns:a="http://schemas.openxmlformats.org/drawingml/2006/main">
            <a:off x="11239500" y="64103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0">
                <a:solidFill>
                  <a:srgbClr val="525860"/>
                </a:solidFill>
              </a:defRPr>
            </a:pPr>
            <a:r>
              <a:rPr sz="1650" b="0">
                <a:solidFill>
                  <a:srgbClr val="525860"/>
                </a:solidFill>
              </a:rPr>
              <a:t>37</a:t>
            </a:r>
          </a:p>
        </p:txBody>
      </p:sp>
      <p:sp>
        <p:nvSpPr>
          <p:cNvPr id="6" name="Préparer">
            <a:extLst xmlns:a="http://schemas.openxmlformats.org/drawingml/2006/main">
              <a:ext uri="{FF2B5EF4-FFF2-40B4-BE49-F238E27FC236}">
                <a16:creationId xmlns:a16="http://schemas.microsoft.com/office/drawing/2014/main" id="{1D3A613F-55A6-4661-B6FF-D5F2239832DB}"/>
              </a:ext>
            </a:extLst>
          </p:cNvPr>
          <p:cNvSpPr>
            <a:spLocks xmlns:a="http://schemas.openxmlformats.org/drawingml/2006/main" noGrp="1"/>
          </p:cNvSpPr>
          <p:nvPr/>
        </p:nvSpPr>
        <p:spPr>
          <a:xfrm xmlns:a="http://schemas.openxmlformats.org/drawingml/2006/main">
            <a:off x="400050" y="2057400"/>
            <a:ext cx="54768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2400" b="1">
                <a:solidFill>
                  <a:srgbClr val="111111"/>
                </a:solidFill>
              </a:defRPr>
            </a:pPr>
            <a:r>
              <a:rPr sz="2400" b="1">
                <a:solidFill>
                  <a:srgbClr val="111111"/>
                </a:solidFill>
              </a:rPr>
              <a:t>Préparer</a:t>
            </a:r>
          </a:p>
        </p:txBody>
      </p:sp>
      <p:sp>
        <p:nvSpPr>
          <p:cNvPr id="7" name="Installer les dépendances Python et R.">
            <a:extLst xmlns:a="http://schemas.openxmlformats.org/drawingml/2006/main">
              <a:ext uri="{FF2B5EF4-FFF2-40B4-BE49-F238E27FC236}">
                <a16:creationId xmlns:a16="http://schemas.microsoft.com/office/drawing/2014/main" id="{8E5B8607-8A8C-4EC9-83B5-B7BF9730B544}"/>
              </a:ext>
            </a:extLst>
          </p:cNvPr>
          <p:cNvSpPr>
            <a:spLocks xmlns:a="http://schemas.openxmlformats.org/drawingml/2006/main" noGrp="1"/>
          </p:cNvSpPr>
          <p:nvPr/>
        </p:nvSpPr>
        <p:spPr>
          <a:xfrm xmlns:a="http://schemas.openxmlformats.org/drawingml/2006/main">
            <a:off x="400050" y="2800350"/>
            <a:ext cx="54768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Installer les dépendances Python et R.</a:t>
            </a:r>
          </a:p>
        </p:txBody>
      </p:sp>
      <p:sp>
        <p:nvSpPr>
          <p:cNvPr id="8" name="Lancer main.py puis la suite de tests.">
            <a:extLst xmlns:a="http://schemas.openxmlformats.org/drawingml/2006/main">
              <a:ext uri="{FF2B5EF4-FFF2-40B4-BE49-F238E27FC236}">
                <a16:creationId xmlns:a16="http://schemas.microsoft.com/office/drawing/2014/main" id="{18BC0729-3433-47F6-9E4E-ECF2B4E7DA73}"/>
              </a:ext>
            </a:extLst>
          </p:cNvPr>
          <p:cNvSpPr>
            <a:spLocks xmlns:a="http://schemas.openxmlformats.org/drawingml/2006/main" noGrp="1"/>
          </p:cNvSpPr>
          <p:nvPr/>
        </p:nvSpPr>
        <p:spPr>
          <a:xfrm xmlns:a="http://schemas.openxmlformats.org/drawingml/2006/main">
            <a:off x="400050" y="3743325"/>
            <a:ext cx="54768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Lancer main.py puis la suite de tests.</a:t>
            </a:r>
          </a:p>
        </p:txBody>
      </p:sp>
      <p:sp>
        <p:nvSpPr>
          <p:cNvPr id="9" name="Démarrer le serveur HTTP sur le port 8000.">
            <a:extLst xmlns:a="http://schemas.openxmlformats.org/drawingml/2006/main">
              <a:ext uri="{FF2B5EF4-FFF2-40B4-BE49-F238E27FC236}">
                <a16:creationId xmlns:a16="http://schemas.microsoft.com/office/drawing/2014/main" id="{03AE2E8F-D36B-4891-BC47-59451E3EC54A}"/>
              </a:ext>
            </a:extLst>
          </p:cNvPr>
          <p:cNvSpPr>
            <a:spLocks xmlns:a="http://schemas.openxmlformats.org/drawingml/2006/main" noGrp="1"/>
          </p:cNvSpPr>
          <p:nvPr/>
        </p:nvSpPr>
        <p:spPr>
          <a:xfrm xmlns:a="http://schemas.openxmlformats.org/drawingml/2006/main">
            <a:off x="400050" y="4686300"/>
            <a:ext cx="54768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Démarrer le serveur HTTP sur le port 8000.</a:t>
            </a:r>
          </a:p>
        </p:txBody>
      </p:sp>
      <p:sp>
        <p:nvSpPr>
          <p:cNvPr id="10" name="Montrer">
            <a:extLst xmlns:a="http://schemas.openxmlformats.org/drawingml/2006/main">
              <a:ext uri="{FF2B5EF4-FFF2-40B4-BE49-F238E27FC236}">
                <a16:creationId xmlns:a16="http://schemas.microsoft.com/office/drawing/2014/main" id="{03AE68CF-28F8-46E5-B3E4-9FE15F8F7312}"/>
              </a:ext>
            </a:extLst>
          </p:cNvPr>
          <p:cNvSpPr>
            <a:spLocks xmlns:a="http://schemas.openxmlformats.org/drawingml/2006/main" noGrp="1"/>
          </p:cNvSpPr>
          <p:nvPr/>
        </p:nvSpPr>
        <p:spPr>
          <a:xfrm xmlns:a="http://schemas.openxmlformats.org/drawingml/2006/main">
            <a:off x="6257925" y="2057400"/>
            <a:ext cx="54768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2400" b="1">
                <a:solidFill>
                  <a:srgbClr val="111111"/>
                </a:solidFill>
              </a:defRPr>
            </a:pPr>
            <a:r>
              <a:rPr sz="2400" b="1">
                <a:solidFill>
                  <a:srgbClr val="111111"/>
                </a:solidFill>
              </a:rPr>
              <a:t>Montrer</a:t>
            </a:r>
          </a:p>
        </p:txBody>
      </p:sp>
      <p:sp>
        <p:nvSpPr>
          <p:cNvPr id="11" name="Parcourir portail, tableaux et carte.">
            <a:extLst xmlns:a="http://schemas.openxmlformats.org/drawingml/2006/main">
              <a:ext uri="{FF2B5EF4-FFF2-40B4-BE49-F238E27FC236}">
                <a16:creationId xmlns:a16="http://schemas.microsoft.com/office/drawing/2014/main" id="{9886DC8E-48A9-4331-A611-2B0EA7BD253F}"/>
              </a:ext>
            </a:extLst>
          </p:cNvPr>
          <p:cNvSpPr>
            <a:spLocks xmlns:a="http://schemas.openxmlformats.org/drawingml/2006/main" noGrp="1"/>
          </p:cNvSpPr>
          <p:nvPr/>
        </p:nvSpPr>
        <p:spPr>
          <a:xfrm xmlns:a="http://schemas.openxmlformats.org/drawingml/2006/main">
            <a:off x="6257925" y="2800350"/>
            <a:ext cx="54768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Parcourir portail, tableaux et carte.</a:t>
            </a:r>
          </a:p>
        </p:txBody>
      </p:sp>
      <p:sp>
        <p:nvSpPr>
          <p:cNvPr id="12" name="Démarrer platform_api.py et rechercher Soja.">
            <a:extLst xmlns:a="http://schemas.openxmlformats.org/drawingml/2006/main">
              <a:ext uri="{FF2B5EF4-FFF2-40B4-BE49-F238E27FC236}">
                <a16:creationId xmlns:a16="http://schemas.microsoft.com/office/drawing/2014/main" id="{185D4349-0ABD-496E-AEA1-CC328B4A3231}"/>
              </a:ext>
            </a:extLst>
          </p:cNvPr>
          <p:cNvSpPr>
            <a:spLocks xmlns:a="http://schemas.openxmlformats.org/drawingml/2006/main" noGrp="1"/>
          </p:cNvSpPr>
          <p:nvPr/>
        </p:nvSpPr>
        <p:spPr>
          <a:xfrm xmlns:a="http://schemas.openxmlformats.org/drawingml/2006/main">
            <a:off x="6257925" y="3743325"/>
            <a:ext cx="54768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Démarrer platform_api.py et rechercher Soja.</a:t>
            </a:r>
          </a:p>
        </p:txBody>
      </p:sp>
      <p:sp>
        <p:nvSpPr>
          <p:cNvPr id="13" name="Expliquer une prédiction puis ses limites.">
            <a:extLst xmlns:a="http://schemas.openxmlformats.org/drawingml/2006/main">
              <a:ext uri="{FF2B5EF4-FFF2-40B4-BE49-F238E27FC236}">
                <a16:creationId xmlns:a16="http://schemas.microsoft.com/office/drawing/2014/main" id="{F6FD0B8D-607D-4293-B96F-D12D5438D73F}"/>
              </a:ext>
            </a:extLst>
          </p:cNvPr>
          <p:cNvSpPr>
            <a:spLocks xmlns:a="http://schemas.openxmlformats.org/drawingml/2006/main" noGrp="1"/>
          </p:cNvSpPr>
          <p:nvPr/>
        </p:nvSpPr>
        <p:spPr>
          <a:xfrm xmlns:a="http://schemas.openxmlformats.org/drawingml/2006/main">
            <a:off x="6257925" y="4686300"/>
            <a:ext cx="54768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Expliquer une prédiction puis ses limites.</a:t>
            </a:r>
          </a:p>
        </p:txBody>
      </p:sp>
    </p:spTree>
    <p:extLst>
      <p:ext uri="{BB962C8B-B14F-4D97-AF65-F5344CB8AC3E}">
        <p14:creationId xmlns:p14="http://schemas.microsoft.com/office/powerpoint/2010/main" val="154520506"/>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05 · GOUVERNANCE">
            <a:extLst xmlns:a="http://schemas.openxmlformats.org/drawingml/2006/main">
              <a:ext uri="{FF2B5EF4-FFF2-40B4-BE49-F238E27FC236}">
                <a16:creationId xmlns:a16="http://schemas.microsoft.com/office/drawing/2014/main" id="{BA2B76F4-D12F-4D22-829A-FFAE2E89F76B}"/>
              </a:ext>
            </a:extLst>
          </p:cNvPr>
          <p:cNvSpPr>
            <a:spLocks xmlns:a="http://schemas.openxmlformats.org/drawingml/2006/main" noGrp="1"/>
          </p:cNvSpPr>
          <p:nvPr/>
        </p:nvSpPr>
        <p:spPr>
          <a:xfrm xmlns:a="http://schemas.openxmlformats.org/drawingml/2006/main">
            <a:off x="400050" y="228600"/>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1">
                <a:solidFill>
                  <a:srgbClr val="525860"/>
                </a:solidFill>
              </a:defRPr>
            </a:pPr>
            <a:r>
              <a:rPr sz="1650" b="1">
                <a:solidFill>
                  <a:srgbClr val="525860"/>
                </a:solidFill>
              </a:rPr>
              <a:t>13 · DÉPANNAGE</a:t>
            </a:r>
          </a:p>
        </p:txBody>
      </p:sp>
      <p:sp>
        <p:nvSpPr>
          <p:cNvPr id="2" name="La qualité expose les anomalies">
            <a:extLst xmlns:a="http://schemas.openxmlformats.org/drawingml/2006/main">
              <a:ext uri="{FF2B5EF4-FFF2-40B4-BE49-F238E27FC236}">
                <a16:creationId xmlns:a16="http://schemas.microsoft.com/office/drawing/2014/main" id="{88DD8AA3-8C98-4A4D-B677-7AD417E29058}"/>
              </a:ext>
            </a:extLst>
          </p:cNvPr>
          <p:cNvSpPr>
            <a:spLocks xmlns:a="http://schemas.openxmlformats.org/drawingml/2006/main" noGrp="1"/>
          </p:cNvSpPr>
          <p:nvPr/>
        </p:nvSpPr>
        <p:spPr>
          <a:xfrm xmlns:a="http://schemas.openxmlformats.org/drawingml/2006/main">
            <a:off x="400050" y="742950"/>
            <a:ext cx="113919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3600" b="1">
                <a:solidFill>
                  <a:srgbClr val="111111"/>
                </a:solidFill>
              </a:defRPr>
            </a:pPr>
            <a:r>
              <a:rPr sz="3600" b="1">
                <a:solidFill>
                  <a:srgbClr val="111111"/>
                </a:solidFill>
              </a:rPr>
              <a:t>Diagnostiquer les erreurs les plus courantes</a:t>
            </a:r>
          </a:p>
        </p:txBody>
      </p:sp>
      <p:sp>
        <p:nvSpPr>
          <p:cNvPr id="3" name="">
            <a:extLst xmlns:a="http://schemas.openxmlformats.org/drawingml/2006/main">
              <a:ext uri="{FF2B5EF4-FFF2-40B4-BE49-F238E27FC236}">
                <a16:creationId xmlns:a16="http://schemas.microsoft.com/office/drawing/2014/main" id="{D77441C1-CED2-4491-9E1B-3614700FF8EE}"/>
              </a:ext>
            </a:extLst>
          </p:cNvPr>
          <p:cNvSpPr>
            <a:spLocks xmlns:a="http://schemas.openxmlformats.org/drawingml/2006/main" noGrp="1"/>
          </p:cNvSpPr>
          <p:nvPr/>
        </p:nvSpPr>
        <p:spPr>
          <a:xfrm xmlns:a="http://schemas.openxmlformats.org/drawingml/2006/main">
            <a:off x="400050" y="62293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4" name="SEMENCES R&amp;D · PROJET DE GROUPE">
            <a:extLst xmlns:a="http://schemas.openxmlformats.org/drawingml/2006/main">
              <a:ext uri="{FF2B5EF4-FFF2-40B4-BE49-F238E27FC236}">
                <a16:creationId xmlns:a16="http://schemas.microsoft.com/office/drawing/2014/main" id="{248D1C1B-85D8-41DD-8670-ED12D1213E90}"/>
              </a:ext>
            </a:extLst>
          </p:cNvPr>
          <p:cNvSpPr>
            <a:spLocks xmlns:a="http://schemas.openxmlformats.org/drawingml/2006/main" noGrp="1"/>
          </p:cNvSpPr>
          <p:nvPr/>
        </p:nvSpPr>
        <p:spPr>
          <a:xfrm xmlns:a="http://schemas.openxmlformats.org/drawingml/2006/main">
            <a:off x="400050" y="641032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0">
                <a:solidFill>
                  <a:srgbClr val="525860"/>
                </a:solidFill>
              </a:defRPr>
            </a:pPr>
            <a:r>
              <a:rPr sz="1650" b="0">
                <a:solidFill>
                  <a:srgbClr val="525860"/>
                </a:solidFill>
              </a:rPr>
              <a:t>SEMENCES R&amp;D · PROJET DE GROUPE</a:t>
            </a:r>
          </a:p>
        </p:txBody>
      </p:sp>
      <p:sp>
        <p:nvSpPr>
          <p:cNvPr id="5" name="10">
            <a:extLst xmlns:a="http://schemas.openxmlformats.org/drawingml/2006/main">
              <a:ext uri="{FF2B5EF4-FFF2-40B4-BE49-F238E27FC236}">
                <a16:creationId xmlns:a16="http://schemas.microsoft.com/office/drawing/2014/main" id="{250D617A-6EC1-4B34-9710-1D32288E607C}"/>
              </a:ext>
            </a:extLst>
          </p:cNvPr>
          <p:cNvSpPr>
            <a:spLocks xmlns:a="http://schemas.openxmlformats.org/drawingml/2006/main" noGrp="1"/>
          </p:cNvSpPr>
          <p:nvPr/>
        </p:nvSpPr>
        <p:spPr>
          <a:xfrm xmlns:a="http://schemas.openxmlformats.org/drawingml/2006/main">
            <a:off x="11239500" y="64103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0">
                <a:solidFill>
                  <a:srgbClr val="525860"/>
                </a:solidFill>
              </a:defRPr>
            </a:pPr>
            <a:r>
              <a:rPr sz="1650" b="0">
                <a:solidFill>
                  <a:srgbClr val="525860"/>
                </a:solidFill>
              </a:rPr>
              <a:t>38</a:t>
            </a:r>
          </a:p>
        </p:txBody>
      </p:sp>
      <p:sp>
        <p:nvSpPr>
          <p:cNvPr id="6" name="Contrôle">
            <a:extLst xmlns:a="http://schemas.openxmlformats.org/drawingml/2006/main">
              <a:ext uri="{FF2B5EF4-FFF2-40B4-BE49-F238E27FC236}">
                <a16:creationId xmlns:a16="http://schemas.microsoft.com/office/drawing/2014/main" id="{12BBEFF3-8D83-4ED7-935D-786DE03D7438}"/>
              </a:ext>
            </a:extLst>
          </p:cNvPr>
          <p:cNvSpPr>
            <a:spLocks xmlns:a="http://schemas.openxmlformats.org/drawingml/2006/main" noGrp="1"/>
          </p:cNvSpPr>
          <p:nvPr/>
        </p:nvSpPr>
        <p:spPr>
          <a:xfrm xmlns:a="http://schemas.openxmlformats.org/drawingml/2006/main">
            <a:off x="400050" y="1838325"/>
            <a:ext cx="4019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1">
                <a:solidFill>
                  <a:srgbClr val="111111"/>
                </a:solidFill>
              </a:defRPr>
            </a:pPr>
            <a:r>
              <a:rPr sz="1950" b="1">
                <a:solidFill>
                  <a:srgbClr val="111111"/>
                </a:solidFill>
              </a:rPr>
              <a:t>Symptôme</a:t>
            </a:r>
          </a:p>
        </p:txBody>
      </p:sp>
      <p:sp>
        <p:nvSpPr>
          <p:cNvPr id="7" name="Comportement">
            <a:extLst xmlns:a="http://schemas.openxmlformats.org/drawingml/2006/main">
              <a:ext uri="{FF2B5EF4-FFF2-40B4-BE49-F238E27FC236}">
                <a16:creationId xmlns:a16="http://schemas.microsoft.com/office/drawing/2014/main" id="{A22C0B52-9FCF-452D-8257-6986D42E59BB}"/>
              </a:ext>
            </a:extLst>
          </p:cNvPr>
          <p:cNvSpPr>
            <a:spLocks xmlns:a="http://schemas.openxmlformats.org/drawingml/2006/main" noGrp="1"/>
          </p:cNvSpPr>
          <p:nvPr/>
        </p:nvSpPr>
        <p:spPr>
          <a:xfrm xmlns:a="http://schemas.openxmlformats.org/drawingml/2006/main">
            <a:off x="4591050" y="1838325"/>
            <a:ext cx="7029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1">
                <a:solidFill>
                  <a:srgbClr val="111111"/>
                </a:solidFill>
              </a:defRPr>
            </a:pPr>
            <a:r>
              <a:rPr sz="1950" b="1">
                <a:solidFill>
                  <a:srgbClr val="111111"/>
                </a:solidFill>
              </a:rPr>
              <a:t>Première action</a:t>
            </a:r>
          </a:p>
        </p:txBody>
      </p:sp>
      <p:sp>
        <p:nvSpPr>
          <p:cNvPr id="8" name="">
            <a:extLst xmlns:a="http://schemas.openxmlformats.org/drawingml/2006/main">
              <a:ext uri="{FF2B5EF4-FFF2-40B4-BE49-F238E27FC236}">
                <a16:creationId xmlns:a16="http://schemas.microsoft.com/office/drawing/2014/main" id="{6A4A888A-0709-4C45-BD74-761487D4DE8A}"/>
              </a:ext>
            </a:extLst>
          </p:cNvPr>
          <p:cNvSpPr>
            <a:spLocks xmlns:a="http://schemas.openxmlformats.org/drawingml/2006/main" noGrp="1"/>
          </p:cNvSpPr>
          <p:nvPr/>
        </p:nvSpPr>
        <p:spPr>
          <a:xfrm xmlns:a="http://schemas.openxmlformats.org/drawingml/2006/main">
            <a:off x="400050" y="23050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9" name="Schéma">
            <a:extLst xmlns:a="http://schemas.openxmlformats.org/drawingml/2006/main">
              <a:ext uri="{FF2B5EF4-FFF2-40B4-BE49-F238E27FC236}">
                <a16:creationId xmlns:a16="http://schemas.microsoft.com/office/drawing/2014/main" id="{4C526CC1-D93D-4C76-8C25-8550EBA2BD0B}"/>
              </a:ext>
            </a:extLst>
          </p:cNvPr>
          <p:cNvSpPr>
            <a:spLocks xmlns:a="http://schemas.openxmlformats.org/drawingml/2006/main" noGrp="1"/>
          </p:cNvSpPr>
          <p:nvPr/>
        </p:nvSpPr>
        <p:spPr>
          <a:xfrm xmlns:a="http://schemas.openxmlformats.org/drawingml/2006/main">
            <a:off x="400050" y="2447925"/>
            <a:ext cx="4000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Module Python introuvable</a:t>
            </a:r>
          </a:p>
        </p:txBody>
      </p:sp>
      <p:sp>
        <p:nvSpPr>
          <p:cNvPr id="10" name="Présence des colonnes obligatoires">
            <a:extLst xmlns:a="http://schemas.openxmlformats.org/drawingml/2006/main">
              <a:ext uri="{FF2B5EF4-FFF2-40B4-BE49-F238E27FC236}">
                <a16:creationId xmlns:a16="http://schemas.microsoft.com/office/drawing/2014/main" id="{DD8F86DC-13E9-48E5-8990-425863F6A6C2}"/>
              </a:ext>
            </a:extLst>
          </p:cNvPr>
          <p:cNvSpPr>
            <a:spLocks xmlns:a="http://schemas.openxmlformats.org/drawingml/2006/main" noGrp="1"/>
          </p:cNvSpPr>
          <p:nvPr/>
        </p:nvSpPr>
        <p:spPr>
          <a:xfrm xmlns:a="http://schemas.openxmlformats.org/drawingml/2006/main">
            <a:off x="4591050" y="2447925"/>
            <a:ext cx="701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Installer avec le Python de .venv, puis lancer pip check.</a:t>
            </a:r>
          </a:p>
        </p:txBody>
      </p:sp>
      <p:sp>
        <p:nvSpPr>
          <p:cNvPr id="11" name="">
            <a:extLst xmlns:a="http://schemas.openxmlformats.org/drawingml/2006/main">
              <a:ext uri="{FF2B5EF4-FFF2-40B4-BE49-F238E27FC236}">
                <a16:creationId xmlns:a16="http://schemas.microsoft.com/office/drawing/2014/main" id="{E0396EF7-814F-4FAD-97D7-47852AE77D75}"/>
              </a:ext>
            </a:extLst>
          </p:cNvPr>
          <p:cNvSpPr>
            <a:spLocks xmlns:a="http://schemas.openxmlformats.org/drawingml/2006/main" noGrp="1"/>
          </p:cNvSpPr>
          <p:nvPr/>
        </p:nvSpPr>
        <p:spPr>
          <a:xfrm xmlns:a="http://schemas.openxmlformats.org/drawingml/2006/main">
            <a:off x="400050" y="31051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12" name="Complétude et valeurs">
            <a:extLst xmlns:a="http://schemas.openxmlformats.org/drawingml/2006/main">
              <a:ext uri="{FF2B5EF4-FFF2-40B4-BE49-F238E27FC236}">
                <a16:creationId xmlns:a16="http://schemas.microsoft.com/office/drawing/2014/main" id="{5BB18D91-3BDB-4BC5-A367-9B28F1F82457}"/>
              </a:ext>
            </a:extLst>
          </p:cNvPr>
          <p:cNvSpPr>
            <a:spLocks xmlns:a="http://schemas.openxmlformats.org/drawingml/2006/main" noGrp="1"/>
          </p:cNvSpPr>
          <p:nvPr/>
        </p:nvSpPr>
        <p:spPr>
          <a:xfrm xmlns:a="http://schemas.openxmlformats.org/drawingml/2006/main">
            <a:off x="400050" y="3171825"/>
            <a:ext cx="4000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R absent / Spark en repli</a:t>
            </a:r>
          </a:p>
        </p:txBody>
      </p:sp>
      <p:sp>
        <p:nvSpPr>
          <p:cNvPr id="13" name="Nullité, bornes de rendement et années">
            <a:extLst xmlns:a="http://schemas.openxmlformats.org/drawingml/2006/main">
              <a:ext uri="{FF2B5EF4-FFF2-40B4-BE49-F238E27FC236}">
                <a16:creationId xmlns:a16="http://schemas.microsoft.com/office/drawing/2014/main" id="{488EF1E6-6939-4DB7-AF68-5006ACA83DF4}"/>
              </a:ext>
            </a:extLst>
          </p:cNvPr>
          <p:cNvSpPr>
            <a:spLocks xmlns:a="http://schemas.openxmlformats.org/drawingml/2006/main" noGrp="1"/>
          </p:cNvSpPr>
          <p:nvPr/>
        </p:nvSpPr>
        <p:spPr>
          <a:xfrm xmlns:a="http://schemas.openxmlformats.org/drawingml/2006/main">
            <a:off x="4591050" y="3171825"/>
            <a:ext cx="701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Vérifier Rscript, Java et le diagnostic --strict-spark.</a:t>
            </a:r>
          </a:p>
        </p:txBody>
      </p:sp>
      <p:sp>
        <p:nvSpPr>
          <p:cNvPr id="14" name="">
            <a:extLst xmlns:a="http://schemas.openxmlformats.org/drawingml/2006/main">
              <a:ext uri="{FF2B5EF4-FFF2-40B4-BE49-F238E27FC236}">
                <a16:creationId xmlns:a16="http://schemas.microsoft.com/office/drawing/2014/main" id="{9565B91F-A970-4A36-8B54-A42553F46C57}"/>
              </a:ext>
            </a:extLst>
          </p:cNvPr>
          <p:cNvSpPr>
            <a:spLocks xmlns:a="http://schemas.openxmlformats.org/drawingml/2006/main" noGrp="1"/>
          </p:cNvSpPr>
          <p:nvPr/>
        </p:nvSpPr>
        <p:spPr>
          <a:xfrm xmlns:a="http://schemas.openxmlformats.org/drawingml/2006/main">
            <a:off x="400050" y="38290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15" name="Clés dupliquées">
            <a:extLst xmlns:a="http://schemas.openxmlformats.org/drawingml/2006/main">
              <a:ext uri="{FF2B5EF4-FFF2-40B4-BE49-F238E27FC236}">
                <a16:creationId xmlns:a16="http://schemas.microsoft.com/office/drawing/2014/main" id="{B3230046-4507-4B4E-8992-567DFAACD3BC}"/>
              </a:ext>
            </a:extLst>
          </p:cNvPr>
          <p:cNvSpPr>
            <a:spLocks xmlns:a="http://schemas.openxmlformats.org/drawingml/2006/main" noGrp="1"/>
          </p:cNvSpPr>
          <p:nvPr/>
        </p:nvSpPr>
        <p:spPr>
          <a:xfrm xmlns:a="http://schemas.openxmlformats.org/drawingml/2006/main">
            <a:off x="400050" y="3895725"/>
            <a:ext cx="4000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Dashboard vide / carte blanche</a:t>
            </a:r>
          </a:p>
        </p:txBody>
      </p:sp>
      <p:sp>
        <p:nvSpPr>
          <p:cNvPr id="16" name="34 lignes concernées sur le lot fourni">
            <a:extLst xmlns:a="http://schemas.openxmlformats.org/drawingml/2006/main">
              <a:ext uri="{FF2B5EF4-FFF2-40B4-BE49-F238E27FC236}">
                <a16:creationId xmlns:a16="http://schemas.microsoft.com/office/drawing/2014/main" id="{9B13FB3A-7C93-406C-8B27-FB5641D3E248}"/>
              </a:ext>
            </a:extLst>
          </p:cNvPr>
          <p:cNvSpPr>
            <a:spLocks xmlns:a="http://schemas.openxmlformats.org/drawingml/2006/main" noGrp="1"/>
          </p:cNvSpPr>
          <p:nvPr/>
        </p:nvSpPr>
        <p:spPr>
          <a:xfrm xmlns:a="http://schemas.openxmlformats.org/drawingml/2006/main">
            <a:off x="4591050" y="3895725"/>
            <a:ext cx="701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Utiliser HTTP ; vérifier les CSV et Internet pour la carte.</a:t>
            </a:r>
          </a:p>
        </p:txBody>
      </p:sp>
      <p:sp>
        <p:nvSpPr>
          <p:cNvPr id="17" name="">
            <a:extLst xmlns:a="http://schemas.openxmlformats.org/drawingml/2006/main">
              <a:ext uri="{FF2B5EF4-FFF2-40B4-BE49-F238E27FC236}">
                <a16:creationId xmlns:a16="http://schemas.microsoft.com/office/drawing/2014/main" id="{90A3DC67-6B03-4055-A964-CB00DE5175EF}"/>
              </a:ext>
            </a:extLst>
          </p:cNvPr>
          <p:cNvSpPr>
            <a:spLocks xmlns:a="http://schemas.openxmlformats.org/drawingml/2006/main" noGrp="1"/>
          </p:cNvSpPr>
          <p:nvPr/>
        </p:nvSpPr>
        <p:spPr>
          <a:xfrm xmlns:a="http://schemas.openxmlformats.org/drawingml/2006/main">
            <a:off x="400050" y="45529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18" name="Quarantaine">
            <a:extLst xmlns:a="http://schemas.openxmlformats.org/drawingml/2006/main">
              <a:ext uri="{FF2B5EF4-FFF2-40B4-BE49-F238E27FC236}">
                <a16:creationId xmlns:a16="http://schemas.microsoft.com/office/drawing/2014/main" id="{F569B73E-53AD-4B70-9E49-12E6AA05FD39}"/>
              </a:ext>
            </a:extLst>
          </p:cNvPr>
          <p:cNvSpPr>
            <a:spLocks xmlns:a="http://schemas.openxmlformats.org/drawingml/2006/main" noGrp="1"/>
          </p:cNvSpPr>
          <p:nvPr/>
        </p:nvSpPr>
        <p:spPr>
          <a:xfrm xmlns:a="http://schemas.openxmlformats.org/drawingml/2006/main">
            <a:off x="400050" y="4619625"/>
            <a:ext cx="4000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API : réponse 400 ou 403</a:t>
            </a:r>
          </a:p>
        </p:txBody>
      </p:sp>
      <p:sp>
        <p:nvSpPr>
          <p:cNvPr id="19" name="32 lignes copiées avec motif">
            <a:extLst xmlns:a="http://schemas.openxmlformats.org/drawingml/2006/main">
              <a:ext uri="{FF2B5EF4-FFF2-40B4-BE49-F238E27FC236}">
                <a16:creationId xmlns:a16="http://schemas.microsoft.com/office/drawing/2014/main" id="{F260AFDB-BB36-427B-B692-AD67D6DA36C0}"/>
              </a:ext>
            </a:extLst>
          </p:cNvPr>
          <p:cNvSpPr>
            <a:spLocks xmlns:a="http://schemas.openxmlformats.org/drawingml/2006/main" noGrp="1"/>
          </p:cNvSpPr>
          <p:nvPr/>
        </p:nvSpPr>
        <p:spPr>
          <a:xfrm xmlns:a="http://schemas.openxmlformats.org/drawingml/2006/main">
            <a:off x="4591050" y="4619625"/>
            <a:ext cx="701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400 : vérifier JSON ou recherche ; 403 : clé et rôle.</a:t>
            </a:r>
          </a:p>
        </p:txBody>
      </p:sp>
      <p:sp>
        <p:nvSpPr>
          <p:cNvPr id="20" name="">
            <a:extLst xmlns:a="http://schemas.openxmlformats.org/drawingml/2006/main">
              <a:ext uri="{FF2B5EF4-FFF2-40B4-BE49-F238E27FC236}">
                <a16:creationId xmlns:a16="http://schemas.microsoft.com/office/drawing/2014/main" id="{49D344C5-07E2-48A3-BFB9-F9D334549A41}"/>
              </a:ext>
            </a:extLst>
          </p:cNvPr>
          <p:cNvSpPr>
            <a:spLocks xmlns:a="http://schemas.openxmlformats.org/drawingml/2006/main" noGrp="1"/>
          </p:cNvSpPr>
          <p:nvPr/>
        </p:nvSpPr>
        <p:spPr>
          <a:xfrm xmlns:a="http://schemas.openxmlformats.org/drawingml/2006/main">
            <a:off x="400050" y="52768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21" name="Portée du statut OK">
            <a:extLst xmlns:a="http://schemas.openxmlformats.org/drawingml/2006/main">
              <a:ext uri="{FF2B5EF4-FFF2-40B4-BE49-F238E27FC236}">
                <a16:creationId xmlns:a16="http://schemas.microsoft.com/office/drawing/2014/main" id="{7F27ED0D-E629-4DD2-BF65-E597E08605FE}"/>
              </a:ext>
            </a:extLst>
          </p:cNvPr>
          <p:cNvSpPr>
            <a:spLocks xmlns:a="http://schemas.openxmlformats.org/drawingml/2006/main" noGrp="1"/>
          </p:cNvSpPr>
          <p:nvPr/>
        </p:nvSpPr>
        <p:spPr>
          <a:xfrm xmlns:a="http://schemas.openxmlformats.org/drawingml/2006/main">
            <a:off x="400050" y="5343525"/>
            <a:ext cx="4000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Données absentes ou périmées</a:t>
            </a:r>
          </a:p>
        </p:txBody>
      </p:sp>
      <p:sp>
        <p:nvSpPr>
          <p:cNvPr id="22" name="Contrôles exécutés, pas absence d’anomalies">
            <a:extLst xmlns:a="http://schemas.openxmlformats.org/drawingml/2006/main">
              <a:ext uri="{FF2B5EF4-FFF2-40B4-BE49-F238E27FC236}">
                <a16:creationId xmlns:a16="http://schemas.microsoft.com/office/drawing/2014/main" id="{3D1A84CD-6E07-4A08-8557-97A9A9A3AC5B}"/>
              </a:ext>
            </a:extLst>
          </p:cNvPr>
          <p:cNvSpPr>
            <a:spLocks xmlns:a="http://schemas.openxmlformats.org/drawingml/2006/main" noGrp="1"/>
          </p:cNvSpPr>
          <p:nvPr/>
        </p:nvSpPr>
        <p:spPr>
          <a:xfrm xmlns:a="http://schemas.openxmlformats.org/drawingml/2006/main">
            <a:off x="4591050" y="5343525"/>
            <a:ext cx="701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800" b="0">
                <a:solidFill>
                  <a:srgbClr val="111111"/>
                </a:solidFill>
              </a:defRPr>
            </a:pPr>
            <a:r>
              <a:rPr sz="1800" b="0">
                <a:solidFill>
                  <a:srgbClr val="111111"/>
                </a:solidFill>
              </a:rPr>
              <a:t>Relancer main.py sans --resume après correction.</a:t>
            </a:r>
          </a:p>
        </p:txBody>
      </p:sp>
    </p:spTree>
    <p:extLst>
      <p:ext uri="{BB962C8B-B14F-4D97-AF65-F5344CB8AC3E}">
        <p14:creationId xmlns:p14="http://schemas.microsoft.com/office/powerpoint/2010/main" val="408948474"/>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01 · BESOIN MÉTIER">
            <a:extLst xmlns:a="http://schemas.openxmlformats.org/drawingml/2006/main">
              <a:ext uri="{FF2B5EF4-FFF2-40B4-BE49-F238E27FC236}">
                <a16:creationId xmlns:a16="http://schemas.microsoft.com/office/drawing/2014/main" id="{4918FA1E-1CA2-4465-A3FD-8271B64D4ADB}"/>
              </a:ext>
            </a:extLst>
          </p:cNvPr>
          <p:cNvSpPr>
            <a:spLocks xmlns:a="http://schemas.openxmlformats.org/drawingml/2006/main" noGrp="1"/>
          </p:cNvSpPr>
          <p:nvPr/>
        </p:nvSpPr>
        <p:spPr>
          <a:xfrm xmlns:a="http://schemas.openxmlformats.org/drawingml/2006/main">
            <a:off x="400050" y="228600"/>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1">
                <a:solidFill>
                  <a:srgbClr val="525860"/>
                </a:solidFill>
              </a:defRPr>
            </a:pPr>
            <a:r>
              <a:rPr sz="1650" b="1">
                <a:solidFill>
                  <a:srgbClr val="525860"/>
                </a:solidFill>
              </a:rPr>
              <a:t>13 · CONTRIBUTION DU GROUPE</a:t>
            </a:r>
          </a:p>
        </p:txBody>
      </p:sp>
      <p:sp>
        <p:nvSpPr>
          <p:cNvPr id="2" name="Une chaîne commune pour les essais">
            <a:extLst xmlns:a="http://schemas.openxmlformats.org/drawingml/2006/main">
              <a:ext uri="{FF2B5EF4-FFF2-40B4-BE49-F238E27FC236}">
                <a16:creationId xmlns:a16="http://schemas.microsoft.com/office/drawing/2014/main" id="{582004AA-442D-44BD-A084-3EF72F430642}"/>
              </a:ext>
            </a:extLst>
          </p:cNvPr>
          <p:cNvSpPr>
            <a:spLocks xmlns:a="http://schemas.openxmlformats.org/drawingml/2006/main" noGrp="1"/>
          </p:cNvSpPr>
          <p:nvPr/>
        </p:nvSpPr>
        <p:spPr>
          <a:xfrm xmlns:a="http://schemas.openxmlformats.org/drawingml/2006/main">
            <a:off x="400050" y="742950"/>
            <a:ext cx="113919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3600" b="1">
                <a:solidFill>
                  <a:srgbClr val="111111"/>
                </a:solidFill>
              </a:defRPr>
            </a:pPr>
            <a:r>
              <a:rPr sz="3600" b="1">
                <a:solidFill>
                  <a:srgbClr val="111111"/>
                </a:solidFill>
              </a:rPr>
              <a:t>Faire évoluer le projet en équipe</a:t>
            </a:r>
          </a:p>
        </p:txBody>
      </p:sp>
      <p:sp>
        <p:nvSpPr>
          <p:cNvPr id="3" name="">
            <a:extLst xmlns:a="http://schemas.openxmlformats.org/drawingml/2006/main">
              <a:ext uri="{FF2B5EF4-FFF2-40B4-BE49-F238E27FC236}">
                <a16:creationId xmlns:a16="http://schemas.microsoft.com/office/drawing/2014/main" id="{90D8C472-0880-4E51-801C-ABC68E8D630A}"/>
              </a:ext>
            </a:extLst>
          </p:cNvPr>
          <p:cNvSpPr>
            <a:spLocks xmlns:a="http://schemas.openxmlformats.org/drawingml/2006/main" noGrp="1"/>
          </p:cNvSpPr>
          <p:nvPr/>
        </p:nvSpPr>
        <p:spPr>
          <a:xfrm xmlns:a="http://schemas.openxmlformats.org/drawingml/2006/main">
            <a:off x="400050" y="62293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4" name="SEMENCES R&amp;D · PROJET DE GROUPE">
            <a:extLst xmlns:a="http://schemas.openxmlformats.org/drawingml/2006/main">
              <a:ext uri="{FF2B5EF4-FFF2-40B4-BE49-F238E27FC236}">
                <a16:creationId xmlns:a16="http://schemas.microsoft.com/office/drawing/2014/main" id="{E367BF29-BD6B-4531-BBDA-2BF3824C149A}"/>
              </a:ext>
            </a:extLst>
          </p:cNvPr>
          <p:cNvSpPr>
            <a:spLocks xmlns:a="http://schemas.openxmlformats.org/drawingml/2006/main" noGrp="1"/>
          </p:cNvSpPr>
          <p:nvPr/>
        </p:nvSpPr>
        <p:spPr>
          <a:xfrm xmlns:a="http://schemas.openxmlformats.org/drawingml/2006/main">
            <a:off x="400050" y="641032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0">
                <a:solidFill>
                  <a:srgbClr val="525860"/>
                </a:solidFill>
              </a:defRPr>
            </a:pPr>
            <a:r>
              <a:rPr sz="1650" b="0">
                <a:solidFill>
                  <a:srgbClr val="525860"/>
                </a:solidFill>
              </a:rPr>
              <a:t>SEMENCES R&amp;D · PROJET DE GROUPE</a:t>
            </a:r>
          </a:p>
        </p:txBody>
      </p:sp>
      <p:sp>
        <p:nvSpPr>
          <p:cNvPr id="5" name="02">
            <a:extLst xmlns:a="http://schemas.openxmlformats.org/drawingml/2006/main">
              <a:ext uri="{FF2B5EF4-FFF2-40B4-BE49-F238E27FC236}">
                <a16:creationId xmlns:a16="http://schemas.microsoft.com/office/drawing/2014/main" id="{CE7F22FF-0554-4C2D-842A-A3EF89211E9A}"/>
              </a:ext>
            </a:extLst>
          </p:cNvPr>
          <p:cNvSpPr>
            <a:spLocks xmlns:a="http://schemas.openxmlformats.org/drawingml/2006/main" noGrp="1"/>
          </p:cNvSpPr>
          <p:nvPr/>
        </p:nvSpPr>
        <p:spPr>
          <a:xfrm xmlns:a="http://schemas.openxmlformats.org/drawingml/2006/main">
            <a:off x="11239500" y="64103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0">
                <a:solidFill>
                  <a:srgbClr val="525860"/>
                </a:solidFill>
              </a:defRPr>
            </a:pPr>
            <a:r>
              <a:rPr sz="1650" b="0">
                <a:solidFill>
                  <a:srgbClr val="525860"/>
                </a:solidFill>
              </a:rPr>
              <a:t>39</a:t>
            </a:r>
          </a:p>
        </p:txBody>
      </p:sp>
      <p:sp>
        <p:nvSpPr>
          <p:cNvPr id="6" name="Données dispersées">
            <a:extLst xmlns:a="http://schemas.openxmlformats.org/drawingml/2006/main">
              <a:ext uri="{FF2B5EF4-FFF2-40B4-BE49-F238E27FC236}">
                <a16:creationId xmlns:a16="http://schemas.microsoft.com/office/drawing/2014/main" id="{4EE8312A-2531-461C-8A53-64A72804157D}"/>
              </a:ext>
            </a:extLst>
          </p:cNvPr>
          <p:cNvSpPr>
            <a:spLocks xmlns:a="http://schemas.openxmlformats.org/drawingml/2006/main" noGrp="1"/>
          </p:cNvSpPr>
          <p:nvPr/>
        </p:nvSpPr>
        <p:spPr>
          <a:xfrm xmlns:a="http://schemas.openxmlformats.org/drawingml/2006/main">
            <a:off x="400050" y="2057400"/>
            <a:ext cx="54768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2400" b="1">
                <a:solidFill>
                  <a:srgbClr val="111111"/>
                </a:solidFill>
              </a:defRPr>
            </a:pPr>
            <a:r>
              <a:rPr sz="2400" b="1">
                <a:solidFill>
                  <a:srgbClr val="111111"/>
                </a:solidFill>
              </a:rPr>
              <a:t>Modifier de façon cohérente</a:t>
            </a:r>
          </a:p>
        </p:txBody>
      </p:sp>
      <p:sp>
        <p:nvSpPr>
          <p:cNvPr id="7" name="Les essais, résultats, parcelles et matériels sont répartis dans ">
            <a:extLst xmlns:a="http://schemas.openxmlformats.org/drawingml/2006/main">
              <a:ext uri="{FF2B5EF4-FFF2-40B4-BE49-F238E27FC236}">
                <a16:creationId xmlns:a16="http://schemas.microsoft.com/office/drawing/2014/main" id="{0175D916-23F1-4701-A1E0-3D28D8646127}"/>
              </a:ext>
            </a:extLst>
          </p:cNvPr>
          <p:cNvSpPr>
            <a:spLocks xmlns:a="http://schemas.openxmlformats.org/drawingml/2006/main" noGrp="1"/>
          </p:cNvSpPr>
          <p:nvPr/>
        </p:nvSpPr>
        <p:spPr>
          <a:xfrm xmlns:a="http://schemas.openxmlformats.org/drawingml/2006/main">
            <a:off x="400050" y="2800350"/>
            <a:ext cx="54768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Nouvelle source : définir schéma, clés et règles qualité.</a:t>
            </a:r>
          </a:p>
        </p:txBody>
      </p:sp>
      <p:sp>
        <p:nvSpPr>
          <p:cNvPr id="8" name="Les clés, nombres et métadonnées nécessitent une normalisation.">
            <a:extLst xmlns:a="http://schemas.openxmlformats.org/drawingml/2006/main">
              <a:ext uri="{FF2B5EF4-FFF2-40B4-BE49-F238E27FC236}">
                <a16:creationId xmlns:a16="http://schemas.microsoft.com/office/drawing/2014/main" id="{DD478A21-5F58-4307-B15A-67F7A6D97331}"/>
              </a:ext>
            </a:extLst>
          </p:cNvPr>
          <p:cNvSpPr>
            <a:spLocks xmlns:a="http://schemas.openxmlformats.org/drawingml/2006/main" noGrp="1"/>
          </p:cNvSpPr>
          <p:nvPr/>
        </p:nvSpPr>
        <p:spPr>
          <a:xfrm xmlns:a="http://schemas.openxmlformats.org/drawingml/2006/main">
            <a:off x="400050" y="3743325"/>
            <a:ext cx="54768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Nouveau calcul : vérifier ses fichiers de sortie et les usages du dashboard.</a:t>
            </a:r>
          </a:p>
        </p:txBody>
      </p:sp>
      <p:sp>
        <p:nvSpPr>
          <p:cNvPr id="9" name="La localisation ne couvre qu’une partie des essais.">
            <a:extLst xmlns:a="http://schemas.openxmlformats.org/drawingml/2006/main">
              <a:ext uri="{FF2B5EF4-FFF2-40B4-BE49-F238E27FC236}">
                <a16:creationId xmlns:a16="http://schemas.microsoft.com/office/drawing/2014/main" id="{5DDA381D-EF5C-4100-89EF-DEE50D0906D4}"/>
              </a:ext>
            </a:extLst>
          </p:cNvPr>
          <p:cNvSpPr>
            <a:spLocks xmlns:a="http://schemas.openxmlformats.org/drawingml/2006/main" noGrp="1"/>
          </p:cNvSpPr>
          <p:nvPr/>
        </p:nvSpPr>
        <p:spPr>
          <a:xfrm xmlns:a="http://schemas.openxmlformats.org/drawingml/2006/main">
            <a:off x="400050" y="4686300"/>
            <a:ext cx="54768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Nouveau modèle : conserver la séparation temporelle et comparer à la référence.</a:t>
            </a:r>
          </a:p>
        </p:txBody>
      </p:sp>
      <p:sp>
        <p:nvSpPr>
          <p:cNvPr id="10" name="Usages attendus">
            <a:extLst xmlns:a="http://schemas.openxmlformats.org/drawingml/2006/main">
              <a:ext uri="{FF2B5EF4-FFF2-40B4-BE49-F238E27FC236}">
                <a16:creationId xmlns:a16="http://schemas.microsoft.com/office/drawing/2014/main" id="{57D7E65A-4370-4678-953C-51F3B9C91EF2}"/>
              </a:ext>
            </a:extLst>
          </p:cNvPr>
          <p:cNvSpPr>
            <a:spLocks xmlns:a="http://schemas.openxmlformats.org/drawingml/2006/main" noGrp="1"/>
          </p:cNvSpPr>
          <p:nvPr/>
        </p:nvSpPr>
        <p:spPr>
          <a:xfrm xmlns:a="http://schemas.openxmlformats.org/drawingml/2006/main">
            <a:off x="6257925" y="2057400"/>
            <a:ext cx="54768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2400" b="1">
                <a:solidFill>
                  <a:srgbClr val="111111"/>
                </a:solidFill>
              </a:defRPr>
            </a:pPr>
            <a:r>
              <a:rPr sz="2400" b="1">
                <a:solidFill>
                  <a:srgbClr val="111111"/>
                </a:solidFill>
              </a:rPr>
              <a:t>Valider avant publication</a:t>
            </a:r>
          </a:p>
        </p:txBody>
      </p:sp>
      <p:sp>
        <p:nvSpPr>
          <p:cNvPr id="11" name="Comparer les catégories, campagnes, régions et matériels.">
            <a:extLst xmlns:a="http://schemas.openxmlformats.org/drawingml/2006/main">
              <a:ext uri="{FF2B5EF4-FFF2-40B4-BE49-F238E27FC236}">
                <a16:creationId xmlns:a16="http://schemas.microsoft.com/office/drawing/2014/main" id="{5885D678-AEF6-4E9C-9863-5D74F0FE259B}"/>
              </a:ext>
            </a:extLst>
          </p:cNvPr>
          <p:cNvSpPr>
            <a:spLocks xmlns:a="http://schemas.openxmlformats.org/drawingml/2006/main" noGrp="1"/>
          </p:cNvSpPr>
          <p:nvPr/>
        </p:nvSpPr>
        <p:spPr>
          <a:xfrm xmlns:a="http://schemas.openxmlformats.org/drawingml/2006/main">
            <a:off x="6257925" y="2800350"/>
            <a:ext cx="54768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Exécuter le pipeline et les tests sur le lot de référence.</a:t>
            </a:r>
          </a:p>
        </p:txBody>
      </p:sp>
      <p:sp>
        <p:nvSpPr>
          <p:cNvPr id="12" name="Retrouver un matériel et comprendre la provenance des données.">
            <a:extLst xmlns:a="http://schemas.openxmlformats.org/drawingml/2006/main">
              <a:ext uri="{FF2B5EF4-FFF2-40B4-BE49-F238E27FC236}">
                <a16:creationId xmlns:a16="http://schemas.microsoft.com/office/drawing/2014/main" id="{6E22209C-5045-48BA-B874-3C6FAABDE6EA}"/>
              </a:ext>
            </a:extLst>
          </p:cNvPr>
          <p:cNvSpPr>
            <a:spLocks xmlns:a="http://schemas.openxmlformats.org/drawingml/2006/main" noGrp="1"/>
          </p:cNvSpPr>
          <p:nvPr/>
        </p:nvSpPr>
        <p:spPr>
          <a:xfrm xmlns:a="http://schemas.openxmlformats.org/drawingml/2006/main">
            <a:off x="6257925" y="3743325"/>
            <a:ext cx="54768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Contrôler les tableaux, la carte et les routes de l’API.</a:t>
            </a:r>
          </a:p>
        </p:txBody>
      </p:sp>
      <p:sp>
        <p:nvSpPr>
          <p:cNvPr id="13" name="Explorer les résultats et évaluer une prédiction de rendement.">
            <a:extLst xmlns:a="http://schemas.openxmlformats.org/drawingml/2006/main">
              <a:ext uri="{FF2B5EF4-FFF2-40B4-BE49-F238E27FC236}">
                <a16:creationId xmlns:a16="http://schemas.microsoft.com/office/drawing/2014/main" id="{7AC94F89-E568-43C3-A5A3-947B2812E344}"/>
              </a:ext>
            </a:extLst>
          </p:cNvPr>
          <p:cNvSpPr>
            <a:spLocks xmlns:a="http://schemas.openxmlformats.org/drawingml/2006/main" noGrp="1"/>
          </p:cNvSpPr>
          <p:nvPr/>
        </p:nvSpPr>
        <p:spPr>
          <a:xfrm xmlns:a="http://schemas.openxmlformats.org/drawingml/2006/main">
            <a:off x="6257925" y="4686300"/>
            <a:ext cx="54768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950" b="0">
                <a:solidFill>
                  <a:srgbClr val="111111"/>
                </a:solidFill>
              </a:defRPr>
            </a:pPr>
            <a:r>
              <a:rPr sz="1950" b="0">
                <a:solidFill>
                  <a:srgbClr val="111111"/>
                </a:solidFill>
              </a:rPr>
              <a:t>Mettre à jour README et PPTX, puis publier les fichiers utiles.</a:t>
            </a:r>
          </a:p>
        </p:txBody>
      </p:sp>
    </p:spTree>
    <p:extLst>
      <p:ext uri="{BB962C8B-B14F-4D97-AF65-F5344CB8AC3E}">
        <p14:creationId xmlns:p14="http://schemas.microsoft.com/office/powerpoint/2010/main" val="1433487000"/>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14 · CONCLUSION">
            <a:extLst xmlns:a="http://schemas.openxmlformats.org/drawingml/2006/main">
              <a:ext uri="{FF2B5EF4-FFF2-40B4-BE49-F238E27FC236}">
                <a16:creationId xmlns:a16="http://schemas.microsoft.com/office/drawing/2014/main" id="{F1251985-95F8-45FE-9C95-524ED19226E4}"/>
              </a:ext>
            </a:extLst>
          </p:cNvPr>
          <p:cNvSpPr>
            <a:spLocks xmlns:a="http://schemas.openxmlformats.org/drawingml/2006/main" noGrp="1"/>
          </p:cNvSpPr>
          <p:nvPr/>
        </p:nvSpPr>
        <p:spPr>
          <a:xfrm xmlns:a="http://schemas.openxmlformats.org/drawingml/2006/main">
            <a:off x="400050" y="228600"/>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1">
                <a:solidFill>
                  <a:srgbClr val="525860"/>
                </a:solidFill>
              </a:defRPr>
            </a:pPr>
            <a:r>
              <a:rPr sz="1650" b="1">
                <a:solidFill>
                  <a:srgbClr val="525860"/>
                </a:solidFill>
              </a:rPr>
              <a:t>14 · CONCLUSION</a:t>
            </a:r>
          </a:p>
        </p:txBody>
      </p:sp>
      <p:sp>
        <p:nvSpPr>
          <p:cNvPr id="2" name="Une base vérifiable pour le groupe">
            <a:extLst xmlns:a="http://schemas.openxmlformats.org/drawingml/2006/main">
              <a:ext uri="{FF2B5EF4-FFF2-40B4-BE49-F238E27FC236}">
                <a16:creationId xmlns:a16="http://schemas.microsoft.com/office/drawing/2014/main" id="{6DE2E481-C19B-48B1-85DC-C126B520F937}"/>
              </a:ext>
            </a:extLst>
          </p:cNvPr>
          <p:cNvSpPr>
            <a:spLocks xmlns:a="http://schemas.openxmlformats.org/drawingml/2006/main" noGrp="1"/>
          </p:cNvSpPr>
          <p:nvPr/>
        </p:nvSpPr>
        <p:spPr>
          <a:xfrm xmlns:a="http://schemas.openxmlformats.org/drawingml/2006/main">
            <a:off x="400050" y="742950"/>
            <a:ext cx="113919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3600" b="1">
                <a:solidFill>
                  <a:srgbClr val="111111"/>
                </a:solidFill>
              </a:defRPr>
            </a:pPr>
            <a:r>
              <a:rPr sz="3600" b="1">
                <a:solidFill>
                  <a:srgbClr val="111111"/>
                </a:solidFill>
              </a:rPr>
              <a:t>Une base vérifiable pour le groupe</a:t>
            </a:r>
          </a:p>
        </p:txBody>
      </p:sp>
      <p:sp>
        <p:nvSpPr>
          <p:cNvPr id="3" name="">
            <a:extLst xmlns:a="http://schemas.openxmlformats.org/drawingml/2006/main">
              <a:ext uri="{FF2B5EF4-FFF2-40B4-BE49-F238E27FC236}">
                <a16:creationId xmlns:a16="http://schemas.microsoft.com/office/drawing/2014/main" id="{047CA6C3-2695-41F2-96DA-CFB5ADDC9DA3}"/>
              </a:ext>
            </a:extLst>
          </p:cNvPr>
          <p:cNvSpPr>
            <a:spLocks xmlns:a="http://schemas.openxmlformats.org/drawingml/2006/main" noGrp="1"/>
          </p:cNvSpPr>
          <p:nvPr/>
        </p:nvSpPr>
        <p:spPr>
          <a:xfrm xmlns:a="http://schemas.openxmlformats.org/drawingml/2006/main">
            <a:off x="400050" y="6229350"/>
            <a:ext cx="11391900" cy="9525"/>
          </a:xfrm>
          <a:prstGeom xmlns:a="http://schemas.openxmlformats.org/drawingml/2006/main" prst="rect">
            <a:avLst/>
          </a:prstGeom>
          <a:solidFill xmlns:a="http://schemas.openxmlformats.org/drawingml/2006/main">
            <a:srgbClr val="B8BCC4"/>
          </a:solidFill>
          <a:ln xmlns:a="http://schemas.openxmlformats.org/drawingml/2006/main" w="0">
            <a:noFill/>
          </a:ln>
        </p:spPr>
      </p:sp>
      <p:sp>
        <p:nvSpPr>
          <p:cNvPr id="4" name="SEMENCES R&amp;D · PROJET DE GROUPE">
            <a:extLst xmlns:a="http://schemas.openxmlformats.org/drawingml/2006/main">
              <a:ext uri="{FF2B5EF4-FFF2-40B4-BE49-F238E27FC236}">
                <a16:creationId xmlns:a16="http://schemas.microsoft.com/office/drawing/2014/main" id="{4087AAE9-ED5F-4F2B-BA10-6111AB14303C}"/>
              </a:ext>
            </a:extLst>
          </p:cNvPr>
          <p:cNvSpPr>
            <a:spLocks xmlns:a="http://schemas.openxmlformats.org/drawingml/2006/main" noGrp="1"/>
          </p:cNvSpPr>
          <p:nvPr/>
        </p:nvSpPr>
        <p:spPr>
          <a:xfrm xmlns:a="http://schemas.openxmlformats.org/drawingml/2006/main">
            <a:off x="400050" y="641032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0">
                <a:solidFill>
                  <a:srgbClr val="525860"/>
                </a:solidFill>
              </a:defRPr>
            </a:pPr>
            <a:r>
              <a:rPr sz="1650" b="0">
                <a:solidFill>
                  <a:srgbClr val="525860"/>
                </a:solidFill>
              </a:rPr>
              <a:t>SEMENCES R&amp;D · PROJET DE GROUPE</a:t>
            </a:r>
          </a:p>
        </p:txBody>
      </p:sp>
      <p:sp>
        <p:nvSpPr>
          <p:cNvPr id="5" name="26">
            <a:extLst xmlns:a="http://schemas.openxmlformats.org/drawingml/2006/main">
              <a:ext uri="{FF2B5EF4-FFF2-40B4-BE49-F238E27FC236}">
                <a16:creationId xmlns:a16="http://schemas.microsoft.com/office/drawing/2014/main" id="{84D880FF-D6CD-4EA1-A018-CEB5BE8A472F}"/>
              </a:ext>
            </a:extLst>
          </p:cNvPr>
          <p:cNvSpPr>
            <a:spLocks xmlns:a="http://schemas.openxmlformats.org/drawingml/2006/main" noGrp="1"/>
          </p:cNvSpPr>
          <p:nvPr/>
        </p:nvSpPr>
        <p:spPr>
          <a:xfrm xmlns:a="http://schemas.openxmlformats.org/drawingml/2006/main">
            <a:off x="11239500" y="6410325"/>
            <a:ext cx="552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1650" b="0">
                <a:solidFill>
                  <a:srgbClr val="525860"/>
                </a:solidFill>
              </a:defRPr>
            </a:pPr>
            <a:r>
              <a:rPr sz="1650" b="0">
                <a:solidFill>
                  <a:srgbClr val="525860"/>
                </a:solidFill>
              </a:rPr>
              <a:t>40</a:t>
            </a:r>
          </a:p>
        </p:txBody>
      </p:sp>
      <p:sp>
        <p:nvSpPr>
          <p:cNvPr id="6" name="Centraliser. Expliquer. Reproduire.">
            <a:extLst xmlns:a="http://schemas.openxmlformats.org/drawingml/2006/main">
              <a:ext uri="{FF2B5EF4-FFF2-40B4-BE49-F238E27FC236}">
                <a16:creationId xmlns:a16="http://schemas.microsoft.com/office/drawing/2014/main" id="{78DBD733-2E79-4129-97AA-574A6231C72A}"/>
              </a:ext>
            </a:extLst>
          </p:cNvPr>
          <p:cNvSpPr>
            <a:spLocks xmlns:a="http://schemas.openxmlformats.org/drawingml/2006/main" noGrp="1"/>
          </p:cNvSpPr>
          <p:nvPr/>
        </p:nvSpPr>
        <p:spPr>
          <a:xfrm xmlns:a="http://schemas.openxmlformats.org/drawingml/2006/main">
            <a:off x="400050" y="2314575"/>
            <a:ext cx="113919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4950" b="1">
                <a:solidFill>
                  <a:srgbClr val="111111"/>
                </a:solidFill>
              </a:defRPr>
            </a:pPr>
            <a:r>
              <a:rPr sz="4950" b="1">
                <a:solidFill>
                  <a:srgbClr val="111111"/>
                </a:solidFill>
              </a:rPr>
              <a:t>Centraliser. Expliquer. Reproduire.</a:t>
            </a:r>
          </a:p>
        </p:txBody>
      </p:sp>
      <p:sp>
        <p:nvSpPr>
          <p:cNvPr id="7" name="Une chaîne locale documentée, des résultats traçables et une traj">
            <a:extLst xmlns:a="http://schemas.openxmlformats.org/drawingml/2006/main">
              <a:ext uri="{FF2B5EF4-FFF2-40B4-BE49-F238E27FC236}">
                <a16:creationId xmlns:a16="http://schemas.microsoft.com/office/drawing/2014/main" id="{D33B7CB2-1BA4-4A97-9E35-BC33134EFEEA}"/>
              </a:ext>
            </a:extLst>
          </p:cNvPr>
          <p:cNvSpPr>
            <a:spLocks xmlns:a="http://schemas.openxmlformats.org/drawingml/2006/main" noGrp="1"/>
          </p:cNvSpPr>
          <p:nvPr/>
        </p:nvSpPr>
        <p:spPr>
          <a:xfrm xmlns:a="http://schemas.openxmlformats.org/drawingml/2006/main">
            <a:off x="400050" y="4248150"/>
            <a:ext cx="104775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p xmlns:a="http://schemas.openxmlformats.org/drawingml/2006/main">
            <a:pPr>
              <a:buNone/>
              <a:defRPr sz="2700" b="0">
                <a:solidFill>
                  <a:srgbClr val="111111"/>
                </a:solidFill>
              </a:defRPr>
            </a:pPr>
            <a:r>
              <a:rPr sz="2700" b="0">
                <a:solidFill>
                  <a:srgbClr val="111111"/>
                </a:solidFill>
              </a:rPr>
              <a:t>Une chaîne locale documentée, des résultats traçables et une trajectoire d’industrialisation explicite.</a:t>
            </a:r>
          </a:p>
        </p:txBody>
      </p:sp>
    </p:spTree>
    <p:extLst>
      <p:ext uri="{BB962C8B-B14F-4D97-AF65-F5344CB8AC3E}">
        <p14:creationId xmlns:p14="http://schemas.microsoft.com/office/powerpoint/2010/main" val="166722365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2026-09-12T23:53:07.5700000Z</dcterms:created>
  <dcterms:modified xsi:type="dcterms:W3CDTF">2026-09-12T23:53:07.5700000Z</dcterms:modified>
</coreProperties>
</file>